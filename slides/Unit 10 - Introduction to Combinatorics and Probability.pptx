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675" r:id="rId2"/>
    <p:sldId id="708" r:id="rId3"/>
    <p:sldId id="677" r:id="rId4"/>
    <p:sldId id="278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279" r:id="rId15"/>
    <p:sldId id="280" r:id="rId16"/>
    <p:sldId id="347" r:id="rId17"/>
    <p:sldId id="348" r:id="rId18"/>
    <p:sldId id="349" r:id="rId19"/>
    <p:sldId id="350" r:id="rId20"/>
    <p:sldId id="351" r:id="rId21"/>
    <p:sldId id="362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3" r:id="rId33"/>
    <p:sldId id="364" r:id="rId34"/>
    <p:sldId id="365" r:id="rId35"/>
    <p:sldId id="366" r:id="rId36"/>
    <p:sldId id="367" r:id="rId37"/>
    <p:sldId id="368" r:id="rId38"/>
    <p:sldId id="369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1" r:id="rId49"/>
    <p:sldId id="382" r:id="rId50"/>
    <p:sldId id="383" r:id="rId51"/>
    <p:sldId id="384" r:id="rId52"/>
    <p:sldId id="385" r:id="rId53"/>
    <p:sldId id="386" r:id="rId54"/>
    <p:sldId id="387" r:id="rId55"/>
    <p:sldId id="388" r:id="rId56"/>
    <p:sldId id="389" r:id="rId57"/>
    <p:sldId id="390" r:id="rId58"/>
    <p:sldId id="391" r:id="rId59"/>
    <p:sldId id="392" r:id="rId60"/>
    <p:sldId id="393" r:id="rId61"/>
    <p:sldId id="399" r:id="rId62"/>
    <p:sldId id="400" r:id="rId63"/>
    <p:sldId id="401" r:id="rId64"/>
    <p:sldId id="257" r:id="rId65"/>
    <p:sldId id="678" r:id="rId66"/>
    <p:sldId id="679" r:id="rId67"/>
    <p:sldId id="680" r:id="rId68"/>
    <p:sldId id="681" r:id="rId69"/>
    <p:sldId id="413" r:id="rId70"/>
    <p:sldId id="682" r:id="rId71"/>
    <p:sldId id="683" r:id="rId72"/>
    <p:sldId id="684" r:id="rId73"/>
    <p:sldId id="414" r:id="rId74"/>
    <p:sldId id="415" r:id="rId75"/>
    <p:sldId id="692" r:id="rId76"/>
    <p:sldId id="696" r:id="rId77"/>
    <p:sldId id="706" r:id="rId78"/>
    <p:sldId id="698" r:id="rId79"/>
    <p:sldId id="699" r:id="rId80"/>
    <p:sldId id="425" r:id="rId81"/>
    <p:sldId id="702" r:id="rId8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2" autoAdjust="0"/>
    <p:restoredTop sz="94660"/>
  </p:normalViewPr>
  <p:slideViewPr>
    <p:cSldViewPr snapToGrid="0">
      <p:cViewPr varScale="1">
        <p:scale>
          <a:sx n="95" d="100"/>
          <a:sy n="95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57045-68D3-4539-8447-6EE8D9D9BA45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35285-58E9-49B1-97B3-7954D8CE6C7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280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207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4956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7875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15114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2521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5920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0621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8006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1969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5591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5537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50702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57405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76753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475570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84489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751557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70455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64768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4245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288328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293815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63216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97796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501558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35916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459803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877833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939195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217866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44838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821590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23472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393871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407533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83230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65610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168181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03369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001614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787097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02803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7286849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933307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670580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648498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094266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703191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025701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91484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365817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396260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639703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020651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0140478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2178992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3665552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787525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4174246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592079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062109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800609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684139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552011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234721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6705801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9333077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0942662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703191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82863" y="871538"/>
            <a:ext cx="4181475" cy="2352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703191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931863"/>
            <a:ext cx="4464050" cy="25114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9846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1522-B661-4873-BFC2-19A17E13F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0A7E8-434E-4372-AE87-6684D6D5C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1120F-8F36-49CF-84E0-CB7E1DA2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B0586-84A5-4E08-896D-42985B74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7ECA-36D8-4DB0-9921-57F05362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917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498F-58EB-4C8C-8C05-C03161DAD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361D4-EA38-4D13-926A-8AEFB4628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39AE9-0F0A-4A4B-8247-B61E721F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FE3AB-26F9-4A5C-AD66-D386D70F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9ACC6-0F0E-4FA3-AC3C-C0935867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356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6447-5F8F-4389-8B03-7753E06D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04924-11F4-4EF4-B879-8A7BB8FAF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97DCA-63DB-44A6-A39F-DAD61D40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E3C52-FDAF-4ED6-B721-F2D9E381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8C347-DA08-44BE-85A4-91E4B09B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4611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43D33-86C0-4232-AF87-1FBD7079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4ED74-28A1-4BEF-ACC0-D71018C2E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D3AB6-436E-43E9-8ACC-7877C1966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0EB7E-1A5E-40DA-850B-CF5C13AD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AC555-15AA-4CC6-825D-2D4BD885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6D39A-1F3E-4D7B-A856-FA722AF8D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708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9CD8-1B04-40CA-BC84-C97C9354D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0C947-B02B-43AA-9B37-F926ED0F9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59AA5-AFD4-4057-B533-C3B71752A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76D53-D980-44DB-B43C-BEF5E87B6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21138-3085-4C84-99DC-F0926A864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2E6CFA-5C6E-45BB-98A5-E75ED7A3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23E8D-09E7-4FFD-8B72-6FC3992B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53339-0901-4F71-9ECA-713848AF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633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8C32-37E1-40E8-8B60-AB1A0EEE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8955B-A8D0-401E-9548-37212B82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4BCF8-4C72-44C1-BDC8-912CB46D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76E76-646F-4EEB-A7C5-126E1E20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738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8ABDE-4C81-4945-9A41-15FA2AED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948D4-E0E1-47C9-96D4-F1E5A564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D1A0F-6F3E-46FC-9617-F72F89C2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552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1BE5-55A9-4B6E-A758-8A197CD9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8A21A-EEAA-46B5-BBD7-5D9D6F134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72C9E-9A1A-4C09-810A-AE1F7C2A3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E367A-2FFB-4C65-A7F7-4A0B4E34F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EA97-E078-4A9A-A775-075C4845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D19F4-B51A-48C3-851A-659A2BD9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855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743A-86D5-40EA-BD38-15954D27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AD216-F104-4656-850A-1BD1E23ED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DD55C-CF22-4173-B7AE-47B6D657F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21E09-29C8-44ED-945E-54FA1B0E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36491-2854-474F-A4BC-395D14BA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0B319-E234-4EFD-84F0-C033721E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948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C439-6260-49DC-991F-2E1C95F5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5AE75-1F04-49CE-AD52-1D03CC74F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29044-0CBC-4FE6-ACB0-E3D1BCCA3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0B793-CC8D-4927-BA08-D3E4A3414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A41FF-257D-48B4-912F-AFDBDD30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42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82204-6053-4125-846C-329BE6065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0FECE-518B-4534-9D6E-941F4E207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95C20-22B2-42CF-B592-39E011E66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86C63-7640-4AEB-9780-A8D872AF6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E4154-FFC5-49FA-A6EA-D86DB208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612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E133DE-0C84-4F10-A800-908E34C8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33F97-FA48-4987-A527-A450ACD41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4CAEB-9E16-4A10-A722-0B1781E66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6C37E-EA67-4E95-BE16-17AF8DC28F1E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B3CE3-1F77-46BB-B21E-CC73635E0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F7802-6A7F-400E-A7DE-388EB948D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28A24-3417-4162-81A5-59FB968CFB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409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6C4119D-25EA-4251-B2EF-750C8A2035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03387" y="506437"/>
            <a:ext cx="8785225" cy="243945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u="sng" dirty="0">
                <a:solidFill>
                  <a:srgbClr val="2429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MATH221</a:t>
            </a:r>
            <a:br>
              <a:rPr lang="en-US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rgbClr val="2429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Computer Science</a:t>
            </a:r>
            <a:endParaRPr lang="en-GB" altLang="en-US" b="1" dirty="0">
              <a:solidFill>
                <a:srgbClr val="2429E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CE7508E-1A3A-4830-B125-BE1B2D1C1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98" y="3627649"/>
            <a:ext cx="11369902" cy="191812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rgbClr val="2429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10</a:t>
            </a:r>
          </a:p>
          <a:p>
            <a:pPr eaLnBrk="1" hangingPunct="1">
              <a:defRPr/>
            </a:pPr>
            <a:r>
              <a:rPr lang="en-US" altLang="en-US" sz="4800" b="1" kern="0" dirty="0">
                <a:solidFill>
                  <a:srgbClr val="2429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Combinatorics and Probability</a:t>
            </a:r>
            <a:endParaRPr lang="en-GB" altLang="en-US" sz="4800" b="1" kern="0" dirty="0">
              <a:solidFill>
                <a:srgbClr val="2429E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</a:t>
            </a:fld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5D5C1-E8A6-49A4-BAC5-85ABEB9D2837}"/>
              </a:ext>
            </a:extLst>
          </p:cNvPr>
          <p:cNvSpPr txBox="1"/>
          <p:nvPr/>
        </p:nvSpPr>
        <p:spPr>
          <a:xfrm>
            <a:off x="2171365" y="136525"/>
            <a:ext cx="7849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b="1" dirty="0">
                <a:solidFill>
                  <a:srgbClr val="2429E4"/>
                </a:solidFill>
              </a:rPr>
              <a:t>Learning Objectives</a:t>
            </a:r>
            <a:endParaRPr lang="en-SG" sz="4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5D5C1-923B-4D7D-B7BE-CFA541D2F741}"/>
              </a:ext>
            </a:extLst>
          </p:cNvPr>
          <p:cNvSpPr txBox="1"/>
          <p:nvPr/>
        </p:nvSpPr>
        <p:spPr>
          <a:xfrm>
            <a:off x="106878" y="1336883"/>
            <a:ext cx="1111530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0033CC"/>
                </a:solidFill>
              </a:rPr>
              <a:t>Introduce sample space, event, possibility tree and counting rules 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0033CC"/>
                </a:solidFill>
              </a:rPr>
              <a:t>Introduce basic probability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0033CC"/>
                </a:solidFill>
              </a:rPr>
              <a:t>Introduce permutation and combination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0033CC"/>
                </a:solidFill>
              </a:rPr>
              <a:t>Introduce pigeonhole principle and generalized pigeonhole principle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72518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</a:t>
            </a:fld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5D5C1-E8A6-49A4-BAC5-85ABEB9D2837}"/>
              </a:ext>
            </a:extLst>
          </p:cNvPr>
          <p:cNvSpPr txBox="1"/>
          <p:nvPr/>
        </p:nvSpPr>
        <p:spPr>
          <a:xfrm>
            <a:off x="3206656" y="2495281"/>
            <a:ext cx="7849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b="1" dirty="0">
                <a:solidFill>
                  <a:srgbClr val="2429E4"/>
                </a:solidFill>
              </a:rPr>
              <a:t>1: Introduction</a:t>
            </a:r>
            <a:endParaRPr lang="en-SG" sz="4400" b="1" dirty="0"/>
          </a:p>
        </p:txBody>
      </p:sp>
    </p:spTree>
    <p:extLst>
      <p:ext uri="{BB962C8B-B14F-4D97-AF65-F5344CB8AC3E}">
        <p14:creationId xmlns:p14="http://schemas.microsoft.com/office/powerpoint/2010/main" val="897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146" y="1403344"/>
            <a:ext cx="1781046" cy="1781046"/>
          </a:xfrm>
          <a:prstGeom prst="rect">
            <a:avLst/>
          </a:prstGeom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</a:t>
            </a:fld>
            <a:endParaRPr lang="en-SG" dirty="0"/>
          </a:p>
        </p:txBody>
      </p:sp>
      <p:grpSp>
        <p:nvGrpSpPr>
          <p:cNvPr id="16" name="Group 15"/>
          <p:cNvGrpSpPr/>
          <p:nvPr/>
        </p:nvGrpSpPr>
        <p:grpSpPr>
          <a:xfrm>
            <a:off x="7900831" y="4145072"/>
            <a:ext cx="2244867" cy="1984708"/>
            <a:chOff x="549072" y="3859160"/>
            <a:chExt cx="2244867" cy="1984708"/>
          </a:xfrm>
        </p:grpSpPr>
        <p:grpSp>
          <p:nvGrpSpPr>
            <p:cNvPr id="12" name="Group 11"/>
            <p:cNvGrpSpPr/>
            <p:nvPr/>
          </p:nvGrpSpPr>
          <p:grpSpPr>
            <a:xfrm>
              <a:off x="634040" y="3859160"/>
              <a:ext cx="2074931" cy="1037466"/>
              <a:chOff x="530620" y="3859160"/>
              <a:chExt cx="2074931" cy="1037466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620" y="3859160"/>
                <a:ext cx="1037466" cy="1037466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8086" y="3859161"/>
                <a:ext cx="1037465" cy="1037465"/>
              </a:xfrm>
              <a:prstGeom prst="rect">
                <a:avLst/>
              </a:prstGeom>
            </p:spPr>
          </p:pic>
        </p:grpSp>
        <p:sp>
          <p:nvSpPr>
            <p:cNvPr id="2" name="TextBox 1"/>
            <p:cNvSpPr txBox="1"/>
            <p:nvPr/>
          </p:nvSpPr>
          <p:spPr>
            <a:xfrm>
              <a:off x="549072" y="5012871"/>
              <a:ext cx="22448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/>
                <a:t>Two heads obtained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851663" y="3960883"/>
            <a:ext cx="2592371" cy="2629507"/>
            <a:chOff x="3327662" y="3859161"/>
            <a:chExt cx="2592371" cy="2629507"/>
          </a:xfrm>
        </p:grpSpPr>
        <p:grpSp>
          <p:nvGrpSpPr>
            <p:cNvPr id="10" name="Group 9"/>
            <p:cNvGrpSpPr/>
            <p:nvPr/>
          </p:nvGrpSpPr>
          <p:grpSpPr>
            <a:xfrm>
              <a:off x="3560373" y="3859161"/>
              <a:ext cx="2080540" cy="1037465"/>
              <a:chOff x="3517796" y="3859161"/>
              <a:chExt cx="2080540" cy="1037465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17796" y="3859162"/>
                <a:ext cx="1037464" cy="1037464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60871" y="3859161"/>
                <a:ext cx="1037465" cy="1037465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>
              <a:off x="3560374" y="5451203"/>
              <a:ext cx="2080539" cy="1037465"/>
              <a:chOff x="3517796" y="5451203"/>
              <a:chExt cx="2080539" cy="1037465"/>
            </a:xfrm>
          </p:grpSpPr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60871" y="5451204"/>
                <a:ext cx="1037464" cy="1037464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17796" y="5451203"/>
                <a:ext cx="1037465" cy="1037465"/>
              </a:xfrm>
              <a:prstGeom prst="rect">
                <a:avLst/>
              </a:prstGeom>
            </p:spPr>
          </p:pic>
        </p:grpSp>
        <p:sp>
          <p:nvSpPr>
            <p:cNvPr id="72" name="TextBox 71"/>
            <p:cNvSpPr txBox="1"/>
            <p:nvPr/>
          </p:nvSpPr>
          <p:spPr>
            <a:xfrm>
              <a:off x="3327662" y="4946676"/>
              <a:ext cx="25923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/>
                <a:t>One head obtained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064700" y="4167038"/>
            <a:ext cx="2244867" cy="1984706"/>
            <a:chOff x="6593450" y="3859162"/>
            <a:chExt cx="2244867" cy="1984706"/>
          </a:xfrm>
        </p:grpSpPr>
        <p:grpSp>
          <p:nvGrpSpPr>
            <p:cNvPr id="9" name="Group 8"/>
            <p:cNvGrpSpPr/>
            <p:nvPr/>
          </p:nvGrpSpPr>
          <p:grpSpPr>
            <a:xfrm>
              <a:off x="6671751" y="3859162"/>
              <a:ext cx="2088264" cy="1037464"/>
              <a:chOff x="6593450" y="3859162"/>
              <a:chExt cx="2088264" cy="1037464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93450" y="3859162"/>
                <a:ext cx="1037464" cy="1037464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44250" y="3859162"/>
                <a:ext cx="1037464" cy="1037464"/>
              </a:xfrm>
              <a:prstGeom prst="rect">
                <a:avLst/>
              </a:prstGeom>
            </p:spPr>
          </p:pic>
        </p:grpSp>
        <p:sp>
          <p:nvSpPr>
            <p:cNvPr id="73" name="TextBox 72"/>
            <p:cNvSpPr txBox="1"/>
            <p:nvPr/>
          </p:nvSpPr>
          <p:spPr>
            <a:xfrm>
              <a:off x="6593450" y="5012871"/>
              <a:ext cx="22448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/>
                <a:t>No heads obtained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581525" y="3767982"/>
            <a:ext cx="3124200" cy="2629508"/>
            <a:chOff x="3057525" y="3767982"/>
            <a:chExt cx="3124200" cy="2629508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57525" y="3767982"/>
              <a:ext cx="0" cy="26295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6181725" y="3767982"/>
              <a:ext cx="0" cy="26295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2705460" y="3414039"/>
            <a:ext cx="9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1/4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4598" y="3414039"/>
            <a:ext cx="9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2/4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13146" y="3414039"/>
            <a:ext cx="9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1/4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93739" y="1612028"/>
            <a:ext cx="48870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SG" sz="2800" dirty="0"/>
              <a:t>0, 1 or 2 heads?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SG" sz="2800" dirty="0"/>
              <a:t>Does each of these events occur about </a:t>
            </a:r>
            <a:r>
              <a:rPr lang="en-SG" sz="2800" dirty="0">
                <a:solidFill>
                  <a:srgbClr val="0000FF"/>
                </a:solidFill>
              </a:rPr>
              <a:t>1/3</a:t>
            </a:r>
            <a:r>
              <a:rPr lang="en-SG" sz="2800" dirty="0"/>
              <a:t> of the time?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49838" y="225866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Introduction: Tossing two coins</a:t>
            </a:r>
            <a:endParaRPr lang="en-SG" sz="2000" dirty="0">
              <a:solidFill>
                <a:schemeClr val="bg1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388" y="847808"/>
            <a:ext cx="1733732" cy="173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8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75" grpId="0"/>
      <p:bldP spid="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978845" y="328466"/>
            <a:ext cx="9144000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: 	</a:t>
            </a:r>
            <a:r>
              <a:rPr lang="en-SG" sz="2800" dirty="0">
                <a:solidFill>
                  <a:schemeClr val="bg1"/>
                </a:solidFill>
              </a:rPr>
              <a:t>Introduction:  Experiment on Tossing Two Coins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9493" y="1140589"/>
            <a:ext cx="8371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Table 10.1.1. Relative frequencies.</a:t>
            </a:r>
            <a:endParaRPr lang="en-SG" sz="2400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</a:t>
            </a:fld>
            <a:endParaRPr lang="en-SG" dirty="0"/>
          </a:p>
        </p:txBody>
      </p:sp>
      <p:sp>
        <p:nvSpPr>
          <p:cNvPr id="77" name="TextBox 76"/>
          <p:cNvSpPr txBox="1"/>
          <p:nvPr/>
        </p:nvSpPr>
        <p:spPr>
          <a:xfrm>
            <a:off x="1939123" y="3932774"/>
            <a:ext cx="814363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Formalizing the analysis, we introduce:</a:t>
            </a:r>
          </a:p>
          <a:p>
            <a:pPr marL="914400" indent="-566738">
              <a:buFont typeface="Wingdings" panose="05000000000000000000" pitchFamily="2" charset="2"/>
              <a:buChar char="§"/>
            </a:pPr>
            <a:r>
              <a:rPr lang="en-US" altLang="en-US" sz="2400" dirty="0"/>
              <a:t>random process</a:t>
            </a:r>
          </a:p>
          <a:p>
            <a:pPr marL="914400" indent="-566738">
              <a:buFont typeface="Wingdings" panose="05000000000000000000" pitchFamily="2" charset="2"/>
              <a:buChar char="§"/>
            </a:pPr>
            <a:r>
              <a:rPr lang="en-US" altLang="en-US" sz="2400" dirty="0"/>
              <a:t>sample space</a:t>
            </a:r>
          </a:p>
          <a:p>
            <a:pPr marL="914400" indent="-566738">
              <a:buFont typeface="Wingdings" panose="05000000000000000000" pitchFamily="2" charset="2"/>
              <a:buChar char="§"/>
            </a:pPr>
            <a:r>
              <a:rPr lang="en-US" altLang="en-US" sz="2400" dirty="0"/>
              <a:t>event</a:t>
            </a:r>
          </a:p>
          <a:p>
            <a:pPr marL="914400" indent="-566738">
              <a:buFont typeface="Wingdings" panose="05000000000000000000" pitchFamily="2" charset="2"/>
              <a:buChar char="§"/>
            </a:pPr>
            <a:r>
              <a:rPr lang="en-US" altLang="en-US" sz="2400" dirty="0"/>
              <a:t>probability</a:t>
            </a:r>
            <a:endParaRPr lang="en-SG" sz="2000" dirty="0"/>
          </a:p>
        </p:txBody>
      </p:sp>
      <p:pic>
        <p:nvPicPr>
          <p:cNvPr id="7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08" y="1749585"/>
            <a:ext cx="9143999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587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24000" y="136525"/>
            <a:ext cx="9144000" cy="66255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	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9493" y="1140589"/>
            <a:ext cx="83713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To say that a process is </a:t>
            </a:r>
            <a:r>
              <a:rPr lang="en-US" altLang="en-US" sz="2800" b="1" dirty="0"/>
              <a:t>random</a:t>
            </a:r>
            <a:r>
              <a:rPr lang="en-US" altLang="en-US" sz="2800" dirty="0"/>
              <a:t> means that when it takes place, one outcome from some set of outcomes is sure to occur, but it is impossible to predict with certainty which outcome that will be.</a:t>
            </a:r>
            <a:endParaRPr lang="en-SG" sz="2800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</a:t>
            </a:fld>
            <a:endParaRPr lang="en-SG" dirty="0"/>
          </a:p>
        </p:txBody>
      </p:sp>
      <p:grpSp>
        <p:nvGrpSpPr>
          <p:cNvPr id="35" name="Group 34"/>
          <p:cNvGrpSpPr/>
          <p:nvPr/>
        </p:nvGrpSpPr>
        <p:grpSpPr>
          <a:xfrm>
            <a:off x="2446087" y="3289875"/>
            <a:ext cx="7176411" cy="1818173"/>
            <a:chOff x="993228" y="4598517"/>
            <a:chExt cx="7176411" cy="1818173"/>
          </a:xfrm>
        </p:grpSpPr>
        <p:sp>
          <p:nvSpPr>
            <p:cNvPr id="36" name="Rectangle 35"/>
            <p:cNvSpPr/>
            <p:nvPr/>
          </p:nvSpPr>
          <p:spPr>
            <a:xfrm>
              <a:off x="993228" y="4598517"/>
              <a:ext cx="7176411" cy="181817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93228" y="4598517"/>
              <a:ext cx="7176411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09374" y="5193984"/>
              <a:ext cx="69253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A </a:t>
              </a:r>
              <a:r>
                <a:rPr lang="en-SG" sz="2400" b="1" dirty="0"/>
                <a:t>sample space</a:t>
              </a:r>
              <a:r>
                <a:rPr lang="en-SG" sz="2400" dirty="0"/>
                <a:t> is the set of all possible outcomes of a random process or experiment. </a:t>
              </a:r>
            </a:p>
            <a:p>
              <a:r>
                <a:rPr lang="en-SG" sz="2400" dirty="0"/>
                <a:t>An </a:t>
              </a:r>
              <a:r>
                <a:rPr lang="en-SG" sz="2400" b="1" dirty="0"/>
                <a:t>event </a:t>
              </a:r>
              <a:r>
                <a:rPr lang="en-SG" sz="2400" dirty="0"/>
                <a:t>is a subset of a sample space.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696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24000" y="48767"/>
            <a:ext cx="9144000" cy="75031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Equally Likely Probability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</a:t>
            </a:fld>
            <a:endParaRPr lang="en-SG" dirty="0"/>
          </a:p>
        </p:txBody>
      </p:sp>
      <p:grpSp>
        <p:nvGrpSpPr>
          <p:cNvPr id="40" name="Group 39"/>
          <p:cNvGrpSpPr/>
          <p:nvPr/>
        </p:nvGrpSpPr>
        <p:grpSpPr>
          <a:xfrm>
            <a:off x="1968058" y="1014828"/>
            <a:ext cx="7895270" cy="1057132"/>
            <a:chOff x="825277" y="4598517"/>
            <a:chExt cx="7895270" cy="1057132"/>
          </a:xfrm>
        </p:grpSpPr>
        <p:sp>
          <p:nvSpPr>
            <p:cNvPr id="41" name="Rectangle 40"/>
            <p:cNvSpPr/>
            <p:nvPr/>
          </p:nvSpPr>
          <p:spPr>
            <a:xfrm>
              <a:off x="825277" y="4598518"/>
              <a:ext cx="7895270" cy="105713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25277" y="4598517"/>
              <a:ext cx="7895270" cy="50879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Notation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25277" y="5161749"/>
              <a:ext cx="7761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For a finite set </a:t>
              </a:r>
              <a:r>
                <a:rPr lang="en-SG" sz="2400" i="1" dirty="0"/>
                <a:t>A</a:t>
              </a:r>
              <a:r>
                <a:rPr lang="en-SG" sz="2400" dirty="0"/>
                <a:t>, </a:t>
              </a:r>
              <a:r>
                <a:rPr lang="en-SG" sz="2400" i="1" dirty="0"/>
                <a:t>N</a:t>
              </a:r>
              <a:r>
                <a:rPr lang="en-SG" sz="2400" dirty="0"/>
                <a:t>(</a:t>
              </a:r>
              <a:r>
                <a:rPr lang="en-SG" sz="2400" i="1" dirty="0"/>
                <a:t>A</a:t>
              </a:r>
              <a:r>
                <a:rPr lang="en-SG" sz="2400" dirty="0"/>
                <a:t>) denotes the number of elements in </a:t>
              </a:r>
              <a:r>
                <a:rPr lang="en-SG" sz="2400" i="1" dirty="0"/>
                <a:t>A</a:t>
              </a:r>
              <a:r>
                <a:rPr lang="en-SG" sz="2400" dirty="0"/>
                <a:t>.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950176" y="2486498"/>
            <a:ext cx="7913152" cy="2965347"/>
            <a:chOff x="426176" y="2486497"/>
            <a:chExt cx="7913152" cy="2965347"/>
          </a:xfrm>
        </p:grpSpPr>
        <p:grpSp>
          <p:nvGrpSpPr>
            <p:cNvPr id="35" name="Group 34"/>
            <p:cNvGrpSpPr/>
            <p:nvPr/>
          </p:nvGrpSpPr>
          <p:grpSpPr>
            <a:xfrm>
              <a:off x="426176" y="2486497"/>
              <a:ext cx="7913152" cy="2965347"/>
              <a:chOff x="993228" y="4598517"/>
              <a:chExt cx="7913152" cy="2965347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993228" y="4598517"/>
                <a:ext cx="7913152" cy="29037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993228" y="4598517"/>
                <a:ext cx="7913152" cy="57309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1109373" y="4645644"/>
                <a:ext cx="6495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>
                    <a:solidFill>
                      <a:schemeClr val="bg1"/>
                    </a:solidFill>
                  </a:rPr>
                  <a:t>Equally Likely Probability Formula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109374" y="5193984"/>
                <a:ext cx="6925353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/>
                  <a:t>If </a:t>
                </a:r>
                <a:r>
                  <a:rPr lang="en-SG" sz="2400" i="1" dirty="0"/>
                  <a:t>S</a:t>
                </a:r>
                <a:r>
                  <a:rPr lang="en-SG" sz="2400" dirty="0"/>
                  <a:t> is a finite sample space in which all outcomes are equally likely and </a:t>
                </a:r>
                <a:r>
                  <a:rPr lang="en-SG" sz="2400" i="1" dirty="0"/>
                  <a:t>E</a:t>
                </a:r>
                <a:r>
                  <a:rPr lang="en-SG" sz="2400" dirty="0"/>
                  <a:t> is an event in </a:t>
                </a:r>
                <a:r>
                  <a:rPr lang="en-SG" sz="2400" i="1" dirty="0"/>
                  <a:t>S</a:t>
                </a:r>
                <a:r>
                  <a:rPr lang="en-SG" sz="2400" dirty="0"/>
                  <a:t>, then the </a:t>
                </a:r>
                <a:r>
                  <a:rPr lang="en-SG" sz="2400" b="1" dirty="0"/>
                  <a:t>probability</a:t>
                </a:r>
                <a:r>
                  <a:rPr lang="en-SG" sz="2400" dirty="0"/>
                  <a:t> of </a:t>
                </a:r>
                <a:r>
                  <a:rPr lang="en-SG" sz="2400" i="1" dirty="0"/>
                  <a:t>E</a:t>
                </a:r>
                <a:r>
                  <a:rPr lang="en-SG" sz="2400" dirty="0"/>
                  <a:t>, denoted </a:t>
                </a:r>
                <a:r>
                  <a:rPr lang="en-SG" sz="2400" i="1" dirty="0"/>
                  <a:t>P</a:t>
                </a:r>
                <a:r>
                  <a:rPr lang="en-SG" sz="2400" dirty="0"/>
                  <a:t>(</a:t>
                </a:r>
                <a:r>
                  <a:rPr lang="en-SG" sz="2400" i="1" dirty="0"/>
                  <a:t>E</a:t>
                </a:r>
                <a:r>
                  <a:rPr lang="en-SG" sz="2400" dirty="0"/>
                  <a:t>), is</a:t>
                </a:r>
              </a:p>
              <a:p>
                <a:endParaRPr lang="en-SG" sz="2400" dirty="0"/>
              </a:p>
              <a:p>
                <a:pPr>
                  <a:tabLst>
                    <a:tab pos="439738" algn="l"/>
                  </a:tabLst>
                </a:pPr>
                <a:r>
                  <a:rPr lang="en-SG" sz="2800" i="1" dirty="0"/>
                  <a:t>P</a:t>
                </a:r>
                <a:r>
                  <a:rPr lang="en-SG" sz="2800" dirty="0"/>
                  <a:t>(</a:t>
                </a:r>
                <a:r>
                  <a:rPr lang="en-SG" sz="2800" i="1" dirty="0"/>
                  <a:t>E</a:t>
                </a:r>
                <a:r>
                  <a:rPr lang="en-SG" sz="2800" dirty="0"/>
                  <a:t>) = </a:t>
                </a:r>
              </a:p>
              <a:p>
                <a:endParaRPr lang="en-SG" sz="2400" dirty="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1410423" y="4369527"/>
              <a:ext cx="5367195" cy="937612"/>
              <a:chOff x="2472704" y="2917632"/>
              <a:chExt cx="5367195" cy="937612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2824802" y="2917632"/>
                <a:ext cx="47400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/>
                  <a:t>The number of outcomes in </a:t>
                </a:r>
                <a:r>
                  <a:rPr lang="en-SG" sz="2800" i="1" dirty="0"/>
                  <a:t>E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2472704" y="3332024"/>
                <a:ext cx="53671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/>
                  <a:t>The total number of outcomes in </a:t>
                </a:r>
                <a:r>
                  <a:rPr lang="en-SG" sz="2800" i="1" dirty="0"/>
                  <a:t>S</a:t>
                </a:r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2637693" y="3402362"/>
                <a:ext cx="508985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6705990" y="4331037"/>
              <a:ext cx="1523369" cy="1046440"/>
              <a:chOff x="3980390" y="5378738"/>
              <a:chExt cx="1523369" cy="1046440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3980390" y="5640348"/>
                <a:ext cx="4523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800" dirty="0"/>
                  <a:t>=</a:t>
                </a: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4219358" y="5378738"/>
                <a:ext cx="1284401" cy="1046440"/>
                <a:chOff x="4387309" y="5378738"/>
                <a:chExt cx="1284401" cy="1046440"/>
              </a:xfrm>
            </p:grpSpPr>
            <p:sp>
              <p:nvSpPr>
                <p:cNvPr id="72" name="TextBox 71"/>
                <p:cNvSpPr txBox="1"/>
                <p:nvPr/>
              </p:nvSpPr>
              <p:spPr>
                <a:xfrm>
                  <a:off x="4387309" y="5378738"/>
                  <a:ext cx="128440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SG" sz="2800" i="1" dirty="0"/>
                    <a:t>N</a:t>
                  </a:r>
                  <a:r>
                    <a:rPr lang="en-SG" sz="2800" dirty="0"/>
                    <a:t>(</a:t>
                  </a:r>
                  <a:r>
                    <a:rPr lang="en-SG" sz="2800" i="1" dirty="0"/>
                    <a:t>E</a:t>
                  </a:r>
                  <a:r>
                    <a:rPr lang="en-SG" sz="2800" dirty="0"/>
                    <a:t>)</a:t>
                  </a:r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4387309" y="5901958"/>
                  <a:ext cx="128440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SG" sz="2800" i="1" dirty="0"/>
                    <a:t>N</a:t>
                  </a:r>
                  <a:r>
                    <a:rPr lang="en-SG" sz="2800" dirty="0"/>
                    <a:t>(</a:t>
                  </a:r>
                  <a:r>
                    <a:rPr lang="en-SG" sz="2800" i="1" dirty="0"/>
                    <a:t>S</a:t>
                  </a:r>
                  <a:r>
                    <a:rPr lang="en-SG" sz="2800" dirty="0"/>
                    <a:t>)</a:t>
                  </a:r>
                </a:p>
              </p:txBody>
            </p: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4506283" y="5901958"/>
                  <a:ext cx="104645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00487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</a:t>
            </a:fld>
            <a:endParaRPr lang="en-SG" dirty="0"/>
          </a:p>
        </p:txBody>
      </p:sp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702" y="2223462"/>
            <a:ext cx="6849678" cy="39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1524000" y="121626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Equally Likely Probability: Rolling a Pair of Dice</a:t>
            </a:r>
            <a:endParaRPr lang="en-SG" sz="2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784" y="732686"/>
            <a:ext cx="2539682" cy="12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3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1981200" y="2032801"/>
            <a:ext cx="8229600" cy="4494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A more compact notation identifies, say,               with the notation 24,              with 53, and so forth.</a:t>
            </a:r>
          </a:p>
          <a:p>
            <a:pPr marL="514350" indent="-514350">
              <a:buFont typeface="+mj-lt"/>
              <a:buAutoNum type="alphaLcPeriod"/>
            </a:pPr>
            <a:r>
              <a:rPr lang="en-US" altLang="en-US" dirty="0"/>
              <a:t>Use the compact notation to write the sample space </a:t>
            </a:r>
            <a:r>
              <a:rPr lang="en-US" altLang="en-US" i="1" dirty="0"/>
              <a:t>S</a:t>
            </a:r>
            <a:r>
              <a:rPr lang="en-US" altLang="en-US" dirty="0"/>
              <a:t> of possible outcomes.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lphaLcPeriod"/>
            </a:pPr>
            <a:endParaRPr lang="en-US" altLang="en-US" dirty="0"/>
          </a:p>
          <a:p>
            <a:pPr marL="514350" indent="-514350">
              <a:buFont typeface="+mj-lt"/>
              <a:buAutoNum type="alphaLcPeriod"/>
            </a:pPr>
            <a:r>
              <a:rPr lang="en-US" altLang="en-US" dirty="0"/>
              <a:t>Use set notation to write the event </a:t>
            </a:r>
            <a:r>
              <a:rPr lang="en-US" altLang="en-US" i="1" dirty="0"/>
              <a:t>E</a:t>
            </a:r>
            <a:r>
              <a:rPr lang="en-US" altLang="en-US" dirty="0"/>
              <a:t> that the numbers showing face up have a sum of 6 and find the probability of this event.</a:t>
            </a: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100" b="9605"/>
          <a:stretch>
            <a:fillRect/>
          </a:stretch>
        </p:blipFill>
        <p:spPr bwMode="auto">
          <a:xfrm>
            <a:off x="8025840" y="1966649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17" r="633"/>
          <a:stretch>
            <a:fillRect/>
          </a:stretch>
        </p:blipFill>
        <p:spPr bwMode="auto">
          <a:xfrm>
            <a:off x="4506756" y="2394507"/>
            <a:ext cx="94297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2523271" y="3721618"/>
            <a:ext cx="7636429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i="1" dirty="0"/>
              <a:t>S</a:t>
            </a:r>
            <a:r>
              <a:rPr lang="en-SG" sz="2000" dirty="0"/>
              <a:t> = { 11, 12, 13, 14, 15, 16, </a:t>
            </a:r>
            <a:r>
              <a:rPr lang="en-SG" sz="2000" dirty="0">
                <a:solidFill>
                  <a:srgbClr val="0033CC"/>
                </a:solidFill>
              </a:rPr>
              <a:t>21, 22, 23, 24, 25, 26,</a:t>
            </a:r>
            <a:r>
              <a:rPr lang="en-SG" sz="2000" dirty="0"/>
              <a:t> 31, 32, 33, 34, 35, 36, </a:t>
            </a:r>
          </a:p>
          <a:p>
            <a:r>
              <a:rPr lang="en-SG" sz="2000" dirty="0"/>
              <a:t>         </a:t>
            </a:r>
            <a:r>
              <a:rPr lang="en-SG" sz="2000" dirty="0">
                <a:solidFill>
                  <a:srgbClr val="0033CC"/>
                </a:solidFill>
              </a:rPr>
              <a:t>41, 42, 43, 44, 45, 46, </a:t>
            </a:r>
            <a:r>
              <a:rPr lang="en-SG" sz="2000" dirty="0"/>
              <a:t>51, 52, 53, 54, 55, 56, </a:t>
            </a:r>
            <a:r>
              <a:rPr lang="en-SG" sz="2000" dirty="0">
                <a:solidFill>
                  <a:srgbClr val="0033CC"/>
                </a:solidFill>
              </a:rPr>
              <a:t>61, 62, 63, 64, 65, 66 </a:t>
            </a:r>
            <a:r>
              <a:rPr lang="en-SG" sz="2000" dirty="0"/>
              <a:t>}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3271" y="5805658"/>
            <a:ext cx="3793945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i="1" dirty="0"/>
              <a:t>E</a:t>
            </a:r>
            <a:r>
              <a:rPr lang="en-SG" sz="2800" dirty="0"/>
              <a:t> = { 15, 24, 33, 42, 51 }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0944" y="5805657"/>
            <a:ext cx="2030874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i="1" dirty="0"/>
              <a:t>P</a:t>
            </a:r>
            <a:r>
              <a:rPr lang="en-SG" sz="2800" dirty="0"/>
              <a:t>(</a:t>
            </a:r>
            <a:r>
              <a:rPr lang="en-SG" sz="2800" i="1" dirty="0"/>
              <a:t>E</a:t>
            </a:r>
            <a:r>
              <a:rPr lang="en-SG" sz="2800" dirty="0"/>
              <a:t>) = 5/36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784" y="732686"/>
            <a:ext cx="2539682" cy="128254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5F30CD0-EC06-4444-81F6-1D1DDA49E71C}"/>
              </a:ext>
            </a:extLst>
          </p:cNvPr>
          <p:cNvSpPr txBox="1"/>
          <p:nvPr/>
        </p:nvSpPr>
        <p:spPr>
          <a:xfrm>
            <a:off x="1524000" y="121626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Equally Likely Probability: Rolling a Pair of Dice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00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10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1981200" y="1780529"/>
            <a:ext cx="8229600" cy="277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Some counting problems are as simple as </a:t>
            </a:r>
            <a:r>
              <a:rPr lang="en-US" altLang="en-US" dirty="0">
                <a:solidFill>
                  <a:srgbClr val="C00000"/>
                </a:solidFill>
              </a:rPr>
              <a:t>counting the elements of a list</a:t>
            </a:r>
            <a:r>
              <a:rPr lang="en-US" altLang="en-US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For instance, how many integers are there from 5 through 12?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27951" y="3894154"/>
            <a:ext cx="63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84250" algn="l"/>
                <a:tab pos="1617663" algn="l"/>
                <a:tab pos="2233613" algn="l"/>
                <a:tab pos="2867025" algn="l"/>
                <a:tab pos="3498850" algn="l"/>
                <a:tab pos="4219575" algn="l"/>
                <a:tab pos="4924425" algn="l"/>
                <a:tab pos="5645150" algn="l"/>
              </a:tabLst>
            </a:pPr>
            <a:r>
              <a:rPr lang="en-SG" sz="2400" dirty="0">
                <a:solidFill>
                  <a:srgbClr val="0033CC"/>
                </a:solidFill>
              </a:rPr>
              <a:t>list:	</a:t>
            </a:r>
            <a:r>
              <a:rPr lang="en-SG" sz="2400" dirty="0"/>
              <a:t>5	6	7	8	9	10	11	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7951" y="4644769"/>
            <a:ext cx="63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84250" algn="l"/>
                <a:tab pos="1617663" algn="l"/>
                <a:tab pos="2233613" algn="l"/>
                <a:tab pos="2867025" algn="l"/>
                <a:tab pos="3498850" algn="l"/>
                <a:tab pos="4219575" algn="l"/>
                <a:tab pos="4924425" algn="l"/>
                <a:tab pos="5645150" algn="l"/>
              </a:tabLst>
            </a:pPr>
            <a:r>
              <a:rPr lang="en-SG" sz="2400" dirty="0">
                <a:solidFill>
                  <a:srgbClr val="0033CC"/>
                </a:solidFill>
              </a:rPr>
              <a:t>count:	</a:t>
            </a:r>
            <a:r>
              <a:rPr lang="en-SG" sz="2400" dirty="0"/>
              <a:t>1	2	3	4	5	 6	 7	 8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059012" y="4270379"/>
            <a:ext cx="4753663" cy="393786"/>
            <a:chOff x="2535011" y="4699808"/>
            <a:chExt cx="4753663" cy="393786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535011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3162841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3796759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4432167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5043748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>
              <a:off x="5852641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6532685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7288674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/>
          <p:cNvSpPr txBox="1"/>
          <p:nvPr/>
        </p:nvSpPr>
        <p:spPr>
          <a:xfrm>
            <a:off x="1384168" y="418187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the Elements of a List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7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11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1919077" y="1005491"/>
            <a:ext cx="8333459" cy="1897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More generally, if </a:t>
            </a:r>
            <a:r>
              <a:rPr lang="en-US" altLang="en-US" i="1" dirty="0"/>
              <a:t>m</a:t>
            </a:r>
            <a:r>
              <a:rPr lang="en-US" altLang="en-US" dirty="0"/>
              <a:t> and </a:t>
            </a:r>
            <a:r>
              <a:rPr lang="en-US" altLang="en-US" i="1" dirty="0"/>
              <a:t>n</a:t>
            </a:r>
            <a:r>
              <a:rPr lang="en-US" altLang="en-US" dirty="0"/>
              <a:t> are integers and </a:t>
            </a:r>
            <a:r>
              <a:rPr lang="en-US" altLang="en-US" i="1" dirty="0"/>
              <a:t>m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</a:t>
            </a:r>
            <a:r>
              <a:rPr lang="en-US" altLang="en-US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, how many integers are there from </a:t>
            </a:r>
            <a:r>
              <a:rPr lang="en-US" altLang="en-US" i="1" dirty="0"/>
              <a:t>m</a:t>
            </a:r>
            <a:r>
              <a:rPr lang="en-US" altLang="en-US" dirty="0"/>
              <a:t> through </a:t>
            </a:r>
            <a:r>
              <a:rPr lang="en-US" altLang="en-US" i="1" dirty="0"/>
              <a:t>n</a:t>
            </a:r>
            <a:r>
              <a:rPr lang="en-US" altLang="en-US" sz="500" i="1" dirty="0"/>
              <a:t> </a:t>
            </a:r>
            <a:r>
              <a:rPr lang="en-US" altLang="en-US" dirty="0"/>
              <a:t>?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Note that </a:t>
            </a:r>
            <a:r>
              <a:rPr lang="en-US" altLang="en-US" i="1" dirty="0"/>
              <a:t>n</a:t>
            </a:r>
            <a:r>
              <a:rPr lang="en-US" altLang="en-US" dirty="0"/>
              <a:t> = </a:t>
            </a:r>
            <a:r>
              <a:rPr lang="en-US" altLang="en-US" i="1" dirty="0"/>
              <a:t>m</a:t>
            </a:r>
            <a:r>
              <a:rPr lang="en-US" altLang="en-US" dirty="0"/>
              <a:t> + (</a:t>
            </a:r>
            <a:r>
              <a:rPr lang="en-US" altLang="en-US" i="1" dirty="0"/>
              <a:t>n</a:t>
            </a:r>
            <a:r>
              <a:rPr lang="en-US" altLang="en-US" dirty="0"/>
              <a:t> – </a:t>
            </a:r>
            <a:r>
              <a:rPr lang="en-US" altLang="en-US" i="1" dirty="0"/>
              <a:t>m</a:t>
            </a:r>
            <a:r>
              <a:rPr lang="en-US" altLang="en-US" dirty="0"/>
              <a:t>), w</a:t>
            </a:r>
            <a:r>
              <a:rPr lang="en-US" altLang="en-US" i="1" dirty="0"/>
              <a:t>here n</a:t>
            </a:r>
            <a:r>
              <a:rPr lang="en-US" altLang="en-US" dirty="0"/>
              <a:t> – </a:t>
            </a:r>
            <a:r>
              <a:rPr lang="en-US" altLang="en-US" i="1" dirty="0"/>
              <a:t>m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</a:t>
            </a:r>
            <a:r>
              <a:rPr lang="en-US" altLang="en-US" dirty="0"/>
              <a:t> </a:t>
            </a:r>
            <a:r>
              <a:rPr lang="en-US" altLang="en-US" i="1" dirty="0"/>
              <a:t>0 </a:t>
            </a:r>
            <a:r>
              <a:rPr lang="en-US" altLang="en-US" dirty="0"/>
              <a:t>[</a:t>
            </a:r>
            <a:r>
              <a:rPr lang="en-US" altLang="en-US" i="1" dirty="0"/>
              <a:t>since</a:t>
            </a:r>
            <a:r>
              <a:rPr lang="en-US" altLang="en-US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</a:t>
            </a:r>
            <a:r>
              <a:rPr lang="en-US" altLang="en-US" dirty="0"/>
              <a:t> </a:t>
            </a:r>
            <a:r>
              <a:rPr lang="en-US" altLang="en-US" i="1" dirty="0"/>
              <a:t>m</a:t>
            </a:r>
            <a:r>
              <a:rPr lang="en-US" altLang="en-US" dirty="0"/>
              <a:t>].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2457852" y="2581181"/>
            <a:ext cx="7398282" cy="2159099"/>
            <a:chOff x="730523" y="4598517"/>
            <a:chExt cx="7398282" cy="2159099"/>
          </a:xfrm>
        </p:grpSpPr>
        <p:sp>
          <p:nvSpPr>
            <p:cNvPr id="81" name="Rectangle 80"/>
            <p:cNvSpPr/>
            <p:nvPr/>
          </p:nvSpPr>
          <p:spPr>
            <a:xfrm>
              <a:off x="730523" y="4598518"/>
              <a:ext cx="7398282" cy="214877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10.1.1 The Number of Elements in a List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95941" y="5218733"/>
              <a:ext cx="7242559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800" dirty="0"/>
                <a:t>If </a:t>
              </a:r>
              <a:r>
                <a:rPr lang="en-SG" sz="2800" i="1" dirty="0"/>
                <a:t>m</a:t>
              </a:r>
              <a:r>
                <a:rPr lang="en-SG" sz="2800" dirty="0"/>
                <a:t> and </a:t>
              </a:r>
              <a:r>
                <a:rPr lang="en-SG" sz="2800" i="1" dirty="0"/>
                <a:t>n</a:t>
              </a:r>
              <a:r>
                <a:rPr lang="en-SG" sz="2800" dirty="0"/>
                <a:t> are integers and </a:t>
              </a:r>
              <a:r>
                <a:rPr lang="en-SG" sz="2800" i="1" dirty="0"/>
                <a:t>m </a:t>
              </a:r>
              <a:r>
                <a:rPr lang="en-SG" sz="2800" dirty="0">
                  <a:sym typeface="Symbol" panose="05050102010706020507" pitchFamily="18" charset="2"/>
                </a:rPr>
                <a:t></a:t>
              </a:r>
              <a:r>
                <a:rPr lang="en-SG" sz="2800" dirty="0"/>
                <a:t> </a:t>
              </a:r>
              <a:r>
                <a:rPr lang="en-SG" sz="2800" i="1" dirty="0"/>
                <a:t>n</a:t>
              </a:r>
              <a:r>
                <a:rPr lang="en-SG" sz="2800" dirty="0"/>
                <a:t>, then there are 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>
                  <a:sym typeface="Symbol" panose="05050102010706020507" pitchFamily="18" charset="2"/>
                </a:rPr>
                <a:t>		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 –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m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 + 1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>
                  <a:sym typeface="Symbol" panose="05050102010706020507" pitchFamily="18" charset="2"/>
                </a:rPr>
                <a:t>integers from </a:t>
              </a:r>
              <a:r>
                <a:rPr lang="en-SG" sz="2800" i="1" dirty="0">
                  <a:sym typeface="Symbol" panose="05050102010706020507" pitchFamily="18" charset="2"/>
                </a:rPr>
                <a:t>m</a:t>
              </a:r>
              <a:r>
                <a:rPr lang="en-SG" sz="2800" dirty="0">
                  <a:sym typeface="Symbol" panose="05050102010706020507" pitchFamily="18" charset="2"/>
                </a:rPr>
                <a:t> to </a:t>
              </a:r>
              <a:r>
                <a:rPr lang="en-SG" sz="2800" i="1" dirty="0"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ym typeface="Symbol" panose="05050102010706020507" pitchFamily="18" charset="2"/>
                </a:rPr>
                <a:t> inclusive.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BF2A68F-9A91-450C-8DEF-90F169A14E03}"/>
              </a:ext>
            </a:extLst>
          </p:cNvPr>
          <p:cNvSpPr txBox="1"/>
          <p:nvPr/>
        </p:nvSpPr>
        <p:spPr>
          <a:xfrm>
            <a:off x="1369654" y="175724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the Elements of a List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867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12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029790" y="1247782"/>
            <a:ext cx="6762277" cy="1064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dirty="0"/>
              <a:t>How many 3-digit integers (from 100 to 999 inclusive) are divisible by 5?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91524" y="2335231"/>
            <a:ext cx="794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100 </a:t>
            </a:r>
            <a:r>
              <a:rPr lang="en-SG" dirty="0"/>
              <a:t> 101  102  103  104  </a:t>
            </a:r>
            <a:r>
              <a:rPr lang="en-SG" b="1" dirty="0">
                <a:solidFill>
                  <a:srgbClr val="FF0000"/>
                </a:solidFill>
              </a:rPr>
              <a:t>105</a:t>
            </a:r>
            <a:r>
              <a:rPr lang="en-SG" dirty="0"/>
              <a:t>  106  107  108  109  </a:t>
            </a:r>
            <a:r>
              <a:rPr lang="en-SG" b="1" dirty="0">
                <a:solidFill>
                  <a:srgbClr val="FF0000"/>
                </a:solidFill>
              </a:rPr>
              <a:t>110</a:t>
            </a:r>
            <a:r>
              <a:rPr lang="en-SG" dirty="0"/>
              <a:t> … 994  </a:t>
            </a:r>
            <a:r>
              <a:rPr lang="en-SG" b="1" dirty="0">
                <a:solidFill>
                  <a:srgbClr val="FF0000"/>
                </a:solidFill>
              </a:rPr>
              <a:t>995</a:t>
            </a:r>
            <a:r>
              <a:rPr lang="en-SG" dirty="0"/>
              <a:t>  996  997  998  999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111402" y="2704564"/>
            <a:ext cx="6520378" cy="461665"/>
            <a:chOff x="587402" y="3270794"/>
            <a:chExt cx="6520378" cy="461665"/>
          </a:xfrm>
        </p:grpSpPr>
        <p:sp>
          <p:nvSpPr>
            <p:cNvPr id="3" name="TextBox 2"/>
            <p:cNvSpPr txBox="1"/>
            <p:nvPr/>
          </p:nvSpPr>
          <p:spPr>
            <a:xfrm>
              <a:off x="587402" y="3270794"/>
              <a:ext cx="9997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5</a:t>
              </a:r>
              <a:r>
                <a:rPr lang="en-SG" sz="2400" dirty="0">
                  <a:sym typeface="Symbol" panose="05050102010706020507" pitchFamily="18" charset="2"/>
                </a:rPr>
                <a:t></a:t>
              </a:r>
              <a:r>
                <a:rPr lang="en-SG" sz="24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20</a:t>
              </a:r>
              <a:endParaRPr lang="en-SG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12493" y="3270794"/>
              <a:ext cx="9997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5</a:t>
              </a:r>
              <a:r>
                <a:rPr lang="en-SG" sz="2400" dirty="0">
                  <a:sym typeface="Symbol" panose="05050102010706020507" pitchFamily="18" charset="2"/>
                </a:rPr>
                <a:t></a:t>
              </a:r>
              <a:r>
                <a:rPr lang="en-SG" sz="24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21</a:t>
              </a:r>
              <a:endParaRPr lang="en-SG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88371" y="3270794"/>
              <a:ext cx="9997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5</a:t>
              </a:r>
              <a:r>
                <a:rPr lang="en-SG" sz="2400" dirty="0">
                  <a:sym typeface="Symbol" panose="05050102010706020507" pitchFamily="18" charset="2"/>
                </a:rPr>
                <a:t></a:t>
              </a:r>
              <a:r>
                <a:rPr lang="en-SG" sz="24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22</a:t>
              </a:r>
              <a:endParaRPr lang="en-SG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108015" y="3270794"/>
              <a:ext cx="9997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5</a:t>
              </a:r>
              <a:r>
                <a:rPr lang="en-SG" sz="2400" dirty="0">
                  <a:sym typeface="Symbol" panose="05050102010706020507" pitchFamily="18" charset="2"/>
                </a:rPr>
                <a:t></a:t>
              </a:r>
              <a:r>
                <a:rPr lang="en-SG" sz="24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199</a:t>
              </a:r>
              <a:endParaRPr lang="en-SG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068816" y="3230882"/>
            <a:ext cx="5987473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Number of multiples of 5 from 100 to 999 = number of integers from 20 to 199 inclusive.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8815" y="4299009"/>
            <a:ext cx="5987473" cy="16312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From Theorem 10.1.1, there are 199 – 20 + 1 = 180 such integers.</a:t>
            </a:r>
          </a:p>
          <a:p>
            <a:r>
              <a:rPr lang="en-SG" sz="2400" dirty="0"/>
              <a:t>Hence, there are </a:t>
            </a:r>
            <a:r>
              <a:rPr lang="en-SG" sz="2800" b="1" dirty="0">
                <a:solidFill>
                  <a:srgbClr val="0033CC"/>
                </a:solidFill>
              </a:rPr>
              <a:t>180</a:t>
            </a:r>
            <a:r>
              <a:rPr lang="en-SG" sz="2400" dirty="0"/>
              <a:t> 3-digit integers that are divisible by 5.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CB9DD7-C692-466B-9DCA-82E464FFCC20}"/>
              </a:ext>
            </a:extLst>
          </p:cNvPr>
          <p:cNvSpPr txBox="1"/>
          <p:nvPr/>
        </p:nvSpPr>
        <p:spPr>
          <a:xfrm>
            <a:off x="1369654" y="175724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the Elements of a List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94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13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029791" y="1230100"/>
            <a:ext cx="6931841" cy="1064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2"/>
            </a:pPr>
            <a:r>
              <a:rPr lang="en-US" altLang="en-US" dirty="0"/>
              <a:t>What is the probability that a randomly chosen 3-digit integer is divisible by 5?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8816" y="2468382"/>
            <a:ext cx="5987473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By Theorem 10.1.1, total number of integers from 100 through 999 = 999 – 100 + 1 = </a:t>
            </a:r>
            <a:r>
              <a:rPr lang="en-SG" sz="2400" dirty="0">
                <a:solidFill>
                  <a:srgbClr val="0033CC"/>
                </a:solidFill>
              </a:rPr>
              <a:t>900</a:t>
            </a:r>
            <a:r>
              <a:rPr lang="en-SG" sz="2400" dirty="0"/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8816" y="3437870"/>
            <a:ext cx="5987473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By part (a), </a:t>
            </a:r>
            <a:r>
              <a:rPr lang="en-SG" sz="2400" dirty="0">
                <a:solidFill>
                  <a:srgbClr val="0033CC"/>
                </a:solidFill>
              </a:rPr>
              <a:t>180</a:t>
            </a:r>
            <a:r>
              <a:rPr lang="en-SG" sz="2400" dirty="0"/>
              <a:t> of these are divisible by 5.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8816" y="4063441"/>
            <a:ext cx="598747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Hence, answer = 180/900 = </a:t>
            </a:r>
            <a:r>
              <a:rPr lang="en-SG" sz="2800" b="1" dirty="0">
                <a:solidFill>
                  <a:srgbClr val="0033CC"/>
                </a:solidFill>
              </a:rPr>
              <a:t>1/5</a:t>
            </a:r>
            <a:r>
              <a:rPr lang="en-SG" sz="2400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1B4F22-7596-472D-B74E-6AC8657C0023}"/>
              </a:ext>
            </a:extLst>
          </p:cNvPr>
          <p:cNvSpPr txBox="1"/>
          <p:nvPr/>
        </p:nvSpPr>
        <p:spPr>
          <a:xfrm>
            <a:off x="1369654" y="175724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the Elements of a List and Probability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47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14</a:t>
            </a:fld>
            <a:endParaRPr lang="en-SG" dirty="0"/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275771" y="2284963"/>
            <a:ext cx="11727543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b="1" dirty="0">
                <a:solidFill>
                  <a:srgbClr val="2429E4"/>
                </a:solidFill>
                <a:latin typeface="+mn-lt"/>
              </a:rPr>
              <a:t>2:  Possibility Trees and the Multiplication Rule</a:t>
            </a:r>
          </a:p>
        </p:txBody>
      </p:sp>
    </p:spTree>
    <p:extLst>
      <p:ext uri="{BB962C8B-B14F-4D97-AF65-F5344CB8AC3E}">
        <p14:creationId xmlns:p14="http://schemas.microsoft.com/office/powerpoint/2010/main" val="275108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15</a:t>
            </a:fld>
            <a:endParaRPr lang="en-SG" dirty="0"/>
          </a:p>
        </p:txBody>
      </p:sp>
      <p:sp>
        <p:nvSpPr>
          <p:cNvPr id="33" name="TextBox 32"/>
          <p:cNvSpPr txBox="1"/>
          <p:nvPr/>
        </p:nvSpPr>
        <p:spPr>
          <a:xfrm>
            <a:off x="725714" y="345600"/>
            <a:ext cx="104648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Possibility Trees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2" name="Rectangle 3"/>
          <p:cNvSpPr txBox="1">
            <a:spLocks noChangeArrowheads="1"/>
          </p:cNvSpPr>
          <p:nvPr/>
        </p:nvSpPr>
        <p:spPr>
          <a:xfrm>
            <a:off x="1815106" y="1418331"/>
            <a:ext cx="5119881" cy="15605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33CC"/>
                </a:solidFill>
              </a:rPr>
              <a:t>tree structure </a:t>
            </a:r>
            <a:r>
              <a:rPr lang="en-US" altLang="en-US" dirty="0"/>
              <a:t>is a useful tool for keeping systematic track of all possibilities in situations in which events happen in order.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24000" y="3139204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1: Possibilities for Tournament Play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1913532" y="3750264"/>
            <a:ext cx="8229600" cy="27297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Teams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to play each other repeatedly </a:t>
            </a:r>
            <a:r>
              <a:rPr lang="en-US" altLang="en-US" dirty="0">
                <a:solidFill>
                  <a:srgbClr val="C00000"/>
                </a:solidFill>
              </a:rPr>
              <a:t>until one wins two games in a row, or a total of three games</a:t>
            </a:r>
            <a:r>
              <a:rPr lang="en-US" altLang="en-US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One way in which this tournament can be played is for </a:t>
            </a:r>
            <a:r>
              <a:rPr lang="en-US" altLang="en-US" i="1" dirty="0"/>
              <a:t>A</a:t>
            </a:r>
            <a:r>
              <a:rPr lang="en-US" altLang="en-US" dirty="0"/>
              <a:t> to win the first game, </a:t>
            </a:r>
            <a:r>
              <a:rPr lang="en-US" altLang="en-US" i="1" dirty="0"/>
              <a:t>B</a:t>
            </a:r>
            <a:r>
              <a:rPr lang="en-US" altLang="en-US" dirty="0"/>
              <a:t> to win the second, and </a:t>
            </a:r>
            <a:r>
              <a:rPr lang="en-US" altLang="en-US" i="1" dirty="0"/>
              <a:t>A</a:t>
            </a:r>
            <a:r>
              <a:rPr lang="en-US" altLang="en-US" dirty="0"/>
              <a:t> to win the third and fourth games. Denote this by writing </a:t>
            </a:r>
            <a:r>
              <a:rPr lang="en-US" altLang="en-US" i="1" dirty="0"/>
              <a:t>A</a:t>
            </a:r>
            <a:r>
              <a:rPr lang="en-US" altLang="en-US" dirty="0"/>
              <a:t>–</a:t>
            </a:r>
            <a:r>
              <a:rPr lang="en-US" altLang="en-US" i="1" dirty="0"/>
              <a:t>B</a:t>
            </a:r>
            <a:r>
              <a:rPr lang="en-US" altLang="en-US" dirty="0"/>
              <a:t>–</a:t>
            </a:r>
            <a:r>
              <a:rPr lang="en-US" altLang="en-US" i="1" dirty="0"/>
              <a:t>A</a:t>
            </a:r>
            <a:r>
              <a:rPr lang="en-US" altLang="en-US" dirty="0"/>
              <a:t>–</a:t>
            </a:r>
            <a:r>
              <a:rPr lang="en-US" altLang="en-US" i="1" dirty="0"/>
              <a:t>A.</a:t>
            </a:r>
            <a:endParaRPr lang="en-US" alt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6745972" y="1453252"/>
            <a:ext cx="3717745" cy="1657344"/>
            <a:chOff x="5221971" y="1453252"/>
            <a:chExt cx="3717745" cy="165734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6678725" y="1453252"/>
              <a:ext cx="740227" cy="293914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548096" y="1724536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08778" y="1724536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H="1">
              <a:off x="6275953" y="1975264"/>
              <a:ext cx="375558" cy="23924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 flipV="1">
              <a:off x="7418952" y="1453252"/>
              <a:ext cx="740227" cy="293914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 flipV="1">
              <a:off x="6643348" y="1975264"/>
              <a:ext cx="375558" cy="23924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7836182" y="1975264"/>
              <a:ext cx="375558" cy="23924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 flipV="1">
              <a:off x="8203577" y="1975264"/>
              <a:ext cx="375558" cy="23924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6161653" y="2215490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934538" y="2213653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730042" y="2217565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502927" y="2215728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cxnSp>
          <p:nvCxnSpPr>
            <p:cNvPr id="45" name="Straight Connector 44"/>
            <p:cNvCxnSpPr/>
            <p:nvPr/>
          </p:nvCxnSpPr>
          <p:spPr>
            <a:xfrm flipH="1">
              <a:off x="6045993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5942771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330383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727714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126404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516405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915095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312426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711116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221971" y="1747166"/>
              <a:ext cx="759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Coin 1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221971" y="2213653"/>
              <a:ext cx="759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Coin 2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221971" y="2769971"/>
              <a:ext cx="759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Coin 3</a:t>
              </a:r>
            </a:p>
          </p:txBody>
        </p:sp>
        <p:cxnSp>
          <p:nvCxnSpPr>
            <p:cNvPr id="83" name="Straight Connector 82"/>
            <p:cNvCxnSpPr/>
            <p:nvPr/>
          </p:nvCxnSpPr>
          <p:spPr>
            <a:xfrm flipH="1" flipV="1">
              <a:off x="6253845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H="1">
              <a:off x="6851190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H="1" flipV="1">
              <a:off x="7059042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7636490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H="1" flipV="1">
              <a:off x="7844342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flipH="1">
              <a:off x="8409372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 flipV="1">
              <a:off x="8617224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6535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152400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24000" y="496559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Possibility Trees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16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184835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200075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2187369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619652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634892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652160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887086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902326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919595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4" name="Oval 63"/>
          <p:cNvSpPr/>
          <p:nvPr/>
        </p:nvSpPr>
        <p:spPr>
          <a:xfrm>
            <a:off x="9363901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3187134" y="303854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3339534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352217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3690126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385807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TextBox 72"/>
          <p:cNvSpPr txBox="1"/>
          <p:nvPr/>
        </p:nvSpPr>
        <p:spPr>
          <a:xfrm>
            <a:off x="152400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1: Possibilities for Tournament Play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1939123" y="1561784"/>
            <a:ext cx="8229600" cy="594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dirty="0"/>
              <a:t>How many ways can the tournament be played?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1523" y="2184334"/>
            <a:ext cx="7947827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Possible ways are represented by the distinct paths from “root” (the start) to “leaf” (a terminal point) in the tree below.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31338" y="3146836"/>
            <a:ext cx="6523361" cy="3293836"/>
            <a:chOff x="1507337" y="3146836"/>
            <a:chExt cx="6523361" cy="3293836"/>
          </a:xfrm>
        </p:grpSpPr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7337" y="3146836"/>
              <a:ext cx="6523361" cy="2861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TextBox 31"/>
            <p:cNvSpPr txBox="1"/>
            <p:nvPr/>
          </p:nvSpPr>
          <p:spPr>
            <a:xfrm>
              <a:off x="1684808" y="6040562"/>
              <a:ext cx="6168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10.2.1 The Outcomes of a Tournament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425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17</a:t>
            </a:fld>
            <a:endParaRPr lang="en-SG" dirty="0"/>
          </a:p>
        </p:txBody>
      </p:sp>
      <p:sp>
        <p:nvSpPr>
          <p:cNvPr id="73" name="TextBox 72"/>
          <p:cNvSpPr txBox="1"/>
          <p:nvPr/>
        </p:nvSpPr>
        <p:spPr>
          <a:xfrm>
            <a:off x="1524000" y="352030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1: Possibilities for Tournament Play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1939123" y="1561784"/>
            <a:ext cx="8229600" cy="594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dirty="0"/>
              <a:t>How many ways can the tournament be played?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1523" y="2184334"/>
            <a:ext cx="7947827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Ten paths from the root of the tree to its leaves </a:t>
            </a:r>
            <a:r>
              <a:rPr lang="en-SG" sz="2800" dirty="0">
                <a:sym typeface="Wingdings" panose="05000000000000000000" pitchFamily="2" charset="2"/>
              </a:rPr>
              <a:t> ten possible ways for the tournament to be played.</a:t>
            </a:r>
            <a:endParaRPr lang="en-SG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3455807" y="3408568"/>
            <a:ext cx="250978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800" dirty="0"/>
              <a:t>A-A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A-B-A-B-A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A-B-A-B-B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7286" y="3368458"/>
            <a:ext cx="250978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B-A-A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B-A-B-A-A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B-A-B-A-B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B-A-B-B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B-B</a:t>
            </a:r>
          </a:p>
        </p:txBody>
      </p:sp>
    </p:spTree>
    <p:extLst>
      <p:ext uri="{BB962C8B-B14F-4D97-AF65-F5344CB8AC3E}">
        <p14:creationId xmlns:p14="http://schemas.microsoft.com/office/powerpoint/2010/main" val="302624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18</a:t>
            </a:fld>
            <a:endParaRPr lang="en-SG" dirty="0"/>
          </a:p>
        </p:txBody>
      </p:sp>
      <p:sp>
        <p:nvSpPr>
          <p:cNvPr id="73" name="TextBox 72"/>
          <p:cNvSpPr txBox="1"/>
          <p:nvPr/>
        </p:nvSpPr>
        <p:spPr>
          <a:xfrm>
            <a:off x="1449079" y="44767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1: Possibilities for Tournament Play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1939123" y="1561784"/>
            <a:ext cx="8482692" cy="1761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2"/>
            </a:pPr>
            <a:r>
              <a:rPr lang="en-US" altLang="en-US" dirty="0"/>
              <a:t>Assuming that all the ways of playing the tournament are equally likely, what is the probability that five games are needed to determine the tournament winner?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2752" y="5807554"/>
            <a:ext cx="7576655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Probability that 5 games are needed = 4/10 = </a:t>
            </a:r>
            <a:r>
              <a:rPr lang="en-SG" sz="2800" b="1" dirty="0">
                <a:solidFill>
                  <a:srgbClr val="0033CC"/>
                </a:solidFill>
              </a:rPr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5807" y="3408568"/>
            <a:ext cx="250978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800" dirty="0"/>
              <a:t>A-A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A-B-A-B-A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A-B-A-B-B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7286" y="3368458"/>
            <a:ext cx="250978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B-A-A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B-A-B-A-A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B-A-B-A-B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B-A-B-B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B-B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858077" y="4290646"/>
            <a:ext cx="1921401" cy="86164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5" name="Rounded Rectangle 34"/>
          <p:cNvSpPr/>
          <p:nvPr/>
        </p:nvSpPr>
        <p:spPr>
          <a:xfrm>
            <a:off x="6734939" y="3845704"/>
            <a:ext cx="1921401" cy="86164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9182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2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19</a:t>
            </a:fld>
            <a:endParaRPr lang="en-SG" dirty="0"/>
          </a:p>
        </p:txBody>
      </p:sp>
      <p:sp>
        <p:nvSpPr>
          <p:cNvPr id="73" name="TextBox 72"/>
          <p:cNvSpPr txBox="1"/>
          <p:nvPr/>
        </p:nvSpPr>
        <p:spPr>
          <a:xfrm>
            <a:off x="1524000" y="325516"/>
            <a:ext cx="9144000" cy="806597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Multiplication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1939123" y="1561785"/>
            <a:ext cx="8482692" cy="32932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u="sng" dirty="0"/>
              <a:t>Consider the following example.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Suppose a computer installation has </a:t>
            </a:r>
            <a:r>
              <a:rPr lang="en-US" altLang="en-US" dirty="0">
                <a:solidFill>
                  <a:srgbClr val="C00000"/>
                </a:solidFill>
              </a:rPr>
              <a:t>four input/output units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dirty="0"/>
              <a:t>,</a:t>
            </a:r>
            <a:r>
              <a:rPr lang="en-US" altLang="en-US" i="1" dirty="0"/>
              <a:t> B</a:t>
            </a:r>
            <a:r>
              <a:rPr lang="en-US" altLang="en-US" dirty="0"/>
              <a:t>,</a:t>
            </a:r>
            <a:r>
              <a:rPr lang="en-US" altLang="en-US" i="1" dirty="0"/>
              <a:t> C</a:t>
            </a:r>
            <a:r>
              <a:rPr lang="en-US" altLang="en-US" dirty="0"/>
              <a:t>,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D</a:t>
            </a:r>
            <a:r>
              <a:rPr lang="en-US" altLang="en-US" dirty="0"/>
              <a:t>) and </a:t>
            </a:r>
            <a:r>
              <a:rPr lang="en-US" altLang="en-US" dirty="0">
                <a:solidFill>
                  <a:srgbClr val="C00000"/>
                </a:solidFill>
              </a:rPr>
              <a:t>three central processing units 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dirty="0"/>
              <a:t>,</a:t>
            </a:r>
            <a:r>
              <a:rPr lang="en-US" altLang="en-US" i="1" dirty="0"/>
              <a:t> Y</a:t>
            </a:r>
            <a:r>
              <a:rPr lang="en-US" altLang="en-US" dirty="0"/>
              <a:t>,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Z</a:t>
            </a:r>
            <a:r>
              <a:rPr lang="en-US" altLang="en-US" dirty="0"/>
              <a:t>).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Any input/output</a:t>
            </a:r>
            <a:r>
              <a:rPr lang="en-US" altLang="en-US" i="1" dirty="0"/>
              <a:t> </a:t>
            </a:r>
            <a:r>
              <a:rPr lang="en-US" altLang="en-US" dirty="0"/>
              <a:t>unit can be paired with any central processing unit. </a:t>
            </a:r>
            <a:r>
              <a:rPr lang="en-US" altLang="en-US" dirty="0">
                <a:solidFill>
                  <a:srgbClr val="C00000"/>
                </a:solidFill>
              </a:rPr>
              <a:t>How many ways are there to pair an input/output unit with a central processing unit?</a:t>
            </a:r>
          </a:p>
        </p:txBody>
      </p:sp>
    </p:spTree>
    <p:extLst>
      <p:ext uri="{BB962C8B-B14F-4D97-AF65-F5344CB8AC3E}">
        <p14:creationId xmlns:p14="http://schemas.microsoft.com/office/powerpoint/2010/main" val="3810221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24000" y="46985"/>
            <a:ext cx="9144000" cy="77691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The Multiplication Rule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20</a:t>
            </a:fld>
            <a:endParaRPr lang="en-SG" dirty="0"/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1939124" y="1034476"/>
            <a:ext cx="2855615" cy="530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Possibility tree: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748" y="1093737"/>
            <a:ext cx="6048588" cy="493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5779772" y="5948343"/>
            <a:ext cx="3230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/>
              <a:t>Figure 10.2.2 Pairing Objects Using a Possibility 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2994" y="1835100"/>
            <a:ext cx="3425468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The total number of ways to pair the two types of units…</a:t>
            </a:r>
            <a:endParaRPr lang="en-SG" sz="2800" b="1" dirty="0">
              <a:solidFill>
                <a:srgbClr val="0033CC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68158" y="4266847"/>
            <a:ext cx="3425468" cy="22467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is the same as the number of branches of the tree:</a:t>
            </a:r>
          </a:p>
          <a:p>
            <a:r>
              <a:rPr lang="en-SG" sz="2800" dirty="0"/>
              <a:t>3 + 3 + 3 + 3 = 4</a:t>
            </a:r>
            <a:r>
              <a:rPr lang="en-SG" sz="2800" dirty="0">
                <a:sym typeface="Symbol" panose="05050102010706020507" pitchFamily="18" charset="2"/>
              </a:rPr>
              <a:t></a:t>
            </a:r>
            <a:r>
              <a:rPr lang="en-SG" sz="2800" dirty="0"/>
              <a:t>3 = </a:t>
            </a:r>
            <a:r>
              <a:rPr lang="en-SG" sz="2800" b="1" dirty="0">
                <a:solidFill>
                  <a:srgbClr val="0033C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8447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21</a:t>
            </a:fld>
            <a:endParaRPr lang="en-SG" dirty="0"/>
          </a:p>
        </p:txBody>
      </p:sp>
      <p:grpSp>
        <p:nvGrpSpPr>
          <p:cNvPr id="80" name="Group 79"/>
          <p:cNvGrpSpPr/>
          <p:nvPr/>
        </p:nvGrpSpPr>
        <p:grpSpPr>
          <a:xfrm>
            <a:off x="2396859" y="1616411"/>
            <a:ext cx="7398282" cy="4937735"/>
            <a:chOff x="730523" y="4598517"/>
            <a:chExt cx="7398282" cy="4937735"/>
          </a:xfrm>
        </p:grpSpPr>
        <p:sp>
          <p:nvSpPr>
            <p:cNvPr id="81" name="Rectangle 80"/>
            <p:cNvSpPr/>
            <p:nvPr/>
          </p:nvSpPr>
          <p:spPr>
            <a:xfrm>
              <a:off x="730523" y="4598518"/>
              <a:ext cx="7398282" cy="493773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10.2.1 The Multiplication Rule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95941" y="5218733"/>
              <a:ext cx="7242559" cy="4278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800" dirty="0"/>
                <a:t>If an operation consists of </a:t>
              </a:r>
              <a:r>
                <a:rPr lang="en-SG" sz="2800" i="1" dirty="0"/>
                <a:t>k</a:t>
              </a:r>
              <a:r>
                <a:rPr lang="en-SG" sz="2800" dirty="0"/>
                <a:t> steps and</a:t>
              </a:r>
            </a:p>
            <a:p>
              <a:pPr>
                <a:spcAft>
                  <a:spcPts val="600"/>
                </a:spcAft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the first step can be performed in </a:t>
              </a:r>
              <a:r>
                <a:rPr lang="en-SG" sz="2800" i="1" dirty="0">
                  <a:sym typeface="Symbol" panose="05050102010706020507" pitchFamily="18" charset="2"/>
                </a:rPr>
                <a:t>n</a:t>
              </a:r>
              <a:r>
                <a:rPr lang="en-SG" sz="2800" baseline="-25000" dirty="0">
                  <a:sym typeface="Symbol" panose="05050102010706020507" pitchFamily="18" charset="2"/>
                </a:rPr>
                <a:t>1</a:t>
              </a:r>
              <a:r>
                <a:rPr lang="en-SG" sz="2800" dirty="0">
                  <a:sym typeface="Symbol" panose="05050102010706020507" pitchFamily="18" charset="2"/>
                </a:rPr>
                <a:t> ways,</a:t>
              </a:r>
            </a:p>
            <a:p>
              <a:pPr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the second step can be performed in </a:t>
              </a:r>
              <a:r>
                <a:rPr lang="en-SG" sz="2800" i="1" dirty="0">
                  <a:sym typeface="Symbol" panose="05050102010706020507" pitchFamily="18" charset="2"/>
                </a:rPr>
                <a:t>n</a:t>
              </a:r>
              <a:r>
                <a:rPr lang="en-SG" sz="2800" baseline="-25000" dirty="0">
                  <a:sym typeface="Symbol" panose="05050102010706020507" pitchFamily="18" charset="2"/>
                </a:rPr>
                <a:t>2</a:t>
              </a:r>
              <a:r>
                <a:rPr lang="en-SG" sz="2800" dirty="0">
                  <a:sym typeface="Symbol" panose="05050102010706020507" pitchFamily="18" charset="2"/>
                </a:rPr>
                <a:t> ways 	</a:t>
              </a:r>
              <a:r>
                <a:rPr lang="en-SG" sz="2000" dirty="0">
                  <a:sym typeface="Symbol" panose="05050102010706020507" pitchFamily="18" charset="2"/>
                </a:rPr>
                <a:t>(regardless of how the first step was performed)</a:t>
              </a:r>
              <a:r>
                <a:rPr lang="en-SG" sz="2800" dirty="0">
                  <a:sym typeface="Symbol" panose="05050102010706020507" pitchFamily="18" charset="2"/>
                </a:rPr>
                <a:t>,</a:t>
              </a:r>
            </a:p>
            <a:p>
              <a:pPr>
                <a:spcAft>
                  <a:spcPts val="600"/>
                </a:spcAft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                                    :</a:t>
              </a:r>
            </a:p>
            <a:p>
              <a:pPr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the </a:t>
              </a:r>
              <a:r>
                <a:rPr lang="en-SG" sz="2800" i="1" dirty="0">
                  <a:sym typeface="Symbol" panose="05050102010706020507" pitchFamily="18" charset="2"/>
                </a:rPr>
                <a:t>k</a:t>
              </a:r>
              <a:r>
                <a:rPr lang="en-SG" sz="2800" baseline="30000" dirty="0">
                  <a:sym typeface="Symbol" panose="05050102010706020507" pitchFamily="18" charset="2"/>
                </a:rPr>
                <a:t>th</a:t>
              </a:r>
              <a:r>
                <a:rPr lang="en-SG" sz="2800" dirty="0">
                  <a:sym typeface="Symbol" panose="05050102010706020507" pitchFamily="18" charset="2"/>
                </a:rPr>
                <a:t> step can be performed in </a:t>
              </a:r>
              <a:r>
                <a:rPr lang="en-SG" sz="2800" i="1" dirty="0">
                  <a:sym typeface="Symbol" panose="05050102010706020507" pitchFamily="18" charset="2"/>
                </a:rPr>
                <a:t>n</a:t>
              </a:r>
              <a:r>
                <a:rPr lang="en-SG" sz="2800" i="1" baseline="-25000" dirty="0">
                  <a:sym typeface="Symbol" panose="05050102010706020507" pitchFamily="18" charset="2"/>
                </a:rPr>
                <a:t>k</a:t>
              </a:r>
              <a:r>
                <a:rPr lang="en-SG" sz="2800" dirty="0">
                  <a:sym typeface="Symbol" panose="05050102010706020507" pitchFamily="18" charset="2"/>
                </a:rPr>
                <a:t> ways	</a:t>
              </a:r>
              <a:r>
                <a:rPr lang="en-SG" sz="2000" dirty="0">
                  <a:sym typeface="Symbol" panose="05050102010706020507" pitchFamily="18" charset="2"/>
                </a:rPr>
                <a:t>(regardless of how the preceding steps were performed)</a:t>
              </a:r>
              <a:r>
                <a:rPr lang="en-SG" sz="2800" dirty="0">
                  <a:sym typeface="Symbol" panose="05050102010706020507" pitchFamily="18" charset="2"/>
                </a:rPr>
                <a:t>,</a:t>
              </a:r>
            </a:p>
            <a:p>
              <a:pPr>
                <a:spcAft>
                  <a:spcPts val="600"/>
                </a:spcAft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Then the entire operation can be performed in</a:t>
              </a:r>
            </a:p>
            <a:p>
              <a:pPr>
                <a:spcAft>
                  <a:spcPts val="600"/>
                </a:spcAft>
                <a:tabLst>
                  <a:tab pos="352425" algn="l"/>
                  <a:tab pos="133667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	</a:t>
              </a:r>
              <a:r>
                <a:rPr lang="en-SG" sz="28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b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1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  </a:t>
              </a:r>
              <a:r>
                <a:rPr lang="en-SG" sz="28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b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2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  </a:t>
              </a:r>
              <a:r>
                <a:rPr lang="en-SG" sz="28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b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3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  …  </a:t>
              </a:r>
              <a:r>
                <a:rPr lang="en-SG" sz="28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b="1" i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k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 </a:t>
              </a:r>
              <a:r>
                <a:rPr lang="en-SG" sz="2800" dirty="0">
                  <a:sym typeface="Symbol" panose="05050102010706020507" pitchFamily="18" charset="2"/>
                </a:rPr>
                <a:t>ways.</a:t>
              </a:r>
            </a:p>
          </p:txBody>
        </p:sp>
      </p:grpSp>
      <p:sp>
        <p:nvSpPr>
          <p:cNvPr id="31" name="Oval 30"/>
          <p:cNvSpPr/>
          <p:nvPr/>
        </p:nvSpPr>
        <p:spPr>
          <a:xfrm>
            <a:off x="184835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200075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2187369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619652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634892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652160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87086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902326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9195950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9363901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3187134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3339534" y="303854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3522175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3690126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3858077" y="30385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1AEA8-B6FA-4632-8FA9-07DC01C107D1}"/>
              </a:ext>
            </a:extLst>
          </p:cNvPr>
          <p:cNvSpPr txBox="1"/>
          <p:nvPr/>
        </p:nvSpPr>
        <p:spPr>
          <a:xfrm>
            <a:off x="1532190" y="378157"/>
            <a:ext cx="9144000" cy="77691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The Multiplication Rule</a:t>
            </a:r>
          </a:p>
        </p:txBody>
      </p:sp>
    </p:spTree>
    <p:extLst>
      <p:ext uri="{BB962C8B-B14F-4D97-AF65-F5344CB8AC3E}">
        <p14:creationId xmlns:p14="http://schemas.microsoft.com/office/powerpoint/2010/main" val="1012705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22</a:t>
            </a:fld>
            <a:endParaRPr lang="en-SG" dirty="0"/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1939124" y="2124443"/>
            <a:ext cx="8100227" cy="23593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A typical PIN is a sequence of </a:t>
            </a:r>
            <a:r>
              <a:rPr lang="en-US" altLang="en-US" dirty="0">
                <a:solidFill>
                  <a:srgbClr val="C00000"/>
                </a:solidFill>
              </a:rPr>
              <a:t>any four symbols </a:t>
            </a:r>
            <a:r>
              <a:rPr lang="en-US" altLang="en-US" dirty="0"/>
              <a:t>chosen from the </a:t>
            </a:r>
            <a:r>
              <a:rPr lang="en-US" altLang="en-US" dirty="0">
                <a:solidFill>
                  <a:srgbClr val="C00000"/>
                </a:solidFill>
              </a:rPr>
              <a:t>26 letters </a:t>
            </a:r>
            <a:r>
              <a:rPr lang="en-US" altLang="en-US" dirty="0"/>
              <a:t>in the alphabet and the ten digits, with repetition allowed. Examples: CARE, 3387, B32B, and so forth.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0033CC"/>
                </a:solidFill>
              </a:rPr>
              <a:t>How many different PINs are possible?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" y="113831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2: No. of Personal Identification Numbers (PINs)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001358" y="4483798"/>
            <a:ext cx="3225213" cy="18284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en-US" sz="2400" dirty="0"/>
              <a:t>You can think of forming a PIN as a </a:t>
            </a:r>
            <a:r>
              <a:rPr lang="en-US" altLang="en-US" sz="2400" dirty="0">
                <a:solidFill>
                  <a:srgbClr val="C00000"/>
                </a:solidFill>
              </a:rPr>
              <a:t>four-step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C00000"/>
                </a:solidFill>
              </a:rPr>
              <a:t>operation</a:t>
            </a:r>
            <a:r>
              <a:rPr lang="en-US" altLang="en-US" sz="2400" dirty="0"/>
              <a:t> to fill in each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dirty="0"/>
              <a:t>of the four symbols in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400" dirty="0"/>
              <a:t>sequence.</a:t>
            </a: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804" y="4483797"/>
            <a:ext cx="5041908" cy="2027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C94C3E9-F03F-4405-BB71-45E9DD2B681E}"/>
              </a:ext>
            </a:extLst>
          </p:cNvPr>
          <p:cNvSpPr txBox="1"/>
          <p:nvPr/>
        </p:nvSpPr>
        <p:spPr>
          <a:xfrm>
            <a:off x="1524000" y="46985"/>
            <a:ext cx="9144000" cy="77691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The Multiplication Rule</a:t>
            </a:r>
          </a:p>
        </p:txBody>
      </p:sp>
    </p:spTree>
    <p:extLst>
      <p:ext uri="{BB962C8B-B14F-4D97-AF65-F5344CB8AC3E}">
        <p14:creationId xmlns:p14="http://schemas.microsoft.com/office/powerpoint/2010/main" val="294900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23</a:t>
            </a:fld>
            <a:endParaRPr lang="en-SG" dirty="0"/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1939124" y="1892423"/>
            <a:ext cx="4500563" cy="16245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Step 1: Choose the first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Step 2: Choose the second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Step 3: Choose the third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Step 4: Choose the fourth symbol.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" y="542081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2: No. of Personal Identification Numbers (PINs)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325" y="1851363"/>
            <a:ext cx="29519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There is a fixed number of ways to perform each step, namely 36, regardless how preceding steps were performed.</a:t>
            </a: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1939124" y="3993797"/>
            <a:ext cx="5194369" cy="193221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Hence, by the </a:t>
            </a:r>
            <a:r>
              <a:rPr lang="en-US" altLang="en-US" b="1" dirty="0"/>
              <a:t>multiplication rule</a:t>
            </a:r>
            <a:r>
              <a:rPr lang="en-US" altLang="en-US" dirty="0"/>
              <a:t>, there are: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36</a:t>
            </a:r>
            <a:r>
              <a:rPr lang="en-US" altLang="en-US" dirty="0">
                <a:sym typeface="Symbol" panose="05050102010706020507" pitchFamily="18" charset="2"/>
              </a:rPr>
              <a:t>36</a:t>
            </a:r>
            <a:r>
              <a:rPr lang="en-US" altLang="en-US" dirty="0"/>
              <a:t>36</a:t>
            </a:r>
            <a:r>
              <a:rPr lang="en-US" altLang="en-US" dirty="0">
                <a:sym typeface="Symbol" panose="05050102010706020507" pitchFamily="18" charset="2"/>
              </a:rPr>
              <a:t></a:t>
            </a:r>
            <a:r>
              <a:rPr lang="en-US" altLang="en-US" dirty="0"/>
              <a:t>36 = 36</a:t>
            </a:r>
            <a:r>
              <a:rPr lang="en-US" altLang="en-US" baseline="30000" dirty="0"/>
              <a:t>4</a:t>
            </a:r>
            <a:r>
              <a:rPr lang="en-US" altLang="en-US" dirty="0"/>
              <a:t> = </a:t>
            </a:r>
            <a:r>
              <a:rPr lang="en-US" altLang="en-US" b="1" dirty="0">
                <a:solidFill>
                  <a:srgbClr val="0033CC"/>
                </a:solidFill>
              </a:rPr>
              <a:t>1,679,616</a:t>
            </a:r>
            <a:r>
              <a:rPr lang="en-US" altLang="en-US" dirty="0"/>
              <a:t> PINs in all.</a:t>
            </a:r>
          </a:p>
        </p:txBody>
      </p:sp>
    </p:spTree>
    <p:extLst>
      <p:ext uri="{BB962C8B-B14F-4D97-AF65-F5344CB8AC3E}">
        <p14:creationId xmlns:p14="http://schemas.microsoft.com/office/powerpoint/2010/main" val="35102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" grpId="0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24</a:t>
            </a:fld>
            <a:endParaRPr lang="en-SG" dirty="0"/>
          </a:p>
        </p:txBody>
      </p:sp>
      <p:sp>
        <p:nvSpPr>
          <p:cNvPr id="32" name="TextBox 31"/>
          <p:cNvSpPr txBox="1"/>
          <p:nvPr/>
        </p:nvSpPr>
        <p:spPr>
          <a:xfrm>
            <a:off x="1470787" y="44602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3: No. of PINs without Repetition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46224" y="1720045"/>
            <a:ext cx="7993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Now, suppose that </a:t>
            </a:r>
            <a:r>
              <a:rPr lang="en-US" altLang="en-US" sz="2800" dirty="0">
                <a:solidFill>
                  <a:srgbClr val="C00000"/>
                </a:solidFill>
              </a:rPr>
              <a:t>repetition is not allowed</a:t>
            </a:r>
            <a:r>
              <a:rPr lang="en-US" altLang="en-US" sz="2800" dirty="0"/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6224" y="2294926"/>
            <a:ext cx="7993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altLang="en-US" sz="2800" dirty="0"/>
              <a:t>How many different PINs are there?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279760" y="2962748"/>
            <a:ext cx="4500563" cy="16245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Step 1: Choose the first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Step 2: Choose the second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Step 3: Choose the third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Step 4: Choose the fourth symbol.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5503" y="2869808"/>
            <a:ext cx="1596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36 ways</a:t>
            </a:r>
            <a:endParaRPr lang="en-SG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6905503" y="3265316"/>
            <a:ext cx="1596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35 ways</a:t>
            </a:r>
            <a:endParaRPr lang="en-SG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6905503" y="3685529"/>
            <a:ext cx="1596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34 ways</a:t>
            </a:r>
            <a:endParaRPr lang="en-SG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6905503" y="4132698"/>
            <a:ext cx="1596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33 ways</a:t>
            </a:r>
            <a:endParaRPr lang="en-SG" sz="2400" dirty="0"/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2278136" y="4842245"/>
            <a:ext cx="6592729" cy="135414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Hence, by the </a:t>
            </a:r>
            <a:r>
              <a:rPr lang="en-US" altLang="en-US" b="1" dirty="0"/>
              <a:t>multiplication rule</a:t>
            </a:r>
            <a:r>
              <a:rPr lang="en-US" altLang="en-US" dirty="0"/>
              <a:t>, there are: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36</a:t>
            </a:r>
            <a:r>
              <a:rPr lang="en-US" altLang="en-US" dirty="0">
                <a:sym typeface="Symbol" panose="05050102010706020507" pitchFamily="18" charset="2"/>
              </a:rPr>
              <a:t>35</a:t>
            </a:r>
            <a:r>
              <a:rPr lang="en-US" altLang="en-US" dirty="0"/>
              <a:t>34</a:t>
            </a:r>
            <a:r>
              <a:rPr lang="en-US" altLang="en-US" dirty="0">
                <a:sym typeface="Symbol" panose="05050102010706020507" pitchFamily="18" charset="2"/>
              </a:rPr>
              <a:t></a:t>
            </a:r>
            <a:r>
              <a:rPr lang="en-US" altLang="en-US" dirty="0"/>
              <a:t>33 = </a:t>
            </a:r>
            <a:r>
              <a:rPr lang="en-US" altLang="en-US" b="1" dirty="0">
                <a:solidFill>
                  <a:srgbClr val="0033CC"/>
                </a:solidFill>
              </a:rPr>
              <a:t>1,413,720</a:t>
            </a:r>
            <a:r>
              <a:rPr lang="en-US" altLang="en-US" dirty="0"/>
              <a:t> PINs in all with no repeated symbol.</a:t>
            </a:r>
          </a:p>
        </p:txBody>
      </p:sp>
    </p:spTree>
    <p:extLst>
      <p:ext uri="{BB962C8B-B14F-4D97-AF65-F5344CB8AC3E}">
        <p14:creationId xmlns:p14="http://schemas.microsoft.com/office/powerpoint/2010/main" val="250596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 animBg="1"/>
      <p:bldP spid="3" grpId="0"/>
      <p:bldP spid="33" grpId="0"/>
      <p:bldP spid="35" grpId="0"/>
      <p:bldP spid="36" grpId="0"/>
      <p:bldP spid="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25</a:t>
            </a:fld>
            <a:endParaRPr lang="en-SG" dirty="0"/>
          </a:p>
        </p:txBody>
      </p:sp>
      <p:sp>
        <p:nvSpPr>
          <p:cNvPr id="32" name="TextBox 31"/>
          <p:cNvSpPr txBox="1"/>
          <p:nvPr/>
        </p:nvSpPr>
        <p:spPr>
          <a:xfrm>
            <a:off x="1470787" y="545785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3: No. of PINs without Repetition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46224" y="1821267"/>
            <a:ext cx="79931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eriod" startAt="2"/>
            </a:pPr>
            <a:r>
              <a:rPr lang="en-US" altLang="en-US" sz="2800" dirty="0"/>
              <a:t>If all PINs are equally likely, what is the probability that a PIN chosen at random contains no repeated symbols?</a:t>
            </a: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2551794" y="3166751"/>
            <a:ext cx="6592729" cy="9865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0033CC"/>
                </a:solidFill>
              </a:rPr>
              <a:t>1,679,616</a:t>
            </a:r>
            <a:r>
              <a:rPr lang="en-US" altLang="en-US" b="1" dirty="0">
                <a:solidFill>
                  <a:srgbClr val="0033CC"/>
                </a:solidFill>
              </a:rPr>
              <a:t> </a:t>
            </a:r>
            <a:r>
              <a:rPr lang="en-US" altLang="en-US" dirty="0"/>
              <a:t>PINS in all.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0033CC"/>
                </a:solidFill>
              </a:rPr>
              <a:t>1,413,720</a:t>
            </a:r>
            <a:r>
              <a:rPr lang="en-US" altLang="en-US" dirty="0"/>
              <a:t> PINs with no repeated symbol.</a:t>
            </a:r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>
          <a:xfrm>
            <a:off x="2551793" y="4395176"/>
            <a:ext cx="6592729" cy="9865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Hence, probability that a PIN chosen at random contains no repeated symbols: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211136" y="5381759"/>
            <a:ext cx="3274040" cy="894251"/>
            <a:chOff x="2708030" y="5498818"/>
            <a:chExt cx="3274040" cy="894251"/>
          </a:xfrm>
        </p:grpSpPr>
        <p:sp>
          <p:nvSpPr>
            <p:cNvPr id="6" name="TextBox 5"/>
            <p:cNvSpPr txBox="1"/>
            <p:nvPr/>
          </p:nvSpPr>
          <p:spPr>
            <a:xfrm>
              <a:off x="2708031" y="5498818"/>
              <a:ext cx="1705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1,413,720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708030" y="5869849"/>
              <a:ext cx="1705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1,679,616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708030" y="5965872"/>
              <a:ext cx="17057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439806" y="5631701"/>
              <a:ext cx="15422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>
                  <a:sym typeface="Symbol" panose="05050102010706020507" pitchFamily="18" charset="2"/>
                </a:rPr>
                <a:t> 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0.8417</a:t>
              </a:r>
              <a:endParaRPr lang="en-SG" sz="2800" b="1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902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26</a:t>
            </a:fld>
            <a:endParaRPr lang="en-SG" dirty="0"/>
          </a:p>
        </p:txBody>
      </p:sp>
      <p:sp>
        <p:nvSpPr>
          <p:cNvPr id="32" name="TextBox 31"/>
          <p:cNvSpPr txBox="1"/>
          <p:nvPr/>
        </p:nvSpPr>
        <p:spPr>
          <a:xfrm>
            <a:off x="1517281" y="451371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When the Multiplication Rule is Difficult/Impossible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11988" y="1336883"/>
            <a:ext cx="8177050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400" dirty="0">
                <a:solidFill>
                  <a:srgbClr val="0033CC"/>
                </a:solidFill>
              </a:rPr>
              <a:t>Example 4:</a:t>
            </a:r>
            <a:r>
              <a:rPr lang="en-US" altLang="en-US" sz="2400" dirty="0"/>
              <a:t> Consider the following problem: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Three officers – a president, a treasurer, and a secretary – are to be chosen from among four people: Ann, Bob, Cyd, and Dan. Suppose that, for various reasons, </a:t>
            </a:r>
            <a:r>
              <a:rPr lang="en-US" altLang="en-US" sz="2400" dirty="0">
                <a:solidFill>
                  <a:srgbClr val="C00000"/>
                </a:solidFill>
              </a:rPr>
              <a:t>Ann cannot be president </a:t>
            </a:r>
            <a:r>
              <a:rPr lang="en-US" altLang="en-US" sz="2400" dirty="0"/>
              <a:t>and either </a:t>
            </a:r>
            <a:r>
              <a:rPr lang="en-US" altLang="en-US" sz="2400" dirty="0">
                <a:solidFill>
                  <a:srgbClr val="C00000"/>
                </a:solidFill>
              </a:rPr>
              <a:t>Cyd or Dan must be secretary</a:t>
            </a:r>
            <a:r>
              <a:rPr lang="en-US" altLang="en-US" sz="2400" dirty="0"/>
              <a:t>. How many ways can the officers be chosen?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6139" y="3941875"/>
            <a:ext cx="7993126" cy="25237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400" dirty="0"/>
              <a:t>It is natural to try to solve this problem using the multiplication rule. A person might answer as follows: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There are three choices for president (all except Ann), three choices for treasurer (all except the one chosen as president), and two choices for secretary (Cyd or Dan).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Therefore, by the </a:t>
            </a:r>
            <a:r>
              <a:rPr lang="en-US" altLang="en-US" sz="2400" b="1" dirty="0"/>
              <a:t>multiplication rule</a:t>
            </a:r>
            <a:r>
              <a:rPr lang="en-US" altLang="en-US" sz="2400" dirty="0"/>
              <a:t>, 3</a:t>
            </a:r>
            <a:r>
              <a:rPr lang="en-US" altLang="en-US" sz="2400" dirty="0">
                <a:sym typeface="Symbol" panose="05050102010706020507" pitchFamily="18" charset="2"/>
              </a:rPr>
              <a:t>32 = </a:t>
            </a:r>
            <a:r>
              <a:rPr lang="en-US" altLang="en-US" sz="2800" b="1" dirty="0">
                <a:solidFill>
                  <a:srgbClr val="0033CC"/>
                </a:solidFill>
                <a:sym typeface="Symbol" panose="05050102010706020507" pitchFamily="18" charset="2"/>
              </a:rPr>
              <a:t>18</a:t>
            </a:r>
            <a:endParaRPr lang="en-US" altLang="en-US" sz="2800" b="1" dirty="0">
              <a:solidFill>
                <a:srgbClr val="0033CC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08599" y="3308793"/>
            <a:ext cx="238382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i="1" dirty="0">
                <a:solidFill>
                  <a:srgbClr val="C00000"/>
                </a:solidFill>
              </a:rPr>
              <a:t>Is this correct?</a:t>
            </a:r>
          </a:p>
        </p:txBody>
      </p:sp>
    </p:spTree>
    <p:extLst>
      <p:ext uri="{BB962C8B-B14F-4D97-AF65-F5344CB8AC3E}">
        <p14:creationId xmlns:p14="http://schemas.microsoft.com/office/powerpoint/2010/main" val="123582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27</a:t>
            </a:fld>
            <a:endParaRPr lang="en-SG" dirty="0"/>
          </a:p>
        </p:txBody>
      </p:sp>
      <p:sp>
        <p:nvSpPr>
          <p:cNvPr id="35" name="TextBox 34"/>
          <p:cNvSpPr txBox="1"/>
          <p:nvPr/>
        </p:nvSpPr>
        <p:spPr>
          <a:xfrm>
            <a:off x="2046139" y="1128447"/>
            <a:ext cx="7993126" cy="42780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en-US" sz="2800" dirty="0"/>
              <a:t>It is </a:t>
            </a:r>
            <a:r>
              <a:rPr lang="en-US" altLang="en-US" sz="2800" dirty="0">
                <a:solidFill>
                  <a:srgbClr val="C00000"/>
                </a:solidFill>
              </a:rPr>
              <a:t>incorrect</a:t>
            </a:r>
            <a:r>
              <a:rPr lang="en-US" altLang="en-US" sz="2800" dirty="0"/>
              <a:t>. The number of ways to choose the secretary varies </a:t>
            </a:r>
            <a:r>
              <a:rPr lang="en-US" altLang="en-US" sz="2800" dirty="0">
                <a:solidFill>
                  <a:srgbClr val="0033CC"/>
                </a:solidFill>
              </a:rPr>
              <a:t>depending on who is chosen for president and treasurer</a:t>
            </a:r>
            <a:r>
              <a:rPr lang="en-US" altLang="en-US" sz="2800" dirty="0"/>
              <a:t>.</a:t>
            </a:r>
          </a:p>
          <a:p>
            <a:pPr>
              <a:spcBef>
                <a:spcPts val="1200"/>
              </a:spcBef>
            </a:pPr>
            <a:r>
              <a:rPr lang="en-US" altLang="en-US" sz="2800" dirty="0"/>
              <a:t>For instance, if Bob is chosen for president and Ann for treasurer, then there are two choices for secretary: Cyd and Dan.</a:t>
            </a:r>
          </a:p>
          <a:p>
            <a:pPr>
              <a:spcBef>
                <a:spcPts val="1200"/>
              </a:spcBef>
            </a:pPr>
            <a:r>
              <a:rPr lang="en-US" altLang="en-US" sz="2800" dirty="0"/>
              <a:t>But if Bob is chosen for president and Cyd for treasurer, then there is just one choice for secretary: Dan.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FDEEAC-9543-4E48-BD2E-A2B901E05D4A}"/>
              </a:ext>
            </a:extLst>
          </p:cNvPr>
          <p:cNvSpPr txBox="1"/>
          <p:nvPr/>
        </p:nvSpPr>
        <p:spPr>
          <a:xfrm>
            <a:off x="1517281" y="451371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When the Multiplication Rule is Difficult/Impossible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073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28</a:t>
            </a:fld>
            <a:endParaRPr lang="en-SG" dirty="0"/>
          </a:p>
        </p:txBody>
      </p:sp>
      <p:sp>
        <p:nvSpPr>
          <p:cNvPr id="35" name="TextBox 34"/>
          <p:cNvSpPr txBox="1"/>
          <p:nvPr/>
        </p:nvSpPr>
        <p:spPr>
          <a:xfrm>
            <a:off x="2046139" y="1128448"/>
            <a:ext cx="7993126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en-US" sz="2800" dirty="0"/>
              <a:t>The clearest way to see all the possible choices is to construct the possibility tree, as shown below.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08866" y="2300574"/>
            <a:ext cx="6173085" cy="4435146"/>
            <a:chOff x="284865" y="2300574"/>
            <a:chExt cx="6173085" cy="4435146"/>
          </a:xfrm>
        </p:grpSpPr>
        <p:pic>
          <p:nvPicPr>
            <p:cNvPr id="2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865" y="2300574"/>
              <a:ext cx="6173085" cy="4127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663368" y="6027834"/>
              <a:ext cx="15027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10.2.3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981950" y="3341078"/>
            <a:ext cx="2422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How many ways?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1949" y="3902594"/>
            <a:ext cx="1472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b="1" dirty="0">
                <a:solidFill>
                  <a:srgbClr val="0033CC"/>
                </a:solidFill>
              </a:rPr>
              <a:t>8</a:t>
            </a:r>
            <a:r>
              <a:rPr lang="en-SG" sz="2800" dirty="0"/>
              <a:t> ways.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B05B00-576A-4324-AA89-F7EAC1C32730}"/>
              </a:ext>
            </a:extLst>
          </p:cNvPr>
          <p:cNvSpPr txBox="1"/>
          <p:nvPr/>
        </p:nvSpPr>
        <p:spPr>
          <a:xfrm>
            <a:off x="1524000" y="193657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When the Multiplication Rule is Difficult/Impossible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49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29</a:t>
            </a:fld>
            <a:endParaRPr lang="en-SG" dirty="0"/>
          </a:p>
        </p:txBody>
      </p:sp>
      <p:sp>
        <p:nvSpPr>
          <p:cNvPr id="32" name="TextBox 31"/>
          <p:cNvSpPr txBox="1"/>
          <p:nvPr/>
        </p:nvSpPr>
        <p:spPr>
          <a:xfrm>
            <a:off x="152400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5: A More Subtle Use of the Multiplication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00756" y="1556607"/>
            <a:ext cx="7993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>
                <a:solidFill>
                  <a:srgbClr val="0033CC"/>
                </a:solidFill>
              </a:rPr>
              <a:t>Reorder the steps </a:t>
            </a:r>
            <a:r>
              <a:rPr lang="en-US" sz="2800" dirty="0"/>
              <a:t>for choosing the officers in the previous example so that the total number of ways to choose officers can be computed using the multiplication rule.</a:t>
            </a:r>
            <a:endParaRPr lang="en-US" altLang="en-US" sz="2800" dirty="0"/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000757" y="3513548"/>
            <a:ext cx="4500563" cy="129039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Step 1: Choose the secretary.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Step 2: Choose the president.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Step 3: Choose the treasurer.</a:t>
            </a:r>
          </a:p>
        </p:txBody>
      </p:sp>
      <p:sp>
        <p:nvSpPr>
          <p:cNvPr id="3" name="Line Callout 1 2"/>
          <p:cNvSpPr/>
          <p:nvPr/>
        </p:nvSpPr>
        <p:spPr>
          <a:xfrm>
            <a:off x="6612370" y="3006969"/>
            <a:ext cx="3717414" cy="679084"/>
          </a:xfrm>
          <a:prstGeom prst="borderCallout1">
            <a:avLst>
              <a:gd name="adj1" fmla="val 23929"/>
              <a:gd name="adj2" fmla="val -533"/>
              <a:gd name="adj3" fmla="val 89195"/>
              <a:gd name="adj4" fmla="val -2556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400" dirty="0">
                <a:solidFill>
                  <a:schemeClr val="tx1"/>
                </a:solidFill>
              </a:rPr>
              <a:t>2 ways: Either Cyd or Dan.</a:t>
            </a:r>
          </a:p>
        </p:txBody>
      </p:sp>
      <p:sp>
        <p:nvSpPr>
          <p:cNvPr id="31" name="Line Callout 1 30"/>
          <p:cNvSpPr/>
          <p:nvPr/>
        </p:nvSpPr>
        <p:spPr>
          <a:xfrm>
            <a:off x="6948274" y="3845794"/>
            <a:ext cx="3381511" cy="1918905"/>
          </a:xfrm>
          <a:prstGeom prst="borderCallout1">
            <a:avLst>
              <a:gd name="adj1" fmla="val 19108"/>
              <a:gd name="adj2" fmla="val 430"/>
              <a:gd name="adj3" fmla="val 19535"/>
              <a:gd name="adj4" fmla="val -17745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400" dirty="0">
                <a:solidFill>
                  <a:schemeClr val="tx1"/>
                </a:solidFill>
              </a:rPr>
              <a:t>2 ways: Neither Ann nor the person chosen in step 1 may be chosen, but either of the other two may.</a:t>
            </a:r>
          </a:p>
        </p:txBody>
      </p:sp>
      <p:sp>
        <p:nvSpPr>
          <p:cNvPr id="33" name="Line Callout 1 32"/>
          <p:cNvSpPr/>
          <p:nvPr/>
        </p:nvSpPr>
        <p:spPr>
          <a:xfrm>
            <a:off x="2000756" y="5051049"/>
            <a:ext cx="4438930" cy="1015643"/>
          </a:xfrm>
          <a:prstGeom prst="borderCallout1">
            <a:avLst>
              <a:gd name="adj1" fmla="val -1092"/>
              <a:gd name="adj2" fmla="val 60246"/>
              <a:gd name="adj3" fmla="val -24696"/>
              <a:gd name="adj4" fmla="val 6927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400" dirty="0">
                <a:solidFill>
                  <a:schemeClr val="tx1"/>
                </a:solidFill>
              </a:rPr>
              <a:t>2 ways: Either of the 2 persons not chosen in steps 1 and 2 may be chosen.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3059576" y="6157248"/>
            <a:ext cx="6344718" cy="5642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Hence, total number of ways = 2</a:t>
            </a:r>
            <a:r>
              <a:rPr lang="en-US" altLang="en-US" dirty="0">
                <a:sym typeface="Symbol" panose="05050102010706020507" pitchFamily="18" charset="2"/>
              </a:rPr>
              <a:t> 2 2 = </a:t>
            </a:r>
            <a:r>
              <a:rPr lang="en-US" altLang="en-US" b="1" dirty="0">
                <a:solidFill>
                  <a:srgbClr val="0033CC"/>
                </a:solidFill>
                <a:sym typeface="Symbol" panose="05050102010706020507" pitchFamily="18" charset="2"/>
              </a:rPr>
              <a:t>8</a:t>
            </a:r>
            <a:endParaRPr lang="en-US" altLang="en-US" b="1" dirty="0">
              <a:solidFill>
                <a:srgbClr val="0033CC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19A2B9-A958-4522-8E60-3C5AE8F444DA}"/>
              </a:ext>
            </a:extLst>
          </p:cNvPr>
          <p:cNvSpPr txBox="1"/>
          <p:nvPr/>
        </p:nvSpPr>
        <p:spPr>
          <a:xfrm>
            <a:off x="914400" y="52370"/>
            <a:ext cx="11016343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When the Multiplication Rule is Difficult/Impossible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42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" grpId="0" animBg="1"/>
      <p:bldP spid="31" grpId="0" animBg="1"/>
      <p:bldP spid="33" grpId="0" animBg="1"/>
      <p:bldP spid="3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30</a:t>
            </a:fld>
            <a:endParaRPr lang="en-SG" dirty="0"/>
          </a:p>
        </p:txBody>
      </p:sp>
      <p:sp>
        <p:nvSpPr>
          <p:cNvPr id="32" name="TextBox 31"/>
          <p:cNvSpPr txBox="1"/>
          <p:nvPr/>
        </p:nvSpPr>
        <p:spPr>
          <a:xfrm>
            <a:off x="1524000" y="319086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5: A More Subtle Use of the Multiplication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00756" y="1556607"/>
            <a:ext cx="7993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800" dirty="0"/>
              <a:t>A possibility tree illustrating this sequence of choices: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187368" y="2136899"/>
            <a:ext cx="4334236" cy="4402015"/>
            <a:chOff x="663368" y="2136898"/>
            <a:chExt cx="3819946" cy="4402015"/>
          </a:xfrm>
        </p:grpSpPr>
        <p:pic>
          <p:nvPicPr>
            <p:cNvPr id="3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368" y="2136898"/>
              <a:ext cx="3819946" cy="4402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TextBox 36"/>
            <p:cNvSpPr txBox="1"/>
            <p:nvPr/>
          </p:nvSpPr>
          <p:spPr>
            <a:xfrm>
              <a:off x="663368" y="6027834"/>
              <a:ext cx="15027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10.2.4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902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31</a:t>
            </a:fld>
            <a:endParaRPr lang="en-SG" dirty="0"/>
          </a:p>
        </p:txBody>
      </p:sp>
      <p:sp>
        <p:nvSpPr>
          <p:cNvPr id="73" name="TextBox 72"/>
          <p:cNvSpPr txBox="1"/>
          <p:nvPr/>
        </p:nvSpPr>
        <p:spPr>
          <a:xfrm>
            <a:off x="1542570" y="41507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2000756" y="1561785"/>
            <a:ext cx="8227629" cy="14979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A </a:t>
            </a:r>
            <a:r>
              <a:rPr lang="en-US" altLang="en-US" b="1" dirty="0"/>
              <a:t>permutation </a:t>
            </a:r>
            <a:r>
              <a:rPr lang="en-US" altLang="en-US" dirty="0"/>
              <a:t>of a set of objects is an ordering of the objects in a row. For example, the set of elements </a:t>
            </a:r>
            <a:r>
              <a:rPr lang="en-US" altLang="en-US" i="1" dirty="0"/>
              <a:t>a</a:t>
            </a:r>
            <a:r>
              <a:rPr lang="en-US" altLang="en-US" dirty="0"/>
              <a:t>,</a:t>
            </a:r>
            <a:r>
              <a:rPr lang="en-US" altLang="en-US" i="1" dirty="0"/>
              <a:t> b</a:t>
            </a:r>
            <a:r>
              <a:rPr lang="en-US" altLang="en-US" dirty="0"/>
              <a:t>,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c </a:t>
            </a:r>
            <a:r>
              <a:rPr lang="en-US" altLang="en-US" dirty="0"/>
              <a:t>has six permutations.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84916" y="3023681"/>
            <a:ext cx="4906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20725" algn="l"/>
                <a:tab pos="1441450" algn="l"/>
                <a:tab pos="2144713" algn="l"/>
                <a:tab pos="2867025" algn="l"/>
                <a:tab pos="3675063" algn="l"/>
              </a:tabLst>
            </a:pPr>
            <a:r>
              <a:rPr lang="en-SG" sz="2800" i="1" dirty="0"/>
              <a:t>abc	acb	cba	bac	bca	cab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2000756" y="4007145"/>
            <a:ext cx="8227629" cy="10289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In general, given a set of </a:t>
            </a:r>
            <a:r>
              <a:rPr lang="en-US" altLang="en-US" i="1" dirty="0"/>
              <a:t>n</a:t>
            </a:r>
            <a:r>
              <a:rPr lang="en-US" altLang="en-US" dirty="0"/>
              <a:t> objects, how many permutations does the set have? </a:t>
            </a:r>
          </a:p>
        </p:txBody>
      </p:sp>
    </p:spTree>
    <p:extLst>
      <p:ext uri="{BB962C8B-B14F-4D97-AF65-F5344CB8AC3E}">
        <p14:creationId xmlns:p14="http://schemas.microsoft.com/office/powerpoint/2010/main" val="89731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32</a:t>
            </a:fld>
            <a:endParaRPr lang="en-SG" dirty="0"/>
          </a:p>
        </p:txBody>
      </p:sp>
      <p:sp>
        <p:nvSpPr>
          <p:cNvPr id="73" name="TextBox 72"/>
          <p:cNvSpPr txBox="1"/>
          <p:nvPr/>
        </p:nvSpPr>
        <p:spPr>
          <a:xfrm>
            <a:off x="1407886" y="485251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2000756" y="1561785"/>
            <a:ext cx="8227629" cy="741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Imagine forming a permutation as an </a:t>
            </a:r>
            <a:r>
              <a:rPr lang="en-US" altLang="en-US" i="1" dirty="0"/>
              <a:t>n</a:t>
            </a:r>
            <a:r>
              <a:rPr lang="en-US" altLang="en-US" dirty="0"/>
              <a:t>-step operation: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2253643" y="2361897"/>
            <a:ext cx="5741780" cy="23507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Step 1: Choose an element to write first.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Step 2: Choose an element to write second.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Step 3: Choose an element to write third.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	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Step </a:t>
            </a:r>
            <a:r>
              <a:rPr lang="en-US" altLang="en-US" sz="2400" i="1" dirty="0"/>
              <a:t>n</a:t>
            </a:r>
            <a:r>
              <a:rPr lang="en-US" altLang="en-US" sz="2400" dirty="0"/>
              <a:t>: Choose an element to write </a:t>
            </a:r>
            <a:r>
              <a:rPr lang="en-US" altLang="en-US" sz="2400" i="1" dirty="0"/>
              <a:t>n</a:t>
            </a:r>
            <a:r>
              <a:rPr lang="en-US" altLang="en-US" sz="2400" dirty="0"/>
              <a:t>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4663" y="2361898"/>
            <a:ext cx="196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 </a:t>
            </a:r>
            <a:r>
              <a:rPr lang="en-SG" sz="2400" i="1" dirty="0">
                <a:sym typeface="Wingdings" panose="05000000000000000000" pitchFamily="2" charset="2"/>
              </a:rPr>
              <a:t>n</a:t>
            </a:r>
            <a:r>
              <a:rPr lang="en-SG" sz="2400" dirty="0">
                <a:sym typeface="Wingdings" panose="05000000000000000000" pitchFamily="2" charset="2"/>
              </a:rPr>
              <a:t> ways</a:t>
            </a:r>
            <a:endParaRPr lang="en-SG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7914663" y="2844234"/>
            <a:ext cx="196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 </a:t>
            </a:r>
            <a:r>
              <a:rPr lang="en-SG" sz="2400" i="1" dirty="0">
                <a:sym typeface="Wingdings" panose="05000000000000000000" pitchFamily="2" charset="2"/>
              </a:rPr>
              <a:t>n</a:t>
            </a:r>
            <a:r>
              <a:rPr lang="en-SG" sz="2400" dirty="0">
                <a:sym typeface="Wingdings" panose="05000000000000000000" pitchFamily="2" charset="2"/>
              </a:rPr>
              <a:t> – 1 ways</a:t>
            </a:r>
            <a:endParaRPr lang="en-SG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7914663" y="3306455"/>
            <a:ext cx="196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</a:t>
            </a:r>
            <a:r>
              <a:rPr lang="en-SG" sz="2400" i="1" dirty="0">
                <a:sym typeface="Wingdings" panose="05000000000000000000" pitchFamily="2" charset="2"/>
              </a:rPr>
              <a:t> n</a:t>
            </a:r>
            <a:r>
              <a:rPr lang="en-SG" sz="2400" dirty="0">
                <a:sym typeface="Wingdings" panose="05000000000000000000" pitchFamily="2" charset="2"/>
              </a:rPr>
              <a:t> – 2 ways</a:t>
            </a:r>
            <a:endParaRPr lang="en-SG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7914663" y="4125854"/>
            <a:ext cx="196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 1 way</a:t>
            </a:r>
            <a:endParaRPr lang="en-SG" sz="2400" dirty="0"/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2091524" y="4847908"/>
            <a:ext cx="8227629" cy="1498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By the </a:t>
            </a:r>
            <a:r>
              <a:rPr lang="en-US" altLang="en-US" b="1" dirty="0"/>
              <a:t>multiplication rule</a:t>
            </a:r>
            <a:r>
              <a:rPr lang="en-US" altLang="en-US" dirty="0"/>
              <a:t>, there are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441450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n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</a:t>
            </a:r>
            <a:r>
              <a:rPr lang="en-US" altLang="en-US" dirty="0"/>
              <a:t> (</a:t>
            </a:r>
            <a:r>
              <a:rPr lang="en-US" altLang="en-US" i="1" dirty="0"/>
              <a:t>n</a:t>
            </a:r>
            <a:r>
              <a:rPr lang="en-US" altLang="en-US" dirty="0"/>
              <a:t> – 1)</a:t>
            </a:r>
            <a:r>
              <a:rPr lang="en-US" altLang="en-US" dirty="0">
                <a:sym typeface="Symbol" panose="05050102010706020507" pitchFamily="18" charset="2"/>
              </a:rPr>
              <a:t>  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 – 2)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dirty="0"/>
              <a:t>…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dirty="0"/>
              <a:t>2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dirty="0"/>
              <a:t>1 = </a:t>
            </a:r>
            <a:r>
              <a:rPr lang="en-US" altLang="en-US" b="1" i="1" dirty="0">
                <a:solidFill>
                  <a:srgbClr val="0033CC"/>
                </a:solidFill>
              </a:rPr>
              <a:t>n</a:t>
            </a:r>
            <a:r>
              <a:rPr lang="en-US" altLang="en-US" b="1" dirty="0">
                <a:solidFill>
                  <a:srgbClr val="0033CC"/>
                </a:solidFill>
              </a:rPr>
              <a:t>!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441450" algn="l"/>
              </a:tabLst>
            </a:pPr>
            <a:r>
              <a:rPr lang="en-US" altLang="en-US" dirty="0"/>
              <a:t>ways to perform the entire operation.</a:t>
            </a:r>
          </a:p>
        </p:txBody>
      </p:sp>
    </p:spTree>
    <p:extLst>
      <p:ext uri="{BB962C8B-B14F-4D97-AF65-F5344CB8AC3E}">
        <p14:creationId xmlns:p14="http://schemas.microsoft.com/office/powerpoint/2010/main" val="151682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31" grpId="0"/>
      <p:bldP spid="32" grpId="0"/>
      <p:bldP spid="33" grpId="0"/>
      <p:bldP spid="3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33</a:t>
            </a:fld>
            <a:endParaRPr lang="en-SG" dirty="0"/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2000756" y="1262847"/>
            <a:ext cx="8227629" cy="1022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In other words, there are </a:t>
            </a:r>
            <a:r>
              <a:rPr lang="en-US" altLang="en-US" i="1" dirty="0"/>
              <a:t>n</a:t>
            </a:r>
            <a:r>
              <a:rPr lang="en-US" altLang="en-US" dirty="0"/>
              <a:t>! permutations of a set of            </a:t>
            </a:r>
            <a:r>
              <a:rPr lang="en-US" altLang="en-US" i="1" dirty="0"/>
              <a:t>n</a:t>
            </a:r>
            <a:r>
              <a:rPr lang="en-US" altLang="en-US" dirty="0"/>
              <a:t> elements. 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2411124" y="2634727"/>
            <a:ext cx="7398282" cy="1588503"/>
            <a:chOff x="730523" y="4598517"/>
            <a:chExt cx="7398282" cy="1588503"/>
          </a:xfrm>
        </p:grpSpPr>
        <p:sp>
          <p:nvSpPr>
            <p:cNvPr id="36" name="Rectangle 35"/>
            <p:cNvSpPr/>
            <p:nvPr/>
          </p:nvSpPr>
          <p:spPr>
            <a:xfrm>
              <a:off x="730523" y="4598518"/>
              <a:ext cx="7398282" cy="158850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10.2.2 Permutations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5941" y="5218733"/>
              <a:ext cx="671940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800" dirty="0"/>
                <a:t>The number of permutations of a set with </a:t>
              </a:r>
              <a:r>
                <a:rPr lang="en-SG" sz="2800" i="1" dirty="0"/>
                <a:t>n</a:t>
              </a:r>
              <a:r>
                <a:rPr lang="en-SG" sz="2800" dirty="0"/>
                <a:t> (</a:t>
              </a:r>
              <a:r>
                <a:rPr lang="en-SG" sz="2800" i="1" dirty="0"/>
                <a:t>n</a:t>
              </a:r>
              <a:r>
                <a:rPr lang="en-SG" sz="2800" dirty="0"/>
                <a:t> </a:t>
              </a:r>
              <a:r>
                <a:rPr lang="en-SG" sz="2800" dirty="0">
                  <a:sym typeface="Symbol" panose="05050102010706020507" pitchFamily="18" charset="2"/>
                </a:rPr>
                <a:t></a:t>
              </a:r>
              <a:r>
                <a:rPr lang="en-SG" sz="2800" dirty="0"/>
                <a:t> 1) elements is </a:t>
              </a:r>
              <a:r>
                <a:rPr lang="en-SG" sz="2800" b="1" i="1" dirty="0">
                  <a:solidFill>
                    <a:srgbClr val="0033CC"/>
                  </a:solidFill>
                </a:rPr>
                <a:t>n</a:t>
              </a:r>
              <a:r>
                <a:rPr lang="en-SG" sz="2800" b="1" dirty="0">
                  <a:solidFill>
                    <a:srgbClr val="0033CC"/>
                  </a:solidFill>
                </a:rPr>
                <a:t>! </a:t>
              </a:r>
              <a:endParaRPr lang="en-SG" sz="2800" b="1" dirty="0">
                <a:solidFill>
                  <a:srgbClr val="0033CC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B1F6F75-E086-48C8-B251-342C2D916DB2}"/>
              </a:ext>
            </a:extLst>
          </p:cNvPr>
          <p:cNvSpPr txBox="1"/>
          <p:nvPr/>
        </p:nvSpPr>
        <p:spPr>
          <a:xfrm>
            <a:off x="1407886" y="485251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514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34</a:t>
            </a:fld>
            <a:endParaRPr lang="en-SG" dirty="0"/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2000756" y="1720046"/>
            <a:ext cx="8227629" cy="1022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dirty="0"/>
              <a:t>How many ways can the letters in the word </a:t>
            </a:r>
            <a:r>
              <a:rPr lang="en-US" altLang="en-US" i="1" dirty="0"/>
              <a:t>COMPUTER</a:t>
            </a:r>
            <a:r>
              <a:rPr lang="en-US" altLang="en-US" dirty="0"/>
              <a:t> be arranged in a row?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2570" y="95119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6 – Permutations of the Letters in a Word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760653" y="2742383"/>
            <a:ext cx="7278696" cy="9452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All the eight letters in the word </a:t>
            </a:r>
            <a:r>
              <a:rPr lang="en-US" altLang="en-US" i="1" dirty="0"/>
              <a:t>COMPUTER</a:t>
            </a:r>
            <a:r>
              <a:rPr lang="en-US" altLang="en-US" dirty="0"/>
              <a:t> are distinct. Hence, </a:t>
            </a:r>
            <a:r>
              <a:rPr lang="en-US" altLang="en-US" b="1" dirty="0">
                <a:solidFill>
                  <a:srgbClr val="0033CC"/>
                </a:solidFill>
              </a:rPr>
              <a:t>8! </a:t>
            </a:r>
            <a:r>
              <a:rPr lang="en-US" altLang="en-US" dirty="0"/>
              <a:t>= </a:t>
            </a:r>
            <a:r>
              <a:rPr lang="en-US" altLang="en-US" b="1" dirty="0">
                <a:solidFill>
                  <a:srgbClr val="0033CC"/>
                </a:solidFill>
              </a:rPr>
              <a:t>40320</a:t>
            </a:r>
            <a:r>
              <a:rPr lang="en-US" altLang="en-US" dirty="0"/>
              <a:t>.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000756" y="3926698"/>
            <a:ext cx="8227629" cy="14844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2"/>
            </a:pPr>
            <a:r>
              <a:rPr lang="en-US" dirty="0"/>
              <a:t>How many ways can the letters in the word </a:t>
            </a:r>
            <a:r>
              <a:rPr lang="en-US" i="1" dirty="0"/>
              <a:t>COMPUTER </a:t>
            </a:r>
            <a:r>
              <a:rPr lang="en-US" dirty="0"/>
              <a:t>be arranged if the letters </a:t>
            </a:r>
            <a:r>
              <a:rPr lang="en-US" i="1" dirty="0"/>
              <a:t>CO </a:t>
            </a:r>
            <a:r>
              <a:rPr lang="en-US" dirty="0"/>
              <a:t>must remain next to each other (in order) as a unit</a:t>
            </a:r>
            <a:r>
              <a:rPr lang="en-US" altLang="en-US" dirty="0"/>
              <a:t>? 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2760653" y="5411105"/>
            <a:ext cx="7278697" cy="9452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There are effectively only seven objects “CO”, “M”, “P”, “U”, “T”, “E” and “R”. Hence, </a:t>
            </a:r>
            <a:r>
              <a:rPr lang="en-US" altLang="en-US" b="1" dirty="0">
                <a:solidFill>
                  <a:srgbClr val="0033CC"/>
                </a:solidFill>
              </a:rPr>
              <a:t>7! </a:t>
            </a:r>
            <a:r>
              <a:rPr lang="en-US" altLang="en-US" dirty="0"/>
              <a:t>= </a:t>
            </a:r>
            <a:r>
              <a:rPr lang="en-US" altLang="en-US" b="1" dirty="0">
                <a:solidFill>
                  <a:srgbClr val="0033CC"/>
                </a:solidFill>
              </a:rPr>
              <a:t>5040</a:t>
            </a:r>
            <a:r>
              <a:rPr lang="en-US" altLang="en-US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EBCD4E-8F37-4219-8E8D-7B310DA4A947}"/>
              </a:ext>
            </a:extLst>
          </p:cNvPr>
          <p:cNvSpPr txBox="1"/>
          <p:nvPr/>
        </p:nvSpPr>
        <p:spPr>
          <a:xfrm>
            <a:off x="1422399" y="119730"/>
            <a:ext cx="10189029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01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35</a:t>
            </a:fld>
            <a:endParaRPr lang="en-SG" dirty="0"/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2000756" y="1720045"/>
            <a:ext cx="8227629" cy="1726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3"/>
            </a:pPr>
            <a:r>
              <a:rPr lang="en-US" dirty="0"/>
              <a:t>If letters of the word </a:t>
            </a:r>
            <a:r>
              <a:rPr lang="en-US" i="1" dirty="0"/>
              <a:t>COMPUTER </a:t>
            </a:r>
            <a:r>
              <a:rPr lang="en-US" dirty="0"/>
              <a:t>are randomly arranged in a row, what is the probability that the letters </a:t>
            </a:r>
            <a:r>
              <a:rPr lang="en-US" i="1" dirty="0"/>
              <a:t>CO </a:t>
            </a:r>
            <a:r>
              <a:rPr lang="en-US" dirty="0"/>
              <a:t>remain next to each other (in order) as a unit</a:t>
            </a:r>
            <a:r>
              <a:rPr lang="en-US" altLang="en-US" dirty="0"/>
              <a:t>?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6 – Permutations of the Letters in a Word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3002865" y="3751081"/>
            <a:ext cx="2848681" cy="5571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 probability is: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507861" y="4388494"/>
            <a:ext cx="2209021" cy="1025949"/>
            <a:chOff x="3843024" y="4612727"/>
            <a:chExt cx="2209021" cy="1025949"/>
          </a:xfrm>
        </p:grpSpPr>
        <p:sp>
          <p:nvSpPr>
            <p:cNvPr id="39" name="Rectangle 3"/>
            <p:cNvSpPr txBox="1">
              <a:spLocks noChangeArrowheads="1"/>
            </p:cNvSpPr>
            <p:nvPr/>
          </p:nvSpPr>
          <p:spPr>
            <a:xfrm>
              <a:off x="4598805" y="4818618"/>
              <a:ext cx="720970" cy="590974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altLang="en-US" dirty="0"/>
                <a:t>=</a:t>
              </a: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4979383" y="4612727"/>
              <a:ext cx="1072662" cy="1025949"/>
              <a:chOff x="5066856" y="4612727"/>
              <a:chExt cx="1072662" cy="1025949"/>
            </a:xfrm>
          </p:grpSpPr>
          <p:sp>
            <p:nvSpPr>
              <p:cNvPr id="38" name="Rectangle 3"/>
              <p:cNvSpPr txBox="1">
                <a:spLocks noChangeArrowheads="1"/>
              </p:cNvSpPr>
              <p:nvPr/>
            </p:nvSpPr>
            <p:spPr>
              <a:xfrm>
                <a:off x="5066856" y="4612727"/>
                <a:ext cx="1072662" cy="1025949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/>
                  <a:t>1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/>
                  <a:t>8</a:t>
                </a: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5410542" y="5093554"/>
                <a:ext cx="4178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/>
            <p:cNvGrpSpPr/>
            <p:nvPr/>
          </p:nvGrpSpPr>
          <p:grpSpPr>
            <a:xfrm>
              <a:off x="3843024" y="4612727"/>
              <a:ext cx="1072662" cy="1025949"/>
              <a:chOff x="5066856" y="4612727"/>
              <a:chExt cx="1072662" cy="1025949"/>
            </a:xfrm>
          </p:grpSpPr>
          <p:sp>
            <p:nvSpPr>
              <p:cNvPr id="48" name="Rectangle 3"/>
              <p:cNvSpPr txBox="1">
                <a:spLocks noChangeArrowheads="1"/>
              </p:cNvSpPr>
              <p:nvPr/>
            </p:nvSpPr>
            <p:spPr>
              <a:xfrm>
                <a:off x="5066856" y="4612727"/>
                <a:ext cx="1072662" cy="1025949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/>
                  <a:t>7!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/>
                  <a:t>8!</a:t>
                </a:r>
              </a:p>
            </p:txBody>
          </p:sp>
          <p:cxnSp>
            <p:nvCxnSpPr>
              <p:cNvPr id="49" name="Straight Connector 48"/>
              <p:cNvCxnSpPr/>
              <p:nvPr/>
            </p:nvCxnSpPr>
            <p:spPr>
              <a:xfrm>
                <a:off x="5410542" y="5093554"/>
                <a:ext cx="4178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E57988A-4906-4122-86AE-76A21ABECBE0}"/>
              </a:ext>
            </a:extLst>
          </p:cNvPr>
          <p:cNvSpPr txBox="1"/>
          <p:nvPr/>
        </p:nvSpPr>
        <p:spPr>
          <a:xfrm>
            <a:off x="935860" y="55961"/>
            <a:ext cx="10748139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5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36</a:t>
            </a:fld>
            <a:endParaRPr lang="en-SG" dirty="0"/>
          </a:p>
        </p:txBody>
      </p:sp>
      <p:sp>
        <p:nvSpPr>
          <p:cNvPr id="73" name="TextBox 72"/>
          <p:cNvSpPr txBox="1"/>
          <p:nvPr/>
        </p:nvSpPr>
        <p:spPr>
          <a:xfrm>
            <a:off x="152400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 of Selected Elements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2000756" y="1561785"/>
            <a:ext cx="8227629" cy="1023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Given the set {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b</a:t>
            </a:r>
            <a:r>
              <a:rPr lang="en-US" altLang="en-US" dirty="0"/>
              <a:t>, </a:t>
            </a:r>
            <a:r>
              <a:rPr lang="en-US" altLang="en-US" i="1" dirty="0"/>
              <a:t>c</a:t>
            </a:r>
            <a:r>
              <a:rPr lang="en-US" altLang="en-US" dirty="0"/>
              <a:t>}, there are six ways to select two letters from the set and write them in order.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4916" y="2569278"/>
            <a:ext cx="4906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20725" algn="l"/>
                <a:tab pos="1441450" algn="l"/>
                <a:tab pos="2144713" algn="l"/>
                <a:tab pos="2867025" algn="l"/>
                <a:tab pos="3675063" algn="l"/>
              </a:tabLst>
            </a:pPr>
            <a:r>
              <a:rPr lang="en-SG" sz="2800" i="1" dirty="0"/>
              <a:t>ab	ac	ba	bc	ca	cb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3203484"/>
            <a:ext cx="8227629" cy="10289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Each such ordering of two elements of {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b</a:t>
            </a:r>
            <a:r>
              <a:rPr lang="en-US" altLang="en-US" dirty="0"/>
              <a:t>, </a:t>
            </a:r>
            <a:r>
              <a:rPr lang="en-US" altLang="en-US" i="1" dirty="0"/>
              <a:t>c</a:t>
            </a:r>
            <a:r>
              <a:rPr lang="en-US" altLang="en-US" dirty="0"/>
              <a:t>} is called a </a:t>
            </a:r>
            <a:r>
              <a:rPr lang="en-US" altLang="en-US" b="1" dirty="0">
                <a:solidFill>
                  <a:srgbClr val="0033CC"/>
                </a:solidFill>
              </a:rPr>
              <a:t>2-</a:t>
            </a:r>
            <a:r>
              <a:rPr lang="en-US" altLang="en-US" b="1" i="1" dirty="0">
                <a:solidFill>
                  <a:srgbClr val="0033CC"/>
                </a:solidFill>
              </a:rPr>
              <a:t>permutation</a:t>
            </a:r>
            <a:r>
              <a:rPr lang="en-US" altLang="en-US" dirty="0"/>
              <a:t> of {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b</a:t>
            </a:r>
            <a:r>
              <a:rPr lang="en-US" altLang="en-US" dirty="0"/>
              <a:t>, </a:t>
            </a:r>
            <a:r>
              <a:rPr lang="en-US" altLang="en-US" i="1" dirty="0"/>
              <a:t>c</a:t>
            </a:r>
            <a:r>
              <a:rPr lang="en-US" altLang="en-US" dirty="0"/>
              <a:t>}?.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542229" y="4232435"/>
            <a:ext cx="7176411" cy="2165127"/>
            <a:chOff x="993228" y="4598517"/>
            <a:chExt cx="7176411" cy="2165127"/>
          </a:xfrm>
        </p:grpSpPr>
        <p:sp>
          <p:nvSpPr>
            <p:cNvPr id="33" name="Rectangle 32"/>
            <p:cNvSpPr/>
            <p:nvPr/>
          </p:nvSpPr>
          <p:spPr>
            <a:xfrm>
              <a:off x="993228" y="4598517"/>
              <a:ext cx="7176411" cy="212391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93228" y="4598517"/>
              <a:ext cx="7176411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09374" y="5193984"/>
              <a:ext cx="692535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An </a:t>
              </a:r>
              <a:r>
                <a:rPr lang="en-SG" sz="2400" b="1" i="1" dirty="0"/>
                <a:t>r</a:t>
              </a:r>
              <a:r>
                <a:rPr lang="en-SG" sz="2400" b="1" dirty="0"/>
                <a:t>-permutation</a:t>
              </a:r>
              <a:r>
                <a:rPr lang="en-SG" sz="2400" dirty="0"/>
                <a:t> of a set of </a:t>
              </a:r>
              <a:r>
                <a:rPr lang="en-SG" sz="2400" i="1" dirty="0"/>
                <a:t>n</a:t>
              </a:r>
              <a:r>
                <a:rPr lang="en-SG" sz="2400" dirty="0"/>
                <a:t> elements is an ordered selection of </a:t>
              </a:r>
              <a:r>
                <a:rPr lang="en-SG" sz="2400" i="1" dirty="0"/>
                <a:t>r</a:t>
              </a:r>
              <a:r>
                <a:rPr lang="en-SG" sz="2400" dirty="0"/>
                <a:t> elements taken from the set.</a:t>
              </a:r>
            </a:p>
            <a:p>
              <a:r>
                <a:rPr lang="en-SG" sz="2400" dirty="0"/>
                <a:t>The number of </a:t>
              </a:r>
              <a:r>
                <a:rPr lang="en-SG" sz="2400" i="1" dirty="0"/>
                <a:t>r</a:t>
              </a:r>
              <a:r>
                <a:rPr lang="en-SG" sz="2400" dirty="0"/>
                <a:t>-permutations of a set of </a:t>
              </a:r>
              <a:r>
                <a:rPr lang="en-SG" sz="2400" i="1" dirty="0"/>
                <a:t>n</a:t>
              </a:r>
              <a:r>
                <a:rPr lang="en-SG" sz="2400" dirty="0"/>
                <a:t> elements is denoted </a:t>
              </a:r>
              <a:r>
                <a:rPr lang="en-SG" sz="2400" b="1" i="1" dirty="0"/>
                <a:t>P</a:t>
              </a:r>
              <a:r>
                <a:rPr lang="en-SG" sz="2400" b="1" dirty="0"/>
                <a:t>(</a:t>
              </a:r>
              <a:r>
                <a:rPr lang="en-SG" sz="2400" b="1" i="1" dirty="0"/>
                <a:t>n</a:t>
              </a:r>
              <a:r>
                <a:rPr lang="en-SG" sz="2400" b="1" dirty="0"/>
                <a:t>, </a:t>
              </a:r>
              <a:r>
                <a:rPr lang="en-SG" sz="2400" b="1" i="1" dirty="0"/>
                <a:t>r</a:t>
              </a:r>
              <a:r>
                <a:rPr lang="en-SG" sz="2400" b="1" dirty="0"/>
                <a:t>)</a:t>
              </a:r>
              <a:r>
                <a:rPr lang="en-SG" sz="2400" dirty="0"/>
                <a:t>.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0F444E9-6A47-4BDC-A82B-C38459780417}"/>
              </a:ext>
            </a:extLst>
          </p:cNvPr>
          <p:cNvSpPr txBox="1"/>
          <p:nvPr/>
        </p:nvSpPr>
        <p:spPr>
          <a:xfrm>
            <a:off x="574640" y="40841"/>
            <a:ext cx="1077916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04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24000" y="136525"/>
            <a:ext cx="9144000" cy="68737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Permutations of Selected Elements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37</a:t>
            </a:fld>
            <a:endParaRPr lang="en-SG" dirty="0"/>
          </a:p>
        </p:txBody>
      </p:sp>
      <p:grpSp>
        <p:nvGrpSpPr>
          <p:cNvPr id="8" name="Group 7"/>
          <p:cNvGrpSpPr/>
          <p:nvPr/>
        </p:nvGrpSpPr>
        <p:grpSpPr>
          <a:xfrm>
            <a:off x="2320357" y="1119529"/>
            <a:ext cx="7463700" cy="3922361"/>
            <a:chOff x="796357" y="1119528"/>
            <a:chExt cx="7463700" cy="3922361"/>
          </a:xfrm>
        </p:grpSpPr>
        <p:grpSp>
          <p:nvGrpSpPr>
            <p:cNvPr id="37" name="Group 36"/>
            <p:cNvGrpSpPr/>
            <p:nvPr/>
          </p:nvGrpSpPr>
          <p:grpSpPr>
            <a:xfrm>
              <a:off x="796357" y="1119528"/>
              <a:ext cx="7463700" cy="3922361"/>
              <a:chOff x="730523" y="4598517"/>
              <a:chExt cx="7463700" cy="3922361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730523" y="4598518"/>
                <a:ext cx="7398282" cy="392236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730523" y="4598517"/>
                <a:ext cx="7398282" cy="57309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898473" y="4645644"/>
                <a:ext cx="72957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>
                    <a:solidFill>
                      <a:schemeClr val="bg1"/>
                    </a:solidFill>
                  </a:rPr>
                  <a:t>Theorem 10.2.3 </a:t>
                </a:r>
                <a:r>
                  <a:rPr lang="en-SG" sz="2400" i="1" dirty="0">
                    <a:solidFill>
                      <a:schemeClr val="bg1"/>
                    </a:solidFill>
                  </a:rPr>
                  <a:t>r</a:t>
                </a:r>
                <a:r>
                  <a:rPr lang="en-SG" sz="2400" dirty="0">
                    <a:solidFill>
                      <a:schemeClr val="bg1"/>
                    </a:solidFill>
                  </a:rPr>
                  <a:t>-permutations from a set of </a:t>
                </a:r>
                <a:r>
                  <a:rPr lang="en-SG" sz="2400" i="1" dirty="0">
                    <a:solidFill>
                      <a:schemeClr val="bg1"/>
                    </a:solidFill>
                  </a:rPr>
                  <a:t>n</a:t>
                </a:r>
                <a:r>
                  <a:rPr lang="en-SG" sz="2400" dirty="0">
                    <a:solidFill>
                      <a:schemeClr val="bg1"/>
                    </a:solidFill>
                  </a:rPr>
                  <a:t> elements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795941" y="5218733"/>
                <a:ext cx="7242559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If </a:t>
                </a:r>
                <a:r>
                  <a:rPr lang="en-SG" sz="2800" i="1" dirty="0"/>
                  <a:t>n</a:t>
                </a:r>
                <a:r>
                  <a:rPr lang="en-SG" sz="2800" dirty="0"/>
                  <a:t> and </a:t>
                </a:r>
                <a:r>
                  <a:rPr lang="en-SG" sz="2800" i="1" dirty="0"/>
                  <a:t>r</a:t>
                </a:r>
                <a:r>
                  <a:rPr lang="en-SG" sz="2800" dirty="0"/>
                  <a:t> are integers and 1 </a:t>
                </a:r>
                <a:r>
                  <a:rPr lang="en-SG" sz="2800" dirty="0">
                    <a:sym typeface="Symbol" panose="05050102010706020507" pitchFamily="18" charset="2"/>
                  </a:rPr>
                  <a:t>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  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, then the number of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-permutations of a set of 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 elements is given by the formula</a:t>
                </a:r>
              </a:p>
              <a:p>
                <a:pPr>
                  <a:tabLst>
                    <a:tab pos="352425" algn="l"/>
                    <a:tab pos="5732463" algn="l"/>
                  </a:tabLst>
                </a:pPr>
                <a:r>
                  <a:rPr lang="en-SG" sz="2800" dirty="0">
                    <a:sym typeface="Symbol" panose="05050102010706020507" pitchFamily="18" charset="2"/>
                  </a:rPr>
                  <a:t>	</a:t>
                </a:r>
                <a:r>
                  <a:rPr lang="en-SG" sz="2800" i="1" dirty="0">
                    <a:sym typeface="Symbol" panose="05050102010706020507" pitchFamily="18" charset="2"/>
                  </a:rPr>
                  <a:t>P</a:t>
                </a:r>
                <a:r>
                  <a:rPr lang="en-SG" sz="2800" dirty="0">
                    <a:sym typeface="Symbol" panose="05050102010706020507" pitchFamily="18" charset="2"/>
                  </a:rPr>
                  <a:t>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,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) = 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 – 1)(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 – 2) … 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 –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 + 1) 	</a:t>
                </a:r>
                <a:r>
                  <a:rPr lang="en-SG" sz="2000" dirty="0">
                    <a:solidFill>
                      <a:srgbClr val="0033CC"/>
                    </a:solidFill>
                    <a:sym typeface="Symbol" panose="05050102010706020507" pitchFamily="18" charset="2"/>
                  </a:rPr>
                  <a:t>first version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  <a:tabLst>
                    <a:tab pos="352425" algn="l"/>
                  </a:tabLst>
                </a:pPr>
                <a:r>
                  <a:rPr lang="en-SG" sz="2800" dirty="0">
                    <a:sym typeface="Symbol" panose="05050102010706020507" pitchFamily="18" charset="2"/>
                  </a:rPr>
                  <a:t>or, equivalently,</a:t>
                </a:r>
              </a:p>
              <a:p>
                <a:pPr>
                  <a:spcAft>
                    <a:spcPts val="600"/>
                  </a:spcAft>
                  <a:tabLst>
                    <a:tab pos="352425" algn="l"/>
                    <a:tab pos="2338388" algn="l"/>
                    <a:tab pos="5381625" algn="l"/>
                  </a:tabLst>
                </a:pPr>
                <a:r>
                  <a:rPr lang="en-SG" sz="2800" dirty="0">
                    <a:sym typeface="Symbol" panose="05050102010706020507" pitchFamily="18" charset="2"/>
                  </a:rPr>
                  <a:t>		</a:t>
                </a:r>
                <a:r>
                  <a:rPr lang="en-SG" sz="2800" i="1" dirty="0">
                    <a:sym typeface="Symbol" panose="05050102010706020507" pitchFamily="18" charset="2"/>
                  </a:rPr>
                  <a:t>P</a:t>
                </a:r>
                <a:r>
                  <a:rPr lang="en-SG" sz="2800" dirty="0">
                    <a:sym typeface="Symbol" panose="05050102010706020507" pitchFamily="18" charset="2"/>
                  </a:rPr>
                  <a:t>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,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) =	</a:t>
                </a:r>
                <a:r>
                  <a:rPr lang="en-SG" sz="2000" dirty="0">
                    <a:solidFill>
                      <a:srgbClr val="0033CC"/>
                    </a:solidFill>
                    <a:sym typeface="Symbol" panose="05050102010706020507" pitchFamily="18" charset="2"/>
                  </a:rPr>
                  <a:t>second version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4484910" y="3951247"/>
              <a:ext cx="1206921" cy="954107"/>
              <a:chOff x="4484910" y="3951247"/>
              <a:chExt cx="1206921" cy="954107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4484910" y="3951247"/>
                <a:ext cx="120692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!</a:t>
                </a:r>
              </a:p>
              <a:p>
                <a:pPr algn="ctr"/>
                <a:r>
                  <a:rPr lang="en-SG" sz="2800" dirty="0"/>
                  <a:t>(</a:t>
                </a:r>
                <a:r>
                  <a:rPr lang="en-SG" sz="2800" i="1" dirty="0"/>
                  <a:t>n</a:t>
                </a:r>
                <a:r>
                  <a:rPr lang="en-SG" sz="2800" dirty="0"/>
                  <a:t> – </a:t>
                </a:r>
                <a:r>
                  <a:rPr lang="en-SG" sz="2800" i="1" dirty="0"/>
                  <a:t>r</a:t>
                </a:r>
                <a:r>
                  <a:rPr lang="en-SG" sz="2800" dirty="0"/>
                  <a:t>)!</a:t>
                </a:r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4550548" y="4393948"/>
                <a:ext cx="103809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71091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38</a:t>
            </a:fld>
            <a:endParaRPr lang="en-SG" dirty="0"/>
          </a:p>
        </p:txBody>
      </p:sp>
      <p:sp>
        <p:nvSpPr>
          <p:cNvPr id="34" name="TextBox 33"/>
          <p:cNvSpPr txBox="1"/>
          <p:nvPr/>
        </p:nvSpPr>
        <p:spPr>
          <a:xfrm>
            <a:off x="1524000" y="97268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Example 7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000756" y="1581758"/>
            <a:ext cx="8227629" cy="1022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dirty="0"/>
              <a:t>Evaluate </a:t>
            </a:r>
            <a:r>
              <a:rPr lang="en-US" altLang="en-US" i="1" dirty="0"/>
              <a:t>P</a:t>
            </a:r>
            <a:r>
              <a:rPr lang="en-US" altLang="en-US" dirty="0"/>
              <a:t>(5, 2).</a:t>
            </a:r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>
          <a:xfrm>
            <a:off x="2000756" y="2923294"/>
            <a:ext cx="8227629" cy="9266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2"/>
            </a:pPr>
            <a:r>
              <a:rPr lang="en-US" altLang="en-US" dirty="0"/>
              <a:t>How many 4-permutations are there of a set of seven objects? </a:t>
            </a:r>
          </a:p>
        </p:txBody>
      </p:sp>
      <p:sp>
        <p:nvSpPr>
          <p:cNvPr id="43" name="Rectangle 3"/>
          <p:cNvSpPr txBox="1">
            <a:spLocks noChangeArrowheads="1"/>
          </p:cNvSpPr>
          <p:nvPr/>
        </p:nvSpPr>
        <p:spPr>
          <a:xfrm>
            <a:off x="2647938" y="2178612"/>
            <a:ext cx="5334012" cy="5305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i="1" dirty="0"/>
              <a:t>P</a:t>
            </a:r>
            <a:r>
              <a:rPr lang="en-US" altLang="en-US" dirty="0"/>
              <a:t>(5, 2) = 5! / (5 – 2)! = 5 </a:t>
            </a:r>
            <a:r>
              <a:rPr lang="en-US" altLang="en-US" dirty="0">
                <a:sym typeface="Symbol" panose="05050102010706020507" pitchFamily="18" charset="2"/>
              </a:rPr>
              <a:t> 4 = </a:t>
            </a:r>
            <a:r>
              <a:rPr lang="en-US" altLang="en-US" b="1" dirty="0">
                <a:solidFill>
                  <a:srgbClr val="0033CC"/>
                </a:solidFill>
                <a:sym typeface="Symbol" panose="05050102010706020507" pitchFamily="18" charset="2"/>
              </a:rPr>
              <a:t>20</a:t>
            </a:r>
            <a:endParaRPr lang="en-US" altLang="en-US" b="1" dirty="0">
              <a:solidFill>
                <a:srgbClr val="0033CC"/>
              </a:solidFill>
            </a:endParaRP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>
          <a:xfrm>
            <a:off x="2647938" y="3849951"/>
            <a:ext cx="6715962" cy="5305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i="1" dirty="0"/>
              <a:t>P</a:t>
            </a:r>
            <a:r>
              <a:rPr lang="en-US" altLang="en-US" dirty="0"/>
              <a:t>(7, 4) = 7! / (7 – 4)! = 7 </a:t>
            </a:r>
            <a:r>
              <a:rPr lang="en-US" altLang="en-US" dirty="0">
                <a:sym typeface="Symbol" panose="05050102010706020507" pitchFamily="18" charset="2"/>
              </a:rPr>
              <a:t> 6  5  4 = </a:t>
            </a:r>
            <a:r>
              <a:rPr lang="en-US" altLang="en-US" b="1" dirty="0">
                <a:solidFill>
                  <a:srgbClr val="0033CC"/>
                </a:solidFill>
                <a:sym typeface="Symbol" panose="05050102010706020507" pitchFamily="18" charset="2"/>
              </a:rPr>
              <a:t>840</a:t>
            </a:r>
            <a:endParaRPr lang="en-US" altLang="en-US" b="1" dirty="0">
              <a:solidFill>
                <a:srgbClr val="0033CC"/>
              </a:solidFill>
            </a:endParaRP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2000756" y="4546725"/>
            <a:ext cx="8227629" cy="9266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3"/>
            </a:pPr>
            <a:r>
              <a:rPr lang="en-US" altLang="en-US" dirty="0"/>
              <a:t>How many 5-permutations are there of a set of five objects? </a:t>
            </a: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2647938" y="5531062"/>
            <a:ext cx="4890000" cy="5305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i="1" dirty="0"/>
              <a:t>P</a:t>
            </a:r>
            <a:r>
              <a:rPr lang="en-US" altLang="en-US" dirty="0"/>
              <a:t>(5, 5) = 5! / (5 – 5)! = </a:t>
            </a:r>
            <a:r>
              <a:rPr lang="en-US" altLang="en-US" dirty="0">
                <a:sym typeface="Symbol" panose="05050102010706020507" pitchFamily="18" charset="2"/>
              </a:rPr>
              <a:t>5! = </a:t>
            </a:r>
            <a:r>
              <a:rPr lang="en-US" altLang="en-US" b="1" dirty="0">
                <a:solidFill>
                  <a:srgbClr val="0033CC"/>
                </a:solidFill>
                <a:sym typeface="Symbol" panose="05050102010706020507" pitchFamily="18" charset="2"/>
              </a:rPr>
              <a:t>120</a:t>
            </a:r>
            <a:endParaRPr lang="en-US" altLang="en-US" b="1" dirty="0">
              <a:solidFill>
                <a:srgbClr val="0033CC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B30859-12E9-4F12-8754-1F107682D325}"/>
              </a:ext>
            </a:extLst>
          </p:cNvPr>
          <p:cNvSpPr txBox="1"/>
          <p:nvPr/>
        </p:nvSpPr>
        <p:spPr>
          <a:xfrm>
            <a:off x="1001486" y="136525"/>
            <a:ext cx="10566400" cy="68737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Permutations of Selected Elements</a:t>
            </a:r>
          </a:p>
        </p:txBody>
      </p:sp>
    </p:spTree>
    <p:extLst>
      <p:ext uri="{BB962C8B-B14F-4D97-AF65-F5344CB8AC3E}">
        <p14:creationId xmlns:p14="http://schemas.microsoft.com/office/powerpoint/2010/main" val="319328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39</a:t>
            </a:fld>
            <a:endParaRPr lang="en-SG" dirty="0"/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2187369" y="2220686"/>
            <a:ext cx="7791084" cy="9500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b="1" dirty="0">
                <a:solidFill>
                  <a:srgbClr val="2429E4"/>
                </a:solidFill>
                <a:latin typeface="+mn-lt"/>
              </a:rPr>
              <a:t>3: Addition and Difference Rules</a:t>
            </a:r>
          </a:p>
        </p:txBody>
      </p:sp>
    </p:spTree>
    <p:extLst>
      <p:ext uri="{BB962C8B-B14F-4D97-AF65-F5344CB8AC3E}">
        <p14:creationId xmlns:p14="http://schemas.microsoft.com/office/powerpoint/2010/main" val="1065595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40</a:t>
            </a:fld>
            <a:endParaRPr lang="en-SG" dirty="0"/>
          </a:p>
        </p:txBody>
      </p:sp>
      <p:sp>
        <p:nvSpPr>
          <p:cNvPr id="30" name="TextBox 29"/>
          <p:cNvSpPr txBox="1"/>
          <p:nvPr/>
        </p:nvSpPr>
        <p:spPr>
          <a:xfrm>
            <a:off x="1524000" y="275771"/>
            <a:ext cx="9144000" cy="7343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Elements of Disjoint Sets: The Addition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561786"/>
            <a:ext cx="8227629" cy="2447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The basic rule underlying the calculation of the number of elements in a union or difference or intersection is the </a:t>
            </a:r>
            <a:r>
              <a:rPr lang="en-US" altLang="en-US" sz="2400" b="1" dirty="0"/>
              <a:t>addition rule</a:t>
            </a:r>
            <a:r>
              <a:rPr lang="en-US" altLang="en-US" sz="24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This rule states that the number of elements in a union of mutually disjoint finite sets equals the sum of the number of elements in each of the component sets.</a:t>
            </a:r>
            <a:endParaRPr lang="en-US" altLang="en-US" sz="2400" i="1" dirty="0"/>
          </a:p>
        </p:txBody>
      </p:sp>
      <p:grpSp>
        <p:nvGrpSpPr>
          <p:cNvPr id="34" name="Group 33"/>
          <p:cNvGrpSpPr/>
          <p:nvPr/>
        </p:nvGrpSpPr>
        <p:grpSpPr>
          <a:xfrm>
            <a:off x="2497378" y="3987857"/>
            <a:ext cx="7398282" cy="2389931"/>
            <a:chOff x="730523" y="4598517"/>
            <a:chExt cx="7398282" cy="2389931"/>
          </a:xfrm>
        </p:grpSpPr>
        <p:sp>
          <p:nvSpPr>
            <p:cNvPr id="40" name="Rectangle 39"/>
            <p:cNvSpPr/>
            <p:nvPr/>
          </p:nvSpPr>
          <p:spPr>
            <a:xfrm>
              <a:off x="730523" y="4598518"/>
              <a:ext cx="7398282" cy="238993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10.3.1 The Addition Rule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95941" y="5218733"/>
              <a:ext cx="724255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Suppose a finite set </a:t>
              </a:r>
              <a:r>
                <a:rPr lang="en-SG" sz="2800" i="1" dirty="0"/>
                <a:t>A</a:t>
              </a:r>
              <a:r>
                <a:rPr lang="en-SG" sz="2800" dirty="0"/>
                <a:t> equals the union of </a:t>
              </a:r>
              <a:r>
                <a:rPr lang="en-SG" sz="2800" i="1" dirty="0"/>
                <a:t>k</a:t>
              </a:r>
              <a:r>
                <a:rPr lang="en-SG" sz="2800" dirty="0"/>
                <a:t> </a:t>
              </a:r>
              <a:r>
                <a:rPr lang="en-SG" sz="2800" dirty="0">
                  <a:sym typeface="Symbol" panose="05050102010706020507" pitchFamily="18" charset="2"/>
                </a:rPr>
                <a:t>distinct mutually disjoint subsets </a:t>
              </a:r>
              <a:r>
                <a:rPr lang="en-SG" sz="2800" i="1" dirty="0">
                  <a:sym typeface="Symbol" panose="05050102010706020507" pitchFamily="18" charset="2"/>
                </a:rPr>
                <a:t>A</a:t>
              </a:r>
              <a:r>
                <a:rPr lang="en-SG" sz="2800" baseline="-25000" dirty="0">
                  <a:sym typeface="Symbol" panose="05050102010706020507" pitchFamily="18" charset="2"/>
                </a:rPr>
                <a:t>1</a:t>
              </a:r>
              <a:r>
                <a:rPr lang="en-SG" sz="2800" dirty="0">
                  <a:sym typeface="Symbol" panose="05050102010706020507" pitchFamily="18" charset="2"/>
                </a:rPr>
                <a:t>, </a:t>
              </a:r>
              <a:r>
                <a:rPr lang="en-SG" sz="2800" i="1" dirty="0">
                  <a:sym typeface="Symbol" panose="05050102010706020507" pitchFamily="18" charset="2"/>
                </a:rPr>
                <a:t>A</a:t>
              </a:r>
              <a:r>
                <a:rPr lang="en-SG" sz="2800" baseline="-25000" dirty="0">
                  <a:sym typeface="Symbol" panose="05050102010706020507" pitchFamily="18" charset="2"/>
                </a:rPr>
                <a:t>2</a:t>
              </a:r>
              <a:r>
                <a:rPr lang="en-SG" sz="2800" dirty="0">
                  <a:sym typeface="Symbol" panose="05050102010706020507" pitchFamily="18" charset="2"/>
                </a:rPr>
                <a:t>, …, </a:t>
              </a:r>
              <a:r>
                <a:rPr lang="en-SG" sz="2800" i="1" dirty="0">
                  <a:sym typeface="Symbol" panose="05050102010706020507" pitchFamily="18" charset="2"/>
                </a:rPr>
                <a:t>A</a:t>
              </a:r>
              <a:r>
                <a:rPr lang="en-SG" sz="2800" i="1" baseline="-25000" dirty="0">
                  <a:sym typeface="Symbol" panose="05050102010706020507" pitchFamily="18" charset="2"/>
                </a:rPr>
                <a:t>k</a:t>
              </a:r>
              <a:r>
                <a:rPr lang="en-SG" sz="2800" dirty="0">
                  <a:sym typeface="Symbol" panose="05050102010706020507" pitchFamily="18" charset="2"/>
                </a:rPr>
                <a:t>. Then</a:t>
              </a:r>
            </a:p>
            <a:p>
              <a:pPr>
                <a:spcAft>
                  <a:spcPts val="600"/>
                </a:spcAft>
                <a:tabLst>
                  <a:tab pos="1441450" algn="l"/>
                </a:tabLst>
              </a:pPr>
              <a:r>
                <a:rPr lang="en-SG" sz="2000" dirty="0">
                  <a:solidFill>
                    <a:srgbClr val="0033CC"/>
                  </a:solidFill>
                  <a:sym typeface="Symbol" panose="05050102010706020507" pitchFamily="18" charset="2"/>
                </a:rPr>
                <a:t>	</a:t>
              </a:r>
              <a:r>
                <a:rPr lang="en-SG" sz="24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4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4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400" dirty="0">
                  <a:solidFill>
                    <a:srgbClr val="0033CC"/>
                  </a:solidFill>
                  <a:sym typeface="Symbol" panose="05050102010706020507" pitchFamily="18" charset="2"/>
                </a:rPr>
                <a:t>) = </a:t>
              </a:r>
              <a:r>
                <a:rPr lang="en-SG" sz="24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4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4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400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1</a:t>
              </a:r>
              <a:r>
                <a:rPr lang="en-SG" sz="2400" dirty="0">
                  <a:solidFill>
                    <a:srgbClr val="0033CC"/>
                  </a:solidFill>
                  <a:sym typeface="Symbol" panose="05050102010706020507" pitchFamily="18" charset="2"/>
                </a:rPr>
                <a:t>) + </a:t>
              </a:r>
              <a:r>
                <a:rPr lang="en-SG" sz="24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4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4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400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2</a:t>
              </a:r>
              <a:r>
                <a:rPr lang="en-SG" sz="2400" dirty="0">
                  <a:solidFill>
                    <a:srgbClr val="0033CC"/>
                  </a:solidFill>
                  <a:sym typeface="Symbol" panose="05050102010706020507" pitchFamily="18" charset="2"/>
                </a:rPr>
                <a:t>) + </a:t>
              </a:r>
              <a:r>
                <a:rPr lang="en-SG" sz="24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… </a:t>
              </a:r>
              <a:r>
                <a:rPr lang="en-SG" sz="2400" dirty="0">
                  <a:solidFill>
                    <a:srgbClr val="0033CC"/>
                  </a:solidFill>
                  <a:sym typeface="Symbol" panose="05050102010706020507" pitchFamily="18" charset="2"/>
                </a:rPr>
                <a:t>+ </a:t>
              </a:r>
              <a:r>
                <a:rPr lang="en-SG" sz="24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4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4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400" i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k</a:t>
              </a:r>
              <a:r>
                <a:rPr lang="en-SG" sz="2400" dirty="0">
                  <a:solidFill>
                    <a:srgbClr val="0033CC"/>
                  </a:solidFill>
                  <a:sym typeface="Symbol" panose="05050102010706020507" pitchFamily="18" charset="2"/>
                </a:rPr>
                <a:t>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440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41</a:t>
            </a:fld>
            <a:endParaRPr lang="en-SG" dirty="0"/>
          </a:p>
        </p:txBody>
      </p:sp>
      <p:sp>
        <p:nvSpPr>
          <p:cNvPr id="30" name="TextBox 29"/>
          <p:cNvSpPr txBox="1"/>
          <p:nvPr/>
        </p:nvSpPr>
        <p:spPr>
          <a:xfrm>
            <a:off x="1524000" y="91139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8 – Counting Passwords with 3 or fewer Letters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046139" y="1547447"/>
            <a:ext cx="7993211" cy="19080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A computer access password consists of from </a:t>
            </a:r>
            <a:r>
              <a:rPr lang="en-US" altLang="en-US" dirty="0">
                <a:solidFill>
                  <a:srgbClr val="C00000"/>
                </a:solidFill>
              </a:rPr>
              <a:t>one to three letters</a:t>
            </a:r>
            <a:r>
              <a:rPr lang="en-US" altLang="en-US" dirty="0"/>
              <a:t> chosen from the </a:t>
            </a:r>
            <a:r>
              <a:rPr lang="en-US" altLang="en-US" dirty="0">
                <a:solidFill>
                  <a:srgbClr val="C00000"/>
                </a:solidFill>
              </a:rPr>
              <a:t>26 letters </a:t>
            </a:r>
            <a:r>
              <a:rPr lang="en-US" altLang="en-US" dirty="0"/>
              <a:t>in the alphabet with repetitions allowed. How many different passwords are possible?</a:t>
            </a:r>
          </a:p>
        </p:txBody>
      </p:sp>
      <p:sp>
        <p:nvSpPr>
          <p:cNvPr id="47" name="Rectangle 3"/>
          <p:cNvSpPr txBox="1">
            <a:spLocks noChangeArrowheads="1"/>
          </p:cNvSpPr>
          <p:nvPr/>
        </p:nvSpPr>
        <p:spPr>
          <a:xfrm>
            <a:off x="2000757" y="3455534"/>
            <a:ext cx="7993211" cy="13637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 set of all passwords can be partitioned into subsets consisting of those of length 1, length 2, and length 3: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91524" y="4869224"/>
            <a:ext cx="6800617" cy="1675903"/>
            <a:chOff x="567523" y="4869223"/>
            <a:chExt cx="6800617" cy="1675903"/>
          </a:xfrm>
        </p:grpSpPr>
        <p:pic>
          <p:nvPicPr>
            <p:cNvPr id="4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5914" y="4869223"/>
              <a:ext cx="4612226" cy="1675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extBox 48"/>
            <p:cNvSpPr txBox="1"/>
            <p:nvPr/>
          </p:nvSpPr>
          <p:spPr>
            <a:xfrm>
              <a:off x="567523" y="5109807"/>
              <a:ext cx="226252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000" dirty="0"/>
                <a:t>Figure 10.3.1 </a:t>
              </a:r>
            </a:p>
            <a:p>
              <a:r>
                <a:rPr lang="en-SG" sz="2000" dirty="0"/>
                <a:t>Set of all passwords of length </a:t>
              </a:r>
              <a:r>
                <a:rPr lang="en-SG" sz="2000" dirty="0">
                  <a:sym typeface="Symbol" panose="05050102010706020507" pitchFamily="18" charset="2"/>
                </a:rPr>
                <a:t> 3</a:t>
              </a:r>
              <a:endParaRPr lang="en-SG" sz="20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FA06DC3-1D7A-4523-A934-67190343C1A7}"/>
              </a:ext>
            </a:extLst>
          </p:cNvPr>
          <p:cNvSpPr txBox="1"/>
          <p:nvPr/>
        </p:nvSpPr>
        <p:spPr>
          <a:xfrm>
            <a:off x="667657" y="49677"/>
            <a:ext cx="10686143" cy="7343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Elements of Disjoint Sets: The Addition Rule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4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42</a:t>
            </a:fld>
            <a:endParaRPr lang="en-SG" dirty="0"/>
          </a:p>
        </p:txBody>
      </p:sp>
      <p:sp>
        <p:nvSpPr>
          <p:cNvPr id="30" name="TextBox 29"/>
          <p:cNvSpPr txBox="1"/>
          <p:nvPr/>
        </p:nvSpPr>
        <p:spPr>
          <a:xfrm>
            <a:off x="1524000" y="87180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8 – Counting Passwords with 3 or fewer Letters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046139" y="1679143"/>
            <a:ext cx="7993211" cy="13637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By the </a:t>
            </a:r>
            <a:r>
              <a:rPr lang="en-US" altLang="en-US" b="1" dirty="0">
                <a:solidFill>
                  <a:srgbClr val="0033CC"/>
                </a:solidFill>
              </a:rPr>
              <a:t>addition rule</a:t>
            </a:r>
            <a:r>
              <a:rPr lang="en-US" altLang="en-US" dirty="0"/>
              <a:t>, the total number of passwords equals the sum of the number of passwords of length 1, length 2, and length 3. </a:t>
            </a:r>
          </a:p>
        </p:txBody>
      </p:sp>
      <p:sp>
        <p:nvSpPr>
          <p:cNvPr id="39" name="Rectangle 3"/>
          <p:cNvSpPr txBox="1">
            <a:spLocks noChangeArrowheads="1"/>
          </p:cNvSpPr>
          <p:nvPr/>
        </p:nvSpPr>
        <p:spPr>
          <a:xfrm>
            <a:off x="2000756" y="3335890"/>
            <a:ext cx="7993211" cy="62064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Number of passwords of length 1 = 26</a:t>
            </a: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>
          <a:xfrm>
            <a:off x="2000756" y="3901195"/>
            <a:ext cx="7993211" cy="62064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Number of passwords of length 2 = 26</a:t>
            </a:r>
            <a:r>
              <a:rPr lang="en-US" altLang="en-US" baseline="30000" dirty="0"/>
              <a:t>2</a:t>
            </a: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2000756" y="4466499"/>
            <a:ext cx="7993211" cy="62064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Number of passwords of length 3 = 26</a:t>
            </a:r>
            <a:r>
              <a:rPr lang="en-US" altLang="en-US" baseline="30000" dirty="0"/>
              <a:t>3</a:t>
            </a: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2245297" y="5150922"/>
            <a:ext cx="7993211" cy="8981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Hence, total number of passwords = 26 + 26</a:t>
            </a:r>
            <a:r>
              <a:rPr lang="en-US" altLang="en-US" baseline="30000" dirty="0"/>
              <a:t>2</a:t>
            </a:r>
            <a:r>
              <a:rPr lang="en-US" altLang="en-US" dirty="0"/>
              <a:t> + 26</a:t>
            </a:r>
            <a:r>
              <a:rPr lang="en-US" altLang="en-US" baseline="30000" dirty="0"/>
              <a:t>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029200" algn="l"/>
              </a:tabLst>
            </a:pPr>
            <a:r>
              <a:rPr lang="en-US" altLang="en-US" dirty="0"/>
              <a:t>	= </a:t>
            </a:r>
            <a:r>
              <a:rPr lang="en-US" altLang="en-US" b="1" dirty="0">
                <a:solidFill>
                  <a:srgbClr val="0033CC"/>
                </a:solidFill>
              </a:rPr>
              <a:t>18,278</a:t>
            </a:r>
            <a:r>
              <a:rPr lang="en-US" altLang="en-US" dirty="0"/>
              <a:t>.</a:t>
            </a:r>
            <a:endParaRPr lang="en-US" altLang="en-US" baseline="30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baseline="30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09204D-E10C-4715-AC6E-7139223C98BC}"/>
              </a:ext>
            </a:extLst>
          </p:cNvPr>
          <p:cNvSpPr txBox="1"/>
          <p:nvPr/>
        </p:nvSpPr>
        <p:spPr>
          <a:xfrm>
            <a:off x="852046" y="73667"/>
            <a:ext cx="10290629" cy="7343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Elements of Disjoint Sets: The Addition Rule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55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4" grpId="0"/>
      <p:bldP spid="45" grpId="0"/>
      <p:bldP spid="4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43</a:t>
            </a:fld>
            <a:endParaRPr lang="en-SG" dirty="0"/>
          </a:p>
        </p:txBody>
      </p:sp>
      <p:sp>
        <p:nvSpPr>
          <p:cNvPr id="30" name="TextBox 29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Difference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561786"/>
            <a:ext cx="8227629" cy="2447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An important consequence of the addition rule is the fact that if the number of elements in a set </a:t>
            </a:r>
            <a:r>
              <a:rPr lang="en-US" altLang="en-US" i="1" dirty="0"/>
              <a:t>A</a:t>
            </a:r>
            <a:r>
              <a:rPr lang="en-US" altLang="en-US" dirty="0"/>
              <a:t> and the number in a subset </a:t>
            </a:r>
            <a:r>
              <a:rPr lang="en-US" altLang="en-US" i="1" dirty="0"/>
              <a:t>B</a:t>
            </a:r>
            <a:r>
              <a:rPr lang="en-US" altLang="en-US" dirty="0"/>
              <a:t> of </a:t>
            </a:r>
            <a:r>
              <a:rPr lang="en-US" altLang="en-US" i="1" dirty="0"/>
              <a:t>A</a:t>
            </a:r>
            <a:r>
              <a:rPr lang="en-US" altLang="en-US" dirty="0"/>
              <a:t> are both known, then the number of elements that are in </a:t>
            </a:r>
            <a:r>
              <a:rPr lang="en-US" altLang="en-US" i="1" dirty="0"/>
              <a:t>A</a:t>
            </a:r>
            <a:r>
              <a:rPr lang="en-US" altLang="en-US" dirty="0"/>
              <a:t> and not in </a:t>
            </a:r>
            <a:r>
              <a:rPr lang="en-US" altLang="en-US" i="1" dirty="0"/>
              <a:t>B</a:t>
            </a:r>
            <a:r>
              <a:rPr lang="en-US" altLang="en-US" dirty="0"/>
              <a:t> can be computed.</a:t>
            </a:r>
            <a:endParaRPr lang="en-US" altLang="en-US" i="1" dirty="0"/>
          </a:p>
        </p:txBody>
      </p:sp>
      <p:grpSp>
        <p:nvGrpSpPr>
          <p:cNvPr id="34" name="Group 33"/>
          <p:cNvGrpSpPr/>
          <p:nvPr/>
        </p:nvGrpSpPr>
        <p:grpSpPr>
          <a:xfrm>
            <a:off x="2497378" y="3987857"/>
            <a:ext cx="7398282" cy="1639221"/>
            <a:chOff x="730523" y="4598517"/>
            <a:chExt cx="7398282" cy="1639221"/>
          </a:xfrm>
        </p:grpSpPr>
        <p:sp>
          <p:nvSpPr>
            <p:cNvPr id="40" name="Rectangle 39"/>
            <p:cNvSpPr/>
            <p:nvPr/>
          </p:nvSpPr>
          <p:spPr>
            <a:xfrm>
              <a:off x="730523" y="4598518"/>
              <a:ext cx="7398282" cy="16392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10.3.2 The Difference Rule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95941" y="5218733"/>
              <a:ext cx="7242559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If </a:t>
              </a:r>
              <a:r>
                <a:rPr lang="en-SG" sz="2800" i="1" dirty="0"/>
                <a:t>A</a:t>
              </a:r>
              <a:r>
                <a:rPr lang="en-SG" sz="2800" dirty="0"/>
                <a:t> is a finite set and </a:t>
              </a:r>
              <a:r>
                <a:rPr lang="en-SG" sz="2800" i="1" dirty="0"/>
                <a:t>B</a:t>
              </a:r>
              <a:r>
                <a:rPr lang="en-SG" sz="2800" dirty="0"/>
                <a:t> is a subset of </a:t>
              </a:r>
              <a:r>
                <a:rPr lang="en-SG" sz="2800" i="1" dirty="0"/>
                <a:t>A</a:t>
              </a:r>
              <a:r>
                <a:rPr lang="en-SG" sz="2800" dirty="0"/>
                <a:t>, then</a:t>
              </a:r>
              <a:endParaRPr lang="en-SG" sz="2800" dirty="0">
                <a:sym typeface="Symbol" panose="05050102010706020507" pitchFamily="18" charset="2"/>
              </a:endParaRPr>
            </a:p>
            <a:p>
              <a:pPr>
                <a:spcAft>
                  <a:spcPts val="600"/>
                </a:spcAft>
                <a:tabLst>
                  <a:tab pos="1793875" algn="l"/>
                </a:tabLst>
              </a:pPr>
              <a:r>
                <a:rPr lang="en-SG" sz="2000" dirty="0">
                  <a:solidFill>
                    <a:srgbClr val="0033CC"/>
                  </a:solidFill>
                  <a:sym typeface="Symbol" panose="05050102010706020507" pitchFamily="18" charset="2"/>
                </a:rPr>
                <a:t>	</a:t>
              </a:r>
              <a:r>
                <a:rPr lang="en-SG" sz="24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4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4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 </a:t>
              </a:r>
              <a:r>
                <a:rPr lang="en-SG" sz="24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–</a:t>
              </a:r>
              <a:r>
                <a:rPr lang="en-SG" sz="24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B</a:t>
              </a:r>
              <a:r>
                <a:rPr lang="en-SG" sz="24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) = </a:t>
              </a:r>
              <a:r>
                <a:rPr lang="en-SG" sz="24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4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4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4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) – </a:t>
              </a:r>
              <a:r>
                <a:rPr lang="en-SG" sz="24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4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4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B</a:t>
              </a:r>
              <a:r>
                <a:rPr lang="en-SG" sz="24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65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44</a:t>
            </a:fld>
            <a:endParaRPr lang="en-SG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561786"/>
            <a:ext cx="8227629" cy="671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The difference rule is illustrated in Figure 10.3.2.</a:t>
            </a:r>
            <a:endParaRPr lang="en-US" altLang="en-US" i="1" dirty="0"/>
          </a:p>
        </p:txBody>
      </p:sp>
      <p:grpSp>
        <p:nvGrpSpPr>
          <p:cNvPr id="2" name="Group 1"/>
          <p:cNvGrpSpPr/>
          <p:nvPr/>
        </p:nvGrpSpPr>
        <p:grpSpPr>
          <a:xfrm>
            <a:off x="3657600" y="2401889"/>
            <a:ext cx="4654550" cy="2590635"/>
            <a:chOff x="2133600" y="2401888"/>
            <a:chExt cx="4654550" cy="2590635"/>
          </a:xfrm>
        </p:grpSpPr>
        <p:sp>
          <p:nvSpPr>
            <p:cNvPr id="32" name="TextBox 31"/>
            <p:cNvSpPr txBox="1"/>
            <p:nvPr/>
          </p:nvSpPr>
          <p:spPr>
            <a:xfrm>
              <a:off x="2444322" y="4584127"/>
              <a:ext cx="4033106" cy="4083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10.3.2 The Difference Rule</a:t>
              </a:r>
            </a:p>
          </p:txBody>
        </p:sp>
        <p:pic>
          <p:nvPicPr>
            <p:cNvPr id="3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2401888"/>
              <a:ext cx="4654550" cy="2057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4A6142D-6D10-4909-B320-DBCD3C32FF92}"/>
              </a:ext>
            </a:extLst>
          </p:cNvPr>
          <p:cNvSpPr txBox="1"/>
          <p:nvPr/>
        </p:nvSpPr>
        <p:spPr>
          <a:xfrm>
            <a:off x="1524000" y="275771"/>
            <a:ext cx="9144000" cy="7343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Elements of Disjoint Sets: The Addition Rule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3554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45</a:t>
            </a:fld>
            <a:endParaRPr lang="en-SG" dirty="0"/>
          </a:p>
        </p:txBody>
      </p:sp>
      <p:sp>
        <p:nvSpPr>
          <p:cNvPr id="29" name="TextBox 28"/>
          <p:cNvSpPr txBox="1"/>
          <p:nvPr/>
        </p:nvSpPr>
        <p:spPr>
          <a:xfrm>
            <a:off x="1542570" y="275429"/>
            <a:ext cx="9144000" cy="59368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The Difference Rule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090247"/>
            <a:ext cx="8227629" cy="2268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The difference rule holds for the following reason: If </a:t>
            </a:r>
            <a:r>
              <a:rPr lang="en-US" altLang="en-US" i="1" dirty="0"/>
              <a:t>B </a:t>
            </a:r>
            <a:r>
              <a:rPr lang="en-US" altLang="en-US" dirty="0"/>
              <a:t>is a subset of </a:t>
            </a:r>
            <a:r>
              <a:rPr lang="en-US" altLang="en-US" i="1" dirty="0"/>
              <a:t>A</a:t>
            </a:r>
            <a:r>
              <a:rPr lang="en-US" altLang="en-US" dirty="0"/>
              <a:t>, then the two sets </a:t>
            </a:r>
            <a:r>
              <a:rPr lang="en-US" altLang="en-US" i="1" dirty="0"/>
              <a:t>B</a:t>
            </a:r>
            <a:r>
              <a:rPr lang="en-US" altLang="en-US" dirty="0"/>
              <a:t> and </a:t>
            </a:r>
            <a:r>
              <a:rPr lang="en-US" altLang="en-US" i="1" dirty="0"/>
              <a:t>A</a:t>
            </a:r>
            <a:r>
              <a:rPr lang="en-US" altLang="en-US" dirty="0"/>
              <a:t> – </a:t>
            </a:r>
            <a:r>
              <a:rPr lang="en-US" altLang="en-US" i="1" dirty="0"/>
              <a:t>B</a:t>
            </a:r>
            <a:r>
              <a:rPr lang="en-US" altLang="en-US" dirty="0"/>
              <a:t> have no elements in common and </a:t>
            </a:r>
            <a:r>
              <a:rPr lang="en-US" altLang="en-US" i="1" dirty="0"/>
              <a:t>B </a:t>
            </a:r>
            <a:r>
              <a:rPr lang="en-US" altLang="en-US" b="1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(</a:t>
            </a:r>
            <a:r>
              <a:rPr lang="en-US" altLang="en-US" i="1" dirty="0"/>
              <a:t>A</a:t>
            </a:r>
            <a:r>
              <a:rPr lang="en-US" altLang="en-US" dirty="0"/>
              <a:t> – </a:t>
            </a:r>
            <a:r>
              <a:rPr lang="en-US" altLang="en-US" i="1" dirty="0"/>
              <a:t>B</a:t>
            </a:r>
            <a:r>
              <a:rPr lang="en-US" altLang="en-US" dirty="0"/>
              <a:t>) = </a:t>
            </a:r>
            <a:r>
              <a:rPr lang="en-US" altLang="en-US" i="1" dirty="0"/>
              <a:t>A</a:t>
            </a:r>
            <a:r>
              <a:rPr lang="en-US" altLang="en-US" dirty="0"/>
              <a:t>. Hence, by the addition rule,</a:t>
            </a:r>
          </a:p>
          <a:p>
            <a:pPr marL="0" indent="0">
              <a:buNone/>
              <a:tabLst>
                <a:tab pos="2233613" algn="l"/>
              </a:tabLst>
            </a:pPr>
            <a:r>
              <a:rPr lang="en-US" altLang="en-US" dirty="0"/>
              <a:t>	</a:t>
            </a:r>
            <a:r>
              <a:rPr lang="en-US" altLang="en-US" i="1" dirty="0">
                <a:solidFill>
                  <a:srgbClr val="0033CC"/>
                </a:solidFill>
              </a:rPr>
              <a:t>N</a:t>
            </a:r>
            <a:r>
              <a:rPr lang="en-US" altLang="en-US" dirty="0">
                <a:solidFill>
                  <a:srgbClr val="0033CC"/>
                </a:solidFill>
              </a:rPr>
              <a:t>(</a:t>
            </a:r>
            <a:r>
              <a:rPr lang="en-US" altLang="en-US" i="1" dirty="0">
                <a:solidFill>
                  <a:srgbClr val="0033CC"/>
                </a:solidFill>
              </a:rPr>
              <a:t>B</a:t>
            </a:r>
            <a:r>
              <a:rPr lang="en-US" altLang="en-US" dirty="0">
                <a:solidFill>
                  <a:srgbClr val="0033CC"/>
                </a:solidFill>
              </a:rPr>
              <a:t>) + </a:t>
            </a:r>
            <a:r>
              <a:rPr lang="en-US" altLang="en-US" i="1" dirty="0">
                <a:solidFill>
                  <a:srgbClr val="0033CC"/>
                </a:solidFill>
              </a:rPr>
              <a:t>N</a:t>
            </a:r>
            <a:r>
              <a:rPr lang="en-US" altLang="en-US" dirty="0">
                <a:solidFill>
                  <a:srgbClr val="0033CC"/>
                </a:solidFill>
              </a:rPr>
              <a:t>(</a:t>
            </a:r>
            <a:r>
              <a:rPr lang="en-US" altLang="en-US" i="1" dirty="0">
                <a:solidFill>
                  <a:srgbClr val="0033CC"/>
                </a:solidFill>
              </a:rPr>
              <a:t>A</a:t>
            </a:r>
            <a:r>
              <a:rPr lang="en-US" altLang="en-US" dirty="0">
                <a:solidFill>
                  <a:srgbClr val="0033CC"/>
                </a:solidFill>
              </a:rPr>
              <a:t> – </a:t>
            </a:r>
            <a:r>
              <a:rPr lang="en-US" altLang="en-US" i="1" dirty="0">
                <a:solidFill>
                  <a:srgbClr val="0033CC"/>
                </a:solidFill>
              </a:rPr>
              <a:t>B</a:t>
            </a:r>
            <a:r>
              <a:rPr lang="en-US" altLang="en-US" dirty="0">
                <a:solidFill>
                  <a:srgbClr val="0033CC"/>
                </a:solidFill>
              </a:rPr>
              <a:t>) = </a:t>
            </a:r>
            <a:r>
              <a:rPr lang="en-US" altLang="en-US" i="1" dirty="0">
                <a:solidFill>
                  <a:srgbClr val="0033CC"/>
                </a:solidFill>
              </a:rPr>
              <a:t>N</a:t>
            </a:r>
            <a:r>
              <a:rPr lang="en-US" altLang="en-US" dirty="0">
                <a:solidFill>
                  <a:srgbClr val="0033CC"/>
                </a:solidFill>
              </a:rPr>
              <a:t>(</a:t>
            </a:r>
            <a:r>
              <a:rPr lang="en-US" altLang="en-US" i="1" dirty="0">
                <a:solidFill>
                  <a:srgbClr val="0033CC"/>
                </a:solidFill>
              </a:rPr>
              <a:t>A</a:t>
            </a:r>
            <a:r>
              <a:rPr lang="en-US" altLang="en-US" dirty="0">
                <a:solidFill>
                  <a:srgbClr val="0033CC"/>
                </a:solidFill>
              </a:rPr>
              <a:t>).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000756" y="3625010"/>
            <a:ext cx="8227629" cy="114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Subtracting </a:t>
            </a:r>
            <a:r>
              <a:rPr lang="en-US" altLang="en-US" i="1" dirty="0"/>
              <a:t>N(B</a:t>
            </a:r>
            <a:r>
              <a:rPr lang="en-US" altLang="en-US" dirty="0"/>
              <a:t>) from both sides gives the equation</a:t>
            </a:r>
            <a:endParaRPr lang="en-US" altLang="en-US" i="1" dirty="0"/>
          </a:p>
          <a:p>
            <a:pPr marL="0" indent="0">
              <a:buNone/>
              <a:tabLst>
                <a:tab pos="2233613" algn="l"/>
              </a:tabLst>
            </a:pPr>
            <a:r>
              <a:rPr lang="en-US" altLang="en-US" dirty="0"/>
              <a:t>	</a:t>
            </a:r>
            <a:r>
              <a:rPr lang="en-US" altLang="en-US" i="1" dirty="0">
                <a:solidFill>
                  <a:srgbClr val="0033CC"/>
                </a:solidFill>
              </a:rPr>
              <a:t>N</a:t>
            </a:r>
            <a:r>
              <a:rPr lang="en-US" altLang="en-US" dirty="0">
                <a:solidFill>
                  <a:srgbClr val="0033CC"/>
                </a:solidFill>
              </a:rPr>
              <a:t>(</a:t>
            </a:r>
            <a:r>
              <a:rPr lang="en-US" altLang="en-US" i="1" dirty="0">
                <a:solidFill>
                  <a:srgbClr val="0033CC"/>
                </a:solidFill>
              </a:rPr>
              <a:t>A</a:t>
            </a:r>
            <a:r>
              <a:rPr lang="en-US" altLang="en-US" dirty="0">
                <a:solidFill>
                  <a:srgbClr val="0033CC"/>
                </a:solidFill>
              </a:rPr>
              <a:t> – </a:t>
            </a:r>
            <a:r>
              <a:rPr lang="en-US" altLang="en-US" i="1" dirty="0">
                <a:solidFill>
                  <a:srgbClr val="0033CC"/>
                </a:solidFill>
              </a:rPr>
              <a:t>B</a:t>
            </a:r>
            <a:r>
              <a:rPr lang="en-US" altLang="en-US" dirty="0">
                <a:solidFill>
                  <a:srgbClr val="0033CC"/>
                </a:solidFill>
              </a:rPr>
              <a:t>) = </a:t>
            </a:r>
            <a:r>
              <a:rPr lang="en-US" altLang="en-US" i="1" dirty="0">
                <a:solidFill>
                  <a:srgbClr val="0033CC"/>
                </a:solidFill>
              </a:rPr>
              <a:t>N</a:t>
            </a:r>
            <a:r>
              <a:rPr lang="en-US" altLang="en-US" dirty="0">
                <a:solidFill>
                  <a:srgbClr val="0033CC"/>
                </a:solidFill>
              </a:rPr>
              <a:t>(</a:t>
            </a:r>
            <a:r>
              <a:rPr lang="en-US" altLang="en-US" i="1" dirty="0">
                <a:solidFill>
                  <a:srgbClr val="0033CC"/>
                </a:solidFill>
              </a:rPr>
              <a:t>A</a:t>
            </a:r>
            <a:r>
              <a:rPr lang="en-US" altLang="en-US" dirty="0">
                <a:solidFill>
                  <a:srgbClr val="0033CC"/>
                </a:solidFill>
              </a:rPr>
              <a:t>) – </a:t>
            </a:r>
            <a:r>
              <a:rPr lang="en-US" altLang="en-US" i="1" dirty="0">
                <a:solidFill>
                  <a:srgbClr val="0033CC"/>
                </a:solidFill>
              </a:rPr>
              <a:t>N</a:t>
            </a:r>
            <a:r>
              <a:rPr lang="en-US" altLang="en-US" dirty="0">
                <a:solidFill>
                  <a:srgbClr val="0033CC"/>
                </a:solidFill>
              </a:rPr>
              <a:t>(</a:t>
            </a:r>
            <a:r>
              <a:rPr lang="en-US" altLang="en-US" i="1" dirty="0">
                <a:solidFill>
                  <a:srgbClr val="0033CC"/>
                </a:solidFill>
              </a:rPr>
              <a:t>B</a:t>
            </a:r>
            <a:r>
              <a:rPr lang="en-US" altLang="en-US" dirty="0">
                <a:solidFill>
                  <a:srgbClr val="0033CC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1652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46</a:t>
            </a:fld>
            <a:endParaRPr lang="en-SG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609074"/>
            <a:ext cx="8227629" cy="1614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A typical PIN (personal identification number) is a sequence of any </a:t>
            </a:r>
            <a:r>
              <a:rPr lang="en-US" altLang="en-US" dirty="0">
                <a:solidFill>
                  <a:srgbClr val="C00000"/>
                </a:solidFill>
              </a:rPr>
              <a:t>four symbols </a:t>
            </a:r>
            <a:r>
              <a:rPr lang="en-US" altLang="en-US" dirty="0"/>
              <a:t>chosen from the </a:t>
            </a:r>
            <a:r>
              <a:rPr lang="en-US" altLang="en-US" dirty="0">
                <a:solidFill>
                  <a:srgbClr val="C00000"/>
                </a:solidFill>
              </a:rPr>
              <a:t>26 letters</a:t>
            </a:r>
            <a:r>
              <a:rPr lang="en-US" altLang="en-US" dirty="0"/>
              <a:t> in the alphabet and the </a:t>
            </a:r>
            <a:r>
              <a:rPr lang="en-US" altLang="en-US" dirty="0">
                <a:solidFill>
                  <a:srgbClr val="C00000"/>
                </a:solidFill>
              </a:rPr>
              <a:t>ten digits</a:t>
            </a:r>
            <a:r>
              <a:rPr lang="en-US" altLang="en-US" dirty="0"/>
              <a:t>, with repetition allowed.</a:t>
            </a:r>
            <a:endParaRPr lang="en-US" altLang="en-US" dirty="0">
              <a:solidFill>
                <a:srgbClr val="0033CC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9 – Counting PINs with Repeated Symbols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2000756" y="3214452"/>
            <a:ext cx="8227629" cy="593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LcPeriod"/>
            </a:pPr>
            <a:r>
              <a:rPr lang="en-US" altLang="en-US" dirty="0"/>
              <a:t>How many PINs contain repeated symbols?</a:t>
            </a:r>
            <a:endParaRPr lang="en-US" altLang="en-US" dirty="0">
              <a:solidFill>
                <a:srgbClr val="0033CC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046139" y="3704393"/>
            <a:ext cx="7993211" cy="13637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There are 36</a:t>
            </a:r>
            <a:r>
              <a:rPr lang="en-US" altLang="en-US" baseline="30000" dirty="0"/>
              <a:t>4</a:t>
            </a:r>
            <a:r>
              <a:rPr lang="en-US" altLang="en-US" dirty="0"/>
              <a:t> = 1,679,616 PINs when repetition is allowed, and there are 36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b="1" dirty="0"/>
              <a:t> </a:t>
            </a:r>
            <a:r>
              <a:rPr lang="en-US" altLang="en-US" dirty="0"/>
              <a:t>35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b="1" dirty="0"/>
              <a:t> </a:t>
            </a:r>
            <a:r>
              <a:rPr lang="en-US" altLang="en-US" dirty="0"/>
              <a:t>34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b="1" dirty="0"/>
              <a:t> </a:t>
            </a:r>
            <a:r>
              <a:rPr lang="en-US" altLang="en-US" dirty="0"/>
              <a:t>33 = 1,413,720 PINs when repetition is not allowed.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000756" y="5175200"/>
            <a:ext cx="7993211" cy="13637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By the </a:t>
            </a:r>
            <a:r>
              <a:rPr lang="en-US" altLang="en-US" b="1" dirty="0"/>
              <a:t>difference rule</a:t>
            </a:r>
            <a:r>
              <a:rPr lang="en-US" altLang="en-US" dirty="0"/>
              <a:t>, there are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1073150" algn="l"/>
              </a:tabLst>
            </a:pPr>
            <a:r>
              <a:rPr lang="en-US" altLang="en-US" dirty="0"/>
              <a:t>	 1,679,616 – 1,413,720 = </a:t>
            </a:r>
            <a:r>
              <a:rPr lang="en-US" altLang="en-US" b="1" dirty="0">
                <a:solidFill>
                  <a:srgbClr val="0033CC"/>
                </a:solidFill>
              </a:rPr>
              <a:t>265,896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PINS that contain at least one repeated symbol.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0E4D9F-A31C-492F-B9EB-E12FBB9B3C0F}"/>
              </a:ext>
            </a:extLst>
          </p:cNvPr>
          <p:cNvSpPr txBox="1"/>
          <p:nvPr/>
        </p:nvSpPr>
        <p:spPr>
          <a:xfrm>
            <a:off x="1084385" y="72529"/>
            <a:ext cx="9960986" cy="59368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The Difference Rule</a:t>
            </a:r>
          </a:p>
        </p:txBody>
      </p:sp>
    </p:spTree>
    <p:extLst>
      <p:ext uri="{BB962C8B-B14F-4D97-AF65-F5344CB8AC3E}">
        <p14:creationId xmlns:p14="http://schemas.microsoft.com/office/powerpoint/2010/main" val="407250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47</a:t>
            </a:fld>
            <a:endParaRPr lang="en-SG" dirty="0"/>
          </a:p>
        </p:txBody>
      </p:sp>
      <p:sp>
        <p:nvSpPr>
          <p:cNvPr id="27" name="TextBox 26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9 – Counting PINs with Repeated Symbols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2000756" y="1708216"/>
            <a:ext cx="8227629" cy="1263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LcPeriod" startAt="2"/>
            </a:pPr>
            <a:r>
              <a:rPr lang="en-US" altLang="en-US" dirty="0"/>
              <a:t>If all PINs are equally likely, what is the probability that a randomly chosen PIN contains a repeated symbol?</a:t>
            </a:r>
            <a:endParaRPr lang="en-US" altLang="en-US" dirty="0">
              <a:solidFill>
                <a:srgbClr val="0033CC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187369" y="3004405"/>
            <a:ext cx="8216863" cy="9957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There are 1,679,616 PINs in all, and by part (a) 265,896 of these contain at least one repeated symbol.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187368" y="4069565"/>
            <a:ext cx="8216863" cy="9698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Thus, the probability that a randomly chosen PIN contains a repeated symbol is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529649" y="5039404"/>
            <a:ext cx="3729306" cy="954107"/>
            <a:chOff x="2813538" y="5644662"/>
            <a:chExt cx="3729306" cy="954107"/>
          </a:xfrm>
        </p:grpSpPr>
        <p:sp>
          <p:nvSpPr>
            <p:cNvPr id="2" name="TextBox 1"/>
            <p:cNvSpPr txBox="1"/>
            <p:nvPr/>
          </p:nvSpPr>
          <p:spPr>
            <a:xfrm>
              <a:off x="2813538" y="5644662"/>
              <a:ext cx="18589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265,896</a:t>
              </a:r>
            </a:p>
            <a:p>
              <a:pPr algn="ctr"/>
              <a:r>
                <a:rPr lang="en-SG" sz="2800" dirty="0"/>
                <a:t>1,679,616</a:t>
              </a:r>
            </a:p>
          </p:txBody>
        </p:sp>
        <p:cxnSp>
          <p:nvCxnSpPr>
            <p:cNvPr id="6" name="Straight Connector 5"/>
            <p:cNvCxnSpPr>
              <a:stCxn id="2" idx="1"/>
              <a:endCxn id="2" idx="3"/>
            </p:cNvCxnSpPr>
            <p:nvPr/>
          </p:nvCxnSpPr>
          <p:spPr>
            <a:xfrm>
              <a:off x="2813538" y="6121716"/>
              <a:ext cx="185898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824919" y="5799955"/>
              <a:ext cx="1717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>
                  <a:sym typeface="Symbol" panose="05050102010706020507" pitchFamily="18" charset="2"/>
                </a:rPr>
                <a:t> 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0.158</a:t>
              </a:r>
              <a:endParaRPr lang="en-SG" sz="2800" b="1" dirty="0">
                <a:solidFill>
                  <a:srgbClr val="0033CC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384FA4F-CE84-404D-A7E7-96BB86F3E15A}"/>
              </a:ext>
            </a:extLst>
          </p:cNvPr>
          <p:cNvSpPr txBox="1"/>
          <p:nvPr/>
        </p:nvSpPr>
        <p:spPr>
          <a:xfrm>
            <a:off x="740229" y="86614"/>
            <a:ext cx="10613571" cy="59368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The Difference Rule</a:t>
            </a:r>
          </a:p>
        </p:txBody>
      </p:sp>
    </p:spTree>
    <p:extLst>
      <p:ext uri="{BB962C8B-B14F-4D97-AF65-F5344CB8AC3E}">
        <p14:creationId xmlns:p14="http://schemas.microsoft.com/office/powerpoint/2010/main" val="80071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48</a:t>
            </a:fld>
            <a:endParaRPr lang="en-SG" dirty="0"/>
          </a:p>
        </p:txBody>
      </p:sp>
      <p:sp>
        <p:nvSpPr>
          <p:cNvPr id="27" name="TextBox 26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9 – Counting PINs with Repeated Symbols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187369" y="1624249"/>
            <a:ext cx="8216863" cy="23982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An alternative solution to part (b) is based on the observation that if </a:t>
            </a:r>
            <a:r>
              <a:rPr lang="en-US" altLang="en-US" i="1" dirty="0"/>
              <a:t>S</a:t>
            </a:r>
            <a:r>
              <a:rPr lang="en-US" altLang="en-US" dirty="0"/>
              <a:t> is the set of all PINs and </a:t>
            </a:r>
            <a:r>
              <a:rPr lang="en-US" altLang="en-US" i="1" dirty="0"/>
              <a:t>A</a:t>
            </a:r>
            <a:r>
              <a:rPr lang="en-US" altLang="en-US" dirty="0"/>
              <a:t> is the set of all PINs with no repeated symbol, then </a:t>
            </a:r>
            <a:r>
              <a:rPr lang="en-US" altLang="en-US" i="1" dirty="0"/>
              <a:t>S</a:t>
            </a:r>
            <a:r>
              <a:rPr lang="en-US" altLang="en-US" dirty="0"/>
              <a:t> – </a:t>
            </a:r>
            <a:r>
              <a:rPr lang="en-US" altLang="en-US" i="1" dirty="0"/>
              <a:t>A</a:t>
            </a:r>
            <a:r>
              <a:rPr lang="en-US" altLang="en-US" dirty="0"/>
              <a:t> is the set of all PINs with at least one repeated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It follows that: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964926" y="4040034"/>
            <a:ext cx="3130061" cy="954107"/>
            <a:chOff x="1441939" y="4040033"/>
            <a:chExt cx="3130061" cy="954107"/>
          </a:xfrm>
        </p:grpSpPr>
        <p:grpSp>
          <p:nvGrpSpPr>
            <p:cNvPr id="8" name="Group 7"/>
            <p:cNvGrpSpPr/>
            <p:nvPr/>
          </p:nvGrpSpPr>
          <p:grpSpPr>
            <a:xfrm>
              <a:off x="2952853" y="4040033"/>
              <a:ext cx="1619147" cy="954107"/>
              <a:chOff x="2813538" y="5644662"/>
              <a:chExt cx="1858981" cy="954107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2813538" y="5644662"/>
                <a:ext cx="18589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(</a:t>
                </a:r>
                <a:r>
                  <a:rPr lang="en-SG" sz="2800" i="1" dirty="0"/>
                  <a:t>S</a:t>
                </a:r>
                <a:r>
                  <a:rPr lang="en-SG" sz="2800" dirty="0"/>
                  <a:t> – </a:t>
                </a:r>
                <a:r>
                  <a:rPr lang="en-SG" sz="2800" i="1" dirty="0"/>
                  <a:t>A</a:t>
                </a:r>
                <a:r>
                  <a:rPr lang="en-SG" sz="2800" dirty="0"/>
                  <a:t>)</a:t>
                </a:r>
              </a:p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(</a:t>
                </a:r>
                <a:r>
                  <a:rPr lang="en-SG" sz="2800" i="1" dirty="0"/>
                  <a:t>S</a:t>
                </a:r>
                <a:r>
                  <a:rPr lang="en-SG" sz="2800" dirty="0"/>
                  <a:t>)</a:t>
                </a:r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3013632" y="6121715"/>
                <a:ext cx="1406905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/>
            <p:cNvSpPr txBox="1"/>
            <p:nvPr/>
          </p:nvSpPr>
          <p:spPr>
            <a:xfrm>
              <a:off x="1441939" y="4255477"/>
              <a:ext cx="18337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i="1" dirty="0"/>
                <a:t>P</a:t>
              </a:r>
              <a:r>
                <a:rPr lang="en-SG" sz="2800" dirty="0"/>
                <a:t>(</a:t>
              </a:r>
              <a:r>
                <a:rPr lang="en-SG" sz="2800" i="1" dirty="0"/>
                <a:t>S</a:t>
              </a:r>
              <a:r>
                <a:rPr lang="en-SG" sz="2800" dirty="0"/>
                <a:t> – </a:t>
              </a:r>
              <a:r>
                <a:rPr lang="en-SG" sz="2800" i="1" dirty="0"/>
                <a:t>A</a:t>
              </a:r>
              <a:r>
                <a:rPr lang="en-SG" sz="2800" dirty="0"/>
                <a:t>) =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25258" y="4022462"/>
            <a:ext cx="2540871" cy="954107"/>
            <a:chOff x="4805993" y="4022461"/>
            <a:chExt cx="2540871" cy="954107"/>
          </a:xfrm>
        </p:grpSpPr>
        <p:grpSp>
          <p:nvGrpSpPr>
            <p:cNvPr id="40" name="Group 39"/>
            <p:cNvGrpSpPr/>
            <p:nvPr/>
          </p:nvGrpSpPr>
          <p:grpSpPr>
            <a:xfrm>
              <a:off x="5088371" y="4022461"/>
              <a:ext cx="2258493" cy="954107"/>
              <a:chOff x="2813538" y="5644662"/>
              <a:chExt cx="1858981" cy="954107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2813538" y="5644662"/>
                <a:ext cx="18589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(</a:t>
                </a:r>
                <a:r>
                  <a:rPr lang="en-SG" sz="2800" i="1" dirty="0"/>
                  <a:t>S</a:t>
                </a:r>
                <a:r>
                  <a:rPr lang="en-SG" sz="2800" dirty="0"/>
                  <a:t>) – </a:t>
                </a:r>
                <a:r>
                  <a:rPr lang="en-SG" sz="2800" i="1" dirty="0"/>
                  <a:t>N</a:t>
                </a:r>
                <a:r>
                  <a:rPr lang="en-SG" sz="2800" dirty="0"/>
                  <a:t>(</a:t>
                </a:r>
                <a:r>
                  <a:rPr lang="en-SG" sz="2800" i="1" dirty="0"/>
                  <a:t>A</a:t>
                </a:r>
                <a:r>
                  <a:rPr lang="en-SG" sz="2800" dirty="0"/>
                  <a:t>)</a:t>
                </a:r>
              </a:p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(</a:t>
                </a:r>
                <a:r>
                  <a:rPr lang="en-SG" sz="2800" i="1" dirty="0"/>
                  <a:t>S</a:t>
                </a:r>
                <a:r>
                  <a:rPr lang="en-SG" sz="2800" dirty="0"/>
                  <a:t>)</a:t>
                </a:r>
              </a:p>
            </p:txBody>
          </p:sp>
          <p:cxnSp>
            <p:nvCxnSpPr>
              <p:cNvPr id="42" name="Straight Connector 41"/>
              <p:cNvCxnSpPr/>
              <p:nvPr/>
            </p:nvCxnSpPr>
            <p:spPr>
              <a:xfrm>
                <a:off x="3079339" y="6139287"/>
                <a:ext cx="135715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/>
            <p:cNvSpPr txBox="1"/>
            <p:nvPr/>
          </p:nvSpPr>
          <p:spPr>
            <a:xfrm>
              <a:off x="4805993" y="4275452"/>
              <a:ext cx="598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=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016005" y="4871637"/>
            <a:ext cx="3180514" cy="954107"/>
            <a:chOff x="2668010" y="4872206"/>
            <a:chExt cx="3180514" cy="954107"/>
          </a:xfrm>
        </p:grpSpPr>
        <p:grpSp>
          <p:nvGrpSpPr>
            <p:cNvPr id="36" name="Group 35"/>
            <p:cNvGrpSpPr/>
            <p:nvPr/>
          </p:nvGrpSpPr>
          <p:grpSpPr>
            <a:xfrm>
              <a:off x="3127132" y="4872206"/>
              <a:ext cx="1302585" cy="954107"/>
              <a:chOff x="2813538" y="5644662"/>
              <a:chExt cx="1858981" cy="954107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2813538" y="5644662"/>
                <a:ext cx="18589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(</a:t>
                </a:r>
                <a:r>
                  <a:rPr lang="en-SG" sz="2800" i="1" dirty="0"/>
                  <a:t>S</a:t>
                </a:r>
                <a:r>
                  <a:rPr lang="en-SG" sz="2800" dirty="0"/>
                  <a:t>)</a:t>
                </a:r>
              </a:p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(</a:t>
                </a:r>
                <a:r>
                  <a:rPr lang="en-SG" sz="2800" i="1" dirty="0"/>
                  <a:t>S</a:t>
                </a:r>
                <a:r>
                  <a:rPr lang="en-SG" sz="2800" dirty="0"/>
                  <a:t>)</a:t>
                </a:r>
              </a:p>
            </p:txBody>
          </p:sp>
          <p:cxnSp>
            <p:nvCxnSpPr>
              <p:cNvPr id="38" name="Straight Connector 37"/>
              <p:cNvCxnSpPr/>
              <p:nvPr/>
            </p:nvCxnSpPr>
            <p:spPr>
              <a:xfrm>
                <a:off x="3184177" y="6121715"/>
                <a:ext cx="114725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/>
            <p:cNvSpPr txBox="1"/>
            <p:nvPr/>
          </p:nvSpPr>
          <p:spPr>
            <a:xfrm>
              <a:off x="2668010" y="5146324"/>
              <a:ext cx="598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=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190717" y="5091204"/>
              <a:ext cx="598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–</a:t>
              </a:r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4545939" y="4872206"/>
              <a:ext cx="1302585" cy="954107"/>
              <a:chOff x="2813538" y="5644662"/>
              <a:chExt cx="1858981" cy="954107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2813538" y="5644662"/>
                <a:ext cx="18589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(</a:t>
                </a:r>
                <a:r>
                  <a:rPr lang="en-SG" sz="2800" i="1" dirty="0"/>
                  <a:t>A</a:t>
                </a:r>
                <a:r>
                  <a:rPr lang="en-SG" sz="2800" dirty="0"/>
                  <a:t>)</a:t>
                </a:r>
              </a:p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(</a:t>
                </a:r>
                <a:r>
                  <a:rPr lang="en-SG" sz="2800" i="1" dirty="0"/>
                  <a:t>S</a:t>
                </a:r>
                <a:r>
                  <a:rPr lang="en-SG" sz="2800" dirty="0"/>
                  <a:t>)</a:t>
                </a:r>
              </a:p>
            </p:txBody>
          </p:sp>
          <p:cxnSp>
            <p:nvCxnSpPr>
              <p:cNvPr id="74" name="Straight Connector 73"/>
              <p:cNvCxnSpPr/>
              <p:nvPr/>
            </p:nvCxnSpPr>
            <p:spPr>
              <a:xfrm>
                <a:off x="3184177" y="6121715"/>
                <a:ext cx="114725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5" name="TextBox 74"/>
          <p:cNvSpPr txBox="1"/>
          <p:nvPr/>
        </p:nvSpPr>
        <p:spPr>
          <a:xfrm>
            <a:off x="2996597" y="5871909"/>
            <a:ext cx="1904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  = 1 – </a:t>
            </a:r>
            <a:r>
              <a:rPr lang="en-SG" sz="2800" i="1" dirty="0"/>
              <a:t>P</a:t>
            </a:r>
            <a:r>
              <a:rPr lang="en-SG" sz="2800" dirty="0"/>
              <a:t>(</a:t>
            </a:r>
            <a:r>
              <a:rPr lang="en-SG" sz="2800" i="1" dirty="0"/>
              <a:t>A</a:t>
            </a:r>
            <a:r>
              <a:rPr lang="en-SG" sz="2800" dirty="0"/>
              <a:t>)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92586" y="5498410"/>
            <a:ext cx="315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i="1" dirty="0"/>
              <a:t>P</a:t>
            </a:r>
            <a:r>
              <a:rPr lang="en-SG" sz="2800" dirty="0"/>
              <a:t>(</a:t>
            </a:r>
            <a:r>
              <a:rPr lang="en-SG" sz="2800" i="1" dirty="0"/>
              <a:t>S</a:t>
            </a:r>
            <a:r>
              <a:rPr lang="en-SG" sz="2800" dirty="0"/>
              <a:t> – </a:t>
            </a:r>
            <a:r>
              <a:rPr lang="en-SG" sz="2800" i="1" dirty="0"/>
              <a:t>A</a:t>
            </a:r>
            <a:r>
              <a:rPr lang="en-SG" sz="2800" dirty="0"/>
              <a:t>) </a:t>
            </a:r>
            <a:r>
              <a:rPr lang="en-SG" sz="2800" dirty="0">
                <a:sym typeface="Symbol" panose="05050102010706020507" pitchFamily="18" charset="2"/>
              </a:rPr>
              <a:t> 1 – 0.842</a:t>
            </a:r>
          </a:p>
          <a:p>
            <a:r>
              <a:rPr lang="en-SG" sz="2800" dirty="0">
                <a:sym typeface="Symbol" panose="05050102010706020507" pitchFamily="18" charset="2"/>
              </a:rPr>
              <a:t>                </a:t>
            </a:r>
            <a:r>
              <a:rPr lang="en-SG" sz="2800" b="1" dirty="0">
                <a:solidFill>
                  <a:srgbClr val="0033CC"/>
                </a:solidFill>
                <a:sym typeface="Symbol" panose="05050102010706020507" pitchFamily="18" charset="2"/>
              </a:rPr>
              <a:t>0.158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551191" y="4000449"/>
            <a:ext cx="2667979" cy="1497961"/>
            <a:chOff x="6212252" y="4197812"/>
            <a:chExt cx="2667979" cy="1497961"/>
          </a:xfrm>
        </p:grpSpPr>
        <p:sp>
          <p:nvSpPr>
            <p:cNvPr id="7" name="TextBox 6"/>
            <p:cNvSpPr txBox="1"/>
            <p:nvPr/>
          </p:nvSpPr>
          <p:spPr>
            <a:xfrm>
              <a:off x="6212252" y="4413256"/>
              <a:ext cx="13323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i="1" dirty="0"/>
                <a:t>P</a:t>
              </a:r>
              <a:r>
                <a:rPr lang="en-SG" sz="2800" dirty="0"/>
                <a:t>(</a:t>
              </a:r>
              <a:r>
                <a:rPr lang="en-SG" sz="2800" i="1" dirty="0"/>
                <a:t>A</a:t>
              </a:r>
              <a:r>
                <a:rPr lang="en-SG" sz="2800" dirty="0"/>
                <a:t>) </a:t>
              </a:r>
              <a:r>
                <a:rPr lang="en-SG" sz="2800" dirty="0">
                  <a:sym typeface="Symbol" panose="05050102010706020507" pitchFamily="18" charset="2"/>
                </a:rPr>
                <a:t>=  </a:t>
              </a:r>
              <a:endParaRPr lang="en-SG" sz="2800" i="1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21250" y="4197812"/>
              <a:ext cx="18589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1,413,720</a:t>
              </a:r>
            </a:p>
            <a:p>
              <a:pPr algn="ctr"/>
              <a:r>
                <a:rPr lang="en-SG" sz="2800" dirty="0"/>
                <a:t>1,679,616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7198835" y="4674866"/>
              <a:ext cx="15333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6944103" y="5172553"/>
              <a:ext cx="16372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>
                  <a:sym typeface="Symbol" panose="05050102010706020507" pitchFamily="18" charset="2"/>
                </a:rPr>
                <a:t> 0.842 </a:t>
              </a:r>
              <a:endParaRPr lang="en-SG" sz="2800" i="1" dirty="0"/>
            </a:p>
          </p:txBody>
        </p:sp>
      </p:grpSp>
      <p:cxnSp>
        <p:nvCxnSpPr>
          <p:cNvPr id="28" name="Straight Connector 27"/>
          <p:cNvCxnSpPr/>
          <p:nvPr/>
        </p:nvCxnSpPr>
        <p:spPr>
          <a:xfrm>
            <a:off x="7292585" y="4040033"/>
            <a:ext cx="0" cy="23550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62E6E3F-C850-43DC-9C85-B27677B5696F}"/>
              </a:ext>
            </a:extLst>
          </p:cNvPr>
          <p:cNvSpPr txBox="1"/>
          <p:nvPr/>
        </p:nvSpPr>
        <p:spPr>
          <a:xfrm>
            <a:off x="673833" y="69533"/>
            <a:ext cx="11045371" cy="59368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The Difference Rule</a:t>
            </a:r>
          </a:p>
        </p:txBody>
      </p:sp>
    </p:spTree>
    <p:extLst>
      <p:ext uri="{BB962C8B-B14F-4D97-AF65-F5344CB8AC3E}">
        <p14:creationId xmlns:p14="http://schemas.microsoft.com/office/powerpoint/2010/main" val="155136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4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49</a:t>
            </a:fld>
            <a:endParaRPr lang="en-SG" dirty="0"/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187369" y="1558926"/>
            <a:ext cx="8216863" cy="174135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This solution illustrates a more general property of probabilities: that the </a:t>
            </a:r>
            <a:r>
              <a:rPr lang="en-US" altLang="en-US" dirty="0">
                <a:solidFill>
                  <a:srgbClr val="0033CC"/>
                </a:solidFill>
              </a:rPr>
              <a:t>probability of the complement of an event</a:t>
            </a:r>
            <a:r>
              <a:rPr lang="en-US" altLang="en-US" dirty="0"/>
              <a:t> is obtained by </a:t>
            </a:r>
            <a:r>
              <a:rPr lang="en-US" altLang="en-US" dirty="0">
                <a:solidFill>
                  <a:srgbClr val="0033CC"/>
                </a:solidFill>
              </a:rPr>
              <a:t>subtracting the probability of the event from the number 1</a:t>
            </a:r>
            <a:r>
              <a:rPr lang="en-US" altLang="en-US" dirty="0"/>
              <a:t>.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2507795" y="3452561"/>
            <a:ext cx="7176411" cy="2244855"/>
            <a:chOff x="993228" y="4598517"/>
            <a:chExt cx="7176411" cy="2244855"/>
          </a:xfrm>
        </p:grpSpPr>
        <p:sp>
          <p:nvSpPr>
            <p:cNvPr id="78" name="Rectangle 77"/>
            <p:cNvSpPr/>
            <p:nvPr/>
          </p:nvSpPr>
          <p:spPr>
            <a:xfrm>
              <a:off x="993228" y="4598517"/>
              <a:ext cx="7176411" cy="22448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93228" y="4598517"/>
              <a:ext cx="7176411" cy="87812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109373" y="4645644"/>
              <a:ext cx="649557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Formula for the Probability of the Complement of an Event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09374" y="5676046"/>
              <a:ext cx="6925353" cy="1031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If </a:t>
              </a:r>
              <a:r>
                <a:rPr lang="en-SG" sz="2400" i="1" dirty="0"/>
                <a:t>S</a:t>
              </a:r>
              <a:r>
                <a:rPr lang="en-SG" sz="2400" dirty="0"/>
                <a:t> is a finite sample space and </a:t>
              </a:r>
              <a:r>
                <a:rPr lang="en-SG" sz="2400" i="1" dirty="0"/>
                <a:t>A</a:t>
              </a:r>
              <a:r>
                <a:rPr lang="en-SG" sz="2400" dirty="0"/>
                <a:t> is an event in </a:t>
              </a:r>
              <a:r>
                <a:rPr lang="en-SG" sz="2400" i="1" dirty="0"/>
                <a:t>S</a:t>
              </a:r>
              <a:r>
                <a:rPr lang="en-SG" sz="2400" dirty="0"/>
                <a:t>, then</a:t>
              </a:r>
            </a:p>
            <a:p>
              <a:pPr>
                <a:tabLst>
                  <a:tab pos="1793875" algn="l"/>
                </a:tabLst>
              </a:pPr>
              <a:r>
                <a:rPr lang="en-SG" sz="2400" dirty="0"/>
                <a:t>	</a:t>
              </a:r>
              <a:r>
                <a:rPr lang="en-SG" sz="3200" i="1" dirty="0">
                  <a:solidFill>
                    <a:srgbClr val="0033CC"/>
                  </a:solidFill>
                </a:rPr>
                <a:t>P</a:t>
              </a:r>
              <a:r>
                <a:rPr lang="en-SG" sz="3200" dirty="0">
                  <a:solidFill>
                    <a:srgbClr val="0033CC"/>
                  </a:solidFill>
                </a:rPr>
                <a:t>(</a:t>
              </a:r>
              <a:r>
                <a:rPr lang="en-SG" sz="3200" i="1" dirty="0">
                  <a:solidFill>
                    <a:srgbClr val="0033CC"/>
                  </a:solidFill>
                </a:rPr>
                <a:t>A</a:t>
              </a:r>
              <a:r>
                <a:rPr lang="en-SG" sz="3200" baseline="30000" dirty="0">
                  <a:solidFill>
                    <a:srgbClr val="0033CC"/>
                  </a:solidFill>
                </a:rPr>
                <a:t>c</a:t>
              </a:r>
              <a:r>
                <a:rPr lang="en-SG" sz="3200" dirty="0">
                  <a:solidFill>
                    <a:srgbClr val="0033CC"/>
                  </a:solidFill>
                </a:rPr>
                <a:t>) = 1 – </a:t>
              </a:r>
              <a:r>
                <a:rPr lang="en-SG" sz="3200" i="1" dirty="0">
                  <a:solidFill>
                    <a:srgbClr val="0033CC"/>
                  </a:solidFill>
                </a:rPr>
                <a:t>P</a:t>
              </a:r>
              <a:r>
                <a:rPr lang="en-SG" sz="3200" dirty="0">
                  <a:solidFill>
                    <a:srgbClr val="0033CC"/>
                  </a:solidFill>
                </a:rPr>
                <a:t>(</a:t>
              </a:r>
              <a:r>
                <a:rPr lang="en-SG" sz="3200" i="1" dirty="0">
                  <a:solidFill>
                    <a:srgbClr val="0033CC"/>
                  </a:solidFill>
                </a:rPr>
                <a:t>A</a:t>
              </a:r>
              <a:r>
                <a:rPr lang="en-SG" sz="3200" dirty="0">
                  <a:solidFill>
                    <a:srgbClr val="0033CC"/>
                  </a:solidFill>
                </a:rPr>
                <a:t>).</a:t>
              </a: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Probability of the Complement of an Event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00DA9A-221C-4DD9-BA7C-753B0AF25F90}"/>
              </a:ext>
            </a:extLst>
          </p:cNvPr>
          <p:cNvSpPr txBox="1"/>
          <p:nvPr/>
        </p:nvSpPr>
        <p:spPr>
          <a:xfrm>
            <a:off x="1078113" y="85422"/>
            <a:ext cx="10039830" cy="59368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The Difference Rule</a:t>
            </a:r>
          </a:p>
        </p:txBody>
      </p:sp>
    </p:spTree>
    <p:extLst>
      <p:ext uri="{BB962C8B-B14F-4D97-AF65-F5344CB8AC3E}">
        <p14:creationId xmlns:p14="http://schemas.microsoft.com/office/powerpoint/2010/main" val="202502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50</a:t>
            </a:fld>
            <a:endParaRPr lang="en-SG" dirty="0"/>
          </a:p>
        </p:txBody>
      </p:sp>
      <p:sp>
        <p:nvSpPr>
          <p:cNvPr id="29" name="TextBox 28"/>
          <p:cNvSpPr txBox="1"/>
          <p:nvPr/>
        </p:nvSpPr>
        <p:spPr>
          <a:xfrm>
            <a:off x="580570" y="167770"/>
            <a:ext cx="10773229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	The Inclusion/Exclusion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" y="999025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Inclusion/Exclusion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561786"/>
            <a:ext cx="8227629" cy="2236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The addition rule says how many elements are in a union of sets </a:t>
            </a:r>
            <a:r>
              <a:rPr lang="en-US" altLang="en-US" u="sng" dirty="0"/>
              <a:t>if the sets are mutually disjoint</a:t>
            </a:r>
            <a:r>
              <a:rPr lang="en-US" altLang="en-US" dirty="0"/>
              <a:t>. Now consider the question of how to determine the number of elements in a union of sets when </a:t>
            </a:r>
            <a:r>
              <a:rPr lang="en-US" altLang="en-US" b="1" dirty="0"/>
              <a:t>some of the sets overlap</a:t>
            </a:r>
            <a:r>
              <a:rPr lang="en-US" altLang="en-US" dirty="0"/>
              <a:t>. 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000755" y="3924178"/>
            <a:ext cx="3661604" cy="19347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For simplicity, begin by looking at a union of two sets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, as shown in Figure 10.3.3.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966429" y="3502597"/>
            <a:ext cx="3147602" cy="2882877"/>
            <a:chOff x="4442429" y="3502596"/>
            <a:chExt cx="3147602" cy="2882877"/>
          </a:xfrm>
        </p:grpSpPr>
        <p:pic>
          <p:nvPicPr>
            <p:cNvPr id="3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2429" y="3502596"/>
              <a:ext cx="3147602" cy="2482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Box 34"/>
            <p:cNvSpPr txBox="1"/>
            <p:nvPr/>
          </p:nvSpPr>
          <p:spPr>
            <a:xfrm>
              <a:off x="4962570" y="5985363"/>
              <a:ext cx="2107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10.3.3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68010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51</a:t>
            </a:fld>
            <a:endParaRPr lang="en-SG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143212"/>
            <a:ext cx="8038595" cy="23209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To get an accurate count of the elements in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, it is necessary to subtract the number of elements that are in both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. Because these are the elements in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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1704975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N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 =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) +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 –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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).</a:t>
            </a:r>
            <a:endParaRPr lang="en-US" altLang="en-US" dirty="0"/>
          </a:p>
        </p:txBody>
      </p:sp>
      <p:grpSp>
        <p:nvGrpSpPr>
          <p:cNvPr id="34" name="Group 33"/>
          <p:cNvGrpSpPr/>
          <p:nvPr/>
        </p:nvGrpSpPr>
        <p:grpSpPr>
          <a:xfrm>
            <a:off x="1939124" y="3464169"/>
            <a:ext cx="8224785" cy="3020873"/>
            <a:chOff x="730522" y="4598517"/>
            <a:chExt cx="8224785" cy="3020873"/>
          </a:xfrm>
        </p:grpSpPr>
        <p:sp>
          <p:nvSpPr>
            <p:cNvPr id="36" name="Rectangle 35"/>
            <p:cNvSpPr/>
            <p:nvPr/>
          </p:nvSpPr>
          <p:spPr>
            <a:xfrm>
              <a:off x="730522" y="4598518"/>
              <a:ext cx="8222461" cy="289218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0523" y="4598517"/>
              <a:ext cx="8224784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98473" y="4645644"/>
              <a:ext cx="75504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10.3.3 The Inclusion/Exclusion Rule for 2 or 3 Sets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5941" y="5218733"/>
              <a:ext cx="8157042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If </a:t>
              </a:r>
              <a:r>
                <a:rPr lang="en-SG" sz="2800" i="1" dirty="0"/>
                <a:t>A</a:t>
              </a:r>
              <a:r>
                <a:rPr lang="en-SG" sz="2800" dirty="0"/>
                <a:t>, </a:t>
              </a:r>
              <a:r>
                <a:rPr lang="en-SG" sz="2800" i="1" dirty="0"/>
                <a:t>B</a:t>
              </a:r>
              <a:r>
                <a:rPr lang="en-SG" sz="2800" dirty="0"/>
                <a:t>, and </a:t>
              </a:r>
              <a:r>
                <a:rPr lang="en-SG" sz="2800" i="1" dirty="0"/>
                <a:t>C</a:t>
              </a:r>
              <a:r>
                <a:rPr lang="en-SG" sz="2800" dirty="0"/>
                <a:t> are any finite </a:t>
              </a:r>
              <a:r>
                <a:rPr lang="en-SG" sz="2800" dirty="0">
                  <a:sym typeface="Symbol" panose="05050102010706020507" pitchFamily="18" charset="2"/>
                </a:rPr>
                <a:t>sets, then</a:t>
              </a:r>
            </a:p>
            <a:p>
              <a:pPr>
                <a:tabLst>
                  <a:tab pos="1441450" algn="l"/>
                </a:tabLst>
              </a:pPr>
              <a:r>
                <a:rPr lang="en-SG" sz="2000" dirty="0">
                  <a:solidFill>
                    <a:srgbClr val="0033CC"/>
                  </a:solidFill>
                  <a:sym typeface="Symbol" panose="05050102010706020507" pitchFamily="18" charset="2"/>
                </a:rPr>
                <a:t>	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 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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B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 =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 +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B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 –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 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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B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</a:t>
              </a:r>
            </a:p>
            <a:p>
              <a:pPr>
                <a:spcAft>
                  <a:spcPts val="600"/>
                </a:spcAft>
                <a:tabLst>
                  <a:tab pos="1441450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and</a:t>
              </a:r>
            </a:p>
            <a:p>
              <a:pPr>
                <a:tabLst>
                  <a:tab pos="1441450" algn="l"/>
                </a:tabLst>
              </a:pP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 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 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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B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 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C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 =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 +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B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 +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C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 –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 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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B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</a:t>
              </a:r>
            </a:p>
            <a:p>
              <a:pPr>
                <a:spcAft>
                  <a:spcPts val="600"/>
                </a:spcAft>
                <a:tabLst>
                  <a:tab pos="1441450" algn="l"/>
                </a:tabLst>
              </a:pP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                              –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 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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C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 –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B 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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C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 +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(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 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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B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 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C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).</a:t>
              </a:r>
              <a:endParaRPr lang="en-SG" sz="2800" dirty="0">
                <a:sym typeface="Symbol" panose="05050102010706020507" pitchFamily="18" charset="2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C612C8B-1232-4EBA-AC96-C55699D4528B}"/>
              </a:ext>
            </a:extLst>
          </p:cNvPr>
          <p:cNvSpPr txBox="1"/>
          <p:nvPr/>
        </p:nvSpPr>
        <p:spPr>
          <a:xfrm>
            <a:off x="580570" y="167770"/>
            <a:ext cx="10773229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	The Inclusion/Exclusion Rule</a:t>
            </a:r>
          </a:p>
        </p:txBody>
      </p:sp>
    </p:spTree>
    <p:extLst>
      <p:ext uri="{BB962C8B-B14F-4D97-AF65-F5344CB8AC3E}">
        <p14:creationId xmlns:p14="http://schemas.microsoft.com/office/powerpoint/2010/main" val="327429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52</a:t>
            </a:fld>
            <a:endParaRPr lang="en-SG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679144"/>
            <a:ext cx="8038595" cy="102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altLang="en-US" dirty="0"/>
              <a:t>How many integers from 1 through 1,000 are multiples of 3 or multiples of 5?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8053" y="103302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10 – Counting Elements of a General Union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133471" y="2708033"/>
            <a:ext cx="8216863" cy="9495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Let </a:t>
            </a:r>
            <a:r>
              <a:rPr lang="en-US" altLang="en-US" sz="2400" i="1" dirty="0"/>
              <a:t>A</a:t>
            </a:r>
            <a:r>
              <a:rPr lang="en-US" altLang="en-US" sz="2400" dirty="0"/>
              <a:t> = the set of all integers in [1..1000] that are multiples of 3.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Let </a:t>
            </a:r>
            <a:r>
              <a:rPr lang="en-US" altLang="en-US" sz="2400" i="1" dirty="0"/>
              <a:t>B</a:t>
            </a:r>
            <a:r>
              <a:rPr lang="en-US" altLang="en-US" sz="2400" dirty="0"/>
              <a:t> = the set of all integers in [1..1000] that are multiples of 5.</a:t>
            </a: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133469" y="3727712"/>
            <a:ext cx="8216864" cy="24856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Then </a:t>
            </a:r>
            <a:r>
              <a:rPr lang="en-US" altLang="en-US" sz="2400" i="1" dirty="0"/>
              <a:t>A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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/>
              <a:t>= the set of all integers in [1..1000] that are multiples of 3 or multiples of 5.</a:t>
            </a:r>
          </a:p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Then </a:t>
            </a:r>
            <a:r>
              <a:rPr lang="en-US" altLang="en-US" sz="2400" i="1" dirty="0"/>
              <a:t>A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r>
              <a:rPr lang="en-US" altLang="en-US" sz="2400" i="1" dirty="0">
                <a:sym typeface="Symbol" panose="05050102010706020507" pitchFamily="18" charset="2"/>
              </a:rPr>
              <a:t>B </a:t>
            </a:r>
            <a:r>
              <a:rPr lang="en-US" altLang="en-US" sz="2400" dirty="0"/>
              <a:t>= the set of all integers in [1..1000] that are multiples of both 3 and 5</a:t>
            </a:r>
          </a:p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                     = the set of all integers in [1..1000] that are multiples of 15.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F10949-C1AB-4248-BD21-FCC4EFBF7299}"/>
              </a:ext>
            </a:extLst>
          </p:cNvPr>
          <p:cNvSpPr txBox="1"/>
          <p:nvPr/>
        </p:nvSpPr>
        <p:spPr>
          <a:xfrm>
            <a:off x="580570" y="167770"/>
            <a:ext cx="11277601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	The Inclusion/Exclusion Rule</a:t>
            </a:r>
          </a:p>
        </p:txBody>
      </p:sp>
    </p:spTree>
    <p:extLst>
      <p:ext uri="{BB962C8B-B14F-4D97-AF65-F5344CB8AC3E}">
        <p14:creationId xmlns:p14="http://schemas.microsoft.com/office/powerpoint/2010/main" val="235737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53</a:t>
            </a:fld>
            <a:endParaRPr lang="en-SG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36382" y="1277278"/>
            <a:ext cx="8038595" cy="102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altLang="en-US" dirty="0"/>
              <a:t>How many integers from 1 through 1,000 are multiples of 3 or multiples of 5?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169097" y="2306167"/>
            <a:ext cx="8216863" cy="9333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As every third integer from 3 through 999 is a multiple of 3, each can be represented in the form 3</a:t>
            </a:r>
            <a:r>
              <a:rPr lang="en-US" altLang="en-US" sz="2400" i="1" dirty="0"/>
              <a:t>k</a:t>
            </a:r>
            <a:r>
              <a:rPr lang="en-US" altLang="en-US" sz="2400" dirty="0"/>
              <a:t>, for some integer </a:t>
            </a:r>
            <a:r>
              <a:rPr lang="en-US" altLang="en-US" sz="2400" i="1" dirty="0"/>
              <a:t>k</a:t>
            </a:r>
            <a:r>
              <a:rPr lang="en-US" altLang="en-US" sz="2400" dirty="0"/>
              <a:t> in [1..333].</a:t>
            </a: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169097" y="3349303"/>
            <a:ext cx="8216863" cy="8913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Hence there are 333 multiples of 3 from 1 through 1000, and so </a:t>
            </a:r>
            <a:r>
              <a:rPr lang="en-US" altLang="en-US" i="1" dirty="0"/>
              <a:t>N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dirty="0"/>
              <a:t>) = 333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214482" y="4464015"/>
            <a:ext cx="8216863" cy="9333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Similarly, every multiple of 5 from 1 through 1000 has the form 5</a:t>
            </a:r>
            <a:r>
              <a:rPr lang="en-US" altLang="en-US" sz="2400" i="1" dirty="0"/>
              <a:t>k</a:t>
            </a:r>
            <a:r>
              <a:rPr lang="en-US" altLang="en-US" sz="2400" dirty="0"/>
              <a:t>, for some integer </a:t>
            </a:r>
            <a:r>
              <a:rPr lang="en-US" altLang="en-US" sz="2400" i="1" dirty="0"/>
              <a:t>k</a:t>
            </a:r>
            <a:r>
              <a:rPr lang="en-US" altLang="en-US" sz="2400" dirty="0"/>
              <a:t> in [1..200].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2214481" y="5539335"/>
            <a:ext cx="8216863" cy="8913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Hence there are 200 multiples of 5 from 1 through 1000, and so </a:t>
            </a:r>
            <a:r>
              <a:rPr lang="en-US" altLang="en-US" i="1" dirty="0"/>
              <a:t>N</a:t>
            </a:r>
            <a:r>
              <a:rPr lang="en-US" altLang="en-US" dirty="0"/>
              <a:t>(</a:t>
            </a:r>
            <a:r>
              <a:rPr lang="en-US" altLang="en-US" i="1" dirty="0"/>
              <a:t>B</a:t>
            </a:r>
            <a:r>
              <a:rPr lang="en-US" altLang="en-US" dirty="0"/>
              <a:t>) = 200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C55583-BA98-4CB8-AEAD-07092D304EAA}"/>
              </a:ext>
            </a:extLst>
          </p:cNvPr>
          <p:cNvSpPr txBox="1"/>
          <p:nvPr/>
        </p:nvSpPr>
        <p:spPr>
          <a:xfrm>
            <a:off x="580570" y="167770"/>
            <a:ext cx="11277601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	The Inclusion/Exclusion Rule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A7325A-D156-4FEB-948B-B9C0C937BDAC}"/>
              </a:ext>
            </a:extLst>
          </p:cNvPr>
          <p:cNvSpPr txBox="1"/>
          <p:nvPr/>
        </p:nvSpPr>
        <p:spPr>
          <a:xfrm>
            <a:off x="1139295" y="778830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10 – Counting Elements of a General Union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8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0" grpId="0" animBg="1"/>
      <p:bldP spid="3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54</a:t>
            </a:fld>
            <a:endParaRPr lang="en-SG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273203"/>
            <a:ext cx="8038595" cy="102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altLang="en-US" dirty="0"/>
              <a:t>How many integers from 1 through 1,000 are multiples of 3 or multiples of 5?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133471" y="2246393"/>
            <a:ext cx="8216863" cy="9333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Finally, every multiple of 15 from 1 through 1000 has the form 15</a:t>
            </a:r>
            <a:r>
              <a:rPr lang="en-US" altLang="en-US" sz="2400" i="1" dirty="0"/>
              <a:t>k</a:t>
            </a:r>
            <a:r>
              <a:rPr lang="en-US" altLang="en-US" sz="2400" dirty="0"/>
              <a:t>, for some integer </a:t>
            </a:r>
            <a:r>
              <a:rPr lang="en-US" altLang="en-US" sz="2400" i="1" dirty="0"/>
              <a:t>k</a:t>
            </a:r>
            <a:r>
              <a:rPr lang="en-US" altLang="en-US" sz="2400" dirty="0"/>
              <a:t> in [1..66] (since 990 = 66 </a:t>
            </a:r>
            <a:r>
              <a:rPr lang="en-US" altLang="en-US" sz="2400" dirty="0">
                <a:sym typeface="Symbol" panose="05050102010706020507" pitchFamily="18" charset="2"/>
              </a:rPr>
              <a:t> 15)</a:t>
            </a:r>
            <a:r>
              <a:rPr lang="en-US" altLang="en-US" sz="2400" dirty="0"/>
              <a:t>.</a:t>
            </a: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133471" y="3289529"/>
            <a:ext cx="8216863" cy="8913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Hence there are 66 multiples of 15 from 1 through 1000, and so </a:t>
            </a:r>
            <a:r>
              <a:rPr lang="en-US" altLang="en-US" i="1" dirty="0"/>
              <a:t>N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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) = 66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178856" y="4404242"/>
            <a:ext cx="8216863" cy="5339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It follows by the </a:t>
            </a:r>
            <a:r>
              <a:rPr lang="en-US" altLang="en-US" sz="2400" b="1" dirty="0"/>
              <a:t>inclusion/exclusion rule </a:t>
            </a:r>
            <a:r>
              <a:rPr lang="en-US" altLang="en-US" sz="2400" dirty="0"/>
              <a:t>that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30300" y="4938221"/>
            <a:ext cx="5159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441450" algn="l"/>
              </a:tabLst>
            </a:pPr>
            <a:r>
              <a:rPr lang="en-SG" sz="2800" i="1" dirty="0">
                <a:sym typeface="Symbol" panose="05050102010706020507" pitchFamily="18" charset="2"/>
              </a:rPr>
              <a:t>N</a:t>
            </a:r>
            <a:r>
              <a:rPr lang="en-SG" sz="2800" dirty="0">
                <a:sym typeface="Symbol" panose="05050102010706020507" pitchFamily="18" charset="2"/>
              </a:rPr>
              <a:t>(</a:t>
            </a:r>
            <a:r>
              <a:rPr lang="en-SG" sz="2800" i="1" dirty="0">
                <a:sym typeface="Symbol" panose="05050102010706020507" pitchFamily="18" charset="2"/>
              </a:rPr>
              <a:t>A </a:t>
            </a:r>
            <a:r>
              <a:rPr lang="en-SG" sz="2800" dirty="0">
                <a:sym typeface="Symbol" panose="05050102010706020507" pitchFamily="18" charset="2"/>
              </a:rPr>
              <a:t></a:t>
            </a:r>
            <a:r>
              <a:rPr lang="en-SG" sz="2800" i="1" dirty="0">
                <a:sym typeface="Symbol" panose="05050102010706020507" pitchFamily="18" charset="2"/>
              </a:rPr>
              <a:t> B</a:t>
            </a:r>
            <a:r>
              <a:rPr lang="en-SG" sz="2800" dirty="0">
                <a:sym typeface="Symbol" panose="05050102010706020507" pitchFamily="18" charset="2"/>
              </a:rPr>
              <a:t>) 	= </a:t>
            </a:r>
            <a:r>
              <a:rPr lang="en-SG" sz="2800" i="1" dirty="0">
                <a:sym typeface="Symbol" panose="05050102010706020507" pitchFamily="18" charset="2"/>
              </a:rPr>
              <a:t>N</a:t>
            </a:r>
            <a:r>
              <a:rPr lang="en-SG" sz="2800" dirty="0">
                <a:sym typeface="Symbol" panose="05050102010706020507" pitchFamily="18" charset="2"/>
              </a:rPr>
              <a:t>(</a:t>
            </a:r>
            <a:r>
              <a:rPr lang="en-SG" sz="2800" i="1" dirty="0">
                <a:sym typeface="Symbol" panose="05050102010706020507" pitchFamily="18" charset="2"/>
              </a:rPr>
              <a:t>A</a:t>
            </a:r>
            <a:r>
              <a:rPr lang="en-SG" sz="2800" dirty="0">
                <a:sym typeface="Symbol" panose="05050102010706020507" pitchFamily="18" charset="2"/>
              </a:rPr>
              <a:t>) + </a:t>
            </a:r>
            <a:r>
              <a:rPr lang="en-SG" sz="2800" i="1" dirty="0">
                <a:sym typeface="Symbol" panose="05050102010706020507" pitchFamily="18" charset="2"/>
              </a:rPr>
              <a:t>N</a:t>
            </a:r>
            <a:r>
              <a:rPr lang="en-SG" sz="2800" dirty="0">
                <a:sym typeface="Symbol" panose="05050102010706020507" pitchFamily="18" charset="2"/>
              </a:rPr>
              <a:t>(</a:t>
            </a:r>
            <a:r>
              <a:rPr lang="en-SG" sz="2800" i="1" dirty="0">
                <a:sym typeface="Symbol" panose="05050102010706020507" pitchFamily="18" charset="2"/>
              </a:rPr>
              <a:t>B</a:t>
            </a:r>
            <a:r>
              <a:rPr lang="en-SG" sz="2800" dirty="0">
                <a:sym typeface="Symbol" panose="05050102010706020507" pitchFamily="18" charset="2"/>
              </a:rPr>
              <a:t>) – </a:t>
            </a:r>
            <a:r>
              <a:rPr lang="en-SG" sz="2800" i="1" dirty="0">
                <a:sym typeface="Symbol" panose="05050102010706020507" pitchFamily="18" charset="2"/>
              </a:rPr>
              <a:t>N</a:t>
            </a:r>
            <a:r>
              <a:rPr lang="en-SG" sz="2800" dirty="0">
                <a:sym typeface="Symbol" panose="05050102010706020507" pitchFamily="18" charset="2"/>
              </a:rPr>
              <a:t>(</a:t>
            </a:r>
            <a:r>
              <a:rPr lang="en-SG" sz="2800" i="1" dirty="0">
                <a:sym typeface="Symbol" panose="05050102010706020507" pitchFamily="18" charset="2"/>
              </a:rPr>
              <a:t>A </a:t>
            </a:r>
            <a:r>
              <a:rPr lang="en-SG" sz="2800" dirty="0">
                <a:sym typeface="Symbol" panose="05050102010706020507" pitchFamily="18" charset="2"/>
              </a:rPr>
              <a:t></a:t>
            </a:r>
            <a:r>
              <a:rPr lang="en-SG" sz="2800" i="1" dirty="0">
                <a:sym typeface="Symbol" panose="05050102010706020507" pitchFamily="18" charset="2"/>
              </a:rPr>
              <a:t> B</a:t>
            </a:r>
            <a:r>
              <a:rPr lang="en-SG" sz="2800" dirty="0">
                <a:sym typeface="Symbol" panose="05050102010706020507" pitchFamily="18" charset="2"/>
              </a:rPr>
              <a:t>)</a:t>
            </a:r>
          </a:p>
          <a:p>
            <a:pPr>
              <a:tabLst>
                <a:tab pos="1441450" algn="l"/>
              </a:tabLst>
            </a:pPr>
            <a:r>
              <a:rPr lang="en-SG" sz="2800" dirty="0">
                <a:sym typeface="Symbol" panose="05050102010706020507" pitchFamily="18" charset="2"/>
              </a:rPr>
              <a:t>	= 333 + 200 – 66 = 467</a:t>
            </a: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240488" y="5898833"/>
            <a:ext cx="8216863" cy="8226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Thus, </a:t>
            </a:r>
            <a:r>
              <a:rPr lang="en-US" altLang="en-US" sz="2400" b="1" dirty="0">
                <a:solidFill>
                  <a:srgbClr val="0033CC"/>
                </a:solidFill>
              </a:rPr>
              <a:t>467</a:t>
            </a:r>
            <a:r>
              <a:rPr lang="en-US" altLang="en-US" sz="2400" dirty="0"/>
              <a:t> integers from 1 through 1000 are multiples of 3 or multiples of 5.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035D75-5BC9-4C77-B2D5-60C35902DCF0}"/>
              </a:ext>
            </a:extLst>
          </p:cNvPr>
          <p:cNvSpPr txBox="1"/>
          <p:nvPr/>
        </p:nvSpPr>
        <p:spPr>
          <a:xfrm>
            <a:off x="580570" y="167770"/>
            <a:ext cx="11277601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	The Inclusion/Exclusion Rule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684756-9801-4F3A-92FD-6683C87079C3}"/>
              </a:ext>
            </a:extLst>
          </p:cNvPr>
          <p:cNvSpPr txBox="1"/>
          <p:nvPr/>
        </p:nvSpPr>
        <p:spPr>
          <a:xfrm>
            <a:off x="1313351" y="74427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10 – Counting Elements of a General Union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04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0" grpId="0" animBg="1"/>
      <p:bldP spid="2" grpId="0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55</a:t>
            </a:fld>
            <a:endParaRPr lang="en-SG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1854853" y="2066982"/>
            <a:ext cx="8038595" cy="102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lphaLcPeriod" startAt="2"/>
            </a:pPr>
            <a:r>
              <a:rPr lang="en-US" altLang="en-US" dirty="0"/>
              <a:t>How many integers from 1 through 1,000 are neither multiples of 3 nor multiples of 5?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1987568" y="3040172"/>
            <a:ext cx="8216863" cy="14418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There are 1000 integers from 1 through 1000.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By part (a), 467 of these are multiples of 3 or multiples of 5.</a:t>
            </a: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1987568" y="4645814"/>
            <a:ext cx="8216863" cy="8913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Thus, by the </a:t>
            </a:r>
            <a:r>
              <a:rPr lang="en-US" altLang="en-US" b="1" dirty="0"/>
              <a:t>difference rule</a:t>
            </a:r>
            <a:r>
              <a:rPr lang="en-US" altLang="en-US" dirty="0"/>
              <a:t>, there are 1000 – 467 = </a:t>
            </a:r>
            <a:r>
              <a:rPr lang="en-US" altLang="en-US" b="1" dirty="0">
                <a:solidFill>
                  <a:srgbClr val="0033CC"/>
                </a:solidFill>
              </a:rPr>
              <a:t>533</a:t>
            </a:r>
            <a:r>
              <a:rPr lang="en-US" altLang="en-US" dirty="0"/>
              <a:t> that are neither multiples of 3 nor multiples of 5.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FAA3CB-E191-42D8-83E1-F7E9054AE57B}"/>
              </a:ext>
            </a:extLst>
          </p:cNvPr>
          <p:cNvSpPr txBox="1"/>
          <p:nvPr/>
        </p:nvSpPr>
        <p:spPr>
          <a:xfrm>
            <a:off x="580570" y="167770"/>
            <a:ext cx="11277601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	The Inclusion/Exclusion Rule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06BE78-144E-4E8F-A128-227A3D2F60AD}"/>
              </a:ext>
            </a:extLst>
          </p:cNvPr>
          <p:cNvSpPr txBox="1"/>
          <p:nvPr/>
        </p:nvSpPr>
        <p:spPr>
          <a:xfrm>
            <a:off x="1448053" y="103302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10 – Counting Elements of a General Union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5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56</a:t>
            </a:fld>
            <a:endParaRPr lang="en-SG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00756" y="1093206"/>
            <a:ext cx="8038595" cy="102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Note that the solution to part (b) of Example 10 hid a use of De Morgan’s law.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000756" y="2198361"/>
            <a:ext cx="8038595" cy="13889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 number of elements that are neither in </a:t>
            </a:r>
            <a:r>
              <a:rPr lang="en-US" altLang="en-US" i="1" dirty="0"/>
              <a:t>A</a:t>
            </a:r>
            <a:r>
              <a:rPr lang="en-US" altLang="en-US" dirty="0"/>
              <a:t> nor in </a:t>
            </a:r>
            <a:r>
              <a:rPr lang="en-US" altLang="en-US" i="1" dirty="0"/>
              <a:t>B</a:t>
            </a:r>
            <a:r>
              <a:rPr lang="en-US" altLang="en-US" dirty="0"/>
              <a:t> is </a:t>
            </a:r>
            <a:r>
              <a:rPr lang="en-US" altLang="en-US" i="1" dirty="0"/>
              <a:t>N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i="1" baseline="30000" dirty="0"/>
              <a:t>c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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i="1" baseline="30000" dirty="0"/>
              <a:t>c</a:t>
            </a:r>
            <a:r>
              <a:rPr lang="en-US" altLang="en-US" dirty="0"/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By De Morgan’s law, </a:t>
            </a:r>
            <a:r>
              <a:rPr lang="en-US" altLang="en-US" i="1" dirty="0"/>
              <a:t>A</a:t>
            </a:r>
            <a:r>
              <a:rPr lang="en-US" altLang="en-US" i="1" baseline="30000" dirty="0"/>
              <a:t>c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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i="1" baseline="30000" dirty="0"/>
              <a:t>c</a:t>
            </a:r>
            <a:r>
              <a:rPr lang="en-US" altLang="en-US" dirty="0"/>
              <a:t> = (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)</a:t>
            </a:r>
            <a:r>
              <a:rPr lang="en-US" altLang="en-US" i="1" baseline="30000" dirty="0"/>
              <a:t>c</a:t>
            </a:r>
            <a:r>
              <a:rPr lang="en-US" altLang="en-US" dirty="0"/>
              <a:t>.</a:t>
            </a: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000756" y="3827868"/>
            <a:ext cx="8038595" cy="1957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So </a:t>
            </a:r>
            <a:r>
              <a:rPr lang="en-US" altLang="en-US" i="1" dirty="0"/>
              <a:t>N</a:t>
            </a:r>
            <a:r>
              <a:rPr lang="en-US" altLang="en-US" dirty="0"/>
              <a:t>((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)</a:t>
            </a:r>
            <a:r>
              <a:rPr lang="en-US" altLang="en-US" i="1" baseline="30000" dirty="0"/>
              <a:t>c</a:t>
            </a:r>
            <a:r>
              <a:rPr lang="en-US" altLang="en-US" dirty="0"/>
              <a:t>) was then calculated using the set difference rule: </a:t>
            </a:r>
            <a:r>
              <a:rPr lang="en-US" altLang="en-US" i="1" dirty="0"/>
              <a:t>N</a:t>
            </a:r>
            <a:r>
              <a:rPr lang="en-US" altLang="en-US" dirty="0"/>
              <a:t>((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)</a:t>
            </a:r>
            <a:r>
              <a:rPr lang="en-US" altLang="en-US" i="1" baseline="30000" dirty="0"/>
              <a:t>c</a:t>
            </a:r>
            <a:r>
              <a:rPr lang="en-US" altLang="en-US" dirty="0"/>
              <a:t>) = </a:t>
            </a:r>
            <a:r>
              <a:rPr lang="en-US" altLang="en-US" i="1" dirty="0"/>
              <a:t>N</a:t>
            </a:r>
            <a:r>
              <a:rPr lang="en-US" altLang="en-US" dirty="0"/>
              <a:t>(</a:t>
            </a:r>
            <a:r>
              <a:rPr lang="en-US" altLang="en-US" i="1" dirty="0"/>
              <a:t>U</a:t>
            </a:r>
            <a:r>
              <a:rPr lang="en-US" altLang="en-US" dirty="0"/>
              <a:t>) – </a:t>
            </a:r>
            <a:r>
              <a:rPr lang="en-US" altLang="en-US" i="1" dirty="0"/>
              <a:t>N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), where the universe </a:t>
            </a:r>
            <a:r>
              <a:rPr lang="en-US" altLang="en-US" i="1" dirty="0"/>
              <a:t>U</a:t>
            </a:r>
            <a:r>
              <a:rPr lang="en-US" altLang="en-US" dirty="0"/>
              <a:t> was the set of all integers from 1 through 1,000.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8F61F9-FE44-4A6A-A66E-2CF27E35E79A}"/>
              </a:ext>
            </a:extLst>
          </p:cNvPr>
          <p:cNvSpPr txBox="1"/>
          <p:nvPr/>
        </p:nvSpPr>
        <p:spPr>
          <a:xfrm>
            <a:off x="580570" y="167770"/>
            <a:ext cx="11277601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	The Inclusion/Exclusion Rule</a:t>
            </a:r>
          </a:p>
        </p:txBody>
      </p:sp>
    </p:spTree>
    <p:extLst>
      <p:ext uri="{BB962C8B-B14F-4D97-AF65-F5344CB8AC3E}">
        <p14:creationId xmlns:p14="http://schemas.microsoft.com/office/powerpoint/2010/main" val="294653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57</a:t>
            </a:fld>
            <a:endParaRPr lang="en-SG" dirty="0"/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2391744" y="1871603"/>
            <a:ext cx="7791084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b="1" dirty="0">
                <a:solidFill>
                  <a:srgbClr val="2429E4"/>
                </a:solidFill>
                <a:latin typeface="+mn-lt"/>
              </a:rPr>
              <a:t>4: The Pigeonhole Princip</a:t>
            </a:r>
            <a:r>
              <a:rPr lang="en-SG" dirty="0">
                <a:solidFill>
                  <a:srgbClr val="2429E4"/>
                </a:solidFill>
                <a:latin typeface="+mn-lt"/>
              </a:rPr>
              <a:t>le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232" y="3029587"/>
            <a:ext cx="4104108" cy="33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637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58</a:t>
            </a:fld>
            <a:endParaRPr lang="en-SG" dirty="0"/>
          </a:p>
        </p:txBody>
      </p:sp>
      <p:sp>
        <p:nvSpPr>
          <p:cNvPr id="28" name="TextBox 27"/>
          <p:cNvSpPr txBox="1"/>
          <p:nvPr/>
        </p:nvSpPr>
        <p:spPr>
          <a:xfrm>
            <a:off x="1524000" y="623162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Pigeonhole Principle: Introduction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1856425" y="1568776"/>
            <a:ext cx="6762244" cy="14283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If </a:t>
            </a:r>
            <a:r>
              <a:rPr lang="en-US" altLang="en-US" i="1" dirty="0"/>
              <a:t>n</a:t>
            </a:r>
            <a:r>
              <a:rPr lang="en-US" altLang="en-US" dirty="0"/>
              <a:t> pigeons fly into </a:t>
            </a:r>
            <a:r>
              <a:rPr lang="en-US" altLang="en-US" i="1" dirty="0"/>
              <a:t>m</a:t>
            </a:r>
            <a:r>
              <a:rPr lang="en-US" altLang="en-US" dirty="0"/>
              <a:t> pigeonholes and </a:t>
            </a:r>
            <a:r>
              <a:rPr lang="en-US" altLang="en-US" i="1" dirty="0"/>
              <a:t>n</a:t>
            </a:r>
            <a:r>
              <a:rPr lang="en-US" altLang="en-US" dirty="0"/>
              <a:t> &gt; </a:t>
            </a:r>
            <a:r>
              <a:rPr lang="en-US" altLang="en-US" i="1" dirty="0"/>
              <a:t>m</a:t>
            </a:r>
            <a:r>
              <a:rPr lang="en-US" altLang="en-US" dirty="0"/>
              <a:t>, then at least one hole must contain two or more pigeons.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46139" y="2997093"/>
            <a:ext cx="8221812" cy="3234045"/>
            <a:chOff x="522139" y="2997092"/>
            <a:chExt cx="8221812" cy="3234045"/>
          </a:xfrm>
        </p:grpSpPr>
        <p:pic>
          <p:nvPicPr>
            <p:cNvPr id="31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71"/>
            <a:stretch>
              <a:fillRect/>
            </a:stretch>
          </p:blipFill>
          <p:spPr bwMode="auto">
            <a:xfrm>
              <a:off x="522139" y="2997092"/>
              <a:ext cx="8221812" cy="284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2491136" y="5831027"/>
              <a:ext cx="4283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9.4.1 </a:t>
              </a:r>
              <a:r>
                <a:rPr lang="en-SG" sz="2000" i="1" dirty="0"/>
                <a:t>n</a:t>
              </a:r>
              <a:r>
                <a:rPr lang="en-SG" sz="2000" dirty="0"/>
                <a:t> = 5 and </a:t>
              </a:r>
              <a:r>
                <a:rPr lang="en-SG" sz="2000" i="1" dirty="0"/>
                <a:t>m</a:t>
              </a:r>
              <a:r>
                <a:rPr lang="en-SG" sz="2000" dirty="0"/>
                <a:t> = 4</a:t>
              </a:r>
            </a:p>
          </p:txBody>
        </p:sp>
      </p:grp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147" y="1446899"/>
            <a:ext cx="1340004" cy="114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2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59</a:t>
            </a:fld>
            <a:endParaRPr lang="en-S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147" y="1446899"/>
            <a:ext cx="1340004" cy="1142353"/>
          </a:xfrm>
          <a:prstGeom prst="rect">
            <a:avLst/>
          </a:prstGeom>
        </p:spPr>
      </p:pic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1856424" y="1001158"/>
            <a:ext cx="7507476" cy="14283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 pigeonhole principle is sometimes called the </a:t>
            </a:r>
            <a:r>
              <a:rPr lang="en-US" altLang="en-US" i="1" dirty="0"/>
              <a:t>Dirichlet box principle</a:t>
            </a:r>
            <a:r>
              <a:rPr lang="en-US" altLang="en-US" dirty="0"/>
              <a:t> because it was first stated formally by J. P. G. L. Dirichlet (1805–1859).</a:t>
            </a:r>
          </a:p>
        </p:txBody>
      </p:sp>
      <p:pic>
        <p:nvPicPr>
          <p:cNvPr id="32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99" b="8571"/>
          <a:stretch/>
        </p:blipFill>
        <p:spPr bwMode="auto">
          <a:xfrm>
            <a:off x="7322005" y="2997091"/>
            <a:ext cx="3248740" cy="2647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1856425" y="2517923"/>
            <a:ext cx="4340095" cy="539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Mathematical formulation: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911022" y="3145956"/>
            <a:ext cx="5345565" cy="2925841"/>
            <a:chOff x="730523" y="4598517"/>
            <a:chExt cx="5345565" cy="2925841"/>
          </a:xfrm>
        </p:grpSpPr>
        <p:sp>
          <p:nvSpPr>
            <p:cNvPr id="37" name="Rectangle 36"/>
            <p:cNvSpPr/>
            <p:nvPr/>
          </p:nvSpPr>
          <p:spPr>
            <a:xfrm>
              <a:off x="730523" y="4598517"/>
              <a:ext cx="5345565" cy="29258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30523" y="4598517"/>
              <a:ext cx="5345565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8474" y="4645644"/>
              <a:ext cx="5177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Pigeonhole Principle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95942" y="5218733"/>
              <a:ext cx="5280146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A function from one finite set to a smaller finite set cannot be one-to-one: There must be at least 2 elements in the domain that have the same image in the co-domain.</a:t>
              </a:r>
              <a:endParaRPr lang="en-SG" sz="2400" dirty="0">
                <a:solidFill>
                  <a:srgbClr val="0033CC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AA36481-FD5F-48F4-94CD-E534E00FC827}"/>
              </a:ext>
            </a:extLst>
          </p:cNvPr>
          <p:cNvSpPr txBox="1"/>
          <p:nvPr/>
        </p:nvSpPr>
        <p:spPr>
          <a:xfrm>
            <a:off x="1274618" y="351206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65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60</a:t>
            </a:fld>
            <a:endParaRPr lang="en-SG" dirty="0"/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1856424" y="1651834"/>
            <a:ext cx="7507477" cy="24934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In a group of six people, must there be at least two who were born in the same month?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In a group of 13 people, must there be at least two who were born in the same month? Why?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11 – Applying the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8422241" y="2114635"/>
            <a:ext cx="850053" cy="5574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No.</a:t>
            </a:r>
          </a:p>
        </p:txBody>
      </p:sp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436" y="3640138"/>
            <a:ext cx="5830796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Rectangle 3"/>
          <p:cNvSpPr txBox="1">
            <a:spLocks noChangeArrowheads="1"/>
          </p:cNvSpPr>
          <p:nvPr/>
        </p:nvSpPr>
        <p:spPr>
          <a:xfrm>
            <a:off x="8118233" y="4071449"/>
            <a:ext cx="2356337" cy="22849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Yes. At least 2 people must have been born in the same month.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88B8BB-1E25-47AC-9E09-A7D0A580F7E8}"/>
              </a:ext>
            </a:extLst>
          </p:cNvPr>
          <p:cNvSpPr txBox="1"/>
          <p:nvPr/>
        </p:nvSpPr>
        <p:spPr>
          <a:xfrm>
            <a:off x="1038162" y="104244"/>
            <a:ext cx="10315638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05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61</a:t>
            </a:fld>
            <a:endParaRPr lang="en-SG" dirty="0"/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091523" y="1658497"/>
            <a:ext cx="7947828" cy="1278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2600" dirty="0"/>
              <a:t>If</a:t>
            </a:r>
            <a:r>
              <a:rPr lang="en-US" altLang="en-US" sz="2600" i="1" dirty="0"/>
              <a:t> n</a:t>
            </a:r>
            <a:r>
              <a:rPr lang="en-US" altLang="en-US" sz="2600" dirty="0"/>
              <a:t> pigeons fly into </a:t>
            </a:r>
            <a:r>
              <a:rPr lang="en-US" altLang="en-US" sz="2600" i="1" dirty="0"/>
              <a:t>m</a:t>
            </a:r>
            <a:r>
              <a:rPr lang="en-US" altLang="en-US" sz="2600" dirty="0"/>
              <a:t> pigeonholes and, for some positive integer </a:t>
            </a:r>
            <a:r>
              <a:rPr lang="en-US" altLang="en-US" sz="2600" i="1" dirty="0"/>
              <a:t>k</a:t>
            </a:r>
            <a:r>
              <a:rPr lang="en-US" altLang="en-US" sz="2600" dirty="0"/>
              <a:t>, </a:t>
            </a:r>
            <a:r>
              <a:rPr lang="en-US" altLang="en-US" sz="2600" i="1" dirty="0"/>
              <a:t>k</a:t>
            </a:r>
            <a:r>
              <a:rPr lang="en-US" altLang="en-US" sz="2600" dirty="0"/>
              <a:t> &lt; </a:t>
            </a:r>
            <a:r>
              <a:rPr lang="en-US" altLang="en-US" sz="2600" i="1" dirty="0"/>
              <a:t>n</a:t>
            </a:r>
            <a:r>
              <a:rPr lang="en-US" altLang="en-US" sz="2600" dirty="0"/>
              <a:t>/</a:t>
            </a:r>
            <a:r>
              <a:rPr lang="en-US" altLang="en-US" sz="2600" i="1" dirty="0"/>
              <a:t>m</a:t>
            </a:r>
            <a:r>
              <a:rPr lang="en-US" altLang="en-US" sz="2600" dirty="0"/>
              <a:t>, then at least one pigeonhole contains </a:t>
            </a:r>
            <a:r>
              <a:rPr lang="en-US" altLang="en-US" sz="2600" i="1" dirty="0"/>
              <a:t>k</a:t>
            </a:r>
            <a:r>
              <a:rPr lang="en-US" altLang="en-US" sz="2600" dirty="0"/>
              <a:t> + 1 or more pigeons.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3437" y="67665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2187369" y="3059725"/>
            <a:ext cx="7947827" cy="2925841"/>
            <a:chOff x="730522" y="4598517"/>
            <a:chExt cx="7947827" cy="2925841"/>
          </a:xfrm>
        </p:grpSpPr>
        <p:sp>
          <p:nvSpPr>
            <p:cNvPr id="35" name="Rectangle 34"/>
            <p:cNvSpPr/>
            <p:nvPr/>
          </p:nvSpPr>
          <p:spPr>
            <a:xfrm>
              <a:off x="730522" y="4598517"/>
              <a:ext cx="7947827" cy="29258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30523" y="4598517"/>
              <a:ext cx="794782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98474" y="4645644"/>
              <a:ext cx="5230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Generalized Pigeonhole Principle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5941" y="5218733"/>
              <a:ext cx="7786563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For any function </a:t>
              </a:r>
              <a:r>
                <a:rPr lang="en-SG" sz="2800" i="1" dirty="0"/>
                <a:t>f</a:t>
              </a:r>
              <a:r>
                <a:rPr lang="en-SG" sz="2800" dirty="0"/>
                <a:t> from a finite set </a:t>
              </a:r>
              <a:r>
                <a:rPr lang="en-SG" sz="2800" i="1" dirty="0"/>
                <a:t>X</a:t>
              </a:r>
              <a:r>
                <a:rPr lang="en-SG" sz="2800" dirty="0"/>
                <a:t> with </a:t>
              </a:r>
              <a:r>
                <a:rPr lang="en-SG" sz="2800" i="1" dirty="0"/>
                <a:t>n </a:t>
              </a:r>
              <a:r>
                <a:rPr lang="en-SG" sz="2800" dirty="0"/>
                <a:t>elements to a finite set </a:t>
              </a:r>
              <a:r>
                <a:rPr lang="en-SG" sz="2800" i="1" dirty="0"/>
                <a:t>Y</a:t>
              </a:r>
              <a:r>
                <a:rPr lang="en-SG" sz="2800" dirty="0"/>
                <a:t> with </a:t>
              </a:r>
              <a:r>
                <a:rPr lang="en-SG" sz="2800" i="1" dirty="0"/>
                <a:t>m</a:t>
              </a:r>
              <a:r>
                <a:rPr lang="en-SG" sz="2800" dirty="0"/>
                <a:t> elements and for any positive integer </a:t>
              </a:r>
              <a:r>
                <a:rPr lang="en-SG" sz="2800" i="1" dirty="0"/>
                <a:t>k</a:t>
              </a:r>
              <a:r>
                <a:rPr lang="en-SG" sz="2800" dirty="0"/>
                <a:t>, if </a:t>
              </a:r>
              <a:r>
                <a:rPr lang="en-SG" sz="2800" i="1" dirty="0"/>
                <a:t>k</a:t>
              </a:r>
              <a:r>
                <a:rPr lang="en-SG" sz="2800" dirty="0"/>
                <a:t> &lt; </a:t>
              </a:r>
              <a:r>
                <a:rPr lang="en-SG" sz="2800" i="1" dirty="0"/>
                <a:t>n</a:t>
              </a:r>
              <a:r>
                <a:rPr lang="en-SG" sz="2800" dirty="0"/>
                <a:t>/</a:t>
              </a:r>
              <a:r>
                <a:rPr lang="en-SG" sz="2800" i="1" dirty="0"/>
                <a:t>m</a:t>
              </a:r>
              <a:r>
                <a:rPr lang="en-SG" sz="2800" dirty="0"/>
                <a:t>, then there is some </a:t>
              </a:r>
              <a:r>
                <a:rPr lang="en-SG" sz="2800" i="1" dirty="0"/>
                <a:t>y</a:t>
              </a:r>
              <a:r>
                <a:rPr lang="en-SG" sz="2800" dirty="0"/>
                <a:t> </a:t>
              </a:r>
              <a:r>
                <a:rPr lang="en-SG" sz="2800" dirty="0">
                  <a:sym typeface="Symbol" panose="05050102010706020507" pitchFamily="18" charset="2"/>
                </a:rPr>
                <a:t> </a:t>
              </a:r>
              <a:r>
                <a:rPr lang="en-SG" sz="2800" i="1" dirty="0">
                  <a:sym typeface="Symbol" panose="05050102010706020507" pitchFamily="18" charset="2"/>
                </a:rPr>
                <a:t>Y</a:t>
              </a:r>
              <a:r>
                <a:rPr lang="en-SG" sz="2800" dirty="0">
                  <a:sym typeface="Symbol" panose="05050102010706020507" pitchFamily="18" charset="2"/>
                </a:rPr>
                <a:t> such that </a:t>
              </a:r>
              <a:r>
                <a:rPr lang="en-SG" sz="2800" i="1" dirty="0">
                  <a:sym typeface="Symbol" panose="05050102010706020507" pitchFamily="18" charset="2"/>
                </a:rPr>
                <a:t>y</a:t>
              </a:r>
              <a:r>
                <a:rPr lang="en-SG" sz="2800" dirty="0">
                  <a:sym typeface="Symbol" panose="05050102010706020507" pitchFamily="18" charset="2"/>
                </a:rPr>
                <a:t> is the image of</a:t>
              </a:r>
              <a:r>
                <a:rPr lang="en-SG" sz="2800" dirty="0"/>
                <a:t> at least </a:t>
              </a:r>
              <a:r>
                <a:rPr lang="en-SG" sz="2800" i="1" dirty="0"/>
                <a:t>k</a:t>
              </a:r>
              <a:r>
                <a:rPr lang="en-SG" sz="2800" dirty="0"/>
                <a:t> + 1 distinct elements of </a:t>
              </a:r>
              <a:r>
                <a:rPr lang="en-SG" sz="2800" i="1" dirty="0"/>
                <a:t>X</a:t>
              </a:r>
              <a:r>
                <a:rPr lang="en-SG" sz="2800" dirty="0"/>
                <a:t>.</a:t>
              </a:r>
              <a:endParaRPr lang="en-SG" sz="2400" dirty="0">
                <a:solidFill>
                  <a:srgbClr val="0033CC"/>
                </a:solidFill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903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62</a:t>
            </a:fld>
            <a:endParaRPr lang="en-SG" dirty="0"/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091523" y="1658497"/>
            <a:ext cx="7947828" cy="14464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/>
              <a:t>Show how the generalized pigeonhole principle implies that in a group of 85 people, at least 4 must have the same last initial (‘A’, ‘B’, …, ‘Z’).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" y="940577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12 – Applying the 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46139" y="3261496"/>
            <a:ext cx="7993211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/>
              <a:t>In this example the pigeons are the 85 people and the pigeonholes are the 26 possible last initials of their names. Note that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51723" y="4709744"/>
            <a:ext cx="2888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3 &lt; 85/26 </a:t>
            </a:r>
            <a:r>
              <a:rPr lang="en-SG" sz="2800" dirty="0">
                <a:sym typeface="Symbol" panose="05050102010706020507" pitchFamily="18" charset="2"/>
              </a:rPr>
              <a:t> 3.27</a:t>
            </a:r>
            <a:endParaRPr lang="en-SG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4482E4-ED2D-4BB6-AA29-3B3B38E83939}"/>
              </a:ext>
            </a:extLst>
          </p:cNvPr>
          <p:cNvSpPr txBox="1"/>
          <p:nvPr/>
        </p:nvSpPr>
        <p:spPr>
          <a:xfrm>
            <a:off x="959047" y="166522"/>
            <a:ext cx="10212779" cy="6175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200" dirty="0">
                <a:solidFill>
                  <a:schemeClr val="bg1"/>
                </a:solidFill>
              </a:rPr>
              <a:t>Generalized Pigeonhole Principle</a:t>
            </a:r>
          </a:p>
        </p:txBody>
      </p:sp>
    </p:spTree>
    <p:extLst>
      <p:ext uri="{BB962C8B-B14F-4D97-AF65-F5344CB8AC3E}">
        <p14:creationId xmlns:p14="http://schemas.microsoft.com/office/powerpoint/2010/main" val="222202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63</a:t>
            </a:fld>
            <a:endParaRPr lang="en-SG" dirty="0"/>
          </a:p>
        </p:txBody>
      </p:sp>
      <p:sp>
        <p:nvSpPr>
          <p:cNvPr id="27" name="TextBox 26"/>
          <p:cNvSpPr txBox="1"/>
          <p:nvPr/>
        </p:nvSpPr>
        <p:spPr>
          <a:xfrm>
            <a:off x="989610" y="167294"/>
            <a:ext cx="10212779" cy="6175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200" dirty="0">
                <a:solidFill>
                  <a:schemeClr val="bg1"/>
                </a:solidFill>
              </a:rPr>
              <a:t>Generalized Pigeonhole Principle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091524" y="1658497"/>
            <a:ext cx="3441769" cy="23559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/>
              <a:t>Consider the function </a:t>
            </a:r>
            <a:r>
              <a:rPr lang="en-US" altLang="en-US" i="1" dirty="0"/>
              <a:t>L</a:t>
            </a:r>
            <a:r>
              <a:rPr lang="en-US" altLang="en-US" dirty="0"/>
              <a:t> from people to initials defined by the following arrow diagram.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0744" y="915361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12 – Applying the General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46139" y="4166050"/>
            <a:ext cx="7993211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/>
              <a:t>Since 3 &lt; 85/26, the generalized pigeonhole principle states that some initial must be the image of at least four (3 + 1) people.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425" y="1703082"/>
            <a:ext cx="4337050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2046139" y="5663853"/>
            <a:ext cx="7993211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/>
              <a:t>Thus, at least 4 people have the same last initial.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9294" y="5848221"/>
            <a:ext cx="418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ym typeface="Wingdings" panose="05000000000000000000" pitchFamily="2" charset="2"/>
              </a:rPr>
              <a:t>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5283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9" grpId="0" animBg="1"/>
      <p:bldP spid="2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64</a:t>
            </a:fld>
            <a:endParaRPr lang="en-SG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2449694" y="3356575"/>
            <a:ext cx="7247642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b="1" dirty="0">
                <a:solidFill>
                  <a:srgbClr val="2429E4"/>
                </a:solidFill>
                <a:latin typeface="+mn-lt"/>
              </a:rPr>
              <a:t>5: Combinations</a:t>
            </a:r>
          </a:p>
        </p:txBody>
      </p:sp>
    </p:spTree>
    <p:extLst>
      <p:ext uri="{BB962C8B-B14F-4D97-AF65-F5344CB8AC3E}">
        <p14:creationId xmlns:p14="http://schemas.microsoft.com/office/powerpoint/2010/main" val="444749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65</a:t>
            </a:fld>
            <a:endParaRPr lang="en-SG" dirty="0"/>
          </a:p>
        </p:txBody>
      </p:sp>
      <p:sp>
        <p:nvSpPr>
          <p:cNvPr id="77" name="TextBox 76"/>
          <p:cNvSpPr txBox="1"/>
          <p:nvPr/>
        </p:nvSpPr>
        <p:spPr>
          <a:xfrm>
            <a:off x="1866243" y="1091661"/>
            <a:ext cx="814561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Given a set </a:t>
            </a:r>
            <a:r>
              <a:rPr lang="en-SG" sz="2400" i="1" dirty="0"/>
              <a:t>S</a:t>
            </a:r>
            <a:r>
              <a:rPr lang="en-SG" sz="2400" dirty="0"/>
              <a:t> with </a:t>
            </a:r>
            <a:r>
              <a:rPr lang="en-SG" sz="2400" i="1" dirty="0"/>
              <a:t>n</a:t>
            </a:r>
            <a:r>
              <a:rPr lang="en-SG" sz="2400" dirty="0"/>
              <a:t> elements, how many subsets of size </a:t>
            </a:r>
            <a:r>
              <a:rPr lang="en-SG" sz="2400" i="1" dirty="0"/>
              <a:t>r</a:t>
            </a:r>
            <a:r>
              <a:rPr lang="en-SG" sz="2400" dirty="0"/>
              <a:t> can be chosen from </a:t>
            </a:r>
            <a:r>
              <a:rPr lang="en-SG" sz="2400" i="1" dirty="0"/>
              <a:t>S</a:t>
            </a:r>
            <a:r>
              <a:rPr lang="en-SG" sz="2400" dirty="0"/>
              <a:t>?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Each subset of size </a:t>
            </a:r>
            <a:r>
              <a:rPr lang="en-SG" sz="2400" i="1" dirty="0"/>
              <a:t>r</a:t>
            </a:r>
            <a:r>
              <a:rPr lang="en-SG" sz="2400" dirty="0"/>
              <a:t> is called an </a:t>
            </a:r>
            <a:r>
              <a:rPr lang="en-SG" sz="2400" i="1" dirty="0">
                <a:solidFill>
                  <a:srgbClr val="0033CC"/>
                </a:solidFill>
              </a:rPr>
              <a:t>r</a:t>
            </a:r>
            <a:r>
              <a:rPr lang="en-SG" sz="2400" dirty="0">
                <a:solidFill>
                  <a:srgbClr val="0033CC"/>
                </a:solidFill>
              </a:rPr>
              <a:t>-combination</a:t>
            </a:r>
            <a:r>
              <a:rPr lang="en-SG" sz="2400" dirty="0"/>
              <a:t> of the set.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2360227" y="2614405"/>
            <a:ext cx="7176411" cy="3492286"/>
            <a:chOff x="993228" y="4598517"/>
            <a:chExt cx="7176411" cy="3492286"/>
          </a:xfrm>
        </p:grpSpPr>
        <p:sp>
          <p:nvSpPr>
            <p:cNvPr id="66" name="Rectangle 65"/>
            <p:cNvSpPr/>
            <p:nvPr/>
          </p:nvSpPr>
          <p:spPr>
            <a:xfrm>
              <a:off x="993228" y="4598517"/>
              <a:ext cx="7176411" cy="349228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993228" y="4598517"/>
              <a:ext cx="7176411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</a:t>
              </a:r>
              <a:r>
                <a:rPr lang="en-SG" sz="2400" i="1" dirty="0">
                  <a:solidFill>
                    <a:schemeClr val="bg1"/>
                  </a:solidFill>
                </a:rPr>
                <a:t>r</a:t>
              </a:r>
              <a:r>
                <a:rPr lang="en-SG" sz="2400" dirty="0">
                  <a:solidFill>
                    <a:schemeClr val="bg1"/>
                  </a:solidFill>
                </a:rPr>
                <a:t>-combination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1109374" y="5193984"/>
                  <a:ext cx="6925353" cy="28968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Let </a:t>
                  </a:r>
                  <a:r>
                    <a:rPr lang="en-SG" sz="2400" i="1" dirty="0"/>
                    <a:t>n</a:t>
                  </a:r>
                  <a:r>
                    <a:rPr lang="en-SG" sz="2400" dirty="0"/>
                    <a:t> and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be non-negative integers with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</a:t>
                  </a:r>
                  <a:r>
                    <a:rPr lang="en-SG" sz="2400" dirty="0">
                      <a:sym typeface="Symbol" panose="05050102010706020507" pitchFamily="18" charset="2"/>
                    </a:rPr>
                    <a:t></a:t>
                  </a:r>
                  <a:r>
                    <a:rPr lang="en-SG" sz="2400" dirty="0"/>
                    <a:t> </a:t>
                  </a:r>
                  <a:r>
                    <a:rPr lang="en-SG" sz="2400" i="1" dirty="0"/>
                    <a:t>n</a:t>
                  </a:r>
                  <a:r>
                    <a:rPr lang="en-SG" sz="2400" dirty="0"/>
                    <a:t>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An </a:t>
                  </a:r>
                  <a:r>
                    <a:rPr lang="en-SG" sz="2400" b="1" i="1" dirty="0"/>
                    <a:t>r</a:t>
                  </a:r>
                  <a:r>
                    <a:rPr lang="en-SG" sz="2400" b="1" dirty="0"/>
                    <a:t>-combination</a:t>
                  </a:r>
                  <a:r>
                    <a:rPr lang="en-SG" sz="2400" dirty="0"/>
                    <a:t> of a set of </a:t>
                  </a:r>
                  <a:r>
                    <a:rPr lang="en-SG" sz="2400" i="1" dirty="0"/>
                    <a:t>n</a:t>
                  </a:r>
                  <a:r>
                    <a:rPr lang="en-SG" sz="2400" dirty="0"/>
                    <a:t> elements is a subset of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of the </a:t>
                  </a:r>
                  <a:r>
                    <a:rPr lang="en-SG" sz="2400" i="1" dirty="0"/>
                    <a:t>n</a:t>
                  </a:r>
                  <a:r>
                    <a:rPr lang="en-SG" sz="2400" dirty="0"/>
                    <a:t> elements. </a:t>
                  </a:r>
                </a:p>
                <a:p>
                  <a:pPr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d>
                        <m:dPr>
                          <m:ctrlPr>
                            <a:rPr lang="en-SG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SG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SG" sz="2400" dirty="0"/>
                    <a:t> , read “</a:t>
                  </a:r>
                  <a:r>
                    <a:rPr lang="en-SG" sz="2400" i="1" dirty="0"/>
                    <a:t>n</a:t>
                  </a:r>
                  <a:r>
                    <a:rPr lang="en-SG" sz="2400" dirty="0"/>
                    <a:t> choose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”, denotes the number of subsets of size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(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-combinations) that can be chosen from a set of </a:t>
                  </a:r>
                  <a:r>
                    <a:rPr lang="en-SG" sz="2400" i="1" dirty="0"/>
                    <a:t>n</a:t>
                  </a:r>
                  <a:r>
                    <a:rPr lang="en-SG" sz="2400" dirty="0"/>
                    <a:t> elements. Other symbols used are    </a:t>
                  </a:r>
                  <a:r>
                    <a:rPr lang="en-SG" sz="2400" i="1" dirty="0">
                      <a:solidFill>
                        <a:srgbClr val="C00000"/>
                      </a:solidFill>
                    </a:rPr>
                    <a:t>C</a:t>
                  </a:r>
                  <a:r>
                    <a:rPr lang="en-SG" sz="2400" dirty="0">
                      <a:solidFill>
                        <a:srgbClr val="C00000"/>
                      </a:solidFill>
                    </a:rPr>
                    <a:t>(</a:t>
                  </a:r>
                  <a:r>
                    <a:rPr lang="en-SG" sz="2400" i="1" dirty="0">
                      <a:solidFill>
                        <a:srgbClr val="C00000"/>
                      </a:solidFill>
                    </a:rPr>
                    <a:t>n</a:t>
                  </a:r>
                  <a:r>
                    <a:rPr lang="en-SG" sz="2400" dirty="0">
                      <a:solidFill>
                        <a:srgbClr val="C00000"/>
                      </a:solidFill>
                    </a:rPr>
                    <a:t>, </a:t>
                  </a:r>
                  <a:r>
                    <a:rPr lang="en-SG" sz="2400" i="1" dirty="0">
                      <a:solidFill>
                        <a:srgbClr val="C00000"/>
                      </a:solidFill>
                    </a:rPr>
                    <a:t>r</a:t>
                  </a:r>
                  <a:r>
                    <a:rPr lang="en-SG" sz="2400" dirty="0">
                      <a:solidFill>
                        <a:srgbClr val="C00000"/>
                      </a:solidFill>
                    </a:rPr>
                    <a:t>)</a:t>
                  </a:r>
                  <a:r>
                    <a:rPr lang="en-SG" sz="2400" dirty="0"/>
                    <a:t>, </a:t>
                  </a:r>
                  <a:r>
                    <a:rPr lang="en-SG" sz="2400" i="1" baseline="-25000" dirty="0" err="1">
                      <a:solidFill>
                        <a:srgbClr val="C00000"/>
                      </a:solidFill>
                    </a:rPr>
                    <a:t>n</a:t>
                  </a:r>
                  <a:r>
                    <a:rPr lang="en-SG" sz="2400" i="1" dirty="0" err="1">
                      <a:solidFill>
                        <a:srgbClr val="C00000"/>
                      </a:solidFill>
                    </a:rPr>
                    <a:t>C</a:t>
                  </a:r>
                  <a:r>
                    <a:rPr lang="en-SG" sz="2400" i="1" baseline="-25000" dirty="0" err="1">
                      <a:solidFill>
                        <a:srgbClr val="C00000"/>
                      </a:solidFill>
                    </a:rPr>
                    <a:t>r</a:t>
                  </a:r>
                  <a:r>
                    <a:rPr lang="en-SG" sz="2400" dirty="0"/>
                    <a:t>, </a:t>
                  </a:r>
                  <a:r>
                    <a:rPr lang="en-SG" sz="2400" i="1" dirty="0" err="1">
                      <a:solidFill>
                        <a:srgbClr val="C00000"/>
                      </a:solidFill>
                    </a:rPr>
                    <a:t>C</a:t>
                  </a:r>
                  <a:r>
                    <a:rPr lang="en-SG" sz="2400" i="1" baseline="-25000" dirty="0" err="1">
                      <a:solidFill>
                        <a:srgbClr val="C00000"/>
                      </a:solidFill>
                    </a:rPr>
                    <a:t>n</a:t>
                  </a:r>
                  <a:r>
                    <a:rPr lang="en-SG" sz="2400" baseline="-25000" dirty="0" err="1">
                      <a:solidFill>
                        <a:srgbClr val="C00000"/>
                      </a:solidFill>
                    </a:rPr>
                    <a:t>,</a:t>
                  </a:r>
                  <a:r>
                    <a:rPr lang="en-SG" sz="2400" i="1" baseline="-25000" dirty="0" err="1">
                      <a:solidFill>
                        <a:srgbClr val="C00000"/>
                      </a:solidFill>
                    </a:rPr>
                    <a:t>r</a:t>
                  </a:r>
                  <a:r>
                    <a:rPr lang="en-SG" sz="2400" dirty="0"/>
                    <a:t> , or </a:t>
                  </a:r>
                  <a:r>
                    <a:rPr lang="en-SG" sz="2400" i="1" baseline="30000" dirty="0" err="1">
                      <a:solidFill>
                        <a:srgbClr val="C00000"/>
                      </a:solidFill>
                    </a:rPr>
                    <a:t>n</a:t>
                  </a:r>
                  <a:r>
                    <a:rPr lang="en-SG" sz="2400" i="1" dirty="0" err="1">
                      <a:solidFill>
                        <a:srgbClr val="C00000"/>
                      </a:solidFill>
                    </a:rPr>
                    <a:t>C</a:t>
                  </a:r>
                  <a:r>
                    <a:rPr lang="en-SG" sz="2400" i="1" baseline="-25000" dirty="0" err="1">
                      <a:solidFill>
                        <a:srgbClr val="C00000"/>
                      </a:solidFill>
                    </a:rPr>
                    <a:t>r</a:t>
                  </a:r>
                  <a:r>
                    <a:rPr lang="en-SG" sz="2400" i="1" baseline="-25000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SG" sz="2400" dirty="0"/>
                    <a:t>.</a:t>
                  </a:r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4" y="5193984"/>
                  <a:ext cx="6925353" cy="289681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408" t="-2105" r="-440" b="-3789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6B3AB62-492B-4B80-B493-F49390C5C72E}"/>
              </a:ext>
            </a:extLst>
          </p:cNvPr>
          <p:cNvSpPr txBox="1"/>
          <p:nvPr/>
        </p:nvSpPr>
        <p:spPr>
          <a:xfrm>
            <a:off x="629393" y="130659"/>
            <a:ext cx="10545288" cy="71553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Counting Subsets of a Set: Combinations</a:t>
            </a:r>
          </a:p>
        </p:txBody>
      </p:sp>
    </p:spTree>
    <p:extLst>
      <p:ext uri="{BB962C8B-B14F-4D97-AF65-F5344CB8AC3E}">
        <p14:creationId xmlns:p14="http://schemas.microsoft.com/office/powerpoint/2010/main" val="8189487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9393" y="130659"/>
            <a:ext cx="10545288" cy="71553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Counting Subsets of a Set: Combinations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9493" y="1628138"/>
            <a:ext cx="83713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Let </a:t>
            </a:r>
            <a:r>
              <a:rPr lang="en-US" altLang="en-US" sz="2800" i="1" dirty="0"/>
              <a:t>S</a:t>
            </a:r>
            <a:r>
              <a:rPr lang="en-US" altLang="en-US" sz="2800" dirty="0"/>
              <a:t> = {Ann, Bob, </a:t>
            </a:r>
            <a:r>
              <a:rPr lang="en-US" altLang="en-US" sz="2800" dirty="0" err="1"/>
              <a:t>Cyd</a:t>
            </a:r>
            <a:r>
              <a:rPr lang="en-US" altLang="en-US" sz="2800" dirty="0"/>
              <a:t>, Dan}. Each committee consisting of three of the four people in </a:t>
            </a:r>
            <a:r>
              <a:rPr lang="en-US" altLang="en-US" sz="2800" i="1" dirty="0"/>
              <a:t>S</a:t>
            </a:r>
            <a:r>
              <a:rPr lang="en-US" altLang="en-US" sz="2800" dirty="0"/>
              <a:t> is a 3-combination of </a:t>
            </a:r>
            <a:r>
              <a:rPr lang="en-US" altLang="en-US" sz="2800" i="1" dirty="0"/>
              <a:t>S</a:t>
            </a:r>
            <a:r>
              <a:rPr lang="en-US" altLang="en-US" sz="2800" dirty="0"/>
              <a:t>.</a:t>
            </a:r>
            <a:endParaRPr lang="en-SG" sz="2400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66</a:t>
            </a:fld>
            <a:endParaRPr lang="en-SG" dirty="0"/>
          </a:p>
        </p:txBody>
      </p:sp>
      <p:sp>
        <p:nvSpPr>
          <p:cNvPr id="77" name="TextBox 76"/>
          <p:cNvSpPr txBox="1"/>
          <p:nvPr/>
        </p:nvSpPr>
        <p:spPr>
          <a:xfrm>
            <a:off x="2218824" y="3637818"/>
            <a:ext cx="8143632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altLang="en-US" sz="2800" dirty="0"/>
              <a:t>The 3-combinations are:</a:t>
            </a:r>
          </a:p>
          <a:p>
            <a:r>
              <a:rPr lang="en-SG" sz="2800" dirty="0"/>
              <a:t>	</a:t>
            </a:r>
            <a:r>
              <a:rPr lang="en-SG" sz="2800" b="1" dirty="0">
                <a:solidFill>
                  <a:srgbClr val="0033CC"/>
                </a:solidFill>
              </a:rPr>
              <a:t>{Bob, </a:t>
            </a:r>
            <a:r>
              <a:rPr lang="en-SG" sz="2800" b="1" dirty="0" err="1">
                <a:solidFill>
                  <a:srgbClr val="0033CC"/>
                </a:solidFill>
              </a:rPr>
              <a:t>Cyd</a:t>
            </a:r>
            <a:r>
              <a:rPr lang="en-SG" sz="2800" b="1" dirty="0">
                <a:solidFill>
                  <a:srgbClr val="0033CC"/>
                </a:solidFill>
              </a:rPr>
              <a:t>, Dan}, {Ann, </a:t>
            </a:r>
            <a:r>
              <a:rPr lang="en-SG" sz="2800" b="1" dirty="0" err="1">
                <a:solidFill>
                  <a:srgbClr val="0033CC"/>
                </a:solidFill>
              </a:rPr>
              <a:t>Cyd</a:t>
            </a:r>
            <a:r>
              <a:rPr lang="en-SG" sz="2800" b="1" dirty="0">
                <a:solidFill>
                  <a:srgbClr val="0033CC"/>
                </a:solidFill>
              </a:rPr>
              <a:t>, Dan}, </a:t>
            </a:r>
          </a:p>
          <a:p>
            <a:r>
              <a:rPr lang="en-SG" sz="2800" b="1" dirty="0">
                <a:solidFill>
                  <a:srgbClr val="0033CC"/>
                </a:solidFill>
              </a:rPr>
              <a:t>           {Ann, Bob, Dan}, {Ann, Bob, </a:t>
            </a:r>
            <a:r>
              <a:rPr lang="en-SG" sz="2800" b="1" dirty="0" err="1">
                <a:solidFill>
                  <a:srgbClr val="0033CC"/>
                </a:solidFill>
              </a:rPr>
              <a:t>Cyd</a:t>
            </a:r>
            <a:r>
              <a:rPr lang="en-SG" sz="2800" b="1" dirty="0">
                <a:solidFill>
                  <a:srgbClr val="0033CC"/>
                </a:solidFill>
              </a:rPr>
              <a:t>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" y="941447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13-Combinations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848357" y="2478101"/>
                <a:ext cx="8371307" cy="1039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lphaLcPeriod"/>
                </a:pPr>
                <a:r>
                  <a:rPr lang="en-US" altLang="en-US" sz="2800" dirty="0"/>
                  <a:t>List all such 3-combinations of </a:t>
                </a:r>
                <a:r>
                  <a:rPr lang="en-US" altLang="en-US" sz="2800" i="1" dirty="0"/>
                  <a:t>S</a:t>
                </a:r>
                <a:r>
                  <a:rPr lang="en-US" altLang="en-US" sz="2800" dirty="0"/>
                  <a:t>.</a:t>
                </a:r>
              </a:p>
              <a:p>
                <a:pPr marL="514350" indent="-514350">
                  <a:buFont typeface="+mj-lt"/>
                  <a:buAutoNum type="alphaLcPeriod"/>
                </a:pPr>
                <a:r>
                  <a:rPr lang="en-US" sz="2800" dirty="0"/>
                  <a:t>What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SG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SG" sz="2400" dirty="0"/>
                  <a:t> ?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57" y="2478101"/>
                <a:ext cx="8371307" cy="1039515"/>
              </a:xfrm>
              <a:prstGeom prst="rect">
                <a:avLst/>
              </a:prstGeom>
              <a:blipFill>
                <a:blip r:embed="rId3"/>
                <a:stretch>
                  <a:fillRect l="-1529" t="-6471" b="-123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215470" y="5149526"/>
                <a:ext cx="8143632" cy="61080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lphaLcPeriod" startAt="2"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SG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SG" sz="2800" dirty="0"/>
                  <a:t> = </a:t>
                </a:r>
                <a:r>
                  <a:rPr lang="en-SG" sz="2800" b="1" dirty="0">
                    <a:solidFill>
                      <a:srgbClr val="0033CC"/>
                    </a:solidFill>
                  </a:rPr>
                  <a:t>4</a:t>
                </a: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70" y="5149526"/>
                <a:ext cx="8143632" cy="610808"/>
              </a:xfrm>
              <a:prstGeom prst="rect">
                <a:avLst/>
              </a:prstGeom>
              <a:blipFill>
                <a:blip r:embed="rId4"/>
                <a:stretch>
                  <a:fillRect l="-1572" t="-4000" b="-21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5220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4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839493" y="1425843"/>
            <a:ext cx="83713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Two distinct methods that can be used to select </a:t>
            </a:r>
            <a:r>
              <a:rPr lang="en-US" altLang="en-US" sz="2800" i="1" dirty="0"/>
              <a:t>r</a:t>
            </a:r>
            <a:r>
              <a:rPr lang="en-US" altLang="en-US" sz="2800" dirty="0"/>
              <a:t> objects from a set of </a:t>
            </a:r>
            <a:r>
              <a:rPr lang="en-US" altLang="en-US" sz="2800" i="1" dirty="0"/>
              <a:t>n</a:t>
            </a:r>
            <a:r>
              <a:rPr lang="en-US" altLang="en-US" sz="2800" dirty="0"/>
              <a:t> elements:</a:t>
            </a:r>
            <a:endParaRPr lang="en-SG" sz="2800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67</a:t>
            </a:fld>
            <a:endParaRPr lang="en-SG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937738" y="2620109"/>
            <a:ext cx="0" cy="3736243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055479" y="2344698"/>
            <a:ext cx="3392177" cy="937010"/>
            <a:chOff x="531478" y="2165128"/>
            <a:chExt cx="3392177" cy="937010"/>
          </a:xfrm>
        </p:grpSpPr>
        <p:sp>
          <p:nvSpPr>
            <p:cNvPr id="2" name="TextBox 1"/>
            <p:cNvSpPr txBox="1"/>
            <p:nvPr/>
          </p:nvSpPr>
          <p:spPr>
            <a:xfrm>
              <a:off x="865307" y="2165128"/>
              <a:ext cx="30322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b="1" dirty="0">
                  <a:solidFill>
                    <a:srgbClr val="0033CC"/>
                  </a:solidFill>
                </a:rPr>
                <a:t>Ordered selection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31478" y="2640473"/>
              <a:ext cx="33921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/>
                <a:t>Also called </a:t>
              </a:r>
              <a:r>
                <a:rPr lang="en-SG" sz="2400" i="1" dirty="0">
                  <a:solidFill>
                    <a:srgbClr val="C00000"/>
                  </a:solidFill>
                </a:rPr>
                <a:t>r</a:t>
              </a:r>
              <a:r>
                <a:rPr lang="en-SG" sz="2400" dirty="0">
                  <a:solidFill>
                    <a:srgbClr val="C00000"/>
                  </a:solidFill>
                </a:rPr>
                <a:t>-permutation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82613" y="2344698"/>
            <a:ext cx="3511665" cy="937010"/>
            <a:chOff x="4858612" y="2165128"/>
            <a:chExt cx="3511665" cy="937010"/>
          </a:xfrm>
        </p:grpSpPr>
        <p:sp>
          <p:nvSpPr>
            <p:cNvPr id="53" name="TextBox 52"/>
            <p:cNvSpPr txBox="1"/>
            <p:nvPr/>
          </p:nvSpPr>
          <p:spPr>
            <a:xfrm>
              <a:off x="4997604" y="2165128"/>
              <a:ext cx="33726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b="1" dirty="0">
                  <a:solidFill>
                    <a:srgbClr val="0033CC"/>
                  </a:solidFill>
                </a:rPr>
                <a:t>Unordered selection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858612" y="2640473"/>
              <a:ext cx="33921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/>
                <a:t>Also called </a:t>
              </a:r>
              <a:r>
                <a:rPr lang="en-SG" sz="2400" i="1" dirty="0">
                  <a:solidFill>
                    <a:srgbClr val="C00000"/>
                  </a:solidFill>
                </a:rPr>
                <a:t>r</a:t>
              </a:r>
              <a:r>
                <a:rPr lang="en-SG" sz="2400" dirty="0">
                  <a:solidFill>
                    <a:srgbClr val="C00000"/>
                  </a:solidFill>
                </a:rPr>
                <a:t>-combination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905421" y="3378152"/>
            <a:ext cx="3882221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dirty="0"/>
              <a:t>Example: </a:t>
            </a:r>
            <a:r>
              <a:rPr lang="en-US" altLang="en-US" sz="2800" i="1" dirty="0"/>
              <a:t>S</a:t>
            </a:r>
            <a:r>
              <a:rPr lang="en-US" altLang="en-US" sz="2800" dirty="0"/>
              <a:t> = { 1, 2, 3 }</a:t>
            </a:r>
            <a:endParaRPr lang="en-SG" sz="2800" dirty="0"/>
          </a:p>
        </p:txBody>
      </p:sp>
      <p:sp>
        <p:nvSpPr>
          <p:cNvPr id="55" name="TextBox 54"/>
          <p:cNvSpPr txBox="1"/>
          <p:nvPr/>
        </p:nvSpPr>
        <p:spPr>
          <a:xfrm>
            <a:off x="2264209" y="3943429"/>
            <a:ext cx="3089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2-permutations of </a:t>
            </a:r>
            <a:r>
              <a:rPr lang="en-SG" sz="2400" i="1" dirty="0"/>
              <a:t>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94303" y="3943429"/>
            <a:ext cx="3089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2-combinations of </a:t>
            </a:r>
            <a:r>
              <a:rPr lang="en-SG" sz="2400" i="1" dirty="0"/>
              <a:t>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83212" y="4383523"/>
            <a:ext cx="132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{1, 2}</a:t>
            </a:r>
            <a:endParaRPr lang="en-SG" sz="2400" i="1" dirty="0"/>
          </a:p>
        </p:txBody>
      </p:sp>
      <p:sp>
        <p:nvSpPr>
          <p:cNvPr id="58" name="TextBox 57"/>
          <p:cNvSpPr txBox="1"/>
          <p:nvPr/>
        </p:nvSpPr>
        <p:spPr>
          <a:xfrm>
            <a:off x="3605317" y="4383523"/>
            <a:ext cx="132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{2, 1}</a:t>
            </a:r>
            <a:endParaRPr lang="en-SG" sz="2400" i="1" dirty="0"/>
          </a:p>
        </p:txBody>
      </p:sp>
      <p:sp>
        <p:nvSpPr>
          <p:cNvPr id="59" name="TextBox 58"/>
          <p:cNvSpPr txBox="1"/>
          <p:nvPr/>
        </p:nvSpPr>
        <p:spPr>
          <a:xfrm>
            <a:off x="2583212" y="4845188"/>
            <a:ext cx="132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{1, 3}</a:t>
            </a:r>
            <a:endParaRPr lang="en-SG" sz="24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3605317" y="4845188"/>
            <a:ext cx="132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{3, 1}</a:t>
            </a:r>
            <a:endParaRPr lang="en-SG" sz="2400" i="1" dirty="0"/>
          </a:p>
        </p:txBody>
      </p:sp>
      <p:sp>
        <p:nvSpPr>
          <p:cNvPr id="61" name="TextBox 60"/>
          <p:cNvSpPr txBox="1"/>
          <p:nvPr/>
        </p:nvSpPr>
        <p:spPr>
          <a:xfrm>
            <a:off x="2583212" y="5306853"/>
            <a:ext cx="132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{2, 3}</a:t>
            </a:r>
            <a:endParaRPr lang="en-SG" sz="24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3605317" y="5306853"/>
            <a:ext cx="132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{3, 2}</a:t>
            </a:r>
            <a:endParaRPr lang="en-SG" sz="2400" i="1" dirty="0"/>
          </a:p>
        </p:txBody>
      </p:sp>
      <p:sp>
        <p:nvSpPr>
          <p:cNvPr id="65" name="TextBox 64"/>
          <p:cNvSpPr txBox="1"/>
          <p:nvPr/>
        </p:nvSpPr>
        <p:spPr>
          <a:xfrm>
            <a:off x="7123914" y="4383523"/>
            <a:ext cx="132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{1, 2}</a:t>
            </a:r>
            <a:endParaRPr lang="en-SG" sz="24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7123914" y="4845188"/>
            <a:ext cx="132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{1, 3}</a:t>
            </a:r>
            <a:endParaRPr lang="en-SG" sz="2400" i="1" dirty="0"/>
          </a:p>
        </p:txBody>
      </p:sp>
      <p:sp>
        <p:nvSpPr>
          <p:cNvPr id="67" name="TextBox 66"/>
          <p:cNvSpPr txBox="1"/>
          <p:nvPr/>
        </p:nvSpPr>
        <p:spPr>
          <a:xfrm>
            <a:off x="7123914" y="5306853"/>
            <a:ext cx="132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{2, 3}</a:t>
            </a:r>
            <a:endParaRPr lang="en-SG" sz="2400" i="1" dirty="0"/>
          </a:p>
        </p:txBody>
      </p:sp>
      <p:sp>
        <p:nvSpPr>
          <p:cNvPr id="68" name="TextBox 67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14 – Ordered and Unordered Selection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41FECE-73A5-486A-90DA-CAA431A6570C}"/>
              </a:ext>
            </a:extLst>
          </p:cNvPr>
          <p:cNvSpPr txBox="1"/>
          <p:nvPr/>
        </p:nvSpPr>
        <p:spPr>
          <a:xfrm>
            <a:off x="752502" y="35676"/>
            <a:ext cx="10545288" cy="71553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Counting Subsets of a Set: Combinations</a:t>
            </a:r>
          </a:p>
        </p:txBody>
      </p:sp>
    </p:spTree>
    <p:extLst>
      <p:ext uri="{BB962C8B-B14F-4D97-AF65-F5344CB8AC3E}">
        <p14:creationId xmlns:p14="http://schemas.microsoft.com/office/powerpoint/2010/main" val="386829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5" grpId="0"/>
      <p:bldP spid="66" grpId="0"/>
      <p:bldP spid="6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53143" y="96157"/>
            <a:ext cx="10700657" cy="74814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Relationship between Permutations and Combinations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68</a:t>
            </a:fld>
            <a:endParaRPr lang="en-SG" dirty="0"/>
          </a:p>
        </p:txBody>
      </p:sp>
      <p:sp>
        <p:nvSpPr>
          <p:cNvPr id="60" name="TextBox 59"/>
          <p:cNvSpPr txBox="1"/>
          <p:nvPr/>
        </p:nvSpPr>
        <p:spPr>
          <a:xfrm>
            <a:off x="1453146" y="895034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2400" dirty="0">
                <a:solidFill>
                  <a:schemeClr val="bg1"/>
                </a:solidFill>
              </a:rPr>
              <a:t>Example 15 – Relationship between Permutations and Combinations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839493" y="1425842"/>
                <a:ext cx="8371307" cy="1986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800" dirty="0"/>
                  <a:t>Write all 2-permutations of the set {0, 1, 2, 3}. Find an equation relating the number of 2-permutations, </a:t>
                </a:r>
                <a:r>
                  <a:rPr lang="en-US" altLang="en-US" sz="2800" i="1" dirty="0"/>
                  <a:t>P</a:t>
                </a:r>
                <a:r>
                  <a:rPr lang="en-US" altLang="en-US" sz="2800" dirty="0"/>
                  <a:t>(4, 2), and the number of 2-combinations,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en-US" sz="2800" dirty="0"/>
                  <a:t> , and solve this equation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493" y="1425842"/>
                <a:ext cx="8371307" cy="1986698"/>
              </a:xfrm>
              <a:prstGeom prst="rect">
                <a:avLst/>
              </a:prstGeom>
              <a:blipFill>
                <a:blip r:embed="rId3"/>
                <a:stretch>
                  <a:fillRect l="-1529" t="-3067" r="-2039" b="-58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/>
          <p:cNvSpPr txBox="1"/>
          <p:nvPr/>
        </p:nvSpPr>
        <p:spPr>
          <a:xfrm>
            <a:off x="2091523" y="3637818"/>
            <a:ext cx="5763126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According to Theorem 10.2.3, </a:t>
            </a:r>
          </a:p>
          <a:p>
            <a:r>
              <a:rPr lang="en-US" altLang="en-US" sz="2800" dirty="0"/>
              <a:t>	</a:t>
            </a:r>
            <a:r>
              <a:rPr lang="en-US" altLang="en-US" sz="2800" i="1" dirty="0"/>
              <a:t>P</a:t>
            </a:r>
            <a:r>
              <a:rPr lang="en-US" altLang="en-US" sz="2800" dirty="0"/>
              <a:t>(4, 2) = 4!/(4-2)! = 4!/2! = 12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8456734" y="3277080"/>
            <a:ext cx="1754066" cy="2123658"/>
            <a:chOff x="6932734" y="3277080"/>
            <a:chExt cx="1754066" cy="2123658"/>
          </a:xfrm>
        </p:grpSpPr>
        <p:sp>
          <p:nvSpPr>
            <p:cNvPr id="3" name="TextBox 2"/>
            <p:cNvSpPr txBox="1"/>
            <p:nvPr/>
          </p:nvSpPr>
          <p:spPr>
            <a:xfrm>
              <a:off x="6932734" y="3277080"/>
              <a:ext cx="1033097" cy="212365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SG" sz="2200" dirty="0"/>
                <a:t>{0, 1},</a:t>
              </a:r>
            </a:p>
            <a:p>
              <a:r>
                <a:rPr lang="en-SG" sz="2200" dirty="0"/>
                <a:t>{0, 2},</a:t>
              </a:r>
            </a:p>
            <a:p>
              <a:r>
                <a:rPr lang="en-SG" sz="2200" dirty="0"/>
                <a:t>{0, 3},</a:t>
              </a:r>
            </a:p>
            <a:p>
              <a:r>
                <a:rPr lang="en-SG" sz="2200" dirty="0"/>
                <a:t>{1, 2},</a:t>
              </a:r>
            </a:p>
            <a:p>
              <a:r>
                <a:rPr lang="en-SG" sz="2200" dirty="0"/>
                <a:t>{1, 3}.</a:t>
              </a:r>
            </a:p>
            <a:p>
              <a:r>
                <a:rPr lang="en-SG" sz="2200" dirty="0"/>
                <a:t>{2, 3},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809768" y="3277080"/>
              <a:ext cx="877032" cy="212365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SG" sz="2200" dirty="0"/>
                <a:t>{1, 0},</a:t>
              </a:r>
            </a:p>
            <a:p>
              <a:r>
                <a:rPr lang="en-SG" sz="2200" dirty="0"/>
                <a:t>{2, 0},</a:t>
              </a:r>
            </a:p>
            <a:p>
              <a:r>
                <a:rPr lang="en-SG" sz="2200" dirty="0"/>
                <a:t>{3, 0},</a:t>
              </a:r>
            </a:p>
            <a:p>
              <a:r>
                <a:rPr lang="en-SG" sz="2200" dirty="0"/>
                <a:t>{2, 1},</a:t>
              </a:r>
            </a:p>
            <a:p>
              <a:r>
                <a:rPr lang="en-SG" sz="2200" dirty="0"/>
                <a:t>{3, 1}.</a:t>
              </a:r>
            </a:p>
            <a:p>
              <a:r>
                <a:rPr lang="en-SG" sz="2200" dirty="0"/>
                <a:t>{3, 2}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2091524" y="4804773"/>
            <a:ext cx="5890427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The construction of a 2-permutation of {0, 1, 2, 3} can be thought of comprising two steps: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91524" y="5613587"/>
            <a:ext cx="7185613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Step 1: </a:t>
            </a:r>
            <a:r>
              <a:rPr lang="en-US" altLang="en-US" sz="2400" dirty="0"/>
              <a:t>Choose a subset of 2 elements from {0, 1, 2, 3}.</a:t>
            </a:r>
          </a:p>
          <a:p>
            <a:r>
              <a:rPr lang="en-US" altLang="en-US" sz="2400" b="1" dirty="0"/>
              <a:t>Step 2: </a:t>
            </a:r>
            <a:r>
              <a:rPr lang="en-US" altLang="en-US" sz="2400" dirty="0"/>
              <a:t>Choose an ordering for the 2-element subset.</a:t>
            </a:r>
          </a:p>
        </p:txBody>
      </p:sp>
    </p:spTree>
    <p:extLst>
      <p:ext uri="{BB962C8B-B14F-4D97-AF65-F5344CB8AC3E}">
        <p14:creationId xmlns:p14="http://schemas.microsoft.com/office/powerpoint/2010/main" val="75374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4" grpId="0" animBg="1"/>
      <p:bldP spid="6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69</a:t>
            </a:fld>
            <a:endParaRPr lang="en-SG" dirty="0"/>
          </a:p>
        </p:txBody>
      </p:sp>
      <p:sp>
        <p:nvSpPr>
          <p:cNvPr id="60" name="TextBox 59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2400" dirty="0">
                <a:solidFill>
                  <a:schemeClr val="bg1"/>
                </a:solidFill>
              </a:rPr>
              <a:t>Example 15 – Relationship between Permutations and Combinations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39493" y="1425842"/>
            <a:ext cx="8371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en-US" sz="2800" dirty="0"/>
              <a:t>This can be illustrated by the following possibility tree:</a:t>
            </a:r>
            <a:endParaRPr lang="en-US" altLang="en-US" sz="2800" dirty="0"/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298" y="1979807"/>
            <a:ext cx="7366090" cy="41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2528666" y="6167775"/>
            <a:ext cx="7269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en-US" sz="2000" dirty="0"/>
              <a:t>Figure 10.5.1 Relationship between Permutations and Combinations</a:t>
            </a:r>
            <a:endParaRPr lang="en-US" alt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691CDC-CE34-4D7D-8606-98F4939347EE}"/>
              </a:ext>
            </a:extLst>
          </p:cNvPr>
          <p:cNvSpPr txBox="1"/>
          <p:nvPr/>
        </p:nvSpPr>
        <p:spPr>
          <a:xfrm>
            <a:off x="653143" y="96158"/>
            <a:ext cx="10700657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Relationship between Permutations and Combinations</a:t>
            </a:r>
          </a:p>
        </p:txBody>
      </p:sp>
    </p:spTree>
    <p:extLst>
      <p:ext uri="{BB962C8B-B14F-4D97-AF65-F5344CB8AC3E}">
        <p14:creationId xmlns:p14="http://schemas.microsoft.com/office/powerpoint/2010/main" val="16084736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70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"/>
              <p:cNvSpPr txBox="1">
                <a:spLocks noChangeArrowheads="1"/>
              </p:cNvSpPr>
              <p:nvPr/>
            </p:nvSpPr>
            <p:spPr>
              <a:xfrm>
                <a:off x="1981200" y="1702357"/>
                <a:ext cx="8229600" cy="118567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en-US" dirty="0"/>
                  <a:t>The number of ways to perform step 1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alt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SG" alt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en-US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altLang="en-US" dirty="0"/>
                  <a:t>The number of ways to perform step 2 is 2!</a:t>
                </a:r>
              </a:p>
            </p:txBody>
          </p:sp>
        </mc:Choice>
        <mc:Fallback xmlns="">
          <p:sp>
            <p:nvSpPr>
              <p:cNvPr id="3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702357"/>
                <a:ext cx="8229600" cy="1185674"/>
              </a:xfrm>
              <a:prstGeom prst="rect">
                <a:avLst/>
              </a:prstGeom>
              <a:blipFill>
                <a:blip r:embed="rId3"/>
                <a:stretch>
                  <a:fillRect l="-1481" t="-4103" b="-3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/>
          <p:cNvSpPr txBox="1"/>
          <p:nvPr/>
        </p:nvSpPr>
        <p:spPr>
          <a:xfrm>
            <a:off x="1524000" y="901517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2400" dirty="0">
                <a:solidFill>
                  <a:schemeClr val="bg1"/>
                </a:solidFill>
              </a:rPr>
              <a:t>Example 15 – Relationship between Permutations and Combinations</a:t>
            </a:r>
          </a:p>
        </p:txBody>
      </p:sp>
      <p:sp>
        <p:nvSpPr>
          <p:cNvPr id="51" name="Rectangle 3"/>
          <p:cNvSpPr txBox="1">
            <a:spLocks noChangeArrowheads="1"/>
          </p:cNvSpPr>
          <p:nvPr/>
        </p:nvSpPr>
        <p:spPr>
          <a:xfrm>
            <a:off x="1981200" y="2888032"/>
            <a:ext cx="8229600" cy="66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altLang="en-US" dirty="0"/>
              <a:t>Hence,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251205" y="3246736"/>
                <a:ext cx="3303270" cy="608628"/>
              </a:xfrm>
              <a:prstGeom prst="rect">
                <a:avLst/>
              </a:prstGeom>
              <a:solidFill>
                <a:srgbClr val="0000FF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>
                    <a:solidFill>
                      <a:schemeClr val="bg1">
                        <a:lumMod val="95000"/>
                      </a:schemeClr>
                    </a:solidFill>
                  </a:rPr>
                  <a:t>P</a:t>
                </a:r>
                <a:r>
                  <a:rPr lang="en-SG" sz="2800" dirty="0">
                    <a:solidFill>
                      <a:schemeClr val="bg1">
                        <a:lumMod val="95000"/>
                      </a:schemeClr>
                    </a:solidFill>
                  </a:rPr>
                  <a:t>(4, 2)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800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SG" sz="2800" i="1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800" i="1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SG" sz="2800" i="1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SG" sz="2800" dirty="0">
                    <a:solidFill>
                      <a:schemeClr val="bg1">
                        <a:lumMod val="95000"/>
                      </a:schemeClr>
                    </a:solidFill>
                    <a:sym typeface="Symbol" panose="05050102010706020507" pitchFamily="18" charset="2"/>
                  </a:rPr>
                  <a:t> 2!</a:t>
                </a:r>
                <a:r>
                  <a:rPr lang="en-SG" sz="2800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205" y="3246736"/>
                <a:ext cx="3303270" cy="608628"/>
              </a:xfrm>
              <a:prstGeom prst="rect">
                <a:avLst/>
              </a:prstGeom>
              <a:blipFill>
                <a:blip r:embed="rId4"/>
                <a:stretch>
                  <a:fillRect t="-6061" b="-222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269809" y="4040759"/>
                <a:ext cx="3303270" cy="1039515"/>
              </a:xfrm>
              <a:prstGeom prst="rect">
                <a:avLst/>
              </a:prstGeom>
              <a:solidFill>
                <a:srgbClr val="0000FF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SG" sz="2800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SG" sz="2800" i="1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800" i="1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SG" sz="2800" i="1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SG" sz="2800" dirty="0">
                    <a:solidFill>
                      <a:schemeClr val="bg1">
                        <a:lumMod val="95000"/>
                      </a:schemeClr>
                    </a:solidFill>
                    <a:sym typeface="Symbol" panose="05050102010706020507" pitchFamily="18" charset="2"/>
                  </a:rPr>
                  <a:t> = </a:t>
                </a:r>
                <a:r>
                  <a:rPr lang="en-SG" sz="2800" i="1" dirty="0">
                    <a:solidFill>
                      <a:schemeClr val="bg1">
                        <a:lumMod val="95000"/>
                      </a:schemeClr>
                    </a:solidFill>
                  </a:rPr>
                  <a:t>P</a:t>
                </a:r>
                <a:r>
                  <a:rPr lang="en-SG" sz="2800" dirty="0">
                    <a:solidFill>
                      <a:schemeClr val="bg1">
                        <a:lumMod val="95000"/>
                      </a:schemeClr>
                    </a:solidFill>
                  </a:rPr>
                  <a:t>(4, 2) / </a:t>
                </a:r>
                <a:r>
                  <a:rPr lang="en-SG" sz="2800" dirty="0">
                    <a:solidFill>
                      <a:schemeClr val="bg1">
                        <a:lumMod val="95000"/>
                      </a:schemeClr>
                    </a:solidFill>
                    <a:sym typeface="Symbol" panose="05050102010706020507" pitchFamily="18" charset="2"/>
                  </a:rPr>
                  <a:t>2! </a:t>
                </a:r>
              </a:p>
              <a:p>
                <a:pPr algn="ctr"/>
                <a:r>
                  <a:rPr lang="en-SG" sz="2800" dirty="0">
                    <a:solidFill>
                      <a:schemeClr val="bg1">
                        <a:lumMod val="95000"/>
                      </a:schemeClr>
                    </a:solidFill>
                    <a:sym typeface="Symbol" panose="05050102010706020507" pitchFamily="18" charset="2"/>
                  </a:rPr>
                  <a:t>= 12 / 2 = 6</a:t>
                </a:r>
                <a:r>
                  <a:rPr lang="en-SG" sz="2800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809" y="4040759"/>
                <a:ext cx="3303270" cy="1039515"/>
              </a:xfrm>
              <a:prstGeom prst="rect">
                <a:avLst/>
              </a:prstGeom>
              <a:blipFill>
                <a:blip r:embed="rId5"/>
                <a:stretch>
                  <a:fillRect t="-1765" b="-1588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D3F962A-188D-4F3F-BF71-43CF6AF8F40B}"/>
              </a:ext>
            </a:extLst>
          </p:cNvPr>
          <p:cNvSpPr txBox="1"/>
          <p:nvPr/>
        </p:nvSpPr>
        <p:spPr>
          <a:xfrm>
            <a:off x="653143" y="96158"/>
            <a:ext cx="10700657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Relationship between Permutations and Combinations</a:t>
            </a:r>
          </a:p>
        </p:txBody>
      </p:sp>
    </p:spTree>
    <p:extLst>
      <p:ext uri="{BB962C8B-B14F-4D97-AF65-F5344CB8AC3E}">
        <p14:creationId xmlns:p14="http://schemas.microsoft.com/office/powerpoint/2010/main" val="348521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71</a:t>
            </a:fld>
            <a:endParaRPr lang="en-SG" dirty="0"/>
          </a:p>
        </p:txBody>
      </p:sp>
      <p:grpSp>
        <p:nvGrpSpPr>
          <p:cNvPr id="80" name="Group 79"/>
          <p:cNvGrpSpPr/>
          <p:nvPr/>
        </p:nvGrpSpPr>
        <p:grpSpPr>
          <a:xfrm>
            <a:off x="2236536" y="1119528"/>
            <a:ext cx="7974264" cy="4729098"/>
            <a:chOff x="730523" y="4598517"/>
            <a:chExt cx="7974264" cy="4729098"/>
          </a:xfrm>
        </p:grpSpPr>
        <p:sp>
          <p:nvSpPr>
            <p:cNvPr id="81" name="Rectangle 80"/>
            <p:cNvSpPr/>
            <p:nvPr/>
          </p:nvSpPr>
          <p:spPr>
            <a:xfrm>
              <a:off x="730523" y="4598518"/>
              <a:ext cx="7974264" cy="472909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30523" y="4598517"/>
              <a:ext cx="7974264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898473" y="4645644"/>
                  <a:ext cx="7078763" cy="5269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SG" sz="2400" dirty="0">
                      <a:solidFill>
                        <a:schemeClr val="bg1"/>
                      </a:solidFill>
                    </a:rPr>
                    <a:t>Theorem 10.5.1 Formula for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SG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SG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</m:oMath>
                  </a14:m>
                  <a:endParaRPr lang="en-SG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73" y="4645644"/>
                  <a:ext cx="7078763" cy="526939"/>
                </a:xfrm>
                <a:prstGeom prst="rect">
                  <a:avLst/>
                </a:prstGeom>
                <a:blipFill>
                  <a:blip r:embed="rId3"/>
                  <a:stretch>
                    <a:fillRect l="-1291" t="-3448" b="-18391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795941" y="5218733"/>
                  <a:ext cx="7737396" cy="41088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800" dirty="0"/>
                    <a:t>The number of subsets of size </a:t>
                  </a:r>
                  <a:r>
                    <a:rPr lang="en-SG" sz="2800" i="1" dirty="0"/>
                    <a:t>r</a:t>
                  </a:r>
                  <a:r>
                    <a:rPr lang="en-SG" sz="2800" dirty="0"/>
                    <a:t> (or </a:t>
                  </a:r>
                  <a:r>
                    <a:rPr lang="en-SG" sz="2800" i="1" dirty="0"/>
                    <a:t>r</a:t>
                  </a:r>
                  <a:r>
                    <a:rPr lang="en-SG" sz="2800" dirty="0"/>
                    <a:t>-combinations) that can be chosen from a set of </a:t>
                  </a:r>
                  <a:r>
                    <a:rPr lang="en-SG" sz="2800" i="1" dirty="0"/>
                    <a:t>n</a:t>
                  </a:r>
                  <a:r>
                    <a:rPr lang="en-SG" sz="2800" dirty="0"/>
                    <a:t> elements,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SG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SG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SG" sz="2800" dirty="0"/>
                    <a:t>, is given by the formula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SG" sz="2800" dirty="0">
                      <a:sym typeface="Symbol" panose="05050102010706020507" pitchFamily="18" charset="2"/>
                    </a:rPr>
                    <a:t>		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r>
                        <a:rPr lang="en-SG" sz="3200" b="1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 </m:t>
                      </m:r>
                      <m:f>
                        <m:fPr>
                          <m:ctrlP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𝑷</m:t>
                          </m:r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(</m:t>
                          </m:r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𝒏</m:t>
                          </m:r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,  </m:t>
                          </m:r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𝒓</m:t>
                          </m:r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)</m:t>
                          </m:r>
                        </m:num>
                        <m:den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𝒓</m:t>
                          </m:r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!</m:t>
                          </m:r>
                        </m:den>
                      </m:f>
                    </m:oMath>
                  </a14:m>
                  <a:endParaRPr lang="en-SG" sz="3200" b="1" dirty="0">
                    <a:sym typeface="Symbol" panose="05050102010706020507" pitchFamily="18" charset="2"/>
                  </a:endParaRPr>
                </a:p>
                <a:p>
                  <a:pPr>
                    <a:spcAft>
                      <a:spcPts val="600"/>
                    </a:spcAft>
                  </a:pPr>
                  <a:r>
                    <a:rPr lang="en-SG" sz="2800" dirty="0">
                      <a:sym typeface="Symbol" panose="05050102010706020507" pitchFamily="18" charset="2"/>
                    </a:rPr>
                    <a:t>or, equivalently,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SG" sz="2800" dirty="0">
                      <a:sym typeface="Symbol" panose="05050102010706020507" pitchFamily="18" charset="2"/>
                    </a:rPr>
                    <a:t>		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r>
                        <a:rPr lang="en-SG" sz="3200" b="1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 </m:t>
                      </m:r>
                      <m:f>
                        <m:fPr>
                          <m:ctrlP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𝒏</m:t>
                          </m:r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!</m:t>
                          </m:r>
                        </m:num>
                        <m:den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𝒓</m:t>
                          </m:r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!</m:t>
                          </m:r>
                          <m:d>
                            <m:dPr>
                              <m:ctrlP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𝒏</m:t>
                              </m:r>
                              <m: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SG" sz="3200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𝒓</m:t>
                              </m:r>
                            </m:e>
                          </m:d>
                          <m:r>
                            <a:rPr lang="en-SG" sz="3200" b="1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!</m:t>
                          </m:r>
                        </m:den>
                      </m:f>
                    </m:oMath>
                  </a14:m>
                  <a:endParaRPr lang="en-SG" sz="3200" b="1" dirty="0">
                    <a:sym typeface="Symbol" panose="05050102010706020507" pitchFamily="18" charset="2"/>
                  </a:endParaRPr>
                </a:p>
                <a:p>
                  <a:pPr>
                    <a:spcAft>
                      <a:spcPts val="600"/>
                    </a:spcAft>
                  </a:pPr>
                  <a:r>
                    <a:rPr lang="en-SG" sz="2800" dirty="0">
                      <a:sym typeface="Symbol" panose="05050102010706020507" pitchFamily="18" charset="2"/>
                    </a:rPr>
                    <a:t>where </a:t>
                  </a:r>
                  <a:r>
                    <a:rPr lang="en-SG" sz="2800" i="1" dirty="0">
                      <a:sym typeface="Symbol" panose="05050102010706020507" pitchFamily="18" charset="2"/>
                    </a:rPr>
                    <a:t>n</a:t>
                  </a:r>
                  <a:r>
                    <a:rPr lang="en-SG" sz="2800" dirty="0">
                      <a:sym typeface="Symbol" panose="05050102010706020507" pitchFamily="18" charset="2"/>
                    </a:rPr>
                    <a:t> and </a:t>
                  </a:r>
                  <a:r>
                    <a:rPr lang="en-SG" sz="2800" i="1" dirty="0">
                      <a:sym typeface="Symbol" panose="05050102010706020507" pitchFamily="18" charset="2"/>
                    </a:rPr>
                    <a:t>r</a:t>
                  </a:r>
                  <a:r>
                    <a:rPr lang="en-SG" sz="2800" dirty="0">
                      <a:sym typeface="Symbol" panose="05050102010706020507" pitchFamily="18" charset="2"/>
                    </a:rPr>
                    <a:t> are non-negative integers with </a:t>
                  </a:r>
                  <a:r>
                    <a:rPr lang="en-SG" sz="2800" i="1" dirty="0">
                      <a:sym typeface="Symbol" panose="05050102010706020507" pitchFamily="18" charset="2"/>
                    </a:rPr>
                    <a:t>r</a:t>
                  </a:r>
                  <a:r>
                    <a:rPr lang="en-SG" sz="2800" dirty="0">
                      <a:sym typeface="Symbol" panose="05050102010706020507" pitchFamily="18" charset="2"/>
                    </a:rPr>
                    <a:t>  </a:t>
                  </a:r>
                  <a:r>
                    <a:rPr lang="en-SG" sz="2800" i="1" dirty="0">
                      <a:sym typeface="Symbol" panose="05050102010706020507" pitchFamily="18" charset="2"/>
                    </a:rPr>
                    <a:t>n</a:t>
                  </a:r>
                  <a:r>
                    <a:rPr lang="en-SG" sz="2800" dirty="0">
                      <a:sym typeface="Symbol" panose="05050102010706020507" pitchFamily="18" charset="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941" y="5218733"/>
                  <a:ext cx="7737396" cy="410888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655" t="-1335" r="-473" b="-34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63065C9-3C51-4579-BD25-F320E042658F}"/>
              </a:ext>
            </a:extLst>
          </p:cNvPr>
          <p:cNvSpPr txBox="1"/>
          <p:nvPr/>
        </p:nvSpPr>
        <p:spPr>
          <a:xfrm>
            <a:off x="653143" y="96158"/>
            <a:ext cx="10700657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Relationship between Permutations and Combinations</a:t>
            </a:r>
          </a:p>
        </p:txBody>
      </p:sp>
    </p:spTree>
    <p:extLst>
      <p:ext uri="{BB962C8B-B14F-4D97-AF65-F5344CB8AC3E}">
        <p14:creationId xmlns:p14="http://schemas.microsoft.com/office/powerpoint/2010/main" val="31239487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72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1939123" y="1451894"/>
            <a:ext cx="8517862" cy="1414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Suppose the group of 12 consists of 5 men and 7 women.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sz="2400" dirty="0"/>
              <a:t>How many 5-person teams can be chosen that consist of 3 men and 2 women?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16 – Teams with Members of Two Types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38455" y="2905979"/>
            <a:ext cx="7221715" cy="126188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i="1" dirty="0"/>
              <a:t>Hint: </a:t>
            </a:r>
            <a:r>
              <a:rPr lang="en-SG" sz="2800" dirty="0"/>
              <a:t>Think of it as a two-step process:</a:t>
            </a:r>
          </a:p>
          <a:p>
            <a:r>
              <a:rPr lang="en-SG" sz="2400" dirty="0"/>
              <a:t>	Step 1: Choose the men.</a:t>
            </a:r>
          </a:p>
          <a:p>
            <a:r>
              <a:rPr lang="en-SG" sz="2400" dirty="0"/>
              <a:t>	Step 2: Choose the women.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102264" y="4424069"/>
                <a:ext cx="5987473" cy="92217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5!</m:t>
                          </m:r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3!2!</m:t>
                          </m:r>
                        </m:den>
                      </m:f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7!</m:t>
                          </m:r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2!5!</m:t>
                          </m:r>
                        </m:den>
                      </m:f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210</m:t>
                      </m:r>
                    </m:oMath>
                  </m:oMathPara>
                </a14:m>
                <a:endParaRPr lang="en-SG" sz="2400" dirty="0">
                  <a:solidFill>
                    <a:srgbClr val="0033CC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264" y="4424069"/>
                <a:ext cx="5987473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52A72DE-4EEE-47B8-9407-0F084CEC7836}"/>
              </a:ext>
            </a:extLst>
          </p:cNvPr>
          <p:cNvSpPr txBox="1"/>
          <p:nvPr/>
        </p:nvSpPr>
        <p:spPr>
          <a:xfrm>
            <a:off x="653143" y="96158"/>
            <a:ext cx="10700657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Relationship between Permutations and Combinations</a:t>
            </a:r>
          </a:p>
        </p:txBody>
      </p:sp>
    </p:spTree>
    <p:extLst>
      <p:ext uri="{BB962C8B-B14F-4D97-AF65-F5344CB8AC3E}">
        <p14:creationId xmlns:p14="http://schemas.microsoft.com/office/powerpoint/2010/main" val="364030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73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1939123" y="1451894"/>
            <a:ext cx="8517862" cy="1259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Suppose the group of 12 consists of 5 men and 7 women.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2"/>
            </a:pPr>
            <a:r>
              <a:rPr lang="en-US" altLang="en-US" sz="2400" dirty="0"/>
              <a:t>How many 5-person teams contain at least one man?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16 – Teams with Members of Two Types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5140" y="2646785"/>
            <a:ext cx="7221715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i="1" dirty="0"/>
              <a:t>Hint: </a:t>
            </a:r>
            <a:r>
              <a:rPr lang="en-SG" sz="2400" dirty="0"/>
              <a:t>May use </a:t>
            </a:r>
            <a:r>
              <a:rPr lang="en-SG" sz="2400" b="1" dirty="0"/>
              <a:t>difference rule </a:t>
            </a:r>
            <a:r>
              <a:rPr lang="en-SG" sz="2400" dirty="0"/>
              <a:t>or </a:t>
            </a:r>
            <a:r>
              <a:rPr lang="en-SG" sz="2400" b="1" dirty="0"/>
              <a:t>addition rule</a:t>
            </a:r>
            <a:r>
              <a:rPr lang="en-SG" sz="2400" dirty="0"/>
              <a:t>. </a:t>
            </a:r>
          </a:p>
          <a:p>
            <a:r>
              <a:rPr lang="en-SG" sz="2400" dirty="0"/>
              <a:t>The former is shorter.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5139" y="5388394"/>
            <a:ext cx="6604596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Therefore number of 5-person teams that contain at least one man 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5140" y="3613370"/>
            <a:ext cx="7221715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Let </a:t>
            </a:r>
            <a:r>
              <a:rPr lang="en-SG" sz="2400" i="1" dirty="0"/>
              <a:t>A</a:t>
            </a:r>
            <a:r>
              <a:rPr lang="en-SG" sz="2400" dirty="0"/>
              <a:t> be the set of all 5-person teams,</a:t>
            </a:r>
          </a:p>
          <a:p>
            <a:r>
              <a:rPr lang="en-SG" sz="2400" dirty="0"/>
              <a:t>and </a:t>
            </a:r>
            <a:r>
              <a:rPr lang="en-SG" sz="2400" i="1" dirty="0"/>
              <a:t>B</a:t>
            </a:r>
            <a:r>
              <a:rPr lang="en-SG" sz="2400" dirty="0"/>
              <a:t> be the set of 5-person teams without any men.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5139" y="4661288"/>
            <a:ext cx="7221715" cy="5539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Then </a:t>
            </a:r>
            <a:r>
              <a:rPr lang="en-SG" sz="2400" i="1" dirty="0"/>
              <a:t>N</a:t>
            </a:r>
            <a:r>
              <a:rPr lang="en-SG" sz="2400" dirty="0"/>
              <a:t>(</a:t>
            </a:r>
            <a:r>
              <a:rPr lang="en-SG" sz="2400" i="1" dirty="0"/>
              <a:t>A</a:t>
            </a:r>
            <a:r>
              <a:rPr lang="en-SG" sz="2400" dirty="0"/>
              <a:t>) =                              , and </a:t>
            </a:r>
            <a:r>
              <a:rPr lang="en-SG" sz="2400" i="1" dirty="0"/>
              <a:t>N</a:t>
            </a:r>
            <a:r>
              <a:rPr lang="en-SG" sz="2400" dirty="0"/>
              <a:t>(</a:t>
            </a:r>
            <a:r>
              <a:rPr lang="en-SG" sz="2400" i="1" dirty="0"/>
              <a:t>B</a:t>
            </a:r>
            <a:r>
              <a:rPr lang="en-SG" sz="2400" dirty="0"/>
              <a:t>) =</a:t>
            </a:r>
          </a:p>
          <a:p>
            <a:endParaRPr lang="en-SG" sz="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73372" y="4412677"/>
                <a:ext cx="1777695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SG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SG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792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372" y="4412677"/>
                <a:ext cx="1777695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439298" y="4497907"/>
                <a:ext cx="1584594" cy="791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SG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SG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298" y="4497907"/>
                <a:ext cx="1584594" cy="7916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962219" y="5757726"/>
            <a:ext cx="2152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792 – 21 = </a:t>
            </a:r>
            <a:r>
              <a:rPr lang="en-SG" sz="2400" b="1" dirty="0">
                <a:solidFill>
                  <a:srgbClr val="0033CC"/>
                </a:solidFill>
              </a:rPr>
              <a:t>771</a:t>
            </a:r>
            <a:endParaRPr lang="en-SG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664B63-9201-408F-8627-BA4E2D3A5913}"/>
              </a:ext>
            </a:extLst>
          </p:cNvPr>
          <p:cNvSpPr txBox="1"/>
          <p:nvPr/>
        </p:nvSpPr>
        <p:spPr>
          <a:xfrm>
            <a:off x="653143" y="96158"/>
            <a:ext cx="10700657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Relationship between Permutations and Combinations</a:t>
            </a:r>
          </a:p>
        </p:txBody>
      </p:sp>
    </p:spTree>
    <p:extLst>
      <p:ext uri="{BB962C8B-B14F-4D97-AF65-F5344CB8AC3E}">
        <p14:creationId xmlns:p14="http://schemas.microsoft.com/office/powerpoint/2010/main" val="226158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6" grpId="0" animBg="1"/>
      <p:bldP spid="25" grpId="0" animBg="1"/>
      <p:bldP spid="26" grpId="0" animBg="1"/>
      <p:bldP spid="2" grpId="0"/>
      <p:bldP spid="27" grpId="0"/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74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1939123" y="1451894"/>
            <a:ext cx="8517862" cy="1259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Suppose the group of 12 consists of 5 men and 7 women.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3"/>
            </a:pPr>
            <a:r>
              <a:rPr lang="en-US" altLang="en-US" sz="2400" dirty="0"/>
              <a:t>How many 5-person teams contain at most one man?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16 – Teams with Members of Two Types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5140" y="2646785"/>
            <a:ext cx="7221715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Number of teams without any man =</a:t>
            </a:r>
          </a:p>
          <a:p>
            <a:endParaRPr lang="en-SG" sz="2400" dirty="0">
              <a:solidFill>
                <a:srgbClr val="0000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85139" y="4624885"/>
            <a:ext cx="6604596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Therefore number of 5-person teams that contain at most one man 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5140" y="3613370"/>
            <a:ext cx="7221715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Number of teams with one man =</a:t>
            </a:r>
          </a:p>
          <a:p>
            <a:endParaRPr lang="en-SG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108875" y="2626004"/>
                <a:ext cx="2676995" cy="544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SG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SG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SG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SG" sz="2400" dirty="0"/>
                  <a:t> = </a:t>
                </a:r>
                <a:r>
                  <a:rPr lang="en-SG" sz="2400" dirty="0">
                    <a:solidFill>
                      <a:srgbClr val="0000FF"/>
                    </a:solidFill>
                  </a:rPr>
                  <a:t>1 </a:t>
                </a:r>
                <a:r>
                  <a:rPr lang="en-SG" sz="24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 21 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875" y="2626004"/>
                <a:ext cx="2676995" cy="544060"/>
              </a:xfrm>
              <a:prstGeom prst="rect">
                <a:avLst/>
              </a:prstGeom>
              <a:blipFill>
                <a:blip r:embed="rId3"/>
                <a:stretch>
                  <a:fillRect t="-3371" b="-1797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2591953" y="3022725"/>
            <a:ext cx="859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Symbol" panose="05050102010706020507" pitchFamily="18" charset="2"/>
              </a:rPr>
              <a:t>= </a:t>
            </a:r>
            <a:r>
              <a:rPr lang="en-SG" sz="2400" dirty="0">
                <a:solidFill>
                  <a:srgbClr val="0000FF"/>
                </a:solidFill>
                <a:sym typeface="Symbol" panose="05050102010706020507" pitchFamily="18" charset="2"/>
              </a:rPr>
              <a:t>21</a:t>
            </a:r>
            <a:endParaRPr lang="en-SG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751253" y="3613146"/>
                <a:ext cx="2676995" cy="544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SG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SG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SG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SG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SG" sz="2400" dirty="0"/>
                  <a:t> = </a:t>
                </a:r>
                <a:r>
                  <a:rPr lang="en-SG" sz="2400" dirty="0">
                    <a:solidFill>
                      <a:srgbClr val="0000FF"/>
                    </a:solidFill>
                  </a:rPr>
                  <a:t>5 </a:t>
                </a:r>
                <a:r>
                  <a:rPr lang="en-SG" sz="24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 35 </a:t>
                </a:r>
                <a:endParaRPr lang="en-US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253" y="3613146"/>
                <a:ext cx="2676995" cy="544060"/>
              </a:xfrm>
              <a:prstGeom prst="rect">
                <a:avLst/>
              </a:prstGeom>
              <a:blipFill>
                <a:blip r:embed="rId4"/>
                <a:stretch>
                  <a:fillRect t="-3371" b="-1797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591953" y="3982439"/>
            <a:ext cx="1115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Symbol" panose="05050102010706020507" pitchFamily="18" charset="2"/>
              </a:rPr>
              <a:t>= </a:t>
            </a:r>
            <a:r>
              <a:rPr lang="en-SG" sz="2400" dirty="0">
                <a:solidFill>
                  <a:srgbClr val="0000FF"/>
                </a:solidFill>
                <a:sym typeface="Symbol" panose="05050102010706020507" pitchFamily="18" charset="2"/>
              </a:rPr>
              <a:t>175</a:t>
            </a:r>
            <a:endParaRPr lang="en-SG" sz="2400" dirty="0">
              <a:solidFill>
                <a:srgbClr val="0000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52033" y="4994217"/>
            <a:ext cx="2154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21 + 175 </a:t>
            </a:r>
            <a:r>
              <a:rPr lang="en-SG" sz="2400" dirty="0">
                <a:sym typeface="Symbol" panose="05050102010706020507" pitchFamily="18" charset="2"/>
              </a:rPr>
              <a:t>= </a:t>
            </a:r>
            <a:r>
              <a:rPr lang="en-SG" sz="2400" dirty="0">
                <a:solidFill>
                  <a:srgbClr val="0000FF"/>
                </a:solidFill>
                <a:sym typeface="Symbol" panose="05050102010706020507" pitchFamily="18" charset="2"/>
              </a:rPr>
              <a:t>196</a:t>
            </a:r>
            <a:endParaRPr lang="en-SG" sz="2400" dirty="0">
              <a:solidFill>
                <a:srgbClr val="0000FF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0115BC-DEFC-49C9-B49C-62BF96856945}"/>
              </a:ext>
            </a:extLst>
          </p:cNvPr>
          <p:cNvSpPr txBox="1"/>
          <p:nvPr/>
        </p:nvSpPr>
        <p:spPr>
          <a:xfrm>
            <a:off x="653143" y="96158"/>
            <a:ext cx="10700657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Relationship between Permutations and Combinations</a:t>
            </a:r>
          </a:p>
        </p:txBody>
      </p:sp>
    </p:spTree>
    <p:extLst>
      <p:ext uri="{BB962C8B-B14F-4D97-AF65-F5344CB8AC3E}">
        <p14:creationId xmlns:p14="http://schemas.microsoft.com/office/powerpoint/2010/main" val="110109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6" grpId="0" animBg="1"/>
      <p:bldP spid="25" grpId="0" animBg="1"/>
      <p:bldP spid="2" grpId="0"/>
      <p:bldP spid="24" grpId="0"/>
      <p:bldP spid="26" grpId="0"/>
      <p:bldP spid="27" grpId="0"/>
      <p:bldP spid="2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75</a:t>
            </a:fld>
            <a:endParaRPr lang="en-SG" dirty="0"/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300843" y="2253166"/>
            <a:ext cx="11376560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b="1" dirty="0">
                <a:solidFill>
                  <a:srgbClr val="2429E4"/>
                </a:solidFill>
                <a:latin typeface="+mn-lt"/>
              </a:rPr>
              <a:t>6: The Binomial Theorem</a:t>
            </a:r>
          </a:p>
        </p:txBody>
      </p:sp>
    </p:spTree>
    <p:extLst>
      <p:ext uri="{BB962C8B-B14F-4D97-AF65-F5344CB8AC3E}">
        <p14:creationId xmlns:p14="http://schemas.microsoft.com/office/powerpoint/2010/main" val="37455004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76</a:t>
            </a:fld>
            <a:endParaRPr lang="en-SG" dirty="0"/>
          </a:p>
        </p:txBody>
      </p:sp>
      <p:sp>
        <p:nvSpPr>
          <p:cNvPr id="29" name="TextBox 28"/>
          <p:cNvSpPr txBox="1"/>
          <p:nvPr/>
        </p:nvSpPr>
        <p:spPr>
          <a:xfrm>
            <a:off x="1448053" y="81370"/>
            <a:ext cx="9144000" cy="82389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Pascal’s Formula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1959158" y="1154035"/>
            <a:ext cx="8038595" cy="1282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Pascal’s formula can be derived by two entirely different arguments. One is algebraic; it uses the formula for the number of </a:t>
            </a:r>
            <a:r>
              <a:rPr lang="en-US" altLang="en-US" sz="2400" i="1" dirty="0"/>
              <a:t>r</a:t>
            </a:r>
            <a:r>
              <a:rPr lang="en-US" altLang="en-US" sz="2400" dirty="0"/>
              <a:t>-combinations obtained in Theorem 10.5.1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93740" y="2774480"/>
            <a:ext cx="7974264" cy="1801800"/>
            <a:chOff x="730523" y="4598517"/>
            <a:chExt cx="7974264" cy="1801800"/>
          </a:xfrm>
        </p:grpSpPr>
        <p:sp>
          <p:nvSpPr>
            <p:cNvPr id="24" name="Rectangle 23"/>
            <p:cNvSpPr/>
            <p:nvPr/>
          </p:nvSpPr>
          <p:spPr>
            <a:xfrm>
              <a:off x="730523" y="4598518"/>
              <a:ext cx="7974264" cy="18017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30523" y="4598517"/>
              <a:ext cx="7974264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98473" y="4645644"/>
              <a:ext cx="77002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10.6.1  Pascal’s Formula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795941" y="5218733"/>
                  <a:ext cx="7737396" cy="10677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Let </a:t>
                  </a:r>
                  <a:r>
                    <a:rPr lang="en-SG" sz="2400" i="1" dirty="0"/>
                    <a:t>n</a:t>
                  </a:r>
                  <a:r>
                    <a:rPr lang="en-SG" sz="2400" dirty="0"/>
                    <a:t> and </a:t>
                  </a:r>
                  <a:r>
                    <a:rPr lang="en-SG" sz="2400" i="1" dirty="0"/>
                    <a:t>r</a:t>
                  </a:r>
                  <a:r>
                    <a:rPr lang="en-SG" sz="2400" dirty="0"/>
                    <a:t> be positive integers, </a:t>
                  </a:r>
                  <a:r>
                    <a:rPr lang="en-US" altLang="en-US" sz="2400" i="1" dirty="0"/>
                    <a:t>r</a:t>
                  </a:r>
                  <a:r>
                    <a:rPr lang="en-US" altLang="en-US" sz="2400" dirty="0"/>
                    <a:t> </a:t>
                  </a:r>
                  <a:r>
                    <a:rPr lang="en-US" altLang="en-US" sz="2400" dirty="0">
                      <a:sym typeface="Symbol"/>
                    </a:rPr>
                    <a:t></a:t>
                  </a:r>
                  <a:r>
                    <a:rPr lang="en-US" altLang="en-US" sz="2400" dirty="0"/>
                    <a:t> </a:t>
                  </a:r>
                  <a:r>
                    <a:rPr lang="en-US" altLang="en-US" sz="2400" i="1" dirty="0"/>
                    <a:t>n. </a:t>
                  </a:r>
                  <a:r>
                    <a:rPr lang="en-SG" altLang="en-US" sz="2400" dirty="0"/>
                    <a:t>Then</a:t>
                  </a:r>
                  <a:endParaRPr lang="en-SG" sz="2400" dirty="0"/>
                </a:p>
                <a:p>
                  <a:pPr>
                    <a:spcAft>
                      <a:spcPts val="600"/>
                    </a:spcAft>
                    <a:tabLst>
                      <a:tab pos="2743200" algn="l"/>
                    </a:tabLst>
                  </a:pPr>
                  <a:r>
                    <a:rPr lang="en-SG" sz="2400" b="1" dirty="0">
                      <a:sym typeface="Symbol" panose="05050102010706020507" pitchFamily="18" charset="2"/>
                    </a:rPr>
                    <a:t>	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SG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SG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𝒏</m:t>
                              </m:r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+</m:t>
                              </m:r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  <m:r>
                        <a:rPr lang="en-US" sz="2800" b="1" i="1">
                          <a:solidFill>
                            <a:srgbClr val="0000FF"/>
                          </a:solidFill>
                          <a:latin typeface="Cambria Math"/>
                          <a:sym typeface="Symbol" panose="05050102010706020507" pitchFamily="18" charset="2"/>
                        </a:rPr>
                        <m:t>= 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𝒓</m:t>
                              </m:r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r>
                        <a:rPr lang="en-US" sz="2800" b="1" i="1">
                          <a:solidFill>
                            <a:srgbClr val="0000FF"/>
                          </a:solidFill>
                          <a:latin typeface="Cambria Math"/>
                          <a:sym typeface="Symbol" panose="05050102010706020507" pitchFamily="18" charset="2"/>
                        </a:rPr>
                        <m:t>+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  <a:sym typeface="Symbol" panose="05050102010706020507" pitchFamily="18" charset="2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</m:oMath>
                  </a14:m>
                  <a:endParaRPr lang="en-SG" sz="2800" b="1" dirty="0"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941" y="5218733"/>
                  <a:ext cx="7737396" cy="1067728"/>
                </a:xfrm>
                <a:prstGeom prst="rect">
                  <a:avLst/>
                </a:prstGeom>
                <a:blipFill>
                  <a:blip r:embed="rId3"/>
                  <a:stretch>
                    <a:fillRect l="-1182" t="-571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54756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77</a:t>
            </a:fld>
            <a:endParaRPr lang="en-SG" dirty="0"/>
          </a:p>
        </p:txBody>
      </p:sp>
      <p:sp>
        <p:nvSpPr>
          <p:cNvPr id="30" name="TextBox 29"/>
          <p:cNvSpPr txBox="1"/>
          <p:nvPr/>
        </p:nvSpPr>
        <p:spPr>
          <a:xfrm>
            <a:off x="1274618" y="109970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Pascal’s Formula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1274618" y="790800"/>
            <a:ext cx="9620997" cy="5068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Pascal’s triangle is a geometric version of Pascal’s formula.</a:t>
            </a:r>
          </a:p>
        </p:txBody>
      </p:sp>
      <p:pic>
        <p:nvPicPr>
          <p:cNvPr id="46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18" y="1293026"/>
            <a:ext cx="10181915" cy="4703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5207000" y="6058961"/>
            <a:ext cx="3403600" cy="4350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000" dirty="0"/>
              <a:t>Table 10.6.1 Pascal’s Triangle</a:t>
            </a:r>
          </a:p>
        </p:txBody>
      </p:sp>
    </p:spTree>
    <p:extLst>
      <p:ext uri="{BB962C8B-B14F-4D97-AF65-F5344CB8AC3E}">
        <p14:creationId xmlns:p14="http://schemas.microsoft.com/office/powerpoint/2010/main" val="9029862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78</a:t>
            </a:fld>
            <a:endParaRPr lang="en-SG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22122" y="1406065"/>
            <a:ext cx="8038595" cy="1753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In algebra a sum of two terms, such as </a:t>
            </a:r>
            <a:r>
              <a:rPr lang="en-US" altLang="en-US" sz="2400" i="1" dirty="0"/>
              <a:t>a</a:t>
            </a:r>
            <a:r>
              <a:rPr lang="en-US" altLang="en-US" sz="2400" dirty="0"/>
              <a:t> + </a:t>
            </a:r>
            <a:r>
              <a:rPr lang="en-US" altLang="en-US" sz="2400" i="1" dirty="0"/>
              <a:t>b</a:t>
            </a:r>
            <a:r>
              <a:rPr lang="en-US" altLang="en-US" sz="2400" dirty="0"/>
              <a:t>, is called </a:t>
            </a:r>
            <a:r>
              <a:rPr lang="en-US" altLang="en-US" sz="2400" dirty="0">
                <a:solidFill>
                  <a:srgbClr val="0000FF"/>
                </a:solidFill>
              </a:rPr>
              <a:t>binomial</a:t>
            </a:r>
            <a:r>
              <a:rPr lang="en-US" altLang="en-US" sz="24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dirty="0"/>
              <a:t>The </a:t>
            </a:r>
            <a:r>
              <a:rPr lang="en-US" altLang="en-US" sz="2400" i="1" dirty="0">
                <a:solidFill>
                  <a:srgbClr val="0000FF"/>
                </a:solidFill>
              </a:rPr>
              <a:t>binomial theorem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/>
              <a:t>gives an expression for the powers of a binomial (</a:t>
            </a:r>
            <a:r>
              <a:rPr lang="en-US" altLang="en-US" sz="2400" i="1" dirty="0"/>
              <a:t>a </a:t>
            </a:r>
            <a:r>
              <a:rPr lang="en-US" altLang="en-US" sz="2400" dirty="0"/>
              <a:t>+ </a:t>
            </a:r>
            <a:r>
              <a:rPr lang="en-US" altLang="en-US" sz="2400" i="1" dirty="0"/>
              <a:t>b</a:t>
            </a:r>
            <a:r>
              <a:rPr lang="en-US" altLang="en-US" sz="2400" dirty="0"/>
              <a:t>)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, for each positive integer </a:t>
            </a:r>
            <a:r>
              <a:rPr lang="en-US" altLang="en-US" sz="2400" i="1" dirty="0"/>
              <a:t>n</a:t>
            </a:r>
            <a:r>
              <a:rPr lang="en-US" altLang="en-US" sz="2400" dirty="0"/>
              <a:t> and all real numbers </a:t>
            </a:r>
            <a:r>
              <a:rPr lang="en-US" altLang="en-US" sz="2400" i="1" dirty="0"/>
              <a:t>a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b</a:t>
            </a:r>
            <a:r>
              <a:rPr lang="en-US" altLang="en-US" sz="2400" dirty="0"/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554" y="360495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Binomial Theorem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2197504" y="3403917"/>
            <a:ext cx="7974264" cy="2618061"/>
            <a:chOff x="730523" y="4598517"/>
            <a:chExt cx="7974264" cy="2618061"/>
          </a:xfrm>
        </p:grpSpPr>
        <p:sp>
          <p:nvSpPr>
            <p:cNvPr id="45" name="Rectangle 44"/>
            <p:cNvSpPr/>
            <p:nvPr/>
          </p:nvSpPr>
          <p:spPr>
            <a:xfrm>
              <a:off x="730523" y="4598518"/>
              <a:ext cx="7974264" cy="261806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30523" y="4598517"/>
              <a:ext cx="7974264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98473" y="4645644"/>
              <a:ext cx="77002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10.6.2  Binomial Theorem</a:t>
              </a:r>
              <a:endParaRPr lang="en-SG" sz="20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795941" y="5218733"/>
                  <a:ext cx="7737396" cy="17962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Given any real numbers </a:t>
                  </a:r>
                  <a:r>
                    <a:rPr lang="en-SG" sz="2400" i="1" dirty="0"/>
                    <a:t>a</a:t>
                  </a:r>
                  <a:r>
                    <a:rPr lang="en-SG" sz="2400" dirty="0"/>
                    <a:t> and </a:t>
                  </a:r>
                  <a:r>
                    <a:rPr lang="en-SG" sz="2400" i="1" dirty="0"/>
                    <a:t>b</a:t>
                  </a:r>
                  <a:r>
                    <a:rPr lang="en-SG" sz="2400" dirty="0"/>
                    <a:t> and any non-negative integer</a:t>
                  </a:r>
                  <a:r>
                    <a:rPr lang="en-US" altLang="en-US" sz="2400" dirty="0"/>
                    <a:t> </a:t>
                  </a:r>
                  <a:r>
                    <a:rPr lang="en-US" altLang="en-US" sz="2400" i="1" dirty="0"/>
                    <a:t>n,</a:t>
                  </a:r>
                  <a:endParaRPr lang="en-SG" sz="2400" dirty="0"/>
                </a:p>
                <a:p>
                  <a:pPr>
                    <a:spcAft>
                      <a:spcPts val="600"/>
                    </a:spcAft>
                    <a:tabLst>
                      <a:tab pos="457200" algn="l"/>
                    </a:tabLst>
                  </a:pPr>
                  <a:r>
                    <a:rPr lang="en-SG" sz="2400" b="1" dirty="0">
                      <a:sym typeface="Symbol" panose="05050102010706020507" pitchFamily="18" charset="2"/>
                    </a:rPr>
                    <a:t>	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SG" sz="24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(</m:t>
                          </m:r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𝒂</m:t>
                          </m:r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𝒃</m:t>
                          </m:r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)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𝒏</m:t>
                          </m:r>
                        </m:sup>
                      </m:sSup>
                      <m:r>
                        <a:rPr lang="en-US" sz="2400" b="1" i="1">
                          <a:latin typeface="Cambria Math"/>
                          <a:sym typeface="Symbol" panose="05050102010706020507" pitchFamily="18" charset="2"/>
                        </a:rPr>
                        <m:t> = </m:t>
                      </m:r>
                      <m:nary>
                        <m:naryPr>
                          <m:chr m:val="∑"/>
                          <m:ctrlPr>
                            <a:rPr lang="en-US" sz="24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𝒌</m:t>
                          </m:r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=</m:t>
                          </m:r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latin typeface="Cambria Math"/>
                                      <a:sym typeface="Symbol" panose="05050102010706020507" pitchFamily="18" charset="2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latin typeface="Cambria Math"/>
                                      <a:sym typeface="Symbol" panose="05050102010706020507" pitchFamily="18" charset="2"/>
                                    </a:rPr>
                                    <m:t>𝒌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𝒂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𝒏</m:t>
                          </m:r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𝒌</m:t>
                          </m:r>
                        </m:sup>
                      </m:sSup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𝒃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  <a:sym typeface="Symbol" panose="05050102010706020507" pitchFamily="18" charset="2"/>
                            </a:rPr>
                            <m:t>𝒌</m:t>
                          </m:r>
                        </m:sup>
                      </m:sSup>
                    </m:oMath>
                  </a14:m>
                  <a:endParaRPr lang="en-US" sz="2400" b="1" dirty="0">
                    <a:sym typeface="Symbol" panose="05050102010706020507" pitchFamily="18" charset="2"/>
                  </a:endParaRPr>
                </a:p>
                <a:p>
                  <a:pPr>
                    <a:spcAft>
                      <a:spcPts val="600"/>
                    </a:spcAft>
                    <a:tabLst>
                      <a:tab pos="914400" algn="l"/>
                    </a:tabLst>
                  </a:pPr>
                  <a:r>
                    <a:rPr lang="en-US" sz="2400" b="1" dirty="0">
                      <a:sym typeface="Symbol" panose="05050102010706020507" pitchFamily="18" charset="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  <a:sym typeface="Symbol" panose="05050102010706020507" pitchFamily="18" charset="2"/>
                        </a:rPr>
                        <m:t>= 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𝒏</m:t>
                          </m:r>
                        </m:sup>
                      </m:sSup>
                      <m:r>
                        <a:rPr lang="en-US" sz="2000" b="1" i="1">
                          <a:latin typeface="Cambria Math"/>
                          <a:sym typeface="Symbol" panose="05050102010706020507" pitchFamily="18" charset="2"/>
                        </a:rPr>
                        <m:t>+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/>
                                  <a:sym typeface="Symbol" panose="05050102010706020507" pitchFamily="18" charset="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/>
                                  <a:sym typeface="Symbol" panose="05050102010706020507" pitchFamily="18" charset="2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𝒏</m:t>
                          </m:r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𝒃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𝟏</m:t>
                          </m:r>
                        </m:sup>
                      </m:sSup>
                      <m:r>
                        <a:rPr lang="en-US" sz="2000" b="1" i="1">
                          <a:latin typeface="Cambria Math"/>
                          <a:sym typeface="Symbol" panose="05050102010706020507" pitchFamily="18" charset="2"/>
                        </a:rPr>
                        <m:t>+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/>
                                  <a:sym typeface="Symbol" panose="05050102010706020507" pitchFamily="18" charset="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/>
                                  <a:sym typeface="Symbol" panose="05050102010706020507" pitchFamily="18" charset="2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𝒏</m:t>
                          </m:r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𝒃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  <a:sym typeface="Symbol" panose="05050102010706020507" pitchFamily="18" charset="2"/>
                            </a:rPr>
                            <m:t>𝟐</m:t>
                          </m:r>
                        </m:sup>
                      </m:sSup>
                      <m:r>
                        <a:rPr lang="en-US" sz="2000" b="1" i="1">
                          <a:latin typeface="Cambria Math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sz="2000" b="1" i="1">
                          <a:latin typeface="Cambria Math"/>
                          <a:ea typeface="Cambria Math"/>
                          <a:sym typeface="Symbol" panose="05050102010706020507" pitchFamily="18" charset="2"/>
                        </a:rPr>
                        <m:t>⋯+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  <a:sym typeface="Symbol" panose="05050102010706020507" pitchFamily="18" charset="2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  <a:sym typeface="Symbol" panose="05050102010706020507" pitchFamily="18" charset="2"/>
                                </a:rPr>
                                <m:t>𝒏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  <a:sym typeface="Symbol" panose="05050102010706020507" pitchFamily="18" charset="2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  <a:ea typeface="Cambria Math"/>
                                  <a:sym typeface="Symbol" panose="05050102010706020507" pitchFamily="18" charset="2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  <a:sym typeface="Symbol" panose="05050102010706020507" pitchFamily="18" charset="2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  <a:ea typeface="Cambria Math"/>
                              <a:sym typeface="Symbol" panose="05050102010706020507" pitchFamily="18" charset="2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  <a:sym typeface="Symbol" panose="05050102010706020507" pitchFamily="18" charset="2"/>
                            </a:rPr>
                            <m:t>𝒃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  <a:ea typeface="Cambria Math"/>
                              <a:sym typeface="Symbol" panose="05050102010706020507" pitchFamily="18" charset="2"/>
                            </a:rPr>
                            <m:t>𝒏</m:t>
                          </m:r>
                          <m:r>
                            <a:rPr lang="en-US" sz="2000" b="1" i="1">
                              <a:latin typeface="Cambria Math"/>
                              <a:ea typeface="Cambria Math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  <a:ea typeface="Cambria Math"/>
                              <a:sym typeface="Symbol" panose="05050102010706020507" pitchFamily="18" charset="2"/>
                            </a:rPr>
                            <m:t>𝟏</m:t>
                          </m:r>
                        </m:sup>
                      </m:sSup>
                      <m:r>
                        <a:rPr lang="en-US" sz="2000" b="1" i="1">
                          <a:latin typeface="Cambria Math"/>
                          <a:ea typeface="Cambria Math"/>
                          <a:sym typeface="Symbol" panose="05050102010706020507" pitchFamily="18" charset="2"/>
                        </a:rPr>
                        <m:t>+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  <a:sym typeface="Symbol" panose="05050102010706020507" pitchFamily="18" charset="2"/>
                            </a:rPr>
                            <m:t>𝒃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  <a:ea typeface="Cambria Math"/>
                              <a:sym typeface="Symbol" panose="05050102010706020507" pitchFamily="18" charset="2"/>
                            </a:rPr>
                            <m:t>𝒏</m:t>
                          </m:r>
                        </m:sup>
                      </m:sSup>
                    </m:oMath>
                  </a14:m>
                  <a:endParaRPr lang="en-US" sz="2400" b="1" dirty="0"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941" y="5218733"/>
                  <a:ext cx="7737396" cy="1796261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182" t="-2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4515394" y="2820716"/>
            <a:ext cx="5523956" cy="2548120"/>
            <a:chOff x="2991394" y="2820716"/>
            <a:chExt cx="5523956" cy="2548120"/>
          </a:xfrm>
        </p:grpSpPr>
        <p:cxnSp>
          <p:nvCxnSpPr>
            <p:cNvPr id="3" name="Straight Connector 2"/>
            <p:cNvCxnSpPr/>
            <p:nvPr/>
          </p:nvCxnSpPr>
          <p:spPr>
            <a:xfrm flipV="1">
              <a:off x="2991394" y="3239589"/>
              <a:ext cx="1700201" cy="212924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4271554" y="3239589"/>
              <a:ext cx="491732" cy="212924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 flipV="1">
              <a:off x="4915686" y="3360717"/>
              <a:ext cx="1445925" cy="200811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841494" y="2820716"/>
                  <a:ext cx="4673856" cy="5269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/>
                        </a:rPr>
                        <m:t> </m:t>
                      </m:r>
                    </m:oMath>
                  </a14:m>
                  <a:r>
                    <a:rPr lang="en-US" sz="2400" dirty="0"/>
                    <a:t>is called a </a:t>
                  </a:r>
                  <a:r>
                    <a:rPr lang="en-US" sz="2400" dirty="0">
                      <a:solidFill>
                        <a:srgbClr val="0000FF"/>
                      </a:solidFill>
                    </a:rPr>
                    <a:t>binomial coefficient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1494" y="2820716"/>
                  <a:ext cx="4673856" cy="526939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3488" b="-197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1318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79</a:t>
            </a:fld>
            <a:endParaRPr lang="en-SG" dirty="0"/>
          </a:p>
        </p:txBody>
      </p:sp>
      <p:sp>
        <p:nvSpPr>
          <p:cNvPr id="29" name="TextBox 28"/>
          <p:cNvSpPr txBox="1"/>
          <p:nvPr/>
        </p:nvSpPr>
        <p:spPr>
          <a:xfrm>
            <a:off x="1179616" y="136525"/>
            <a:ext cx="10174184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The Binomial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"/>
              <p:cNvSpPr txBox="1">
                <a:spLocks noChangeArrowheads="1"/>
              </p:cNvSpPr>
              <p:nvPr/>
            </p:nvSpPr>
            <p:spPr>
              <a:xfrm>
                <a:off x="2000756" y="1563468"/>
                <a:ext cx="8038595" cy="10288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/>
                  <a:t>Expand the following using the binomial theorem: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339725" algn="l"/>
                    <a:tab pos="3200400" algn="l"/>
                    <a:tab pos="3540125" algn="l"/>
                  </a:tabLst>
                </a:pPr>
                <a:r>
                  <a:rPr lang="en-US" altLang="en-US" dirty="0"/>
                  <a:t>a.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/>
                          </a:rPr>
                          <m:t>(</m:t>
                        </m:r>
                        <m:r>
                          <a:rPr lang="en-US" altLang="en-US" i="1">
                            <a:latin typeface="Cambria Math"/>
                          </a:rPr>
                          <m:t>𝑎</m:t>
                        </m:r>
                        <m:r>
                          <a:rPr lang="en-US" altLang="en-US" i="1">
                            <a:latin typeface="Cambria Math"/>
                          </a:rPr>
                          <m:t>+</m:t>
                        </m:r>
                        <m:r>
                          <a:rPr lang="en-US" altLang="en-US" i="1">
                            <a:latin typeface="Cambria Math"/>
                          </a:rPr>
                          <m:t>𝑏</m:t>
                        </m:r>
                        <m:r>
                          <a:rPr lang="en-US" alt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en-US" i="1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en-US" dirty="0"/>
                  <a:t>	b.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/>
                          </a:rPr>
                          <m:t>(</m:t>
                        </m:r>
                        <m:r>
                          <a:rPr lang="en-US" altLang="en-US" i="1">
                            <a:latin typeface="Cambria Math"/>
                          </a:rPr>
                          <m:t>𝑥</m:t>
                        </m:r>
                        <m:r>
                          <a:rPr lang="en-US" altLang="en-US" i="1">
                            <a:latin typeface="Cambria Math"/>
                          </a:rPr>
                          <m:t>−4</m:t>
                        </m:r>
                        <m:r>
                          <a:rPr lang="en-US" altLang="en-US" i="1">
                            <a:latin typeface="Cambria Math"/>
                          </a:rPr>
                          <m:t>𝑦</m:t>
                        </m:r>
                        <m:r>
                          <a:rPr lang="en-US" alt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en-US" i="1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1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756" y="1563468"/>
                <a:ext cx="8038595" cy="1028888"/>
              </a:xfrm>
              <a:prstGeom prst="rect">
                <a:avLst/>
              </a:prstGeom>
              <a:blipFill>
                <a:blip r:embed="rId3"/>
                <a:stretch>
                  <a:fillRect l="-1516" t="-5325" b="-94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"/>
              <p:cNvSpPr txBox="1">
                <a:spLocks noChangeArrowheads="1"/>
              </p:cNvSpPr>
              <p:nvPr/>
            </p:nvSpPr>
            <p:spPr>
              <a:xfrm>
                <a:off x="1790681" y="3180398"/>
                <a:ext cx="8610638" cy="266236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en-US" sz="2400" dirty="0"/>
                  <a:t>a.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(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𝑎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+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𝑏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en-US" sz="1800" i="1"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US" altLang="en-US" sz="1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1800" i="1">
                              <a:latin typeface="Cambria Math"/>
                            </a:rPr>
                            <m:t>5</m:t>
                          </m:r>
                        </m:sup>
                        <m:e>
                          <m:d>
                            <m:d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1800" i="1"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en-US" sz="1800" i="1">
                                      <a:latin typeface="Cambria Math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altLang="en-US" sz="1800" i="1">
                              <a:latin typeface="Cambria Math"/>
                            </a:rPr>
                            <m:t>5−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  <a:tabLst>
                    <a:tab pos="457200" algn="l"/>
                  </a:tabLst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/>
                      </a:rPr>
                      <m:t>= </m:t>
                    </m:r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US" altLang="en-US" sz="200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000" i="1">
                                <a:latin typeface="Cambria Math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en-US" sz="2000" i="1">
                                <a:latin typeface="Cambria Math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5−1</m:t>
                        </m:r>
                      </m:sup>
                    </m:sSup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altLang="en-US" sz="200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000" i="1">
                                <a:latin typeface="Cambria Math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en-US" sz="20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5−2</m:t>
                        </m:r>
                      </m:sup>
                    </m:sSup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000" i="1">
                                <a:latin typeface="Cambria Math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en-US" sz="2000" i="1">
                                <a:latin typeface="Cambria Math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5−3</m:t>
                        </m:r>
                      </m:sup>
                    </m:sSup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altLang="en-US" sz="200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000" i="1">
                                <a:latin typeface="Cambria Math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en-US" sz="2000" i="1">
                                <a:latin typeface="Cambria Math"/>
                              </a:rPr>
                              <m:t>4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5−4</m:t>
                        </m:r>
                      </m:sup>
                    </m:sSup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altLang="en-US" sz="2000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US" alt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  <a:tabLst>
                    <a:tab pos="457200" algn="l"/>
                  </a:tabLst>
                </a:pPr>
                <a:r>
                  <a:rPr lang="en-US" altLang="en-US" sz="2400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p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5</m:t>
                        </m:r>
                      </m:sup>
                    </m:sSup>
                    <m:r>
                      <a:rPr lang="en-US" altLang="en-US" sz="2400" i="1">
                        <a:latin typeface="Cambria Math"/>
                        <a:ea typeface="Cambria Math"/>
                      </a:rPr>
                      <m:t>+5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p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4</m:t>
                        </m:r>
                      </m:sup>
                    </m:sSup>
                    <m:r>
                      <a:rPr lang="en-US" altLang="en-US" sz="24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en-US" sz="2400" i="1">
                        <a:latin typeface="Cambria Math"/>
                        <a:ea typeface="Cambria Math"/>
                      </a:rPr>
                      <m:t>+10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p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US" altLang="en-US" sz="2400" i="1">
                        <a:latin typeface="Cambria Math"/>
                        <a:ea typeface="Cambria Math"/>
                      </a:rPr>
                      <m:t>+10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p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  <m:r>
                      <a:rPr lang="en-US" altLang="en-US" sz="2400" i="1">
                        <a:latin typeface="Cambria Math"/>
                        <a:ea typeface="Cambria Math"/>
                      </a:rPr>
                      <m:t>+5</m:t>
                    </m:r>
                    <m:r>
                      <a:rPr lang="en-US" altLang="en-US" sz="2400" i="1">
                        <a:latin typeface="Cambria Math"/>
                        <a:ea typeface="Cambria Math"/>
                      </a:rPr>
                      <m:t>𝑎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4</m:t>
                        </m:r>
                      </m:sup>
                    </m:sSup>
                    <m:r>
                      <a:rPr lang="en-US" altLang="en-US" sz="2400" i="1"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r>
                          <a:rPr lang="en-US" altLang="en-US" sz="2400" i="1">
                            <a:latin typeface="Cambria Math"/>
                            <a:ea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US" alt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3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681" y="3180398"/>
                <a:ext cx="8610638" cy="2662361"/>
              </a:xfrm>
              <a:prstGeom prst="rect">
                <a:avLst/>
              </a:prstGeom>
              <a:blipFill>
                <a:blip r:embed="rId4"/>
                <a:stretch>
                  <a:fillRect l="-1133" t="-18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1524000" y="95240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17 – Substituting into the Binomial Theorem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40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80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"/>
              <p:cNvSpPr txBox="1">
                <a:spLocks noChangeArrowheads="1"/>
              </p:cNvSpPr>
              <p:nvPr/>
            </p:nvSpPr>
            <p:spPr>
              <a:xfrm>
                <a:off x="2000756" y="1563468"/>
                <a:ext cx="8038595" cy="10288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/>
                  <a:t>Expand the following using the binomial theorem: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339725" algn="l"/>
                    <a:tab pos="3200400" algn="l"/>
                    <a:tab pos="3540125" algn="l"/>
                  </a:tabLst>
                </a:pPr>
                <a:r>
                  <a:rPr lang="en-US" altLang="en-US" dirty="0"/>
                  <a:t>a.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/>
                          </a:rPr>
                          <m:t>(</m:t>
                        </m:r>
                        <m:r>
                          <a:rPr lang="en-US" altLang="en-US" i="1">
                            <a:latin typeface="Cambria Math"/>
                          </a:rPr>
                          <m:t>𝑎</m:t>
                        </m:r>
                        <m:r>
                          <a:rPr lang="en-US" altLang="en-US" i="1">
                            <a:latin typeface="Cambria Math"/>
                          </a:rPr>
                          <m:t>+</m:t>
                        </m:r>
                        <m:r>
                          <a:rPr lang="en-US" altLang="en-US" i="1">
                            <a:latin typeface="Cambria Math"/>
                          </a:rPr>
                          <m:t>𝑏</m:t>
                        </m:r>
                        <m:r>
                          <a:rPr lang="en-US" alt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en-US" i="1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en-US" dirty="0"/>
                  <a:t>	b.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/>
                          </a:rPr>
                          <m:t>(</m:t>
                        </m:r>
                        <m:r>
                          <a:rPr lang="en-US" altLang="en-US" i="1">
                            <a:latin typeface="Cambria Math"/>
                          </a:rPr>
                          <m:t>𝑥</m:t>
                        </m:r>
                        <m:r>
                          <a:rPr lang="en-US" altLang="en-US" i="1">
                            <a:latin typeface="Cambria Math"/>
                          </a:rPr>
                          <m:t>−4</m:t>
                        </m:r>
                        <m:r>
                          <a:rPr lang="en-US" altLang="en-US" i="1">
                            <a:latin typeface="Cambria Math"/>
                          </a:rPr>
                          <m:t>𝑦</m:t>
                        </m:r>
                        <m:r>
                          <a:rPr lang="en-US" alt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en-US" i="1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1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756" y="1563468"/>
                <a:ext cx="8038595" cy="1028888"/>
              </a:xfrm>
              <a:prstGeom prst="rect">
                <a:avLst/>
              </a:prstGeom>
              <a:blipFill>
                <a:blip r:embed="rId3"/>
                <a:stretch>
                  <a:fillRect l="-1516" t="-5325" b="-94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"/>
              <p:cNvSpPr txBox="1">
                <a:spLocks noChangeArrowheads="1"/>
              </p:cNvSpPr>
              <p:nvPr/>
            </p:nvSpPr>
            <p:spPr>
              <a:xfrm>
                <a:off x="1848357" y="2810977"/>
                <a:ext cx="8610638" cy="266236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en-US" sz="2400" dirty="0"/>
                  <a:t>b.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(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𝑥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−4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𝑦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en-US" sz="1800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altLang="en-US" sz="1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1800" i="1">
                              <a:latin typeface="Cambria Math"/>
                            </a:rPr>
                            <m:t>4</m:t>
                          </m:r>
                        </m:sup>
                        <m:e>
                          <m:d>
                            <m:d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1800" i="1">
                                      <a:latin typeface="Cambria Math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en-US" sz="1800" i="1">
                                      <a:latin typeface="Cambria Math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en-US" sz="1800" i="1">
                              <a:latin typeface="Cambria Math"/>
                            </a:rPr>
                            <m:t>4−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1800" i="1">
                              <a:latin typeface="Cambria Math"/>
                            </a:rPr>
                            <m:t>(−4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𝑦</m:t>
                          </m:r>
                          <m:r>
                            <a:rPr lang="en-US" altLang="en-US" sz="18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en-US" sz="1800" i="1">
                              <a:latin typeface="Cambria Math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  <a:tabLst>
                    <a:tab pos="457200" algn="l"/>
                  </a:tabLst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/>
                      </a:rPr>
                      <m:t>= </m:t>
                    </m:r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altLang="en-US" sz="200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000" i="1">
                                <a:latin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en-US" sz="2000" i="1">
                                <a:latin typeface="Cambria Math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4−1</m:t>
                        </m:r>
                      </m:sup>
                    </m:sSup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(−4</m:t>
                        </m:r>
                        <m:r>
                          <a:rPr lang="en-US" altLang="en-US" sz="2000" i="1">
                            <a:latin typeface="Cambria Math"/>
                          </a:rPr>
                          <m:t>𝑦</m:t>
                        </m:r>
                        <m:r>
                          <a:rPr lang="en-US" altLang="en-US" sz="2000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altLang="en-US" sz="200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000" i="1">
                                <a:latin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en-US" sz="20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4−2</m:t>
                        </m:r>
                      </m:sup>
                    </m:sSup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(−4</m:t>
                        </m:r>
                        <m:r>
                          <a:rPr lang="en-US" altLang="en-US" sz="2000" i="1">
                            <a:latin typeface="Cambria Math"/>
                          </a:rPr>
                          <m:t>𝑦</m:t>
                        </m:r>
                        <m:r>
                          <a:rPr lang="en-US" altLang="en-US" sz="2000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en-US" sz="200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000" i="1">
                                <a:latin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en-US" sz="2000" i="1">
                                <a:latin typeface="Cambria Math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4−3</m:t>
                        </m:r>
                      </m:sup>
                    </m:sSup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(−4</m:t>
                        </m:r>
                        <m:r>
                          <a:rPr lang="en-US" altLang="en-US" sz="2000" i="1">
                            <a:latin typeface="Cambria Math"/>
                          </a:rPr>
                          <m:t>𝑦</m:t>
                        </m:r>
                        <m:r>
                          <a:rPr lang="en-US" altLang="en-US" sz="2000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altLang="en-US" sz="2000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/>
                          </a:rPr>
                          <m:t>(−4</m:t>
                        </m:r>
                        <m:r>
                          <a:rPr lang="en-US" altLang="en-US" sz="2000" i="1">
                            <a:latin typeface="Cambria Math"/>
                          </a:rPr>
                          <m:t>𝑦</m:t>
                        </m:r>
                        <m:r>
                          <a:rPr lang="en-US" altLang="en-US" sz="2000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altLang="en-US" sz="2000" i="1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US" alt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  <a:tabLst>
                    <a:tab pos="457200" algn="l"/>
                  </a:tabLst>
                </a:pPr>
                <a:r>
                  <a:rPr lang="en-US" altLang="en-US" sz="2400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US" alt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3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57" y="2810977"/>
                <a:ext cx="8610638" cy="2662361"/>
              </a:xfrm>
              <a:prstGeom prst="rect">
                <a:avLst/>
              </a:prstGeom>
              <a:blipFill>
                <a:blip r:embed="rId4"/>
                <a:stretch>
                  <a:fillRect l="-1062" t="-183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152400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17 – Substituting into the Binomial Theorem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429221" y="4855432"/>
                <a:ext cx="62007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US" altLang="en-US" sz="2400" i="1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m:t>−16</m:t>
                      </m:r>
                      <m:sSup>
                        <m:sSupPr>
                          <m:ctrlP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  <m:r>
                        <a:rPr lang="en-US" altLang="en-US" sz="2400" i="1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altLang="en-US" sz="2400" i="1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m:t>+96</m:t>
                      </m:r>
                      <m:sSup>
                        <m:sSupPr>
                          <m:ctrlP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en-US" sz="2400" i="1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m:t>−256</m:t>
                      </m:r>
                      <m:r>
                        <a:rPr lang="en-US" altLang="en-US" sz="2400" i="1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m:t>𝑥</m:t>
                      </m:r>
                      <m:sSup>
                        <m:sSupPr>
                          <m:ctrlP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  <m:r>
                        <a:rPr lang="en-US" altLang="en-US" sz="2400" i="1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m:t>+256</m:t>
                      </m:r>
                      <m:sSup>
                        <m:sSupPr>
                          <m:ctrlP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altLang="en-US" sz="2400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221" y="4855432"/>
                <a:ext cx="6200734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5E5F3F3F-1B79-4634-9C69-330267D9B691}"/>
              </a:ext>
            </a:extLst>
          </p:cNvPr>
          <p:cNvSpPr txBox="1"/>
          <p:nvPr/>
        </p:nvSpPr>
        <p:spPr>
          <a:xfrm>
            <a:off x="823356" y="45351"/>
            <a:ext cx="10174184" cy="61106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3600" dirty="0">
                <a:solidFill>
                  <a:schemeClr val="bg1"/>
                </a:solidFill>
              </a:rPr>
              <a:t>The Binomial Theorem</a:t>
            </a:r>
          </a:p>
        </p:txBody>
      </p:sp>
    </p:spTree>
    <p:extLst>
      <p:ext uri="{BB962C8B-B14F-4D97-AF65-F5344CB8AC3E}">
        <p14:creationId xmlns:p14="http://schemas.microsoft.com/office/powerpoint/2010/main" val="225593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81</a:t>
            </a:fld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5D5C1-E8A6-49A4-BAC5-85ABEB9D2837}"/>
              </a:ext>
            </a:extLst>
          </p:cNvPr>
          <p:cNvSpPr txBox="1"/>
          <p:nvPr/>
        </p:nvSpPr>
        <p:spPr>
          <a:xfrm>
            <a:off x="3716307" y="2937401"/>
            <a:ext cx="50358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400" b="1" dirty="0">
                <a:solidFill>
                  <a:srgbClr val="2429E4"/>
                </a:solidFill>
              </a:rPr>
              <a:t>End of  Unit 10</a:t>
            </a:r>
            <a:endParaRPr lang="en-SG" sz="4400" b="1" dirty="0"/>
          </a:p>
        </p:txBody>
      </p:sp>
    </p:spTree>
    <p:extLst>
      <p:ext uri="{BB962C8B-B14F-4D97-AF65-F5344CB8AC3E}">
        <p14:creationId xmlns:p14="http://schemas.microsoft.com/office/powerpoint/2010/main" val="418871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1703</TotalTime>
  <Words>6451</Words>
  <Application>Microsoft Office PowerPoint</Application>
  <PresentationFormat>Widescreen</PresentationFormat>
  <Paragraphs>742</Paragraphs>
  <Slides>81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MATH221 Mathematics for Computer Science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 Hee Beng Kuan</dc:creator>
  <cp:lastModifiedBy>Hee Beng Kuan Tan</cp:lastModifiedBy>
  <cp:revision>138</cp:revision>
  <cp:lastPrinted>2020-12-30T08:34:34Z</cp:lastPrinted>
  <dcterms:created xsi:type="dcterms:W3CDTF">2019-11-15T10:12:25Z</dcterms:created>
  <dcterms:modified xsi:type="dcterms:W3CDTF">2020-12-30T08:34:40Z</dcterms:modified>
</cp:coreProperties>
</file>