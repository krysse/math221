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589" r:id="rId2"/>
    <p:sldId id="257" r:id="rId3"/>
    <p:sldId id="592" r:id="rId4"/>
    <p:sldId id="598" r:id="rId5"/>
    <p:sldId id="599" r:id="rId6"/>
    <p:sldId id="597" r:id="rId7"/>
    <p:sldId id="398" r:id="rId8"/>
    <p:sldId id="542" r:id="rId9"/>
    <p:sldId id="543" r:id="rId10"/>
    <p:sldId id="455" r:id="rId11"/>
    <p:sldId id="544" r:id="rId12"/>
    <p:sldId id="514" r:id="rId13"/>
    <p:sldId id="545" r:id="rId14"/>
    <p:sldId id="456" r:id="rId15"/>
    <p:sldId id="420" r:id="rId16"/>
    <p:sldId id="546" r:id="rId17"/>
    <p:sldId id="593" r:id="rId18"/>
    <p:sldId id="550" r:id="rId19"/>
    <p:sldId id="551" r:id="rId20"/>
    <p:sldId id="552" r:id="rId21"/>
    <p:sldId id="553" r:id="rId22"/>
    <p:sldId id="554" r:id="rId23"/>
    <p:sldId id="564" r:id="rId24"/>
    <p:sldId id="590" r:id="rId25"/>
    <p:sldId id="555" r:id="rId26"/>
    <p:sldId id="556" r:id="rId27"/>
    <p:sldId id="558" r:id="rId28"/>
    <p:sldId id="562" r:id="rId29"/>
    <p:sldId id="561" r:id="rId30"/>
    <p:sldId id="563" r:id="rId31"/>
    <p:sldId id="565" r:id="rId32"/>
    <p:sldId id="566" r:id="rId33"/>
    <p:sldId id="567" r:id="rId34"/>
    <p:sldId id="568" r:id="rId35"/>
    <p:sldId id="569" r:id="rId36"/>
    <p:sldId id="559" r:id="rId37"/>
    <p:sldId id="570" r:id="rId38"/>
    <p:sldId id="571" r:id="rId39"/>
    <p:sldId id="572" r:id="rId40"/>
    <p:sldId id="573" r:id="rId41"/>
    <p:sldId id="574" r:id="rId42"/>
    <p:sldId id="578" r:id="rId43"/>
    <p:sldId id="579" r:id="rId44"/>
    <p:sldId id="580" r:id="rId45"/>
    <p:sldId id="581" r:id="rId46"/>
    <p:sldId id="586" r:id="rId47"/>
    <p:sldId id="588" r:id="rId48"/>
    <p:sldId id="587" r:id="rId49"/>
    <p:sldId id="583" r:id="rId50"/>
    <p:sldId id="582" r:id="rId51"/>
    <p:sldId id="584" r:id="rId52"/>
    <p:sldId id="585" r:id="rId53"/>
    <p:sldId id="595" r:id="rId54"/>
    <p:sldId id="596" r:id="rId55"/>
    <p:sldId id="412" r:id="rId56"/>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1B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95" d="100"/>
          <a:sy n="95" d="100"/>
        </p:scale>
        <p:origin x="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3E5EDE30-E61C-44D9-80B0-A27268B34339}" type="datetimeFigureOut">
              <a:rPr lang="en-SG" smtClean="0"/>
              <a:t>5/1/2021</a:t>
            </a:fld>
            <a:endParaRPr lang="en-SG"/>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AC283E2-B821-4922-8B09-1B555FFD542C}" type="slidenum">
              <a:rPr lang="en-SG" smtClean="0"/>
              <a:t>‹#›</a:t>
            </a:fld>
            <a:endParaRPr lang="en-SG"/>
          </a:p>
        </p:txBody>
      </p:sp>
    </p:spTree>
    <p:extLst>
      <p:ext uri="{BB962C8B-B14F-4D97-AF65-F5344CB8AC3E}">
        <p14:creationId xmlns:p14="http://schemas.microsoft.com/office/powerpoint/2010/main" val="3246938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7E58ED11-1C96-4E38-8142-192CFA81C82D}"/>
              </a:ext>
            </a:extLst>
          </p:cNvPr>
          <p:cNvSpPr>
            <a:spLocks noGrp="1" noRot="1" noChangeAspect="1" noChangeArrowheads="1" noTextEdit="1"/>
          </p:cNvSpPr>
          <p:nvPr>
            <p:ph type="sldImg"/>
          </p:nvPr>
        </p:nvSpPr>
        <p:spPr>
          <a:ln/>
        </p:spPr>
      </p:sp>
      <p:sp>
        <p:nvSpPr>
          <p:cNvPr id="51203" name="Notes Placeholder 2">
            <a:extLst>
              <a:ext uri="{FF2B5EF4-FFF2-40B4-BE49-F238E27FC236}">
                <a16:creationId xmlns:a16="http://schemas.microsoft.com/office/drawing/2014/main" id="{F41EE778-F6ED-4863-B8FF-B4DF0CFD8F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a:latin typeface="Arial" panose="020B0604020202020204" pitchFamily="34" charset="0"/>
              <a:cs typeface="Arial" panose="020B0604020202020204" pitchFamily="34" charset="0"/>
            </a:endParaRPr>
          </a:p>
        </p:txBody>
      </p:sp>
      <p:sp>
        <p:nvSpPr>
          <p:cNvPr id="51204" name="Slide Number Placeholder 3">
            <a:extLst>
              <a:ext uri="{FF2B5EF4-FFF2-40B4-BE49-F238E27FC236}">
                <a16:creationId xmlns:a16="http://schemas.microsoft.com/office/drawing/2014/main" id="{FDD7B527-0C7F-41E9-BAF2-04A0516E3D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38CEB9F-A45F-4F05-B1E2-65A98665D3E8}" type="slidenum">
              <a:rPr lang="en-GB" altLang="en-US" smtClean="0"/>
              <a:pPr>
                <a:spcBef>
                  <a:spcPct val="0"/>
                </a:spcBef>
              </a:pPr>
              <a:t>42</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092D-4212-41CF-BF58-D9DD36DA555E}"/>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SG"/>
          </a:p>
        </p:txBody>
      </p:sp>
      <p:sp>
        <p:nvSpPr>
          <p:cNvPr id="3" name="Subtitle 2">
            <a:extLst>
              <a:ext uri="{FF2B5EF4-FFF2-40B4-BE49-F238E27FC236}">
                <a16:creationId xmlns:a16="http://schemas.microsoft.com/office/drawing/2014/main" id="{D7C2C51A-A0A3-4FD3-8F46-E03A7F11F792}"/>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4B1172D8-D585-4692-9D91-2611A81231D5}"/>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7E792D4-042D-4750-B5E2-5B509CD172C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B864761-5428-44D3-9DE1-9809D14FFB8A}"/>
              </a:ext>
            </a:extLst>
          </p:cNvPr>
          <p:cNvSpPr>
            <a:spLocks noGrp="1"/>
          </p:cNvSpPr>
          <p:nvPr>
            <p:ph type="sldNum" sz="quarter" idx="12"/>
          </p:nvPr>
        </p:nvSpPr>
        <p:spPr/>
        <p:txBody>
          <a:bodyPr/>
          <a:lstStyle/>
          <a:p>
            <a:pPr>
              <a:defRPr/>
            </a:pPr>
            <a:fld id="{6D6C4D71-B334-403F-B5E1-784B25D8624C}" type="slidenum">
              <a:rPr lang="en-GB" altLang="en-US" smtClean="0"/>
              <a:pPr>
                <a:defRPr/>
              </a:pPr>
              <a:t>‹#›</a:t>
            </a:fld>
            <a:endParaRPr lang="en-GB" altLang="en-US"/>
          </a:p>
        </p:txBody>
      </p:sp>
    </p:spTree>
    <p:extLst>
      <p:ext uri="{BB962C8B-B14F-4D97-AF65-F5344CB8AC3E}">
        <p14:creationId xmlns:p14="http://schemas.microsoft.com/office/powerpoint/2010/main" val="425048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700C-F714-4CB9-A6DE-FAA2183FCE3C}"/>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09C0618-233F-4B2C-A1A2-ECE9BE94D8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638E7D6-94D8-4184-BE5C-E4DB5077D72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27243B7-0D58-4351-A372-0F4C7638261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F41C7699-4F3C-4117-85F4-C4207892AA6A}"/>
              </a:ext>
            </a:extLst>
          </p:cNvPr>
          <p:cNvSpPr>
            <a:spLocks noGrp="1"/>
          </p:cNvSpPr>
          <p:nvPr>
            <p:ph type="sldNum" sz="quarter" idx="12"/>
          </p:nvPr>
        </p:nvSpPr>
        <p:spPr/>
        <p:txBody>
          <a:bodyPr/>
          <a:lstStyle/>
          <a:p>
            <a:pPr>
              <a:defRPr/>
            </a:pPr>
            <a:fld id="{A411E565-5AAE-4302-9D71-D55C9A5ED4B5}" type="slidenum">
              <a:rPr lang="en-GB" altLang="en-US" smtClean="0"/>
              <a:pPr>
                <a:defRPr/>
              </a:pPr>
              <a:t>‹#›</a:t>
            </a:fld>
            <a:endParaRPr lang="en-GB" altLang="en-US"/>
          </a:p>
        </p:txBody>
      </p:sp>
    </p:spTree>
    <p:extLst>
      <p:ext uri="{BB962C8B-B14F-4D97-AF65-F5344CB8AC3E}">
        <p14:creationId xmlns:p14="http://schemas.microsoft.com/office/powerpoint/2010/main" val="2614756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0F477-AFB0-4DE5-9B97-AB4AACC3ED89}"/>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741F83BD-BAF6-4477-B5D5-28CD1A7985EC}"/>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265DC7-745D-4A1A-8862-A0281CEAC96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502A01F5-1453-4310-A706-91F07CD2C69D}"/>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84985D44-875F-4BE8-B893-12C1D9647668}"/>
              </a:ext>
            </a:extLst>
          </p:cNvPr>
          <p:cNvSpPr>
            <a:spLocks noGrp="1"/>
          </p:cNvSpPr>
          <p:nvPr>
            <p:ph type="sldNum" sz="quarter" idx="12"/>
          </p:nvPr>
        </p:nvSpPr>
        <p:spPr/>
        <p:txBody>
          <a:bodyPr/>
          <a:lstStyle/>
          <a:p>
            <a:pPr>
              <a:defRPr/>
            </a:pPr>
            <a:fld id="{6F9A738D-4EDA-4D70-99E5-9A08BD4183DE}" type="slidenum">
              <a:rPr lang="en-GB" altLang="en-US" smtClean="0"/>
              <a:pPr>
                <a:defRPr/>
              </a:pPr>
              <a:t>‹#›</a:t>
            </a:fld>
            <a:endParaRPr lang="en-GB" altLang="en-US"/>
          </a:p>
        </p:txBody>
      </p:sp>
    </p:spTree>
    <p:extLst>
      <p:ext uri="{BB962C8B-B14F-4D97-AF65-F5344CB8AC3E}">
        <p14:creationId xmlns:p14="http://schemas.microsoft.com/office/powerpoint/2010/main" val="2576547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5DFB-A478-4FFD-BF7D-5260955DA49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3B3062F-1A40-45E0-ABDB-5EE1C9ADD9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CF2E0206-64F0-4280-8310-265D514CD4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1EB574C2-E648-49F7-8122-46DDA1647F17}"/>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F77D6C3-A20E-4A9F-BE71-4F798A3F506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9E2BF6A-1001-4397-BF26-5B12A8AF1A7C}"/>
              </a:ext>
            </a:extLst>
          </p:cNvPr>
          <p:cNvSpPr>
            <a:spLocks noGrp="1"/>
          </p:cNvSpPr>
          <p:nvPr>
            <p:ph type="sldNum" sz="quarter" idx="12"/>
          </p:nvPr>
        </p:nvSpPr>
        <p:spPr/>
        <p:txBody>
          <a:bodyPr/>
          <a:lstStyle/>
          <a:p>
            <a:pPr>
              <a:defRPr/>
            </a:pPr>
            <a:fld id="{2FF4DE9E-8CB3-4855-93F4-6FA7E56E3938}" type="slidenum">
              <a:rPr lang="en-GB" altLang="en-US" smtClean="0"/>
              <a:pPr>
                <a:defRPr/>
              </a:pPr>
              <a:t>‹#›</a:t>
            </a:fld>
            <a:endParaRPr lang="en-GB" altLang="en-US"/>
          </a:p>
        </p:txBody>
      </p:sp>
    </p:spTree>
    <p:extLst>
      <p:ext uri="{BB962C8B-B14F-4D97-AF65-F5344CB8AC3E}">
        <p14:creationId xmlns:p14="http://schemas.microsoft.com/office/powerpoint/2010/main" val="3351971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C1B0-64FF-4FE5-BC51-9D08A0B4F60A}"/>
              </a:ext>
            </a:extLst>
          </p:cNvPr>
          <p:cNvSpPr>
            <a:spLocks noGrp="1"/>
          </p:cNvSpPr>
          <p:nvPr>
            <p:ph type="title"/>
          </p:nvPr>
        </p:nvSpPr>
        <p:spPr>
          <a:xfrm>
            <a:off x="839788" y="365127"/>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31E9A8D-8032-45BA-ADBC-C26CB8D9E2AB}"/>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A37F984-43E2-481C-911A-724E9B088802}"/>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8DC9F5BD-2573-41D8-97C4-09499303EE78}"/>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5D28118-F8C2-4DA7-B2F9-E38D4A4F26AF}"/>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C80D3BB3-4B72-4958-BF80-8C2CBB7B398B}"/>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8BE271BB-7CE0-47A6-9CB3-0B88610DB733}"/>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B67B3BB3-6B4F-4352-889B-265D07A15F14}"/>
              </a:ext>
            </a:extLst>
          </p:cNvPr>
          <p:cNvSpPr>
            <a:spLocks noGrp="1"/>
          </p:cNvSpPr>
          <p:nvPr>
            <p:ph type="sldNum" sz="quarter" idx="12"/>
          </p:nvPr>
        </p:nvSpPr>
        <p:spPr/>
        <p:txBody>
          <a:bodyPr/>
          <a:lstStyle/>
          <a:p>
            <a:pPr>
              <a:defRPr/>
            </a:pPr>
            <a:fld id="{3B3F6EF9-7981-486B-BC8C-C082F2CA500D}" type="slidenum">
              <a:rPr lang="en-GB" altLang="en-US" smtClean="0"/>
              <a:pPr>
                <a:defRPr/>
              </a:pPr>
              <a:t>‹#›</a:t>
            </a:fld>
            <a:endParaRPr lang="en-GB" altLang="en-US"/>
          </a:p>
        </p:txBody>
      </p:sp>
    </p:spTree>
    <p:extLst>
      <p:ext uri="{BB962C8B-B14F-4D97-AF65-F5344CB8AC3E}">
        <p14:creationId xmlns:p14="http://schemas.microsoft.com/office/powerpoint/2010/main" val="2890020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14F70-B809-4C2A-AE89-BB4D9B050AEA}"/>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6F62E6DB-76B6-4498-8D71-E62724108522}"/>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5B62BBF7-993F-4B93-95AA-3BA6F428618E}"/>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4E50F5F1-1BC0-476E-A4EF-23F19F2EB33F}"/>
              </a:ext>
            </a:extLst>
          </p:cNvPr>
          <p:cNvSpPr>
            <a:spLocks noGrp="1"/>
          </p:cNvSpPr>
          <p:nvPr>
            <p:ph type="sldNum" sz="quarter" idx="12"/>
          </p:nvPr>
        </p:nvSpPr>
        <p:spPr/>
        <p:txBody>
          <a:bodyPr/>
          <a:lstStyle/>
          <a:p>
            <a:pPr>
              <a:defRPr/>
            </a:pPr>
            <a:fld id="{EA89950C-F960-494B-8332-BACE3F02B25A}" type="slidenum">
              <a:rPr lang="en-GB" altLang="en-US" smtClean="0"/>
              <a:pPr>
                <a:defRPr/>
              </a:pPr>
              <a:t>‹#›</a:t>
            </a:fld>
            <a:endParaRPr lang="en-GB" altLang="en-US"/>
          </a:p>
        </p:txBody>
      </p:sp>
    </p:spTree>
    <p:extLst>
      <p:ext uri="{BB962C8B-B14F-4D97-AF65-F5344CB8AC3E}">
        <p14:creationId xmlns:p14="http://schemas.microsoft.com/office/powerpoint/2010/main" val="1529879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3721A3-DE04-4B30-8C39-849471D97CAC}"/>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6E908AA2-753B-4744-9783-BBF538498AF4}"/>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4AD0A969-F139-4CD5-862F-947ED9781FED}"/>
              </a:ext>
            </a:extLst>
          </p:cNvPr>
          <p:cNvSpPr>
            <a:spLocks noGrp="1"/>
          </p:cNvSpPr>
          <p:nvPr>
            <p:ph type="sldNum" sz="quarter" idx="12"/>
          </p:nvPr>
        </p:nvSpPr>
        <p:spPr/>
        <p:txBody>
          <a:bodyPr/>
          <a:lstStyle/>
          <a:p>
            <a:pPr>
              <a:defRPr/>
            </a:pPr>
            <a:fld id="{22FEA832-A6AE-4E78-BBE9-18366D9CFBC2}" type="slidenum">
              <a:rPr lang="en-GB" altLang="en-US" smtClean="0"/>
              <a:pPr>
                <a:defRPr/>
              </a:pPr>
              <a:t>‹#›</a:t>
            </a:fld>
            <a:endParaRPr lang="en-GB" altLang="en-US"/>
          </a:p>
        </p:txBody>
      </p:sp>
    </p:spTree>
    <p:extLst>
      <p:ext uri="{BB962C8B-B14F-4D97-AF65-F5344CB8AC3E}">
        <p14:creationId xmlns:p14="http://schemas.microsoft.com/office/powerpoint/2010/main" val="3723140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4E15D-2854-4C12-8F24-42FC98E76C8C}"/>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48D6F1A4-6545-48F4-B4FE-67159C0E19C5}"/>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26A9DA3A-931D-4C44-A363-880A26058EA4}"/>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E8EE96C-9C19-4A39-A358-2C659C1D204A}"/>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44B4BB42-803B-496C-A4EE-FB9AB303B4F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742F4BC-E10F-4E6A-AC39-937C255BF231}"/>
              </a:ext>
            </a:extLst>
          </p:cNvPr>
          <p:cNvSpPr>
            <a:spLocks noGrp="1"/>
          </p:cNvSpPr>
          <p:nvPr>
            <p:ph type="sldNum" sz="quarter" idx="12"/>
          </p:nvPr>
        </p:nvSpPr>
        <p:spPr/>
        <p:txBody>
          <a:bodyPr/>
          <a:lstStyle/>
          <a:p>
            <a:pPr>
              <a:defRPr/>
            </a:pPr>
            <a:fld id="{8747A975-8FA5-4E55-960C-663ABF069E4B}" type="slidenum">
              <a:rPr lang="en-GB" altLang="en-US" smtClean="0"/>
              <a:pPr>
                <a:defRPr/>
              </a:pPr>
              <a:t>‹#›</a:t>
            </a:fld>
            <a:endParaRPr lang="en-GB" altLang="en-US"/>
          </a:p>
        </p:txBody>
      </p:sp>
    </p:spTree>
    <p:extLst>
      <p:ext uri="{BB962C8B-B14F-4D97-AF65-F5344CB8AC3E}">
        <p14:creationId xmlns:p14="http://schemas.microsoft.com/office/powerpoint/2010/main" val="698568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EB3B2-F5BE-4E8C-B534-BD05A90140B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E76A587-BD4A-4D67-9383-22E61D3E0840}"/>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SG"/>
          </a:p>
        </p:txBody>
      </p:sp>
      <p:sp>
        <p:nvSpPr>
          <p:cNvPr id="4" name="Text Placeholder 3">
            <a:extLst>
              <a:ext uri="{FF2B5EF4-FFF2-40B4-BE49-F238E27FC236}">
                <a16:creationId xmlns:a16="http://schemas.microsoft.com/office/drawing/2014/main" id="{EE05BF78-BBA5-482E-881C-2BEFCEFE82FD}"/>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1DED3DA-6328-42F7-9772-313E1945ECA3}"/>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770EF7E6-8603-4D2C-BC4B-39764680F5EA}"/>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B7BDC209-97B1-4C28-A1B3-E345642DEC2C}"/>
              </a:ext>
            </a:extLst>
          </p:cNvPr>
          <p:cNvSpPr>
            <a:spLocks noGrp="1"/>
          </p:cNvSpPr>
          <p:nvPr>
            <p:ph type="sldNum" sz="quarter" idx="12"/>
          </p:nvPr>
        </p:nvSpPr>
        <p:spPr/>
        <p:txBody>
          <a:bodyPr/>
          <a:lstStyle/>
          <a:p>
            <a:pPr>
              <a:defRPr/>
            </a:pPr>
            <a:fld id="{E92F6AE3-965C-4549-B78A-B228D0AC5637}" type="slidenum">
              <a:rPr lang="en-GB" altLang="en-US" smtClean="0"/>
              <a:pPr>
                <a:defRPr/>
              </a:pPr>
              <a:t>‹#›</a:t>
            </a:fld>
            <a:endParaRPr lang="en-GB" altLang="en-US"/>
          </a:p>
        </p:txBody>
      </p:sp>
    </p:spTree>
    <p:extLst>
      <p:ext uri="{BB962C8B-B14F-4D97-AF65-F5344CB8AC3E}">
        <p14:creationId xmlns:p14="http://schemas.microsoft.com/office/powerpoint/2010/main" val="388530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9B95-54BB-4331-A774-CD8FC64650E1}"/>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D128831-7175-4364-A195-76AB238C5C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04FB213-8116-4139-8B50-4A670938EFFA}"/>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C1D4B3E-2958-4B36-84CE-BE7C429A8403}"/>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FE40EC9-7377-4159-A79B-D9EAE3D8F137}"/>
              </a:ext>
            </a:extLst>
          </p:cNvPr>
          <p:cNvSpPr>
            <a:spLocks noGrp="1"/>
          </p:cNvSpPr>
          <p:nvPr>
            <p:ph type="sldNum" sz="quarter" idx="12"/>
          </p:nvPr>
        </p:nvSpPr>
        <p:spPr/>
        <p:txBody>
          <a:bodyPr/>
          <a:lstStyle/>
          <a:p>
            <a:pPr>
              <a:defRPr/>
            </a:pPr>
            <a:fld id="{4D7B34FA-59D9-4ACB-BD9D-0D523E70916B}" type="slidenum">
              <a:rPr lang="en-GB" altLang="en-US" smtClean="0"/>
              <a:pPr>
                <a:defRPr/>
              </a:pPr>
              <a:t>‹#›</a:t>
            </a:fld>
            <a:endParaRPr lang="en-GB" altLang="en-US"/>
          </a:p>
        </p:txBody>
      </p:sp>
    </p:spTree>
    <p:extLst>
      <p:ext uri="{BB962C8B-B14F-4D97-AF65-F5344CB8AC3E}">
        <p14:creationId xmlns:p14="http://schemas.microsoft.com/office/powerpoint/2010/main" val="3182281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F335B5-A253-40F7-86CA-16B24ADF530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E88BFC03-01C4-415B-97CE-660BC35EF4B1}"/>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3F2660B-5AAD-4620-85B5-5A444A1CFAD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066E3F84-40D0-4C09-9912-EA5E78DB335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424685B7-892C-432C-9751-CEAF3A553693}"/>
              </a:ext>
            </a:extLst>
          </p:cNvPr>
          <p:cNvSpPr>
            <a:spLocks noGrp="1"/>
          </p:cNvSpPr>
          <p:nvPr>
            <p:ph type="sldNum" sz="quarter" idx="12"/>
          </p:nvPr>
        </p:nvSpPr>
        <p:spPr/>
        <p:txBody>
          <a:bodyPr/>
          <a:lstStyle/>
          <a:p>
            <a:pPr>
              <a:defRPr/>
            </a:pPr>
            <a:fld id="{2B805C72-34DF-4ED0-B468-302846DA4E88}" type="slidenum">
              <a:rPr lang="en-GB" altLang="en-US" smtClean="0"/>
              <a:pPr>
                <a:defRPr/>
              </a:pPr>
              <a:t>‹#›</a:t>
            </a:fld>
            <a:endParaRPr lang="en-GB" altLang="en-US"/>
          </a:p>
        </p:txBody>
      </p:sp>
    </p:spTree>
    <p:extLst>
      <p:ext uri="{BB962C8B-B14F-4D97-AF65-F5344CB8AC3E}">
        <p14:creationId xmlns:p14="http://schemas.microsoft.com/office/powerpoint/2010/main" val="3032484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DEEC4C0-77B7-4922-9202-18301C2E9711}"/>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7488B316-33DA-4210-B1F5-88B85CC2ED2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9324A8CE-3278-4122-80C3-2DE21A9A8F2E}"/>
              </a:ext>
            </a:extLst>
          </p:cNvPr>
          <p:cNvSpPr>
            <a:spLocks noGrp="1" noChangeArrowheads="1"/>
          </p:cNvSpPr>
          <p:nvPr>
            <p:ph type="sldNum" sz="quarter" idx="12"/>
          </p:nvPr>
        </p:nvSpPr>
        <p:spPr>
          <a:ln/>
        </p:spPr>
        <p:txBody>
          <a:bodyPr/>
          <a:lstStyle>
            <a:lvl1pPr>
              <a:defRPr/>
            </a:lvl1pPr>
          </a:lstStyle>
          <a:p>
            <a:pPr>
              <a:defRPr/>
            </a:pPr>
            <a:fld id="{08C86957-FA14-4D02-AB94-D3FD2C72E62D}" type="slidenum">
              <a:rPr lang="en-GB" altLang="en-US"/>
              <a:pPr>
                <a:defRPr/>
              </a:pPr>
              <a:t>‹#›</a:t>
            </a:fld>
            <a:endParaRPr lang="en-GB" altLang="en-US"/>
          </a:p>
        </p:txBody>
      </p:sp>
    </p:spTree>
    <p:extLst>
      <p:ext uri="{BB962C8B-B14F-4D97-AF65-F5344CB8AC3E}">
        <p14:creationId xmlns:p14="http://schemas.microsoft.com/office/powerpoint/2010/main" val="498600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062B0-CA3A-4DE4-BF60-A978F473424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0D684E3D-0147-49FB-810C-58630EEAC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DCB51C0C-74FC-4C9B-83FC-B62973961A0D}"/>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B22A19FD-2E16-43A8-B64C-C4F7B5010F3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0F0FD751-A9E0-47BE-89A1-15AA161B189B}"/>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A8A0BD3-8906-4742-8599-DF7C93EAD45E}" type="slidenum">
              <a:rPr lang="en-GB" altLang="en-US" smtClean="0"/>
              <a:pPr>
                <a:defRPr/>
              </a:pPr>
              <a:t>‹#›</a:t>
            </a:fld>
            <a:endParaRPr lang="en-GB" altLang="en-US"/>
          </a:p>
        </p:txBody>
      </p:sp>
    </p:spTree>
    <p:extLst>
      <p:ext uri="{BB962C8B-B14F-4D97-AF65-F5344CB8AC3E}">
        <p14:creationId xmlns:p14="http://schemas.microsoft.com/office/powerpoint/2010/main" val="34475950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A7CFD8D2-76A8-4656-87F2-9BD95F4C4A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AFDC763-F69E-47F2-9814-5F47EC779A96}" type="slidenum">
              <a:rPr lang="en-GB" altLang="en-US" sz="1400">
                <a:latin typeface="Arial" panose="020B0604020202020204" pitchFamily="34" charset="0"/>
                <a:cs typeface="Arial" panose="020B0604020202020204" pitchFamily="34" charset="0"/>
              </a:rPr>
              <a:pPr>
                <a:spcBef>
                  <a:spcPct val="0"/>
                </a:spcBef>
                <a:buFontTx/>
                <a:buNone/>
              </a:pPr>
              <a:t>1</a:t>
            </a:fld>
            <a:endParaRPr lang="en-GB" altLang="en-US" sz="1400">
              <a:latin typeface="Arial" panose="020B0604020202020204" pitchFamily="34" charset="0"/>
              <a:cs typeface="Arial" panose="020B0604020202020204" pitchFamily="34" charset="0"/>
            </a:endParaRPr>
          </a:p>
        </p:txBody>
      </p:sp>
      <p:sp>
        <p:nvSpPr>
          <p:cNvPr id="4099" name="Rectangle 2">
            <a:extLst>
              <a:ext uri="{FF2B5EF4-FFF2-40B4-BE49-F238E27FC236}">
                <a16:creationId xmlns:a16="http://schemas.microsoft.com/office/drawing/2014/main" id="{918E50E4-9026-4C74-B0AF-C14CB01461AF}"/>
              </a:ext>
            </a:extLst>
          </p:cNvPr>
          <p:cNvSpPr>
            <a:spLocks noGrp="1" noChangeArrowheads="1"/>
          </p:cNvSpPr>
          <p:nvPr>
            <p:ph type="ctrTitle"/>
          </p:nvPr>
        </p:nvSpPr>
        <p:spPr>
          <a:xfrm>
            <a:off x="1014620" y="136523"/>
            <a:ext cx="9650411" cy="1995488"/>
          </a:xfrm>
        </p:spPr>
        <p:txBody>
          <a:bodyPr/>
          <a:lstStyle/>
          <a:p>
            <a:pPr eaLnBrk="1" hangingPunct="1"/>
            <a:r>
              <a:rPr lang="en-US" altLang="en-US" b="1" u="sng" dirty="0">
                <a:solidFill>
                  <a:srgbClr val="171BAD"/>
                </a:solidFill>
                <a:latin typeface="Times New Roman" panose="02020603050405020304" pitchFamily="18" charset="0"/>
                <a:cs typeface="Times New Roman" panose="02020603050405020304" pitchFamily="18" charset="0"/>
              </a:rPr>
              <a:t>MATH221</a:t>
            </a:r>
            <a:br>
              <a:rPr lang="en-US" altLang="en-US" b="1" dirty="0">
                <a:solidFill>
                  <a:schemeClr val="folHlink"/>
                </a:solidFill>
                <a:latin typeface="Times New Roman" panose="02020603050405020304" pitchFamily="18" charset="0"/>
                <a:cs typeface="Times New Roman" panose="02020603050405020304" pitchFamily="18" charset="0"/>
              </a:rPr>
            </a:br>
            <a:r>
              <a:rPr lang="en-US" altLang="en-US" b="1" dirty="0">
                <a:solidFill>
                  <a:srgbClr val="171BAD"/>
                </a:solidFill>
                <a:latin typeface="Times New Roman" panose="02020603050405020304" pitchFamily="18" charset="0"/>
                <a:cs typeface="Times New Roman" panose="02020603050405020304" pitchFamily="18" charset="0"/>
              </a:rPr>
              <a:t>Mathematics for Computer Science</a:t>
            </a:r>
            <a:endParaRPr lang="en-GB" altLang="en-US" b="1" dirty="0">
              <a:solidFill>
                <a:srgbClr val="171BAD"/>
              </a:solidFill>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D39CEFFF-1C1A-4318-81FC-43EDFF82341B}"/>
              </a:ext>
            </a:extLst>
          </p:cNvPr>
          <p:cNvSpPr txBox="1">
            <a:spLocks noChangeArrowheads="1"/>
          </p:cNvSpPr>
          <p:nvPr/>
        </p:nvSpPr>
        <p:spPr bwMode="auto">
          <a:xfrm>
            <a:off x="1559626" y="3619976"/>
            <a:ext cx="8783638" cy="1470025"/>
          </a:xfrm>
          <a:prstGeom prst="rect">
            <a:avLst/>
          </a:prstGeom>
          <a:noFill/>
          <a:ln>
            <a:noFill/>
          </a:ln>
        </p:spPr>
        <p:txBody>
          <a:bodyPr anchor="ctr"/>
          <a:lstStyle>
            <a:lvl1pPr algn="ctr" rtl="0" eaLnBrk="0" fontAlgn="base" hangingPunct="0">
              <a:spcBef>
                <a:spcPct val="0"/>
              </a:spcBef>
              <a:spcAft>
                <a:spcPct val="0"/>
              </a:spcAft>
              <a:defRPr sz="4400">
                <a:solidFill>
                  <a:schemeClr val="tx2"/>
                </a:solidFill>
                <a:latin typeface="+mj-lt"/>
                <a:ea typeface="Arial" pitchFamily="-109" charset="0"/>
                <a:cs typeface="+mj-cs"/>
              </a:defRPr>
            </a:lvl1pPr>
            <a:lvl2pPr algn="ctr" rtl="0" eaLnBrk="0" fontAlgn="base" hangingPunct="0">
              <a:spcBef>
                <a:spcPct val="0"/>
              </a:spcBef>
              <a:spcAft>
                <a:spcPct val="0"/>
              </a:spcAft>
              <a:defRPr sz="4400">
                <a:solidFill>
                  <a:schemeClr val="tx2"/>
                </a:solidFill>
                <a:latin typeface="Arial" charset="0"/>
                <a:ea typeface="Arial" pitchFamily="-109" charset="0"/>
                <a:cs typeface="Arial" charset="0"/>
              </a:defRPr>
            </a:lvl2pPr>
            <a:lvl3pPr algn="ctr" rtl="0" eaLnBrk="0" fontAlgn="base" hangingPunct="0">
              <a:spcBef>
                <a:spcPct val="0"/>
              </a:spcBef>
              <a:spcAft>
                <a:spcPct val="0"/>
              </a:spcAft>
              <a:defRPr sz="4400">
                <a:solidFill>
                  <a:schemeClr val="tx2"/>
                </a:solidFill>
                <a:latin typeface="Arial" charset="0"/>
                <a:ea typeface="Arial" pitchFamily="-109" charset="0"/>
                <a:cs typeface="Arial" charset="0"/>
              </a:defRPr>
            </a:lvl3pPr>
            <a:lvl4pPr algn="ctr" rtl="0" eaLnBrk="0" fontAlgn="base" hangingPunct="0">
              <a:spcBef>
                <a:spcPct val="0"/>
              </a:spcBef>
              <a:spcAft>
                <a:spcPct val="0"/>
              </a:spcAft>
              <a:defRPr sz="4400">
                <a:solidFill>
                  <a:schemeClr val="tx2"/>
                </a:solidFill>
                <a:latin typeface="Arial" charset="0"/>
                <a:ea typeface="Arial" pitchFamily="-109" charset="0"/>
                <a:cs typeface="Arial" charset="0"/>
              </a:defRPr>
            </a:lvl4pPr>
            <a:lvl5pPr algn="ctr" rtl="0" eaLnBrk="0" fontAlgn="base" hangingPunct="0">
              <a:spcBef>
                <a:spcPct val="0"/>
              </a:spcBef>
              <a:spcAft>
                <a:spcPct val="0"/>
              </a:spcAft>
              <a:defRPr sz="4400">
                <a:solidFill>
                  <a:schemeClr val="tx2"/>
                </a:solidFill>
                <a:latin typeface="Arial" charset="0"/>
                <a:ea typeface="Arial" pitchFamily="-109"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a:lstStyle>
          <a:p>
            <a:pPr eaLnBrk="1" hangingPunct="1">
              <a:defRPr/>
            </a:pPr>
            <a:r>
              <a:rPr lang="en-US" altLang="en-US" b="1" kern="0" dirty="0">
                <a:solidFill>
                  <a:srgbClr val="0070C0"/>
                </a:solidFill>
                <a:latin typeface="Times New Roman" panose="02020603050405020304" pitchFamily="18" charset="0"/>
                <a:cs typeface="Times New Roman" panose="02020603050405020304" pitchFamily="18" charset="0"/>
              </a:rPr>
              <a:t>Unit 3</a:t>
            </a:r>
          </a:p>
          <a:p>
            <a:pPr eaLnBrk="1" hangingPunct="1">
              <a:defRPr/>
            </a:pPr>
            <a:r>
              <a:rPr lang="en-US" altLang="en-US" sz="6000" b="1" kern="0" dirty="0">
                <a:solidFill>
                  <a:srgbClr val="0070C0"/>
                </a:solidFill>
                <a:latin typeface="Times New Roman" panose="02020603050405020304" pitchFamily="18" charset="0"/>
                <a:cs typeface="Times New Roman" panose="02020603050405020304" pitchFamily="18" charset="0"/>
              </a:rPr>
              <a:t>Methods of Proof</a:t>
            </a:r>
            <a:endParaRPr lang="en-GB" altLang="en-US" sz="6000" b="1" kern="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F062F1D8-FE47-4983-9A30-9D8A1F0DCE9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D5F48F3-0DF8-40FF-846D-F71D059BC786}" type="slidenum">
              <a:rPr lang="en-GB" altLang="en-US" sz="1400">
                <a:latin typeface="Arial" panose="020B0604020202020204" pitchFamily="34" charset="0"/>
                <a:cs typeface="Arial" panose="020B0604020202020204" pitchFamily="34" charset="0"/>
              </a:rPr>
              <a:pPr>
                <a:spcBef>
                  <a:spcPct val="0"/>
                </a:spcBef>
                <a:buFontTx/>
                <a:buNone/>
              </a:pPr>
              <a:t>2</a:t>
            </a:fld>
            <a:endParaRPr lang="en-GB" altLang="en-US" sz="1400">
              <a:latin typeface="Arial" panose="020B0604020202020204" pitchFamily="34" charset="0"/>
              <a:cs typeface="Arial" panose="020B0604020202020204" pitchFamily="34" charset="0"/>
            </a:endParaRPr>
          </a:p>
        </p:txBody>
      </p:sp>
      <p:sp>
        <p:nvSpPr>
          <p:cNvPr id="5123" name="Rectangle 2">
            <a:extLst>
              <a:ext uri="{FF2B5EF4-FFF2-40B4-BE49-F238E27FC236}">
                <a16:creationId xmlns:a16="http://schemas.microsoft.com/office/drawing/2014/main" id="{D4E6CE10-5F31-4663-BB0F-8274BBB020BC}"/>
              </a:ext>
            </a:extLst>
          </p:cNvPr>
          <p:cNvSpPr>
            <a:spLocks noGrp="1" noChangeArrowheads="1"/>
          </p:cNvSpPr>
          <p:nvPr>
            <p:ph type="title"/>
          </p:nvPr>
        </p:nvSpPr>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OBJECTIVES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10243" name="Rectangle 3">
            <a:extLst>
              <a:ext uri="{FF2B5EF4-FFF2-40B4-BE49-F238E27FC236}">
                <a16:creationId xmlns:a16="http://schemas.microsoft.com/office/drawing/2014/main" id="{82D52B21-63F3-47C0-BC06-433051027AF5}"/>
              </a:ext>
            </a:extLst>
          </p:cNvPr>
          <p:cNvSpPr>
            <a:spLocks noGrp="1" noChangeArrowheads="1"/>
          </p:cNvSpPr>
          <p:nvPr>
            <p:ph type="body" idx="1"/>
          </p:nvPr>
        </p:nvSpPr>
        <p:spPr/>
        <p:txBody>
          <a:bodyPr/>
          <a:lstStyle/>
          <a:p>
            <a:pPr eaLnBrk="1" hangingPunct="1"/>
            <a:r>
              <a:rPr lang="en-US" altLang="en-US" sz="2400" dirty="0"/>
              <a:t>Understand the formal definition of argument and proof in Mathematics.</a:t>
            </a:r>
          </a:p>
          <a:p>
            <a:pPr eaLnBrk="1" hangingPunct="1"/>
            <a:r>
              <a:rPr lang="en-US" altLang="en-US" sz="2400" dirty="0"/>
              <a:t>Understand the rule of Modus Ponens and the Law of Syllogism.</a:t>
            </a:r>
          </a:p>
          <a:p>
            <a:pPr eaLnBrk="1" hangingPunct="1"/>
            <a:r>
              <a:rPr lang="en-US" altLang="en-US" sz="2400" dirty="0"/>
              <a:t>Understand all the methods of proof.</a:t>
            </a:r>
          </a:p>
          <a:p>
            <a:pPr eaLnBrk="1" hangingPunct="1"/>
            <a:r>
              <a:rPr lang="en-US" altLang="en-US" sz="2400" dirty="0"/>
              <a:t>Apply the appropriate methods for proving and disproving universal and existential statements.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ox(in)">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ox(in)">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ox(in)">
                                      <p:cBhvr>
                                        <p:cTn id="17" dur="500"/>
                                        <p:tgtEl>
                                          <p:spTgt spid="10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ox(in)">
                                      <p:cBhvr>
                                        <p:cTn id="22"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D1CF82CC-8C66-45F7-BE14-2CBEB656380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7151EA1-9008-4DC6-B770-5DEEBD2C08EE}" type="slidenum">
              <a:rPr lang="en-GB" altLang="en-US" sz="1400">
                <a:latin typeface="Arial" panose="020B0604020202020204" pitchFamily="34" charset="0"/>
                <a:cs typeface="Arial" panose="020B0604020202020204" pitchFamily="34" charset="0"/>
              </a:rPr>
              <a:pPr>
                <a:spcBef>
                  <a:spcPct val="0"/>
                </a:spcBef>
                <a:buFontTx/>
                <a:buNone/>
              </a:pPr>
              <a:t>3</a:t>
            </a:fld>
            <a:endParaRPr lang="en-GB" altLang="en-US" sz="1400">
              <a:latin typeface="Arial" panose="020B0604020202020204" pitchFamily="34" charset="0"/>
              <a:cs typeface="Arial" panose="020B0604020202020204" pitchFamily="34" charset="0"/>
            </a:endParaRPr>
          </a:p>
        </p:txBody>
      </p:sp>
      <p:sp>
        <p:nvSpPr>
          <p:cNvPr id="7171" name="Rectangle 2">
            <a:extLst>
              <a:ext uri="{FF2B5EF4-FFF2-40B4-BE49-F238E27FC236}">
                <a16:creationId xmlns:a16="http://schemas.microsoft.com/office/drawing/2014/main" id="{67F8EDEF-A5B9-477C-914B-8C19C12F9BEE}"/>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What Is An Argument?</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40995" name="Rectangle 3">
            <a:extLst>
              <a:ext uri="{FF2B5EF4-FFF2-40B4-BE49-F238E27FC236}">
                <a16:creationId xmlns:a16="http://schemas.microsoft.com/office/drawing/2014/main" id="{5E9D3FBE-7386-4323-BF29-A0020234A441}"/>
              </a:ext>
            </a:extLst>
          </p:cNvPr>
          <p:cNvSpPr>
            <a:spLocks noGrp="1" noChangeArrowheads="1"/>
          </p:cNvSpPr>
          <p:nvPr>
            <p:ph type="body" idx="1"/>
          </p:nvPr>
        </p:nvSpPr>
        <p:spPr>
          <a:xfrm>
            <a:off x="748145" y="1771651"/>
            <a:ext cx="10830297" cy="4530725"/>
          </a:xfrm>
        </p:spPr>
        <p:txBody>
          <a:bodyPr/>
          <a:lstStyle/>
          <a:p>
            <a:pPr marL="0" indent="0">
              <a:buNone/>
            </a:pPr>
            <a:r>
              <a:rPr lang="en-US" altLang="en-US" sz="2400" dirty="0"/>
              <a:t>An </a:t>
            </a:r>
            <a:r>
              <a:rPr lang="en-US" altLang="en-US" sz="2400" b="1" dirty="0">
                <a:solidFill>
                  <a:schemeClr val="accent2">
                    <a:lumMod val="50000"/>
                  </a:schemeClr>
                </a:solidFill>
              </a:rPr>
              <a:t>argument</a:t>
            </a:r>
            <a:r>
              <a:rPr lang="en-US" altLang="en-US" sz="2400" dirty="0"/>
              <a:t> is a sequence of statements. All the statements in an argument, except the final one are called </a:t>
            </a:r>
            <a:r>
              <a:rPr lang="en-US" altLang="en-US" sz="2400" b="1" dirty="0">
                <a:solidFill>
                  <a:schemeClr val="accent2">
                    <a:lumMod val="50000"/>
                  </a:schemeClr>
                </a:solidFill>
              </a:rPr>
              <a:t>assumptions </a:t>
            </a:r>
            <a:r>
              <a:rPr lang="en-US" altLang="en-US" sz="2400" dirty="0"/>
              <a:t>(or </a:t>
            </a:r>
            <a:r>
              <a:rPr lang="en-US" altLang="en-US" sz="2400" b="1" dirty="0">
                <a:solidFill>
                  <a:schemeClr val="accent2">
                    <a:lumMod val="50000"/>
                  </a:schemeClr>
                </a:solidFill>
              </a:rPr>
              <a:t>premises</a:t>
            </a:r>
            <a:r>
              <a:rPr lang="en-US" altLang="en-US" sz="2400" dirty="0"/>
              <a:t> or </a:t>
            </a:r>
            <a:r>
              <a:rPr lang="en-US" altLang="en-US" sz="2400" b="1" dirty="0">
                <a:solidFill>
                  <a:schemeClr val="accent2">
                    <a:lumMod val="50000"/>
                  </a:schemeClr>
                </a:solidFill>
              </a:rPr>
              <a:t>hypotheses</a:t>
            </a:r>
            <a:r>
              <a:rPr lang="en-US" altLang="en-US" sz="2400" dirty="0"/>
              <a:t>). The final statement is called the </a:t>
            </a:r>
            <a:r>
              <a:rPr lang="en-US" altLang="en-US" sz="2400" b="1" dirty="0">
                <a:solidFill>
                  <a:schemeClr val="accent2">
                    <a:lumMod val="50000"/>
                  </a:schemeClr>
                </a:solidFill>
              </a:rPr>
              <a:t>conclusion</a:t>
            </a:r>
            <a:r>
              <a:rPr lang="en-US" altLang="en-US" sz="2400" dirty="0"/>
              <a:t>. </a:t>
            </a:r>
          </a:p>
          <a:p>
            <a:pPr marL="0" indent="0">
              <a:buNone/>
            </a:pPr>
            <a:endParaRPr lang="en-US" altLang="en-US" sz="2400" dirty="0"/>
          </a:p>
          <a:p>
            <a:pPr marL="0" indent="0">
              <a:buNone/>
            </a:pPr>
            <a:r>
              <a:rPr lang="en-US" altLang="en-US" sz="2400" dirty="0"/>
              <a:t>An argument is </a:t>
            </a:r>
            <a:r>
              <a:rPr lang="en-US" altLang="en-US" sz="2400" b="1" dirty="0">
                <a:solidFill>
                  <a:schemeClr val="accent2">
                    <a:lumMod val="50000"/>
                  </a:schemeClr>
                </a:solidFill>
              </a:rPr>
              <a:t>valid</a:t>
            </a:r>
            <a:r>
              <a:rPr lang="en-US" altLang="en-US" sz="2400" dirty="0"/>
              <a:t> if no matter what particular statements are substituted for the statement variables in its assumptions, if the resulting assumptions are all true, then the final conclusion is also true.  Otherwise, the argument is invalid. Truth table can be used to test the validity of an argument.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0995">
                                            <p:txEl>
                                              <p:pRg st="2" end="2"/>
                                            </p:txEl>
                                          </p:spTgt>
                                        </p:tgtEl>
                                        <p:attrNameLst>
                                          <p:attrName>style.visibility</p:attrName>
                                        </p:attrNameLst>
                                      </p:cBhvr>
                                      <p:to>
                                        <p:strVal val="visible"/>
                                      </p:to>
                                    </p:set>
                                    <p:animEffect transition="in" filter="box(in)">
                                      <p:cBhvr>
                                        <p:cTn id="7" dur="500"/>
                                        <p:tgtEl>
                                          <p:spTgt spid="340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D1CF82CC-8C66-45F7-BE14-2CBEB656380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7151EA1-9008-4DC6-B770-5DEEBD2C08EE}" type="slidenum">
              <a:rPr lang="en-GB" altLang="en-US" sz="1400">
                <a:latin typeface="Arial" panose="020B0604020202020204" pitchFamily="34" charset="0"/>
                <a:cs typeface="Arial" panose="020B0604020202020204" pitchFamily="34" charset="0"/>
              </a:rPr>
              <a:pPr>
                <a:spcBef>
                  <a:spcPct val="0"/>
                </a:spcBef>
                <a:buFontTx/>
                <a:buNone/>
              </a:pPr>
              <a:t>4</a:t>
            </a:fld>
            <a:endParaRPr lang="en-GB" altLang="en-US" sz="1400">
              <a:latin typeface="Arial" panose="020B0604020202020204" pitchFamily="34" charset="0"/>
              <a:cs typeface="Arial" panose="020B0604020202020204" pitchFamily="34" charset="0"/>
            </a:endParaRPr>
          </a:p>
        </p:txBody>
      </p:sp>
      <p:sp>
        <p:nvSpPr>
          <p:cNvPr id="7171" name="Rectangle 2">
            <a:extLst>
              <a:ext uri="{FF2B5EF4-FFF2-40B4-BE49-F238E27FC236}">
                <a16:creationId xmlns:a16="http://schemas.microsoft.com/office/drawing/2014/main" id="{67F8EDEF-A5B9-477C-914B-8C19C12F9BEE}"/>
              </a:ext>
            </a:extLst>
          </p:cNvPr>
          <p:cNvSpPr>
            <a:spLocks noGrp="1" noChangeArrowheads="1"/>
          </p:cNvSpPr>
          <p:nvPr>
            <p:ph type="title"/>
          </p:nvPr>
        </p:nvSpPr>
        <p:spPr>
          <a:xfrm>
            <a:off x="1752600" y="109465"/>
            <a:ext cx="8229600" cy="488888"/>
          </a:xfrm>
        </p:spPr>
        <p:txBody>
          <a:bodyPr>
            <a:normAutofit fontScale="90000"/>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 Testing the Validity of an Argument</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D0DE11-A990-47D8-BF83-299CB882D55B}"/>
              </a:ext>
            </a:extLst>
          </p:cNvPr>
          <p:cNvSpPr>
            <a:spLocks noGrp="1"/>
          </p:cNvSpPr>
          <p:nvPr>
            <p:ph idx="1"/>
          </p:nvPr>
        </p:nvSpPr>
        <p:spPr>
          <a:xfrm>
            <a:off x="838200" y="744377"/>
            <a:ext cx="10515600" cy="1476272"/>
          </a:xfrm>
        </p:spPr>
        <p:txBody>
          <a:bodyPr>
            <a:normAutofit/>
          </a:bodyPr>
          <a:lstStyle/>
          <a:p>
            <a:r>
              <a:rPr lang="en-SG" sz="2400" dirty="0"/>
              <a:t>An Argument:</a:t>
            </a:r>
          </a:p>
          <a:p>
            <a:pPr marL="0" indent="0">
              <a:spcBef>
                <a:spcPts val="0"/>
              </a:spcBef>
              <a:buNone/>
            </a:pPr>
            <a:r>
              <a:rPr lang="en-SG" sz="2400" dirty="0"/>
              <a:t>	P</a:t>
            </a:r>
            <a:r>
              <a:rPr lang="en-SG" sz="2400" dirty="0">
                <a:sym typeface="Symbol" panose="05050102010706020507" pitchFamily="18" charset="2"/>
              </a:rPr>
              <a:t> (Q  R)</a:t>
            </a:r>
          </a:p>
          <a:p>
            <a:pPr marL="0" indent="0">
              <a:spcBef>
                <a:spcPts val="0"/>
              </a:spcBef>
              <a:buNone/>
            </a:pPr>
            <a:r>
              <a:rPr lang="en-SG" sz="2400" dirty="0">
                <a:sym typeface="Symbol" panose="05050102010706020507" pitchFamily="18" charset="2"/>
              </a:rPr>
              <a:t>	R</a:t>
            </a:r>
          </a:p>
          <a:p>
            <a:pPr marL="0" indent="0">
              <a:spcBef>
                <a:spcPts val="0"/>
              </a:spcBef>
              <a:buNone/>
            </a:pPr>
            <a:r>
              <a:rPr lang="en-SG" sz="2400" dirty="0">
                <a:sym typeface="Symbol" panose="05050102010706020507" pitchFamily="18" charset="2"/>
              </a:rPr>
              <a:t>	Therefore P  Q</a:t>
            </a:r>
          </a:p>
          <a:p>
            <a:pPr marL="0" indent="0">
              <a:buNone/>
            </a:pPr>
            <a:endParaRPr lang="en-SG" dirty="0"/>
          </a:p>
        </p:txBody>
      </p:sp>
      <p:sp>
        <p:nvSpPr>
          <p:cNvPr id="7" name="Content Placeholder 2">
            <a:extLst>
              <a:ext uri="{FF2B5EF4-FFF2-40B4-BE49-F238E27FC236}">
                <a16:creationId xmlns:a16="http://schemas.microsoft.com/office/drawing/2014/main" id="{CA147B4A-F3B2-43C9-B65B-03B156020C62}"/>
              </a:ext>
            </a:extLst>
          </p:cNvPr>
          <p:cNvSpPr txBox="1">
            <a:spLocks/>
          </p:cNvSpPr>
          <p:nvPr/>
        </p:nvSpPr>
        <p:spPr>
          <a:xfrm>
            <a:off x="786741" y="2480839"/>
            <a:ext cx="11405259" cy="2161309"/>
          </a:xfrm>
          <a:prstGeom prst="rect">
            <a:avLst/>
          </a:prstGeom>
        </p:spPr>
        <p:txBody>
          <a:bodyPr vert="horz" lIns="91440" tIns="45720" rIns="91440" bIns="45720" rtlCol="0">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SG" sz="2400" dirty="0"/>
              <a:t>In this argument:</a:t>
            </a:r>
          </a:p>
          <a:p>
            <a:pPr marL="0" indent="0">
              <a:buNone/>
            </a:pPr>
            <a:r>
              <a:rPr lang="en-SG" sz="2400" dirty="0"/>
              <a:t>	The assumptions are:</a:t>
            </a:r>
          </a:p>
          <a:p>
            <a:pPr marL="342900" lvl="1" indent="0">
              <a:spcBef>
                <a:spcPts val="0"/>
              </a:spcBef>
              <a:buNone/>
            </a:pPr>
            <a:r>
              <a:rPr lang="en-SG" sz="2400" dirty="0"/>
              <a:t>		P</a:t>
            </a:r>
            <a:r>
              <a:rPr lang="en-SG" sz="2400" dirty="0">
                <a:sym typeface="Symbol" panose="05050102010706020507" pitchFamily="18" charset="2"/>
              </a:rPr>
              <a:t> (Q  R)</a:t>
            </a:r>
          </a:p>
          <a:p>
            <a:pPr marL="342900" lvl="1" indent="0">
              <a:spcBef>
                <a:spcPts val="0"/>
              </a:spcBef>
              <a:buNone/>
            </a:pPr>
            <a:r>
              <a:rPr lang="en-SG" sz="2400" dirty="0">
                <a:sym typeface="Symbol" panose="05050102010706020507" pitchFamily="18" charset="2"/>
              </a:rPr>
              <a:t>		R</a:t>
            </a:r>
          </a:p>
          <a:p>
            <a:pPr marL="0" indent="0">
              <a:buNone/>
            </a:pPr>
            <a:r>
              <a:rPr lang="en-SG" sz="2400" dirty="0"/>
              <a:t>	The conclusion is:</a:t>
            </a:r>
          </a:p>
          <a:p>
            <a:pPr marL="0" indent="0">
              <a:buNone/>
            </a:pPr>
            <a:r>
              <a:rPr lang="en-SG" sz="2400" dirty="0">
                <a:sym typeface="Symbol" panose="05050102010706020507" pitchFamily="18" charset="2"/>
              </a:rPr>
              <a:t>		P  Q</a:t>
            </a:r>
          </a:p>
          <a:p>
            <a:pPr marL="0" indent="0">
              <a:buNone/>
            </a:pPr>
            <a:endParaRPr lang="en-SG" dirty="0"/>
          </a:p>
          <a:p>
            <a:endParaRPr lang="en-SG" dirty="0"/>
          </a:p>
          <a:p>
            <a:endParaRPr lang="en-SG" dirty="0"/>
          </a:p>
          <a:p>
            <a:endParaRPr lang="en-SG" dirty="0"/>
          </a:p>
        </p:txBody>
      </p:sp>
      <p:sp>
        <p:nvSpPr>
          <p:cNvPr id="9" name="Content Placeholder 2">
            <a:extLst>
              <a:ext uri="{FF2B5EF4-FFF2-40B4-BE49-F238E27FC236}">
                <a16:creationId xmlns:a16="http://schemas.microsoft.com/office/drawing/2014/main" id="{E4FFC149-5093-4418-BF59-67206F1F5594}"/>
              </a:ext>
            </a:extLst>
          </p:cNvPr>
          <p:cNvSpPr txBox="1">
            <a:spLocks/>
          </p:cNvSpPr>
          <p:nvPr/>
        </p:nvSpPr>
        <p:spPr>
          <a:xfrm>
            <a:off x="838200" y="4934196"/>
            <a:ext cx="10515600" cy="70658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SG" sz="2400" dirty="0"/>
              <a:t>Next we shall test the validity of this argument.</a:t>
            </a:r>
          </a:p>
          <a:p>
            <a:pPr marL="0" indent="0">
              <a:buFont typeface="Arial" panose="020B0604020202020204" pitchFamily="34" charset="0"/>
              <a:buNone/>
            </a:pPr>
            <a:endParaRPr lang="en-SG" dirty="0"/>
          </a:p>
        </p:txBody>
      </p:sp>
    </p:spTree>
    <p:extLst>
      <p:ext uri="{BB962C8B-B14F-4D97-AF65-F5344CB8AC3E}">
        <p14:creationId xmlns:p14="http://schemas.microsoft.com/office/powerpoint/2010/main" val="1866091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D1CF82CC-8C66-45F7-BE14-2CBEB656380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7151EA1-9008-4DC6-B770-5DEEBD2C08EE}" type="slidenum">
              <a:rPr lang="en-GB" altLang="en-US" sz="1400">
                <a:latin typeface="Arial" panose="020B0604020202020204" pitchFamily="34" charset="0"/>
                <a:cs typeface="Arial" panose="020B0604020202020204" pitchFamily="34" charset="0"/>
              </a:rPr>
              <a:pPr>
                <a:spcBef>
                  <a:spcPct val="0"/>
                </a:spcBef>
                <a:buFontTx/>
                <a:buNone/>
              </a:pPr>
              <a:t>5</a:t>
            </a:fld>
            <a:endParaRPr lang="en-GB" altLang="en-US" sz="1400">
              <a:latin typeface="Arial" panose="020B0604020202020204" pitchFamily="34" charset="0"/>
              <a:cs typeface="Arial" panose="020B0604020202020204" pitchFamily="34" charset="0"/>
            </a:endParaRPr>
          </a:p>
        </p:txBody>
      </p:sp>
      <p:sp>
        <p:nvSpPr>
          <p:cNvPr id="7171" name="Rectangle 2">
            <a:extLst>
              <a:ext uri="{FF2B5EF4-FFF2-40B4-BE49-F238E27FC236}">
                <a16:creationId xmlns:a16="http://schemas.microsoft.com/office/drawing/2014/main" id="{67F8EDEF-A5B9-477C-914B-8C19C12F9BEE}"/>
              </a:ext>
            </a:extLst>
          </p:cNvPr>
          <p:cNvSpPr>
            <a:spLocks noGrp="1" noChangeArrowheads="1"/>
          </p:cNvSpPr>
          <p:nvPr>
            <p:ph type="title"/>
          </p:nvPr>
        </p:nvSpPr>
        <p:spPr>
          <a:xfrm>
            <a:off x="1898072" y="136523"/>
            <a:ext cx="8229600" cy="488888"/>
          </a:xfrm>
        </p:spPr>
        <p:txBody>
          <a:bodyPr>
            <a:normAutofit fontScale="90000"/>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 Testing the Validity of an Argument</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CA147B4A-F3B2-43C9-B65B-03B156020C62}"/>
              </a:ext>
            </a:extLst>
          </p:cNvPr>
          <p:cNvSpPr txBox="1">
            <a:spLocks/>
          </p:cNvSpPr>
          <p:nvPr/>
        </p:nvSpPr>
        <p:spPr>
          <a:xfrm>
            <a:off x="173182" y="722681"/>
            <a:ext cx="11405259" cy="55766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SG" sz="2400" dirty="0"/>
              <a:t>Testing the validity of the Argument:</a:t>
            </a:r>
          </a:p>
        </p:txBody>
      </p:sp>
      <p:graphicFrame>
        <p:nvGraphicFramePr>
          <p:cNvPr id="8" name="Group 217">
            <a:extLst>
              <a:ext uri="{FF2B5EF4-FFF2-40B4-BE49-F238E27FC236}">
                <a16:creationId xmlns:a16="http://schemas.microsoft.com/office/drawing/2014/main" id="{7D75C189-B9EC-46F8-8B06-E431174F4DA6}"/>
              </a:ext>
            </a:extLst>
          </p:cNvPr>
          <p:cNvGraphicFramePr>
            <a:graphicFrameLocks/>
          </p:cNvGraphicFramePr>
          <p:nvPr>
            <p:extLst>
              <p:ext uri="{D42A27DB-BD31-4B8C-83A1-F6EECF244321}">
                <p14:modId xmlns:p14="http://schemas.microsoft.com/office/powerpoint/2010/main" val="431670006"/>
              </p:ext>
            </p:extLst>
          </p:nvPr>
        </p:nvGraphicFramePr>
        <p:xfrm>
          <a:off x="1154518" y="1151980"/>
          <a:ext cx="5439092" cy="4152904"/>
        </p:xfrm>
        <a:graphic>
          <a:graphicData uri="http://schemas.openxmlformats.org/drawingml/2006/table">
            <a:tbl>
              <a:tblPr/>
              <a:tblGrid>
                <a:gridCol w="401955">
                  <a:extLst>
                    <a:ext uri="{9D8B030D-6E8A-4147-A177-3AD203B41FA5}">
                      <a16:colId xmlns:a16="http://schemas.microsoft.com/office/drawing/2014/main" val="20000"/>
                    </a:ext>
                  </a:extLst>
                </a:gridCol>
                <a:gridCol w="392112">
                  <a:extLst>
                    <a:ext uri="{9D8B030D-6E8A-4147-A177-3AD203B41FA5}">
                      <a16:colId xmlns:a16="http://schemas.microsoft.com/office/drawing/2014/main" val="20001"/>
                    </a:ext>
                  </a:extLst>
                </a:gridCol>
                <a:gridCol w="434975">
                  <a:extLst>
                    <a:ext uri="{9D8B030D-6E8A-4147-A177-3AD203B41FA5}">
                      <a16:colId xmlns:a16="http://schemas.microsoft.com/office/drawing/2014/main" val="20002"/>
                    </a:ext>
                  </a:extLst>
                </a:gridCol>
                <a:gridCol w="1639888">
                  <a:extLst>
                    <a:ext uri="{9D8B030D-6E8A-4147-A177-3AD203B41FA5}">
                      <a16:colId xmlns:a16="http://schemas.microsoft.com/office/drawing/2014/main" val="20003"/>
                    </a:ext>
                  </a:extLst>
                </a:gridCol>
                <a:gridCol w="1568450">
                  <a:extLst>
                    <a:ext uri="{9D8B030D-6E8A-4147-A177-3AD203B41FA5}">
                      <a16:colId xmlns:a16="http://schemas.microsoft.com/office/drawing/2014/main" val="20004"/>
                    </a:ext>
                  </a:extLst>
                </a:gridCol>
                <a:gridCol w="1001712">
                  <a:extLst>
                    <a:ext uri="{9D8B030D-6E8A-4147-A177-3AD203B41FA5}">
                      <a16:colId xmlns:a16="http://schemas.microsoft.com/office/drawing/2014/main" val="20005"/>
                    </a:ext>
                  </a:extLst>
                </a:gridCol>
              </a:tblGrid>
              <a:tr h="4587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
                      </a:r>
                      <a:endParaRPr kumimoji="0" lang="en-GB"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a:t>
                      </a:r>
                      <a:endParaRPr kumimoji="0" lang="en-GB"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SG" sz="2400" dirty="0"/>
                        <a:t>P</a:t>
                      </a:r>
                      <a:r>
                        <a:rPr lang="en-SG" sz="2400" dirty="0">
                          <a:sym typeface="Symbol" panose="05050102010706020507" pitchFamily="18" charset="2"/>
                        </a:rPr>
                        <a:t> (Q  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SG" sz="2400" dirty="0">
                          <a:sym typeface="Symbol" panose="05050102010706020507" pitchFamily="18" charset="2"/>
                        </a:rPr>
                        <a:t>R</a:t>
                      </a:r>
                      <a:endPar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sym typeface="Symbol" panose="05050102010706020507"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SG" sz="2400" dirty="0"/>
                        <a:t>P</a:t>
                      </a:r>
                      <a:r>
                        <a:rPr lang="en-SG" sz="2400" dirty="0">
                          <a:sym typeface="Symbol" panose="05050102010706020507" pitchFamily="18" charset="2"/>
                        </a:rPr>
                        <a:t> Q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41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87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87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87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87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587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58788">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Times New Roman" panose="02020603050405020304" pitchFamily="18" charset="0"/>
                          <a:cs typeface="Times New Roman" panose="02020603050405020304" pitchFamily="18" charset="0"/>
                        </a:defRPr>
                      </a:lvl1pPr>
                      <a:lvl2pPr marL="742950" indent="-285750" eaLnBrk="0" hangingPunct="0">
                        <a:spcBef>
                          <a:spcPct val="20000"/>
                        </a:spcBef>
                        <a:defRPr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defRPr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defRPr>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 name="Content Placeholder 2">
            <a:extLst>
              <a:ext uri="{FF2B5EF4-FFF2-40B4-BE49-F238E27FC236}">
                <a16:creationId xmlns:a16="http://schemas.microsoft.com/office/drawing/2014/main" id="{152F24D5-0293-47EC-8590-7BAC104BAB58}"/>
              </a:ext>
            </a:extLst>
          </p:cNvPr>
          <p:cNvSpPr txBox="1">
            <a:spLocks/>
          </p:cNvSpPr>
          <p:nvPr/>
        </p:nvSpPr>
        <p:spPr>
          <a:xfrm>
            <a:off x="583374" y="5376179"/>
            <a:ext cx="11405259" cy="922785"/>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SG" sz="2400" dirty="0"/>
              <a:t>Since in all the rows that all the assumptions are true - 2</a:t>
            </a:r>
            <a:r>
              <a:rPr lang="en-SG" sz="2400" baseline="30000" dirty="0"/>
              <a:t>nd</a:t>
            </a:r>
            <a:r>
              <a:rPr lang="en-SG" sz="2400" dirty="0"/>
              <a:t> and 6</a:t>
            </a:r>
            <a:r>
              <a:rPr lang="en-SG" sz="2400" baseline="30000" dirty="0"/>
              <a:t>th</a:t>
            </a:r>
            <a:r>
              <a:rPr lang="en-SG" sz="2400" dirty="0"/>
              <a:t> rows – the conclusion is also true, Hence, the argument is a valid argument.</a:t>
            </a:r>
          </a:p>
        </p:txBody>
      </p:sp>
    </p:spTree>
    <p:extLst>
      <p:ext uri="{BB962C8B-B14F-4D97-AF65-F5344CB8AC3E}">
        <p14:creationId xmlns:p14="http://schemas.microsoft.com/office/powerpoint/2010/main" val="2566391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D1CF82CC-8C66-45F7-BE14-2CBEB656380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7151EA1-9008-4DC6-B770-5DEEBD2C08EE}" type="slidenum">
              <a:rPr lang="en-GB" altLang="en-US" sz="1400">
                <a:latin typeface="Arial" panose="020B0604020202020204" pitchFamily="34" charset="0"/>
                <a:cs typeface="Arial" panose="020B0604020202020204" pitchFamily="34" charset="0"/>
              </a:rPr>
              <a:pPr>
                <a:spcBef>
                  <a:spcPct val="0"/>
                </a:spcBef>
                <a:buFontTx/>
                <a:buNone/>
              </a:pPr>
              <a:t>6</a:t>
            </a:fld>
            <a:endParaRPr lang="en-GB" altLang="en-US" sz="1400">
              <a:latin typeface="Arial" panose="020B0604020202020204" pitchFamily="34" charset="0"/>
              <a:cs typeface="Arial" panose="020B0604020202020204" pitchFamily="34" charset="0"/>
            </a:endParaRPr>
          </a:p>
        </p:txBody>
      </p:sp>
      <p:sp>
        <p:nvSpPr>
          <p:cNvPr id="7171" name="Rectangle 2">
            <a:extLst>
              <a:ext uri="{FF2B5EF4-FFF2-40B4-BE49-F238E27FC236}">
                <a16:creationId xmlns:a16="http://schemas.microsoft.com/office/drawing/2014/main" id="{67F8EDEF-A5B9-477C-914B-8C19C12F9BEE}"/>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What Is A Proof?</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40995" name="Rectangle 3">
            <a:extLst>
              <a:ext uri="{FF2B5EF4-FFF2-40B4-BE49-F238E27FC236}">
                <a16:creationId xmlns:a16="http://schemas.microsoft.com/office/drawing/2014/main" id="{5E9D3FBE-7386-4323-BF29-A0020234A441}"/>
              </a:ext>
            </a:extLst>
          </p:cNvPr>
          <p:cNvSpPr>
            <a:spLocks noGrp="1" noChangeArrowheads="1"/>
          </p:cNvSpPr>
          <p:nvPr>
            <p:ph type="body" idx="1"/>
          </p:nvPr>
        </p:nvSpPr>
        <p:spPr>
          <a:xfrm>
            <a:off x="748145" y="1771651"/>
            <a:ext cx="10830297" cy="4530725"/>
          </a:xfrm>
        </p:spPr>
        <p:txBody>
          <a:bodyPr/>
          <a:lstStyle/>
          <a:p>
            <a:pPr marL="0" indent="0">
              <a:buNone/>
            </a:pPr>
            <a:r>
              <a:rPr lang="en-US" altLang="en-US" sz="2400" dirty="0"/>
              <a:t>A proof is a valid argument – a sequence of statements - that used to establish a result. </a:t>
            </a:r>
          </a:p>
          <a:p>
            <a:pPr marL="0" indent="0">
              <a:buNone/>
            </a:pPr>
            <a:endParaRPr lang="en-US" altLang="en-US" sz="2400" dirty="0"/>
          </a:p>
          <a:p>
            <a:pPr marL="0" indent="0">
              <a:buNone/>
            </a:pPr>
            <a:r>
              <a:rPr lang="en-US" altLang="en-US" sz="2400" dirty="0"/>
              <a:t>Each statement is </a:t>
            </a:r>
          </a:p>
          <a:p>
            <a:pPr marL="0" indent="0">
              <a:buNone/>
            </a:pPr>
            <a:r>
              <a:rPr lang="en-US" altLang="en-US" sz="2400" dirty="0">
                <a:sym typeface="Symbol" panose="05050102010706020507" pitchFamily="18" charset="2"/>
              </a:rPr>
              <a:t>	</a:t>
            </a:r>
            <a:r>
              <a:rPr lang="en-US" altLang="en-US" sz="2400" dirty="0"/>
              <a:t>an assumption</a:t>
            </a:r>
          </a:p>
          <a:p>
            <a:pPr marL="0" indent="0">
              <a:buNone/>
            </a:pPr>
            <a:r>
              <a:rPr lang="en-US" altLang="en-US" sz="2400" dirty="0">
                <a:sym typeface="Symbol" panose="05050102010706020507" pitchFamily="18" charset="2"/>
              </a:rPr>
              <a:t></a:t>
            </a:r>
            <a:r>
              <a:rPr lang="en-US" altLang="en-US" sz="2400" dirty="0"/>
              <a:t> 	an axiom</a:t>
            </a:r>
          </a:p>
          <a:p>
            <a:pPr marL="712788" indent="-712788" defTabSz="357188">
              <a:buFont typeface="Symbol" panose="05050102010706020507" pitchFamily="18" charset="2"/>
              <a:buChar char="·"/>
            </a:pPr>
            <a:r>
              <a:rPr lang="en-US" altLang="en-US" sz="2400" dirty="0"/>
              <a:t>follows from previous statements by mathematical or logical rule (or definition)</a:t>
            </a:r>
          </a:p>
          <a:p>
            <a:pPr marL="712788" indent="-712788">
              <a:buFont typeface="Symbol" panose="05050102010706020507" pitchFamily="18" charset="2"/>
              <a:buChar char="·"/>
            </a:pPr>
            <a:r>
              <a:rPr lang="en-US" altLang="en-US" sz="2400" dirty="0"/>
              <a:t>follows from previously proved theorem</a:t>
            </a:r>
          </a:p>
          <a:p>
            <a:pPr>
              <a:buFont typeface="Symbol" panose="05050102010706020507" pitchFamily="18" charset="2"/>
              <a:buChar char="·"/>
            </a:pPr>
            <a:endParaRPr lang="en-US" altLang="en-US" sz="2400" dirty="0"/>
          </a:p>
          <a:p>
            <a:pPr marL="514350" indent="-514350">
              <a:buFont typeface="+mj-lt"/>
              <a:buAutoNum type="romanLcPeriod"/>
            </a:pPr>
            <a:endParaRPr lang="en-US" altLang="en-US" sz="2400" dirty="0"/>
          </a:p>
        </p:txBody>
      </p:sp>
    </p:spTree>
    <p:extLst>
      <p:ext uri="{BB962C8B-B14F-4D97-AF65-F5344CB8AC3E}">
        <p14:creationId xmlns:p14="http://schemas.microsoft.com/office/powerpoint/2010/main" val="3379107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0995">
                                            <p:txEl>
                                              <p:pRg st="2" end="2"/>
                                            </p:txEl>
                                          </p:spTgt>
                                        </p:tgtEl>
                                        <p:attrNameLst>
                                          <p:attrName>style.visibility</p:attrName>
                                        </p:attrNameLst>
                                      </p:cBhvr>
                                      <p:to>
                                        <p:strVal val="visible"/>
                                      </p:to>
                                    </p:set>
                                    <p:animEffect transition="in" filter="box(in)">
                                      <p:cBhvr>
                                        <p:cTn id="7" dur="500"/>
                                        <p:tgtEl>
                                          <p:spTgt spid="34099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0995">
                                            <p:txEl>
                                              <p:pRg st="3" end="3"/>
                                            </p:txEl>
                                          </p:spTgt>
                                        </p:tgtEl>
                                        <p:attrNameLst>
                                          <p:attrName>style.visibility</p:attrName>
                                        </p:attrNameLst>
                                      </p:cBhvr>
                                      <p:to>
                                        <p:strVal val="visible"/>
                                      </p:to>
                                    </p:set>
                                    <p:animEffect transition="in" filter="box(in)">
                                      <p:cBhvr>
                                        <p:cTn id="12" dur="500"/>
                                        <p:tgtEl>
                                          <p:spTgt spid="34099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40995">
                                            <p:txEl>
                                              <p:pRg st="4" end="4"/>
                                            </p:txEl>
                                          </p:spTgt>
                                        </p:tgtEl>
                                        <p:attrNameLst>
                                          <p:attrName>style.visibility</p:attrName>
                                        </p:attrNameLst>
                                      </p:cBhvr>
                                      <p:to>
                                        <p:strVal val="visible"/>
                                      </p:to>
                                    </p:set>
                                    <p:animEffect transition="in" filter="box(in)">
                                      <p:cBhvr>
                                        <p:cTn id="17" dur="500"/>
                                        <p:tgtEl>
                                          <p:spTgt spid="34099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40995">
                                            <p:txEl>
                                              <p:pRg st="5" end="5"/>
                                            </p:txEl>
                                          </p:spTgt>
                                        </p:tgtEl>
                                        <p:attrNameLst>
                                          <p:attrName>style.visibility</p:attrName>
                                        </p:attrNameLst>
                                      </p:cBhvr>
                                      <p:to>
                                        <p:strVal val="visible"/>
                                      </p:to>
                                    </p:set>
                                    <p:animEffect transition="in" filter="box(in)">
                                      <p:cBhvr>
                                        <p:cTn id="22" dur="500"/>
                                        <p:tgtEl>
                                          <p:spTgt spid="34099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40995">
                                            <p:txEl>
                                              <p:pRg st="6" end="6"/>
                                            </p:txEl>
                                          </p:spTgt>
                                        </p:tgtEl>
                                        <p:attrNameLst>
                                          <p:attrName>style.visibility</p:attrName>
                                        </p:attrNameLst>
                                      </p:cBhvr>
                                      <p:to>
                                        <p:strVal val="visible"/>
                                      </p:to>
                                    </p:set>
                                    <p:animEffect transition="in" filter="box(in)">
                                      <p:cBhvr>
                                        <p:cTn id="27" dur="500"/>
                                        <p:tgtEl>
                                          <p:spTgt spid="3409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D026DA33-076B-4CEC-A03F-F48BB74D57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8D36E7A-1EDA-4E07-B61C-237F7D1A3296}" type="slidenum">
              <a:rPr lang="en-GB" altLang="en-US" sz="1400">
                <a:latin typeface="Arial" panose="020B0604020202020204" pitchFamily="34" charset="0"/>
                <a:cs typeface="Arial" panose="020B0604020202020204" pitchFamily="34" charset="0"/>
              </a:rPr>
              <a:pPr>
                <a:spcBef>
                  <a:spcPct val="0"/>
                </a:spcBef>
                <a:buFontTx/>
                <a:buNone/>
              </a:pPr>
              <a:t>7</a:t>
            </a:fld>
            <a:endParaRPr lang="en-GB" altLang="en-US" sz="1400">
              <a:latin typeface="Arial" panose="020B0604020202020204" pitchFamily="34" charset="0"/>
              <a:cs typeface="Arial" panose="020B0604020202020204" pitchFamily="34" charset="0"/>
            </a:endParaRPr>
          </a:p>
        </p:txBody>
      </p:sp>
      <p:sp>
        <p:nvSpPr>
          <p:cNvPr id="8195" name="Rectangle 2">
            <a:extLst>
              <a:ext uri="{FF2B5EF4-FFF2-40B4-BE49-F238E27FC236}">
                <a16:creationId xmlns:a16="http://schemas.microsoft.com/office/drawing/2014/main" id="{C535E89E-88D9-44FC-B694-91BE433DB68F}"/>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Assumptions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8196" name="Rectangle 3">
            <a:extLst>
              <a:ext uri="{FF2B5EF4-FFF2-40B4-BE49-F238E27FC236}">
                <a16:creationId xmlns:a16="http://schemas.microsoft.com/office/drawing/2014/main" id="{7EB09426-ECC3-4D49-A54E-81C90F9A8432}"/>
              </a:ext>
            </a:extLst>
          </p:cNvPr>
          <p:cNvSpPr>
            <a:spLocks noGrp="1" noChangeArrowheads="1"/>
          </p:cNvSpPr>
          <p:nvPr>
            <p:ph type="body" idx="1"/>
          </p:nvPr>
        </p:nvSpPr>
        <p:spPr>
          <a:xfrm>
            <a:off x="1981200" y="1771651"/>
            <a:ext cx="8229600" cy="4530725"/>
          </a:xfrm>
        </p:spPr>
        <p:txBody>
          <a:bodyPr/>
          <a:lstStyle/>
          <a:p>
            <a:pPr marL="0" indent="0">
              <a:buNone/>
            </a:pPr>
            <a:endParaRPr lang="en-US" altLang="en-US" sz="2400"/>
          </a:p>
          <a:p>
            <a:pPr marL="0" indent="0">
              <a:buNone/>
            </a:pPr>
            <a:r>
              <a:rPr lang="en-US" altLang="en-US" sz="2400"/>
              <a:t>All statements in a proof except the final one, are called </a:t>
            </a:r>
            <a:r>
              <a:rPr lang="en-US" altLang="en-US" sz="2400" b="1"/>
              <a:t>assumptions</a:t>
            </a:r>
            <a:r>
              <a:rPr lang="en-US" altLang="en-US" sz="2400"/>
              <a:t>.</a:t>
            </a:r>
          </a:p>
          <a:p>
            <a:pPr marL="0" indent="0">
              <a:buNone/>
            </a:pPr>
            <a:endParaRPr lang="en-US" altLang="en-US" sz="2400"/>
          </a:p>
          <a:p>
            <a:pPr marL="0" indent="0">
              <a:buNone/>
            </a:pPr>
            <a:r>
              <a:rPr lang="en-US" altLang="en-US" sz="2400"/>
              <a:t>The final statement is called the </a:t>
            </a:r>
            <a:r>
              <a:rPr lang="en-US" altLang="en-US" sz="2400" b="1"/>
              <a:t>conclusion</a:t>
            </a:r>
            <a:r>
              <a:rPr lang="en-US" altLang="en-US" sz="240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28AB3CD5-7A92-4DCD-87F3-73BE608554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4124BFF-8559-494C-98D0-DE5391D1D1FC}" type="slidenum">
              <a:rPr lang="en-GB" altLang="en-US" sz="1400">
                <a:latin typeface="Arial" panose="020B0604020202020204" pitchFamily="34" charset="0"/>
                <a:cs typeface="Arial" panose="020B0604020202020204" pitchFamily="34" charset="0"/>
              </a:rPr>
              <a:pPr>
                <a:spcBef>
                  <a:spcPct val="0"/>
                </a:spcBef>
                <a:buFontTx/>
                <a:buNone/>
              </a:pPr>
              <a:t>8</a:t>
            </a:fld>
            <a:endParaRPr lang="en-GB" altLang="en-US" sz="1400">
              <a:latin typeface="Arial" panose="020B0604020202020204" pitchFamily="34" charset="0"/>
              <a:cs typeface="Arial" panose="020B0604020202020204" pitchFamily="34" charset="0"/>
            </a:endParaRPr>
          </a:p>
        </p:txBody>
      </p:sp>
      <p:sp>
        <p:nvSpPr>
          <p:cNvPr id="9219" name="Rectangle 2">
            <a:extLst>
              <a:ext uri="{FF2B5EF4-FFF2-40B4-BE49-F238E27FC236}">
                <a16:creationId xmlns:a16="http://schemas.microsoft.com/office/drawing/2014/main" id="{F7A64EF4-EA20-4518-AD2C-A1CBB59BF4FB}"/>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Assumptions: Examples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69667" name="Rectangle 3">
            <a:extLst>
              <a:ext uri="{FF2B5EF4-FFF2-40B4-BE49-F238E27FC236}">
                <a16:creationId xmlns:a16="http://schemas.microsoft.com/office/drawing/2014/main" id="{ABA44348-4D5B-4FF8-BB36-1212F1F5C395}"/>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If you want to prove</a:t>
            </a:r>
          </a:p>
          <a:p>
            <a:pPr marL="0" indent="0">
              <a:buNone/>
            </a:pPr>
            <a:r>
              <a:rPr lang="en-US" altLang="en-US" sz="2400" dirty="0"/>
              <a:t>	“If </a:t>
            </a:r>
            <a:r>
              <a:rPr lang="en-US" altLang="en-US" sz="2400" i="1" dirty="0"/>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 and </a:t>
            </a:r>
            <a:r>
              <a:rPr lang="en-US" altLang="zh-CN" sz="2400" i="1" dirty="0">
                <a:ea typeface="宋体" panose="02010600030101010101" pitchFamily="2" charset="-122"/>
                <a:sym typeface="Symbol" panose="05050102010706020507" pitchFamily="18" charset="2"/>
              </a:rPr>
              <a:t>n</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ℕ is even, then </a:t>
            </a:r>
            <a:r>
              <a:rPr lang="en-US" altLang="en-US" sz="2400" i="1" dirty="0" err="1">
                <a:sym typeface="Symbol" panose="05050102010706020507" pitchFamily="18" charset="2"/>
              </a:rPr>
              <a:t>x</a:t>
            </a:r>
            <a:r>
              <a:rPr lang="en-US" altLang="en-US" sz="2400" i="1" baseline="30000" dirty="0" err="1">
                <a:sym typeface="Symbol" panose="05050102010706020507" pitchFamily="18" charset="2"/>
              </a:rPr>
              <a:t>n</a:t>
            </a:r>
            <a:r>
              <a:rPr lang="en-US" altLang="en-US" sz="2400" dirty="0">
                <a:sym typeface="Symbol" panose="05050102010706020507" pitchFamily="18" charset="2"/>
              </a:rPr>
              <a:t> &gt; 0” </a:t>
            </a:r>
          </a:p>
          <a:p>
            <a:pPr marL="0" indent="0">
              <a:buNone/>
            </a:pPr>
            <a:r>
              <a:rPr lang="en-US" altLang="en-US" sz="2400" dirty="0">
                <a:sym typeface="Symbol" panose="05050102010706020507" pitchFamily="18" charset="2"/>
              </a:rPr>
              <a:t>Your proof should start with the assumptions that </a:t>
            </a:r>
          </a:p>
          <a:p>
            <a:pPr marL="0" indent="0">
              <a:buNone/>
            </a:pPr>
            <a:r>
              <a:rPr lang="en-US" altLang="en-US" sz="2400" dirty="0">
                <a:sym typeface="Symbol" panose="05050102010706020507" pitchFamily="18" charset="2"/>
              </a:rPr>
              <a:t>	</a:t>
            </a:r>
            <a:r>
              <a:rPr lang="en-US" altLang="en-US" sz="2400" i="1" dirty="0"/>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 and </a:t>
            </a:r>
            <a:r>
              <a:rPr lang="en-US" altLang="zh-CN" sz="2400" i="1" dirty="0">
                <a:ea typeface="宋体" panose="02010600030101010101" pitchFamily="2" charset="-122"/>
                <a:sym typeface="Symbol" panose="05050102010706020507" pitchFamily="18" charset="2"/>
              </a:rPr>
              <a:t>n</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ℕ is even. </a:t>
            </a:r>
          </a:p>
          <a:p>
            <a:pPr marL="0" indent="0">
              <a:buNone/>
            </a:pPr>
            <a:r>
              <a:rPr lang="en-US" altLang="en-US" sz="2400" dirty="0">
                <a:sym typeface="Symbol" panose="05050102010706020507" pitchFamily="18" charset="2"/>
              </a:rPr>
              <a:t>Further, you can use the “definition” of an even number, and write the assumptions as follows.</a:t>
            </a:r>
          </a:p>
          <a:p>
            <a:pPr marL="0" indent="0">
              <a:buNone/>
            </a:pPr>
            <a:r>
              <a:rPr lang="en-US" altLang="en-US" sz="2400" dirty="0">
                <a:sym typeface="Symbol" panose="05050102010706020507" pitchFamily="18" charset="2"/>
              </a:rPr>
              <a:t>	Let 	</a:t>
            </a:r>
            <a:r>
              <a:rPr lang="en-US" altLang="en-US" sz="2400" i="1" dirty="0"/>
              <a:t>x</a:t>
            </a:r>
            <a:r>
              <a:rPr lang="en-US" altLang="en-US" sz="2400" dirty="0"/>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ℝ, and</a:t>
            </a:r>
          </a:p>
          <a:p>
            <a:pPr marL="0" indent="0">
              <a:buNone/>
            </a:pPr>
            <a:r>
              <a:rPr lang="en-US" altLang="zh-CN" sz="2400" i="1" dirty="0">
                <a:ea typeface="宋体" panose="02010600030101010101" pitchFamily="2" charset="-122"/>
                <a:sym typeface="Symbol" panose="05050102010706020507" pitchFamily="18" charset="2"/>
              </a:rPr>
              <a:t>		n</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ℕ is even, that is, </a:t>
            </a:r>
            <a:r>
              <a:rPr lang="en-US" altLang="en-US" sz="2400" i="1" dirty="0">
                <a:sym typeface="Symbol" panose="05050102010706020507" pitchFamily="18" charset="2"/>
              </a:rPr>
              <a:t>p</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ℕ,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Assumption are often thought to be “given information” or information we “know”.</a:t>
            </a:r>
          </a:p>
        </p:txBody>
      </p:sp>
      <p:sp>
        <p:nvSpPr>
          <p:cNvPr id="369668" name="Rectangle 4">
            <a:extLst>
              <a:ext uri="{FF2B5EF4-FFF2-40B4-BE49-F238E27FC236}">
                <a16:creationId xmlns:a16="http://schemas.microsoft.com/office/drawing/2014/main" id="{0C61D04B-8146-4DB0-9182-987B1CDED5DA}"/>
              </a:ext>
            </a:extLst>
          </p:cNvPr>
          <p:cNvSpPr>
            <a:spLocks noChangeArrowheads="1"/>
          </p:cNvSpPr>
          <p:nvPr/>
        </p:nvSpPr>
        <p:spPr bwMode="auto">
          <a:xfrm>
            <a:off x="3298032" y="4315116"/>
            <a:ext cx="1814512" cy="798512"/>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369669" name="AutoShape 5">
            <a:extLst>
              <a:ext uri="{FF2B5EF4-FFF2-40B4-BE49-F238E27FC236}">
                <a16:creationId xmlns:a16="http://schemas.microsoft.com/office/drawing/2014/main" id="{CBD80DC4-8A7A-4D9F-A55D-ADB63790643B}"/>
              </a:ext>
            </a:extLst>
          </p:cNvPr>
          <p:cNvSpPr>
            <a:spLocks noChangeArrowheads="1"/>
          </p:cNvSpPr>
          <p:nvPr/>
        </p:nvSpPr>
        <p:spPr bwMode="auto">
          <a:xfrm>
            <a:off x="1337087" y="4893088"/>
            <a:ext cx="1016000" cy="420687"/>
          </a:xfrm>
          <a:prstGeom prst="wedgeRectCallout">
            <a:avLst>
              <a:gd name="adj1" fmla="val 133125"/>
              <a:gd name="adj2" fmla="val -70000"/>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dirty="0">
                <a:solidFill>
                  <a:srgbClr val="FF3300"/>
                </a:solidFill>
              </a:rPr>
              <a:t>Given</a:t>
            </a:r>
            <a:endParaRPr lang="en-GB" altLang="en-US" sz="2400" dirty="0">
              <a:solidFill>
                <a:srgbClr val="FF3300"/>
              </a:solidFill>
            </a:endParaRPr>
          </a:p>
        </p:txBody>
      </p:sp>
      <p:sp>
        <p:nvSpPr>
          <p:cNvPr id="369670" name="Rectangle 6">
            <a:extLst>
              <a:ext uri="{FF2B5EF4-FFF2-40B4-BE49-F238E27FC236}">
                <a16:creationId xmlns:a16="http://schemas.microsoft.com/office/drawing/2014/main" id="{005E1CB5-B6E0-408E-9391-176FA2B81CD0}"/>
              </a:ext>
            </a:extLst>
          </p:cNvPr>
          <p:cNvSpPr>
            <a:spLocks noChangeArrowheads="1"/>
          </p:cNvSpPr>
          <p:nvPr/>
        </p:nvSpPr>
        <p:spPr bwMode="auto">
          <a:xfrm>
            <a:off x="6048376" y="4683570"/>
            <a:ext cx="2062163" cy="450850"/>
          </a:xfrm>
          <a:prstGeom prst="rect">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369671" name="AutoShape 7">
            <a:extLst>
              <a:ext uri="{FF2B5EF4-FFF2-40B4-BE49-F238E27FC236}">
                <a16:creationId xmlns:a16="http://schemas.microsoft.com/office/drawing/2014/main" id="{6BDAB055-9147-4886-9C51-B616763AF4C7}"/>
              </a:ext>
            </a:extLst>
          </p:cNvPr>
          <p:cNvSpPr>
            <a:spLocks noChangeArrowheads="1"/>
          </p:cNvSpPr>
          <p:nvPr/>
        </p:nvSpPr>
        <p:spPr bwMode="auto">
          <a:xfrm>
            <a:off x="8110539" y="3994561"/>
            <a:ext cx="1625600" cy="420688"/>
          </a:xfrm>
          <a:prstGeom prst="wedgeRectCallout">
            <a:avLst>
              <a:gd name="adj1" fmla="val -47167"/>
              <a:gd name="adj2" fmla="val 164338"/>
            </a:avLst>
          </a:prstGeom>
          <a:noFill/>
          <a:ln w="381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2400">
                <a:solidFill>
                  <a:schemeClr val="accent2"/>
                </a:solidFill>
              </a:rPr>
              <a:t>Definition</a:t>
            </a:r>
            <a:endParaRPr lang="en-GB" altLang="en-US" sz="240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9667">
                                            <p:txEl>
                                              <p:pRg st="2" end="2"/>
                                            </p:txEl>
                                          </p:spTgt>
                                        </p:tgtEl>
                                        <p:attrNameLst>
                                          <p:attrName>style.visibility</p:attrName>
                                        </p:attrNameLst>
                                      </p:cBhvr>
                                      <p:to>
                                        <p:strVal val="visible"/>
                                      </p:to>
                                    </p:set>
                                    <p:animEffect transition="in" filter="box(in)">
                                      <p:cBhvr>
                                        <p:cTn id="7" dur="500"/>
                                        <p:tgtEl>
                                          <p:spTgt spid="369667">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69667">
                                            <p:txEl>
                                              <p:pRg st="3" end="3"/>
                                            </p:txEl>
                                          </p:spTgt>
                                        </p:tgtEl>
                                        <p:attrNameLst>
                                          <p:attrName>style.visibility</p:attrName>
                                        </p:attrNameLst>
                                      </p:cBhvr>
                                      <p:to>
                                        <p:strVal val="visible"/>
                                      </p:to>
                                    </p:set>
                                    <p:animEffect transition="in" filter="box(in)">
                                      <p:cBhvr>
                                        <p:cTn id="10" dur="500"/>
                                        <p:tgtEl>
                                          <p:spTgt spid="369667">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369667">
                                            <p:txEl>
                                              <p:pRg st="4" end="4"/>
                                            </p:txEl>
                                          </p:spTgt>
                                        </p:tgtEl>
                                        <p:attrNameLst>
                                          <p:attrName>style.visibility</p:attrName>
                                        </p:attrNameLst>
                                      </p:cBhvr>
                                      <p:to>
                                        <p:strVal val="visible"/>
                                      </p:to>
                                    </p:set>
                                    <p:animEffect transition="in" filter="box(in)">
                                      <p:cBhvr>
                                        <p:cTn id="15" dur="500"/>
                                        <p:tgtEl>
                                          <p:spTgt spid="369667">
                                            <p:txEl>
                                              <p:pRg st="4" end="4"/>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69667">
                                            <p:txEl>
                                              <p:pRg st="5" end="5"/>
                                            </p:txEl>
                                          </p:spTgt>
                                        </p:tgtEl>
                                        <p:attrNameLst>
                                          <p:attrName>style.visibility</p:attrName>
                                        </p:attrNameLst>
                                      </p:cBhvr>
                                      <p:to>
                                        <p:strVal val="visible"/>
                                      </p:to>
                                    </p:set>
                                    <p:animEffect transition="in" filter="box(in)">
                                      <p:cBhvr>
                                        <p:cTn id="18" dur="500"/>
                                        <p:tgtEl>
                                          <p:spTgt spid="369667">
                                            <p:txEl>
                                              <p:pRg st="5" end="5"/>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69667">
                                            <p:txEl>
                                              <p:pRg st="6" end="6"/>
                                            </p:txEl>
                                          </p:spTgt>
                                        </p:tgtEl>
                                        <p:attrNameLst>
                                          <p:attrName>style.visibility</p:attrName>
                                        </p:attrNameLst>
                                      </p:cBhvr>
                                      <p:to>
                                        <p:strVal val="visible"/>
                                      </p:to>
                                    </p:set>
                                    <p:animEffect transition="in" filter="box(in)">
                                      <p:cBhvr>
                                        <p:cTn id="21" dur="500"/>
                                        <p:tgtEl>
                                          <p:spTgt spid="369667">
                                            <p:txEl>
                                              <p:pRg st="6" end="6"/>
                                            </p:txEl>
                                          </p:spTgt>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369669"/>
                                        </p:tgtEl>
                                        <p:attrNameLst>
                                          <p:attrName>style.visibility</p:attrName>
                                        </p:attrNameLst>
                                      </p:cBhvr>
                                      <p:to>
                                        <p:strVal val="visible"/>
                                      </p:to>
                                    </p:set>
                                    <p:animEffect transition="in" filter="box(in)">
                                      <p:cBhvr>
                                        <p:cTn id="24" dur="500"/>
                                        <p:tgtEl>
                                          <p:spTgt spid="369669"/>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369668"/>
                                        </p:tgtEl>
                                        <p:attrNameLst>
                                          <p:attrName>style.visibility</p:attrName>
                                        </p:attrNameLst>
                                      </p:cBhvr>
                                      <p:to>
                                        <p:strVal val="visible"/>
                                      </p:to>
                                    </p:set>
                                    <p:animEffect transition="in" filter="box(in)">
                                      <p:cBhvr>
                                        <p:cTn id="27" dur="500"/>
                                        <p:tgtEl>
                                          <p:spTgt spid="369668"/>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369670"/>
                                        </p:tgtEl>
                                        <p:attrNameLst>
                                          <p:attrName>style.visibility</p:attrName>
                                        </p:attrNameLst>
                                      </p:cBhvr>
                                      <p:to>
                                        <p:strVal val="visible"/>
                                      </p:to>
                                    </p:set>
                                    <p:animEffect transition="in" filter="box(in)">
                                      <p:cBhvr>
                                        <p:cTn id="30" dur="500"/>
                                        <p:tgtEl>
                                          <p:spTgt spid="369670"/>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369671"/>
                                        </p:tgtEl>
                                        <p:attrNameLst>
                                          <p:attrName>style.visibility</p:attrName>
                                        </p:attrNameLst>
                                      </p:cBhvr>
                                      <p:to>
                                        <p:strVal val="visible"/>
                                      </p:to>
                                    </p:set>
                                    <p:animEffect transition="in" filter="box(in)">
                                      <p:cBhvr>
                                        <p:cTn id="33" dur="500"/>
                                        <p:tgtEl>
                                          <p:spTgt spid="36967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nodeType="clickEffect">
                                  <p:stCondLst>
                                    <p:cond delay="0"/>
                                  </p:stCondLst>
                                  <p:childTnLst>
                                    <p:set>
                                      <p:cBhvr>
                                        <p:cTn id="37" dur="1" fill="hold">
                                          <p:stCondLst>
                                            <p:cond delay="0"/>
                                          </p:stCondLst>
                                        </p:cTn>
                                        <p:tgtEl>
                                          <p:spTgt spid="369667">
                                            <p:txEl>
                                              <p:pRg st="8" end="8"/>
                                            </p:txEl>
                                          </p:spTgt>
                                        </p:tgtEl>
                                        <p:attrNameLst>
                                          <p:attrName>style.visibility</p:attrName>
                                        </p:attrNameLst>
                                      </p:cBhvr>
                                      <p:to>
                                        <p:strVal val="visible"/>
                                      </p:to>
                                    </p:set>
                                    <p:animEffect transition="in" filter="box(in)">
                                      <p:cBhvr>
                                        <p:cTn id="38" dur="500"/>
                                        <p:tgtEl>
                                          <p:spTgt spid="3696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8" grpId="0" animBg="1"/>
      <p:bldP spid="369669" grpId="0" animBg="1"/>
      <p:bldP spid="369670" grpId="0" animBg="1"/>
      <p:bldP spid="36967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6D9CCB52-C5F0-4354-810E-7850180E48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C351302-4099-45EB-9825-F7E547F2B126}" type="slidenum">
              <a:rPr lang="en-GB" altLang="en-US" sz="1400">
                <a:latin typeface="Arial" panose="020B0604020202020204" pitchFamily="34" charset="0"/>
                <a:cs typeface="Arial" panose="020B0604020202020204" pitchFamily="34" charset="0"/>
              </a:rPr>
              <a:pPr>
                <a:spcBef>
                  <a:spcPct val="0"/>
                </a:spcBef>
                <a:buFontTx/>
                <a:buNone/>
              </a:pPr>
              <a:t>9</a:t>
            </a:fld>
            <a:endParaRPr lang="en-GB" altLang="en-US" sz="1400">
              <a:latin typeface="Arial" panose="020B0604020202020204" pitchFamily="34" charset="0"/>
              <a:cs typeface="Arial" panose="020B0604020202020204" pitchFamily="34" charset="0"/>
            </a:endParaRPr>
          </a:p>
        </p:txBody>
      </p:sp>
      <p:sp>
        <p:nvSpPr>
          <p:cNvPr id="10243" name="Rectangle 2">
            <a:extLst>
              <a:ext uri="{FF2B5EF4-FFF2-40B4-BE49-F238E27FC236}">
                <a16:creationId xmlns:a16="http://schemas.microsoft.com/office/drawing/2014/main" id="{1DDD1096-A654-4830-8ECC-A194580B9563}"/>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Assumptions: Note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10244" name="Rectangle 3">
            <a:extLst>
              <a:ext uri="{FF2B5EF4-FFF2-40B4-BE49-F238E27FC236}">
                <a16:creationId xmlns:a16="http://schemas.microsoft.com/office/drawing/2014/main" id="{A16FEE66-133E-4CA5-8AAF-F34F4CF94AA0}"/>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Note when proving statement of the form </a:t>
            </a:r>
          </a:p>
          <a:p>
            <a:pPr marL="0" indent="0">
              <a:buNone/>
            </a:pPr>
            <a:r>
              <a:rPr lang="en-US" altLang="en-US" sz="2400" i="1">
                <a:sym typeface="Symbol" panose="05050102010706020507" pitchFamily="18" charset="2"/>
              </a:rPr>
              <a:t>			P</a:t>
            </a:r>
            <a:r>
              <a:rPr lang="en-US" altLang="en-US" sz="2400">
                <a:sym typeface="Symbol" panose="05050102010706020507" pitchFamily="18" charset="2"/>
              </a:rPr>
              <a:t>  </a:t>
            </a:r>
            <a:r>
              <a:rPr lang="en-US" altLang="en-US" sz="2400" i="1">
                <a:sym typeface="Symbol" panose="05050102010706020507" pitchFamily="18" charset="2"/>
              </a:rPr>
              <a:t>Q</a:t>
            </a:r>
            <a:r>
              <a:rPr lang="en-US" altLang="en-US" sz="2400">
                <a:sym typeface="Symbol" panose="05050102010706020507" pitchFamily="18" charset="2"/>
              </a:rPr>
              <a:t>, </a:t>
            </a:r>
          </a:p>
          <a:p>
            <a:pPr marL="0" indent="0">
              <a:buNone/>
            </a:pPr>
            <a:r>
              <a:rPr lang="en-US" altLang="en-US" sz="2400">
                <a:sym typeface="Symbol" panose="05050102010706020507" pitchFamily="18" charset="2"/>
              </a:rPr>
              <a:t>the assumption is the statement </a:t>
            </a:r>
            <a:r>
              <a:rPr lang="en-US" altLang="en-US" sz="2400" i="1">
                <a:sym typeface="Symbol" panose="05050102010706020507" pitchFamily="18" charset="2"/>
              </a:rPr>
              <a:t>P </a:t>
            </a:r>
            <a:r>
              <a:rPr lang="en-US" altLang="en-US" sz="2400">
                <a:sym typeface="Symbol" panose="05050102010706020507" pitchFamily="18" charset="2"/>
              </a:rPr>
              <a:t>(which could be a list of things).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6">
            <a:extLst>
              <a:ext uri="{FF2B5EF4-FFF2-40B4-BE49-F238E27FC236}">
                <a16:creationId xmlns:a16="http://schemas.microsoft.com/office/drawing/2014/main" id="{83878D4C-6BFE-4204-ABCA-0A01B6381C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08AE23F-A981-4EB0-83CC-1FC74297A469}" type="slidenum">
              <a:rPr lang="en-GB" altLang="en-US" sz="1400">
                <a:latin typeface="Arial" panose="020B0604020202020204" pitchFamily="34" charset="0"/>
                <a:cs typeface="Arial" panose="020B0604020202020204" pitchFamily="34" charset="0"/>
              </a:rPr>
              <a:pPr>
                <a:spcBef>
                  <a:spcPct val="0"/>
                </a:spcBef>
                <a:buFontTx/>
                <a:buNone/>
              </a:pPr>
              <a:t>10</a:t>
            </a:fld>
            <a:endParaRPr lang="en-GB" altLang="en-US" sz="1400">
              <a:latin typeface="Arial" panose="020B0604020202020204" pitchFamily="34" charset="0"/>
              <a:cs typeface="Arial" panose="020B0604020202020204" pitchFamily="34" charset="0"/>
            </a:endParaRPr>
          </a:p>
        </p:txBody>
      </p:sp>
      <p:sp>
        <p:nvSpPr>
          <p:cNvPr id="11267" name="Rectangle 2">
            <a:extLst>
              <a:ext uri="{FF2B5EF4-FFF2-40B4-BE49-F238E27FC236}">
                <a16:creationId xmlns:a16="http://schemas.microsoft.com/office/drawing/2014/main" id="{70B28F3E-0853-4109-85F1-52B596999A34}"/>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Axioms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11268" name="Rectangle 3">
            <a:extLst>
              <a:ext uri="{FF2B5EF4-FFF2-40B4-BE49-F238E27FC236}">
                <a16:creationId xmlns:a16="http://schemas.microsoft.com/office/drawing/2014/main" id="{DEB55A62-394D-4FB9-B05F-6CBC92AC9BDB}"/>
              </a:ext>
            </a:extLst>
          </p:cNvPr>
          <p:cNvSpPr>
            <a:spLocks noGrp="1" noChangeArrowheads="1"/>
          </p:cNvSpPr>
          <p:nvPr>
            <p:ph type="body" sz="half" idx="1"/>
          </p:nvPr>
        </p:nvSpPr>
        <p:spPr>
          <a:xfrm>
            <a:off x="1981200" y="1600201"/>
            <a:ext cx="8248650" cy="4530725"/>
          </a:xfrm>
        </p:spPr>
        <p:txBody>
          <a:bodyPr/>
          <a:lstStyle/>
          <a:p>
            <a:pPr marL="0" indent="0">
              <a:buNone/>
            </a:pPr>
            <a:r>
              <a:rPr lang="en-US" altLang="en-US" sz="2400" b="1" i="1">
                <a:sym typeface="Symbol" panose="05050102010706020507" pitchFamily="18" charset="2"/>
              </a:rPr>
              <a:t>Axioms</a:t>
            </a:r>
            <a:r>
              <a:rPr lang="en-US" altLang="en-US" sz="2400">
                <a:sym typeface="Symbol" panose="05050102010706020507" pitchFamily="18" charset="2"/>
              </a:rPr>
              <a:t> are laws in Mathematics that hold true and require no proof.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6">
            <a:extLst>
              <a:ext uri="{FF2B5EF4-FFF2-40B4-BE49-F238E27FC236}">
                <a16:creationId xmlns:a16="http://schemas.microsoft.com/office/drawing/2014/main" id="{BC0C697B-4D74-4FA3-BE1B-3F2293DD03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6412A15-2478-42A8-92CE-D905A89101C1}" type="slidenum">
              <a:rPr lang="en-GB" altLang="en-US" sz="1400">
                <a:latin typeface="Arial" panose="020B0604020202020204" pitchFamily="34" charset="0"/>
                <a:cs typeface="Arial" panose="020B0604020202020204" pitchFamily="34" charset="0"/>
              </a:rPr>
              <a:pPr>
                <a:spcBef>
                  <a:spcPct val="0"/>
                </a:spcBef>
                <a:buFontTx/>
                <a:buNone/>
              </a:pPr>
              <a:t>11</a:t>
            </a:fld>
            <a:endParaRPr lang="en-GB" altLang="en-US" sz="1400">
              <a:latin typeface="Arial" panose="020B0604020202020204" pitchFamily="34" charset="0"/>
              <a:cs typeface="Arial" panose="020B0604020202020204" pitchFamily="34" charset="0"/>
            </a:endParaRPr>
          </a:p>
        </p:txBody>
      </p:sp>
      <p:sp>
        <p:nvSpPr>
          <p:cNvPr id="12291" name="Rectangle 2">
            <a:extLst>
              <a:ext uri="{FF2B5EF4-FFF2-40B4-BE49-F238E27FC236}">
                <a16:creationId xmlns:a16="http://schemas.microsoft.com/office/drawing/2014/main" id="{3FD5B7CE-2F4D-491A-8D36-5AB5F780E70A}"/>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Axioms: Examples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71715" name="Rectangle 3">
            <a:extLst>
              <a:ext uri="{FF2B5EF4-FFF2-40B4-BE49-F238E27FC236}">
                <a16:creationId xmlns:a16="http://schemas.microsoft.com/office/drawing/2014/main" id="{CF76508A-9D84-4E30-A348-320E05D86FFF}"/>
              </a:ext>
            </a:extLst>
          </p:cNvPr>
          <p:cNvSpPr>
            <a:spLocks noGrp="1" noChangeArrowheads="1"/>
          </p:cNvSpPr>
          <p:nvPr>
            <p:ph type="body" sz="half" idx="1"/>
          </p:nvPr>
        </p:nvSpPr>
        <p:spPr>
          <a:xfrm>
            <a:off x="1981200" y="1600201"/>
            <a:ext cx="8248650" cy="4530725"/>
          </a:xfrm>
        </p:spPr>
        <p:txBody>
          <a:bodyPr/>
          <a:lstStyle/>
          <a:p>
            <a:pPr marL="0" indent="0">
              <a:buNone/>
            </a:pPr>
            <a:r>
              <a:rPr lang="en-US" altLang="en-US" sz="2400">
                <a:sym typeface="Symbol" panose="05050102010706020507" pitchFamily="18" charset="2"/>
              </a:rPr>
              <a:t>Three properties of equality: for all objects </a:t>
            </a:r>
            <a:r>
              <a:rPr lang="en-US" altLang="en-US" sz="2400" i="1">
                <a:sym typeface="Symbol" panose="05050102010706020507" pitchFamily="18" charset="2"/>
              </a:rPr>
              <a:t>A</a:t>
            </a:r>
            <a:r>
              <a:rPr lang="en-US" altLang="en-US" sz="2400">
                <a:sym typeface="Symbol" panose="05050102010706020507" pitchFamily="18" charset="2"/>
              </a:rPr>
              <a:t>, </a:t>
            </a:r>
            <a:r>
              <a:rPr lang="en-US" altLang="en-US" sz="2400" i="1">
                <a:sym typeface="Symbol" panose="05050102010706020507" pitchFamily="18" charset="2"/>
              </a:rPr>
              <a:t>B</a:t>
            </a:r>
            <a:r>
              <a:rPr lang="en-US" altLang="en-US" sz="2400">
                <a:sym typeface="Symbol" panose="05050102010706020507" pitchFamily="18" charset="2"/>
              </a:rPr>
              <a:t> and </a:t>
            </a:r>
            <a:r>
              <a:rPr lang="en-US" altLang="en-US" sz="2400" i="1">
                <a:sym typeface="Symbol" panose="05050102010706020507" pitchFamily="18" charset="2"/>
              </a:rPr>
              <a:t>C</a:t>
            </a:r>
            <a:r>
              <a:rPr lang="en-US" altLang="en-US" sz="2400">
                <a:sym typeface="Symbol" panose="05050102010706020507" pitchFamily="18" charset="2"/>
              </a:rPr>
              <a:t>,</a:t>
            </a:r>
          </a:p>
          <a:p>
            <a:pPr marL="0" indent="0">
              <a:buNone/>
            </a:pPr>
            <a:r>
              <a:rPr lang="en-US" altLang="en-US" sz="2400">
                <a:sym typeface="Symbol" panose="05050102010706020507" pitchFamily="18" charset="2"/>
              </a:rPr>
              <a:t>(1)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A</a:t>
            </a:r>
          </a:p>
          <a:p>
            <a:pPr marL="0" indent="0">
              <a:buNone/>
            </a:pPr>
            <a:r>
              <a:rPr lang="en-US" altLang="en-US" sz="2400">
                <a:sym typeface="Symbol" panose="05050102010706020507" pitchFamily="18" charset="2"/>
              </a:rPr>
              <a:t>(2)	If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B</a:t>
            </a:r>
            <a:r>
              <a:rPr lang="en-US" altLang="en-US" sz="2400">
                <a:sym typeface="Symbol" panose="05050102010706020507" pitchFamily="18" charset="2"/>
              </a:rPr>
              <a:t> then </a:t>
            </a:r>
            <a:r>
              <a:rPr lang="en-US" altLang="en-US" sz="2400" i="1">
                <a:sym typeface="Symbol" panose="05050102010706020507" pitchFamily="18" charset="2"/>
              </a:rPr>
              <a:t>B</a:t>
            </a:r>
            <a:r>
              <a:rPr lang="en-US" altLang="en-US" sz="2400">
                <a:sym typeface="Symbol" panose="05050102010706020507" pitchFamily="18" charset="2"/>
              </a:rPr>
              <a:t> = </a:t>
            </a:r>
            <a:r>
              <a:rPr lang="en-US" altLang="en-US" sz="2400" i="1">
                <a:sym typeface="Symbol" panose="05050102010706020507" pitchFamily="18" charset="2"/>
              </a:rPr>
              <a:t>A</a:t>
            </a:r>
          </a:p>
          <a:p>
            <a:pPr marL="0" indent="0">
              <a:buNone/>
            </a:pPr>
            <a:r>
              <a:rPr lang="en-US" altLang="en-US" sz="2400">
                <a:sym typeface="Symbol" panose="05050102010706020507" pitchFamily="18" charset="2"/>
              </a:rPr>
              <a:t>(3)	If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B</a:t>
            </a:r>
            <a:r>
              <a:rPr lang="en-US" altLang="en-US" sz="2400">
                <a:sym typeface="Symbol" panose="05050102010706020507" pitchFamily="18" charset="2"/>
              </a:rPr>
              <a:t> and </a:t>
            </a:r>
            <a:r>
              <a:rPr lang="en-US" altLang="en-US" sz="2400" i="1">
                <a:sym typeface="Symbol" panose="05050102010706020507" pitchFamily="18" charset="2"/>
              </a:rPr>
              <a:t>B</a:t>
            </a:r>
            <a:r>
              <a:rPr lang="en-US" altLang="en-US" sz="2400">
                <a:sym typeface="Symbol" panose="05050102010706020507" pitchFamily="18" charset="2"/>
              </a:rPr>
              <a:t> = </a:t>
            </a:r>
            <a:r>
              <a:rPr lang="en-US" altLang="en-US" sz="2400" i="1">
                <a:sym typeface="Symbol" panose="05050102010706020507" pitchFamily="18" charset="2"/>
              </a:rPr>
              <a:t>C</a:t>
            </a:r>
            <a:r>
              <a:rPr lang="en-US" altLang="en-US" sz="2400">
                <a:sym typeface="Symbol" panose="05050102010706020507" pitchFamily="18" charset="2"/>
              </a:rPr>
              <a:t>, then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C</a:t>
            </a:r>
            <a:r>
              <a:rPr lang="en-US" altLang="en-US" sz="2400">
                <a:sym typeface="Symbol" panose="05050102010706020507" pitchFamily="18" charset="2"/>
              </a:rPr>
              <a:t>.</a:t>
            </a:r>
          </a:p>
          <a:p>
            <a:pPr marL="0" indent="0">
              <a:buNone/>
            </a:pPr>
            <a:r>
              <a:rPr lang="en-US" altLang="en-US" sz="2400">
                <a:sym typeface="Symbol" panose="05050102010706020507" pitchFamily="18" charset="2"/>
              </a:rPr>
              <a:t>	</a:t>
            </a:r>
          </a:p>
          <a:p>
            <a:pPr marL="0" indent="0">
              <a:buNone/>
            </a:pPr>
            <a:r>
              <a:rPr lang="en-US" altLang="en-US" sz="2400">
                <a:sym typeface="Symbol" panose="05050102010706020507" pitchFamily="18" charset="2"/>
              </a:rPr>
              <a:t>Existence of Identity Elements:</a:t>
            </a:r>
          </a:p>
          <a:p>
            <a:pPr marL="0" indent="0">
              <a:buNone/>
            </a:pPr>
            <a:r>
              <a:rPr lang="en-US" altLang="en-US" sz="2400">
                <a:sym typeface="Symbol" panose="05050102010706020507" pitchFamily="18" charset="2"/>
              </a:rPr>
              <a:t>0 +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a</a:t>
            </a:r>
            <a:r>
              <a:rPr lang="en-US" altLang="en-US" sz="2400">
                <a:sym typeface="Symbol" panose="05050102010706020507" pitchFamily="18" charset="2"/>
              </a:rPr>
              <a:t> + 0 = </a:t>
            </a:r>
            <a:r>
              <a:rPr lang="en-US" altLang="en-US" sz="2400" i="1">
                <a:sym typeface="Symbol" panose="05050102010706020507" pitchFamily="18" charset="2"/>
              </a:rPr>
              <a:t>a</a:t>
            </a:r>
            <a:r>
              <a:rPr lang="en-US" altLang="en-US" sz="2400">
                <a:sym typeface="Symbol" panose="05050102010706020507" pitchFamily="18" charset="2"/>
              </a:rPr>
              <a:t>	and 	1</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a</a:t>
            </a:r>
            <a:r>
              <a:rPr lang="en-US" altLang="en-US" sz="2400">
                <a:sym typeface="Symbol" panose="05050102010706020507" pitchFamily="18" charset="2"/>
              </a:rPr>
              <a:t> 1 = </a:t>
            </a:r>
            <a:r>
              <a:rPr lang="en-US" altLang="en-US" sz="2400" i="1">
                <a:sym typeface="Symbol" panose="05050102010706020507" pitchFamily="18" charset="2"/>
              </a:rPr>
              <a:t>a</a:t>
            </a:r>
          </a:p>
          <a:p>
            <a:pPr marL="0" indent="0">
              <a:buNone/>
            </a:pPr>
            <a:endParaRPr lang="en-US" altLang="en-US" sz="2400">
              <a:sym typeface="Symbol" panose="05050102010706020507" pitchFamily="18" charset="2"/>
            </a:endParaRPr>
          </a:p>
          <a:p>
            <a:pPr marL="0" indent="0">
              <a:buNone/>
            </a:pPr>
            <a:r>
              <a:rPr lang="en-US" altLang="en-US" sz="2400">
                <a:sym typeface="Symbol" panose="05050102010706020507" pitchFamily="18" charset="2"/>
              </a:rPr>
              <a:t>Existence of Additive Inverses:</a:t>
            </a:r>
          </a:p>
          <a:p>
            <a:pPr marL="0" indent="0">
              <a:buNone/>
            </a:pP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a</a:t>
            </a:r>
            <a:r>
              <a:rPr lang="en-US" altLang="en-US" sz="2400">
                <a:sym typeface="Symbol" panose="05050102010706020507" pitchFamily="18" charset="2"/>
              </a:rPr>
              <a:t>) + </a:t>
            </a:r>
            <a:r>
              <a:rPr lang="en-US" altLang="en-US" sz="2400" i="1">
                <a:sym typeface="Symbol" panose="05050102010706020507" pitchFamily="18" charset="2"/>
              </a:rPr>
              <a:t>a</a:t>
            </a:r>
            <a:r>
              <a:rPr lang="en-US" altLang="en-US" sz="2400">
                <a:sym typeface="Symbol" panose="05050102010706020507" pitchFamily="18" charset="2"/>
              </a:rPr>
              <a:t> = 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1715">
                                            <p:txEl>
                                              <p:pRg st="1" end="1"/>
                                            </p:txEl>
                                          </p:spTgt>
                                        </p:tgtEl>
                                        <p:attrNameLst>
                                          <p:attrName>style.visibility</p:attrName>
                                        </p:attrNameLst>
                                      </p:cBhvr>
                                      <p:to>
                                        <p:strVal val="visible"/>
                                      </p:to>
                                    </p:set>
                                    <p:animEffect transition="in" filter="box(in)">
                                      <p:cBhvr>
                                        <p:cTn id="7" dur="500"/>
                                        <p:tgtEl>
                                          <p:spTgt spid="3717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1715">
                                            <p:txEl>
                                              <p:pRg st="2" end="2"/>
                                            </p:txEl>
                                          </p:spTgt>
                                        </p:tgtEl>
                                        <p:attrNameLst>
                                          <p:attrName>style.visibility</p:attrName>
                                        </p:attrNameLst>
                                      </p:cBhvr>
                                      <p:to>
                                        <p:strVal val="visible"/>
                                      </p:to>
                                    </p:set>
                                    <p:animEffect transition="in" filter="box(in)">
                                      <p:cBhvr>
                                        <p:cTn id="12" dur="500"/>
                                        <p:tgtEl>
                                          <p:spTgt spid="3717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1715">
                                            <p:txEl>
                                              <p:pRg st="3" end="3"/>
                                            </p:txEl>
                                          </p:spTgt>
                                        </p:tgtEl>
                                        <p:attrNameLst>
                                          <p:attrName>style.visibility</p:attrName>
                                        </p:attrNameLst>
                                      </p:cBhvr>
                                      <p:to>
                                        <p:strVal val="visible"/>
                                      </p:to>
                                    </p:set>
                                    <p:animEffect transition="in" filter="box(in)">
                                      <p:cBhvr>
                                        <p:cTn id="17" dur="500"/>
                                        <p:tgtEl>
                                          <p:spTgt spid="37171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1715">
                                            <p:txEl>
                                              <p:pRg st="5" end="5"/>
                                            </p:txEl>
                                          </p:spTgt>
                                        </p:tgtEl>
                                        <p:attrNameLst>
                                          <p:attrName>style.visibility</p:attrName>
                                        </p:attrNameLst>
                                      </p:cBhvr>
                                      <p:to>
                                        <p:strVal val="visible"/>
                                      </p:to>
                                    </p:set>
                                    <p:animEffect transition="in" filter="box(in)">
                                      <p:cBhvr>
                                        <p:cTn id="22" dur="500"/>
                                        <p:tgtEl>
                                          <p:spTgt spid="371715">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71715">
                                            <p:txEl>
                                              <p:pRg st="6" end="6"/>
                                            </p:txEl>
                                          </p:spTgt>
                                        </p:tgtEl>
                                        <p:attrNameLst>
                                          <p:attrName>style.visibility</p:attrName>
                                        </p:attrNameLst>
                                      </p:cBhvr>
                                      <p:to>
                                        <p:strVal val="visible"/>
                                      </p:to>
                                    </p:set>
                                    <p:animEffect transition="in" filter="box(in)">
                                      <p:cBhvr>
                                        <p:cTn id="25" dur="500"/>
                                        <p:tgtEl>
                                          <p:spTgt spid="371715">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371715">
                                            <p:txEl>
                                              <p:pRg st="8" end="8"/>
                                            </p:txEl>
                                          </p:spTgt>
                                        </p:tgtEl>
                                        <p:attrNameLst>
                                          <p:attrName>style.visibility</p:attrName>
                                        </p:attrNameLst>
                                      </p:cBhvr>
                                      <p:to>
                                        <p:strVal val="visible"/>
                                      </p:to>
                                    </p:set>
                                    <p:animEffect transition="in" filter="box(in)">
                                      <p:cBhvr>
                                        <p:cTn id="30" dur="500"/>
                                        <p:tgtEl>
                                          <p:spTgt spid="371715">
                                            <p:txEl>
                                              <p:pRg st="8" end="8"/>
                                            </p:txEl>
                                          </p:spTgt>
                                        </p:tgtEl>
                                      </p:cBhvr>
                                    </p:animEffect>
                                  </p:childTnLst>
                                </p:cTn>
                              </p:par>
                              <p:par>
                                <p:cTn id="31" presetID="4" presetClass="entr" presetSubtype="16" fill="hold" nodeType="withEffect">
                                  <p:stCondLst>
                                    <p:cond delay="0"/>
                                  </p:stCondLst>
                                  <p:childTnLst>
                                    <p:set>
                                      <p:cBhvr>
                                        <p:cTn id="32" dur="1" fill="hold">
                                          <p:stCondLst>
                                            <p:cond delay="0"/>
                                          </p:stCondLst>
                                        </p:cTn>
                                        <p:tgtEl>
                                          <p:spTgt spid="371715">
                                            <p:txEl>
                                              <p:pRg st="9" end="9"/>
                                            </p:txEl>
                                          </p:spTgt>
                                        </p:tgtEl>
                                        <p:attrNameLst>
                                          <p:attrName>style.visibility</p:attrName>
                                        </p:attrNameLst>
                                      </p:cBhvr>
                                      <p:to>
                                        <p:strVal val="visible"/>
                                      </p:to>
                                    </p:set>
                                    <p:animEffect transition="in" filter="box(in)">
                                      <p:cBhvr>
                                        <p:cTn id="33" dur="500"/>
                                        <p:tgtEl>
                                          <p:spTgt spid="3717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6">
            <a:extLst>
              <a:ext uri="{FF2B5EF4-FFF2-40B4-BE49-F238E27FC236}">
                <a16:creationId xmlns:a16="http://schemas.microsoft.com/office/drawing/2014/main" id="{9A7D2E2C-9EA4-441E-81A5-10C1FEED882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6CF91ED-8D4C-4D5E-A813-261F37DA64C1}" type="slidenum">
              <a:rPr lang="en-GB" altLang="en-US" sz="1400">
                <a:latin typeface="Arial" panose="020B0604020202020204" pitchFamily="34" charset="0"/>
                <a:cs typeface="Arial" panose="020B0604020202020204" pitchFamily="34" charset="0"/>
              </a:rPr>
              <a:pPr>
                <a:spcBef>
                  <a:spcPct val="0"/>
                </a:spcBef>
                <a:buFontTx/>
                <a:buNone/>
              </a:pPr>
              <a:t>12</a:t>
            </a:fld>
            <a:endParaRPr lang="en-GB" altLang="en-US" sz="1400">
              <a:latin typeface="Arial" panose="020B0604020202020204" pitchFamily="34" charset="0"/>
              <a:cs typeface="Arial" panose="020B0604020202020204" pitchFamily="34" charset="0"/>
            </a:endParaRPr>
          </a:p>
        </p:txBody>
      </p:sp>
      <p:sp>
        <p:nvSpPr>
          <p:cNvPr id="13315" name="Rectangle 2">
            <a:extLst>
              <a:ext uri="{FF2B5EF4-FFF2-40B4-BE49-F238E27FC236}">
                <a16:creationId xmlns:a16="http://schemas.microsoft.com/office/drawing/2014/main" id="{0C783AE0-4A89-44EB-AE77-402F3CEFE795}"/>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Mathematical Rules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13316" name="Rectangle 3">
            <a:extLst>
              <a:ext uri="{FF2B5EF4-FFF2-40B4-BE49-F238E27FC236}">
                <a16:creationId xmlns:a16="http://schemas.microsoft.com/office/drawing/2014/main" id="{B69DA2DA-3811-48F0-8251-D0E5FA4F5B5F}"/>
              </a:ext>
            </a:extLst>
          </p:cNvPr>
          <p:cNvSpPr>
            <a:spLocks noGrp="1" noChangeArrowheads="1"/>
          </p:cNvSpPr>
          <p:nvPr>
            <p:ph type="body" sz="half" idx="1"/>
          </p:nvPr>
        </p:nvSpPr>
        <p:spPr>
          <a:xfrm>
            <a:off x="1981200" y="1600201"/>
            <a:ext cx="8248650" cy="4530725"/>
          </a:xfrm>
        </p:spPr>
        <p:txBody>
          <a:bodyPr/>
          <a:lstStyle/>
          <a:p>
            <a:pPr marL="0" indent="0">
              <a:buNone/>
            </a:pPr>
            <a:r>
              <a:rPr lang="en-US" altLang="en-US" sz="2400" b="1" i="1" dirty="0">
                <a:sym typeface="Symbol" panose="05050102010706020507" pitchFamily="18" charset="2"/>
              </a:rPr>
              <a:t>Mathematical Rules</a:t>
            </a:r>
            <a:r>
              <a:rPr lang="en-US" altLang="en-US" sz="2400" dirty="0">
                <a:sym typeface="Symbol" panose="05050102010706020507" pitchFamily="18" charset="2"/>
              </a:rPr>
              <a:t> are known rules that are often used in each branches of mathematics.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6">
            <a:extLst>
              <a:ext uri="{FF2B5EF4-FFF2-40B4-BE49-F238E27FC236}">
                <a16:creationId xmlns:a16="http://schemas.microsoft.com/office/drawing/2014/main" id="{1A5E4149-9221-4DF2-9A80-54A6C094B1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E15F6EE-6F6D-4BDF-A74C-388A36E60C8D}" type="slidenum">
              <a:rPr lang="en-GB" altLang="en-US" sz="1400">
                <a:latin typeface="Arial" panose="020B0604020202020204" pitchFamily="34" charset="0"/>
                <a:cs typeface="Arial" panose="020B0604020202020204" pitchFamily="34" charset="0"/>
              </a:rPr>
              <a:pPr>
                <a:spcBef>
                  <a:spcPct val="0"/>
                </a:spcBef>
                <a:buFontTx/>
                <a:buNone/>
              </a:pPr>
              <a:t>13</a:t>
            </a:fld>
            <a:endParaRPr lang="en-GB" altLang="en-US" sz="1400">
              <a:latin typeface="Arial" panose="020B0604020202020204" pitchFamily="34" charset="0"/>
              <a:cs typeface="Arial" panose="020B0604020202020204" pitchFamily="34" charset="0"/>
            </a:endParaRPr>
          </a:p>
        </p:txBody>
      </p:sp>
      <p:sp>
        <p:nvSpPr>
          <p:cNvPr id="14339" name="Rectangle 2">
            <a:extLst>
              <a:ext uri="{FF2B5EF4-FFF2-40B4-BE49-F238E27FC236}">
                <a16:creationId xmlns:a16="http://schemas.microsoft.com/office/drawing/2014/main" id="{C027A495-1979-42CA-B6D5-CA4CD426D9A2}"/>
              </a:ext>
            </a:extLst>
          </p:cNvPr>
          <p:cNvSpPr>
            <a:spLocks noGrp="1" noChangeArrowheads="1"/>
          </p:cNvSpPr>
          <p:nvPr>
            <p:ph type="title"/>
          </p:nvPr>
        </p:nvSpPr>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Mathematical Rules: Examples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72739" name="Rectangle 3">
            <a:extLst>
              <a:ext uri="{FF2B5EF4-FFF2-40B4-BE49-F238E27FC236}">
                <a16:creationId xmlns:a16="http://schemas.microsoft.com/office/drawing/2014/main" id="{8D79AD9B-7F02-47CC-B41A-60896230D9E4}"/>
              </a:ext>
            </a:extLst>
          </p:cNvPr>
          <p:cNvSpPr>
            <a:spLocks noGrp="1" noChangeArrowheads="1"/>
          </p:cNvSpPr>
          <p:nvPr>
            <p:ph type="body" sz="half" idx="1"/>
          </p:nvPr>
        </p:nvSpPr>
        <p:spPr>
          <a:xfrm>
            <a:off x="1981200" y="1600201"/>
            <a:ext cx="8248650" cy="4530725"/>
          </a:xfrm>
        </p:spPr>
        <p:txBody>
          <a:bodyPr/>
          <a:lstStyle/>
          <a:p>
            <a:pPr marL="0" indent="0" defTabSz="712788">
              <a:buNone/>
              <a:tabLst>
                <a:tab pos="903288" algn="l"/>
              </a:tabLst>
            </a:pP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y</a:t>
            </a:r>
            <a:r>
              <a:rPr lang="en-US" altLang="en-US" sz="2400" dirty="0">
                <a:sym typeface="Symbol" panose="05050102010706020507" pitchFamily="18" charset="2"/>
              </a:rPr>
              <a:t> then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z</a:t>
            </a:r>
            <a:r>
              <a:rPr lang="en-US" altLang="en-US" sz="2400" dirty="0">
                <a:sym typeface="Symbol" panose="05050102010706020507" pitchFamily="18" charset="2"/>
              </a:rPr>
              <a:t> = </a:t>
            </a:r>
            <a:r>
              <a:rPr lang="en-US" altLang="en-US" sz="2400" i="1" dirty="0">
                <a:sym typeface="Symbol" panose="05050102010706020507" pitchFamily="18" charset="2"/>
              </a:rPr>
              <a:t>y</a:t>
            </a:r>
            <a:r>
              <a:rPr lang="en-US" altLang="en-US" sz="2400" dirty="0">
                <a:sym typeface="Symbol" panose="05050102010706020507" pitchFamily="18" charset="2"/>
              </a:rPr>
              <a:t> + </a:t>
            </a:r>
            <a:r>
              <a:rPr lang="en-US" altLang="en-US" sz="2400" i="1" dirty="0">
                <a:sym typeface="Symbol" panose="05050102010706020507" pitchFamily="18" charset="2"/>
              </a:rPr>
              <a:t>z</a:t>
            </a:r>
            <a:r>
              <a:rPr lang="en-US" altLang="en-US" sz="2400" dirty="0">
                <a:sym typeface="Symbol" panose="05050102010706020507" pitchFamily="18" charset="2"/>
              </a:rPr>
              <a:t>.</a:t>
            </a:r>
          </a:p>
          <a:p>
            <a:pPr marL="903288" indent="-903288">
              <a:buNone/>
            </a:pPr>
            <a:r>
              <a:rPr lang="en-US" altLang="en-US" sz="2400" dirty="0">
                <a:sym typeface="Symbol" panose="05050102010706020507" pitchFamily="18" charset="2"/>
              </a:rPr>
              <a:t>	Principle of mathematical Induction (will be introduced shortly and will be studied in detailed in Unit 7).</a:t>
            </a:r>
          </a:p>
          <a:p>
            <a:pPr marL="903288" indent="-903288">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2739">
                                            <p:txEl>
                                              <p:pRg st="1" end="1"/>
                                            </p:txEl>
                                          </p:spTgt>
                                        </p:tgtEl>
                                        <p:attrNameLst>
                                          <p:attrName>style.visibility</p:attrName>
                                        </p:attrNameLst>
                                      </p:cBhvr>
                                      <p:to>
                                        <p:strVal val="visible"/>
                                      </p:to>
                                    </p:set>
                                    <p:animEffect transition="in" filter="box(in)">
                                      <p:cBhvr>
                                        <p:cTn id="7" dur="500"/>
                                        <p:tgtEl>
                                          <p:spTgt spid="3727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E8FFD6FE-4FF5-40A0-82BA-382A85293E1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A0087B1-496B-4806-91E3-14634799CF36}" type="slidenum">
              <a:rPr lang="en-GB" altLang="en-US" sz="1400">
                <a:latin typeface="Arial" panose="020B0604020202020204" pitchFamily="34" charset="0"/>
                <a:cs typeface="Arial" panose="020B0604020202020204" pitchFamily="34" charset="0"/>
              </a:rPr>
              <a:pPr>
                <a:spcBef>
                  <a:spcPct val="0"/>
                </a:spcBef>
                <a:buFontTx/>
                <a:buNone/>
              </a:pPr>
              <a:t>14</a:t>
            </a:fld>
            <a:endParaRPr lang="en-GB" altLang="en-US" sz="1400">
              <a:latin typeface="Arial" panose="020B0604020202020204" pitchFamily="34" charset="0"/>
              <a:cs typeface="Arial" panose="020B0604020202020204" pitchFamily="34" charset="0"/>
            </a:endParaRPr>
          </a:p>
        </p:txBody>
      </p:sp>
      <p:sp>
        <p:nvSpPr>
          <p:cNvPr id="15363" name="Rectangle 2">
            <a:extLst>
              <a:ext uri="{FF2B5EF4-FFF2-40B4-BE49-F238E27FC236}">
                <a16:creationId xmlns:a16="http://schemas.microsoft.com/office/drawing/2014/main" id="{70802AEB-0D64-4DDB-BF2D-3B564E275DC9}"/>
              </a:ext>
            </a:extLst>
          </p:cNvPr>
          <p:cNvSpPr>
            <a:spLocks noGrp="1" noChangeArrowheads="1"/>
          </p:cNvSpPr>
          <p:nvPr>
            <p:ph type="title"/>
          </p:nvPr>
        </p:nvSpPr>
        <p:spPr>
          <a:xfrm>
            <a:off x="1981200" y="449263"/>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Logical Rules</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270339" name="Rectangle 3">
            <a:extLst>
              <a:ext uri="{FF2B5EF4-FFF2-40B4-BE49-F238E27FC236}">
                <a16:creationId xmlns:a16="http://schemas.microsoft.com/office/drawing/2014/main" id="{3F2ADE1D-4E81-44CD-92F4-429C5EF08DF6}"/>
              </a:ext>
            </a:extLst>
          </p:cNvPr>
          <p:cNvSpPr>
            <a:spLocks noGrp="1" noChangeArrowheads="1"/>
          </p:cNvSpPr>
          <p:nvPr>
            <p:ph type="body" idx="1"/>
          </p:nvPr>
        </p:nvSpPr>
        <p:spPr>
          <a:xfrm>
            <a:off x="688769" y="1771651"/>
            <a:ext cx="10545287" cy="2693471"/>
          </a:xfrm>
        </p:spPr>
        <p:txBody>
          <a:bodyPr/>
          <a:lstStyle/>
          <a:p>
            <a:pPr marL="0" indent="0">
              <a:buNone/>
            </a:pPr>
            <a:r>
              <a:rPr lang="en-US" altLang="en-US" sz="2400" dirty="0"/>
              <a:t>The two commonly used </a:t>
            </a:r>
            <a:r>
              <a:rPr lang="en-US" altLang="en-US" sz="2400" b="1" i="1" dirty="0"/>
              <a:t>Logical rules</a:t>
            </a:r>
            <a:r>
              <a:rPr lang="en-US" altLang="en-US" sz="2400" dirty="0"/>
              <a:t> are rules such as </a:t>
            </a:r>
          </a:p>
          <a:p>
            <a:pPr marL="0" indent="0">
              <a:buNone/>
            </a:pPr>
            <a:endParaRPr lang="en-US" altLang="en-US" sz="1000" dirty="0"/>
          </a:p>
          <a:p>
            <a:pPr marL="0" indent="0">
              <a:buNone/>
            </a:pPr>
            <a:r>
              <a:rPr lang="en-US" altLang="en-US" sz="2400" dirty="0">
                <a:sym typeface="Symbol" panose="05050102010706020507" pitchFamily="18" charset="2"/>
              </a:rPr>
              <a:t>	</a:t>
            </a:r>
            <a:r>
              <a:rPr lang="en-US" altLang="en-US" sz="2400" dirty="0"/>
              <a:t>Modus Ponens</a:t>
            </a:r>
          </a:p>
          <a:p>
            <a:pPr marL="0" indent="0">
              <a:buNone/>
            </a:pPr>
            <a:r>
              <a:rPr lang="en-US" altLang="en-US" sz="2400" dirty="0">
                <a:sym typeface="Symbol" panose="05050102010706020507" pitchFamily="18" charset="2"/>
              </a:rPr>
              <a:t>	</a:t>
            </a:r>
            <a:r>
              <a:rPr lang="en-US" altLang="en-US" sz="2400" dirty="0"/>
              <a:t>Law of Syllogism</a:t>
            </a:r>
          </a:p>
          <a:p>
            <a:pPr marL="0" indent="0">
              <a:buNone/>
            </a:pPr>
            <a:endParaRPr lang="en-GB" altLang="en-US" sz="1000" dirty="0">
              <a:sym typeface="Symbol" panose="05050102010706020507" pitchFamily="18" charset="2"/>
            </a:endParaRPr>
          </a:p>
          <a:p>
            <a:pPr marL="0" indent="0">
              <a:buNone/>
            </a:pPr>
            <a:r>
              <a:rPr lang="en-GB" altLang="en-US" sz="2400" dirty="0">
                <a:sym typeface="Symbol" panose="05050102010706020507" pitchFamily="18" charset="2"/>
              </a:rPr>
              <a:t>that we will discuss after this.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70339">
                                            <p:txEl>
                                              <p:pRg st="2" end="2"/>
                                            </p:txEl>
                                          </p:spTgt>
                                        </p:tgtEl>
                                        <p:attrNameLst>
                                          <p:attrName>style.visibility</p:attrName>
                                        </p:attrNameLst>
                                      </p:cBhvr>
                                      <p:to>
                                        <p:strVal val="visible"/>
                                      </p:to>
                                    </p:set>
                                    <p:animEffect transition="in" filter="box(in)">
                                      <p:cBhvr>
                                        <p:cTn id="7" dur="500"/>
                                        <p:tgtEl>
                                          <p:spTgt spid="27033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70339">
                                            <p:txEl>
                                              <p:pRg st="3" end="3"/>
                                            </p:txEl>
                                          </p:spTgt>
                                        </p:tgtEl>
                                        <p:attrNameLst>
                                          <p:attrName>style.visibility</p:attrName>
                                        </p:attrNameLst>
                                      </p:cBhvr>
                                      <p:to>
                                        <p:strVal val="visible"/>
                                      </p:to>
                                    </p:set>
                                    <p:animEffect transition="in" filter="box(in)">
                                      <p:cBhvr>
                                        <p:cTn id="12" dur="500"/>
                                        <p:tgtEl>
                                          <p:spTgt spid="27033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70339">
                                            <p:txEl>
                                              <p:pRg st="5" end="5"/>
                                            </p:txEl>
                                          </p:spTgt>
                                        </p:tgtEl>
                                        <p:attrNameLst>
                                          <p:attrName>style.visibility</p:attrName>
                                        </p:attrNameLst>
                                      </p:cBhvr>
                                      <p:to>
                                        <p:strVal val="visible"/>
                                      </p:to>
                                    </p:set>
                                    <p:animEffect transition="in" filter="box(in)">
                                      <p:cBhvr>
                                        <p:cTn id="17" dur="500"/>
                                        <p:tgtEl>
                                          <p:spTgt spid="270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EF708EFF-93C2-48CB-8B8C-B3361CEB06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3E3E6E8-F6B7-461B-ABD4-E20C4BC22F25}" type="slidenum">
              <a:rPr lang="en-GB" altLang="en-US" sz="1400">
                <a:latin typeface="Arial" panose="020B0604020202020204" pitchFamily="34" charset="0"/>
                <a:cs typeface="Arial" panose="020B0604020202020204" pitchFamily="34" charset="0"/>
              </a:rPr>
              <a:pPr>
                <a:spcBef>
                  <a:spcPct val="0"/>
                </a:spcBef>
                <a:buFontTx/>
                <a:buNone/>
              </a:pPr>
              <a:t>15</a:t>
            </a:fld>
            <a:endParaRPr lang="en-GB" altLang="en-US" sz="1400">
              <a:latin typeface="Arial" panose="020B0604020202020204" pitchFamily="34" charset="0"/>
              <a:cs typeface="Arial" panose="020B0604020202020204" pitchFamily="34" charset="0"/>
            </a:endParaRPr>
          </a:p>
        </p:txBody>
      </p:sp>
      <p:sp>
        <p:nvSpPr>
          <p:cNvPr id="17411" name="Rectangle 2">
            <a:extLst>
              <a:ext uri="{FF2B5EF4-FFF2-40B4-BE49-F238E27FC236}">
                <a16:creationId xmlns:a16="http://schemas.microsoft.com/office/drawing/2014/main" id="{A0CB92AF-EC3C-4A77-BBE1-93C3EF86E3F6}"/>
              </a:ext>
            </a:extLst>
          </p:cNvPr>
          <p:cNvSpPr>
            <a:spLocks noGrp="1" noChangeArrowheads="1"/>
          </p:cNvSpPr>
          <p:nvPr>
            <p:ph type="title"/>
          </p:nvPr>
        </p:nvSpPr>
        <p:spPr>
          <a:xfrm>
            <a:off x="1959428" y="0"/>
            <a:ext cx="8229600" cy="735011"/>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Rule of Modus Ponens</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224259" name="Rectangle 3">
            <a:extLst>
              <a:ext uri="{FF2B5EF4-FFF2-40B4-BE49-F238E27FC236}">
                <a16:creationId xmlns:a16="http://schemas.microsoft.com/office/drawing/2014/main" id="{DC5AA261-CBFE-4622-BD7B-A0F05EF0E850}"/>
              </a:ext>
            </a:extLst>
          </p:cNvPr>
          <p:cNvSpPr>
            <a:spLocks noGrp="1" noChangeArrowheads="1"/>
          </p:cNvSpPr>
          <p:nvPr>
            <p:ph type="body" idx="1"/>
          </p:nvPr>
        </p:nvSpPr>
        <p:spPr>
          <a:xfrm>
            <a:off x="890649" y="1055687"/>
            <a:ext cx="9963397" cy="4881975"/>
          </a:xfrm>
        </p:spPr>
        <p:txBody>
          <a:bodyPr>
            <a:normAutofit/>
          </a:bodyPr>
          <a:lstStyle/>
          <a:p>
            <a:pPr marL="0" indent="0">
              <a:buNone/>
            </a:pPr>
            <a:r>
              <a:rPr lang="en-US" altLang="en-US" sz="2400" b="1" dirty="0">
                <a:solidFill>
                  <a:schemeClr val="folHlink"/>
                </a:solidFill>
              </a:rPr>
              <a:t>Rule of Modus Ponens</a:t>
            </a:r>
            <a:r>
              <a:rPr lang="en-US" altLang="en-US" sz="2400" b="1" dirty="0"/>
              <a:t>:</a:t>
            </a:r>
            <a:r>
              <a:rPr lang="en-US" altLang="en-US" sz="2400" b="1" dirty="0">
                <a:solidFill>
                  <a:schemeClr val="folHlink"/>
                </a:solidFill>
              </a:rPr>
              <a:t> </a:t>
            </a:r>
            <a:r>
              <a:rPr lang="en-US" altLang="en-US" sz="2400" dirty="0"/>
              <a:t>If </a:t>
            </a:r>
            <a:r>
              <a:rPr lang="en-US" altLang="en-US" sz="2400" i="1" dirty="0"/>
              <a:t>P</a:t>
            </a:r>
            <a:r>
              <a:rPr lang="en-US" altLang="en-US" sz="2400" dirty="0"/>
              <a:t> and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Q</a:t>
            </a:r>
            <a:r>
              <a:rPr lang="en-US" altLang="en-US" sz="2400" dirty="0">
                <a:sym typeface="Symbol" panose="05050102010706020507" pitchFamily="18" charset="2"/>
              </a:rPr>
              <a:t> are </a:t>
            </a:r>
            <a:r>
              <a:rPr lang="en-US" altLang="en-US" sz="2400" b="1" dirty="0">
                <a:solidFill>
                  <a:schemeClr val="accent2">
                    <a:lumMod val="50000"/>
                  </a:schemeClr>
                </a:solidFill>
                <a:sym typeface="Symbol" panose="05050102010706020507" pitchFamily="18" charset="2"/>
              </a:rPr>
              <a:t>both true</a:t>
            </a:r>
            <a:r>
              <a:rPr lang="en-US" altLang="en-US" sz="2400" dirty="0">
                <a:sym typeface="Symbol" panose="05050102010706020507" pitchFamily="18" charset="2"/>
              </a:rPr>
              <a:t>, then so is </a:t>
            </a:r>
            <a:r>
              <a:rPr lang="en-US" altLang="en-US" sz="2400" i="1" dirty="0">
                <a:sym typeface="Symbol" panose="05050102010706020507" pitchFamily="18" charset="2"/>
              </a:rPr>
              <a:t>Q</a:t>
            </a:r>
            <a:r>
              <a:rPr lang="en-US" altLang="en-US" sz="2400" dirty="0">
                <a:sym typeface="Symbol" panose="05050102010706020507" pitchFamily="18" charset="2"/>
              </a:rPr>
              <a:t>. This rule is based on the tautology (</a:t>
            </a:r>
            <a:r>
              <a:rPr lang="en-US" altLang="en-US" sz="2400" i="1" dirty="0">
                <a:sym typeface="Symbol" panose="05050102010706020507" pitchFamily="18" charset="2"/>
              </a:rPr>
              <a:t>P </a:t>
            </a:r>
            <a:r>
              <a:rPr lang="en-US" altLang="en-US" sz="2400" dirty="0">
                <a:sym typeface="Symbol" panose="05050102010706020507" pitchFamily="18" charset="2"/>
              </a:rPr>
              <a:t> (</a:t>
            </a:r>
            <a:r>
              <a:rPr lang="en-US" altLang="en-US" sz="2400" i="1" dirty="0"/>
              <a:t>P </a:t>
            </a:r>
            <a:r>
              <a:rPr lang="en-US" altLang="en-US" sz="2400" dirty="0">
                <a:sym typeface="Symbol" panose="05050102010706020507" pitchFamily="18" charset="2"/>
              </a:rPr>
              <a:t></a:t>
            </a:r>
            <a:r>
              <a:rPr lang="en-US" altLang="en-US" sz="2400" i="1" dirty="0">
                <a:sym typeface="Symbol" panose="05050102010706020507" pitchFamily="18" charset="2"/>
              </a:rPr>
              <a:t> Q</a:t>
            </a:r>
            <a:r>
              <a:rPr lang="en-US" altLang="en-US" sz="2400" dirty="0">
                <a:sym typeface="Symbol" panose="05050102010706020507" pitchFamily="18" charset="2"/>
              </a:rPr>
              <a:t>))  </a:t>
            </a:r>
            <a:r>
              <a:rPr lang="en-US" altLang="en-US" sz="2400" i="1" dirty="0">
                <a:sym typeface="Symbol" panose="05050102010706020507" pitchFamily="18" charset="2"/>
              </a:rPr>
              <a:t>Q.</a:t>
            </a:r>
            <a:endParaRPr lang="en-US" altLang="en-US" sz="2400" dirty="0">
              <a:sym typeface="Symbol" panose="05050102010706020507" pitchFamily="18" charset="2"/>
            </a:endParaRP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In other words, Modus Ponens simply says that if we know </a:t>
            </a:r>
            <a:r>
              <a:rPr lang="en-US" altLang="en-US" sz="2400" i="1" dirty="0">
                <a:sym typeface="Symbol" panose="05050102010706020507" pitchFamily="18" charset="2"/>
              </a:rPr>
              <a:t>P</a:t>
            </a:r>
            <a:r>
              <a:rPr lang="en-US" altLang="en-US" sz="2400" dirty="0">
                <a:sym typeface="Symbol" panose="05050102010706020507" pitchFamily="18" charset="2"/>
              </a:rPr>
              <a:t> to be true, and we know that </a:t>
            </a:r>
            <a:r>
              <a:rPr lang="en-US" altLang="en-US" sz="2400" i="1" dirty="0">
                <a:sym typeface="Symbol" panose="05050102010706020507" pitchFamily="18" charset="2"/>
              </a:rPr>
              <a:t>P</a:t>
            </a:r>
            <a:r>
              <a:rPr lang="en-US" altLang="en-US" sz="2400" dirty="0">
                <a:sym typeface="Symbol" panose="05050102010706020507" pitchFamily="18" charset="2"/>
              </a:rPr>
              <a:t> implies </a:t>
            </a:r>
            <a:r>
              <a:rPr lang="en-US" altLang="en-US" sz="2400" i="1" dirty="0">
                <a:sym typeface="Symbol" panose="05050102010706020507" pitchFamily="18" charset="2"/>
              </a:rPr>
              <a:t>Q</a:t>
            </a:r>
            <a:r>
              <a:rPr lang="en-US" altLang="en-US" sz="2400" dirty="0">
                <a:sym typeface="Symbol" panose="05050102010706020507" pitchFamily="18" charset="2"/>
              </a:rPr>
              <a:t>, then </a:t>
            </a:r>
            <a:r>
              <a:rPr lang="en-US" altLang="en-US" sz="2400" i="1" dirty="0">
                <a:sym typeface="Symbol" panose="05050102010706020507" pitchFamily="18" charset="2"/>
              </a:rPr>
              <a:t>Q</a:t>
            </a:r>
            <a:r>
              <a:rPr lang="en-US" altLang="en-US" sz="2400" dirty="0">
                <a:sym typeface="Symbol" panose="05050102010706020507" pitchFamily="18" charset="2"/>
              </a:rPr>
              <a:t> must also be true. It has the following form:</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If </a:t>
            </a:r>
            <a:r>
              <a:rPr lang="en-US" altLang="en-US" sz="2400" i="1" dirty="0">
                <a:sym typeface="Symbol" panose="05050102010706020507" pitchFamily="18" charset="2"/>
              </a:rPr>
              <a:t>P</a:t>
            </a:r>
            <a:r>
              <a:rPr lang="en-US" altLang="en-US" sz="2400" dirty="0">
                <a:sym typeface="Symbol" panose="05050102010706020507" pitchFamily="18" charset="2"/>
              </a:rPr>
              <a:t> then </a:t>
            </a:r>
            <a:r>
              <a:rPr lang="en-US" altLang="en-US" sz="2400" i="1" dirty="0">
                <a:sym typeface="Symbol" panose="05050102010706020507" pitchFamily="18" charset="2"/>
              </a:rPr>
              <a:t>Q</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P</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Q</a:t>
            </a:r>
          </a:p>
          <a:p>
            <a:pPr marL="0" indent="0">
              <a:buNone/>
            </a:pPr>
            <a:endParaRPr lang="en-US" altLang="en-US" sz="2400" i="1" dirty="0">
              <a:sym typeface="Symbol" panose="05050102010706020507" pitchFamily="18" charset="2"/>
            </a:endParaRPr>
          </a:p>
          <a:p>
            <a:pPr marL="0" indent="0">
              <a:buNone/>
            </a:pPr>
            <a:r>
              <a:rPr lang="en-US" altLang="en-US" sz="2400" dirty="0">
                <a:sym typeface="Symbol" panose="05050102010706020507" pitchFamily="18" charset="2"/>
              </a:rPr>
              <a:t>The following exercise demonstrates how Modus Ponens works.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4259">
                                            <p:txEl>
                                              <p:pRg st="2" end="2"/>
                                            </p:txEl>
                                          </p:spTgt>
                                        </p:tgtEl>
                                        <p:attrNameLst>
                                          <p:attrName>style.visibility</p:attrName>
                                        </p:attrNameLst>
                                      </p:cBhvr>
                                      <p:to>
                                        <p:strVal val="visible"/>
                                      </p:to>
                                    </p:set>
                                    <p:animEffect transition="in" filter="box(in)">
                                      <p:cBhvr>
                                        <p:cTn id="7" dur="500"/>
                                        <p:tgtEl>
                                          <p:spTgt spid="22425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24259">
                                            <p:txEl>
                                              <p:pRg st="4" end="4"/>
                                            </p:txEl>
                                          </p:spTgt>
                                        </p:tgtEl>
                                        <p:attrNameLst>
                                          <p:attrName>style.visibility</p:attrName>
                                        </p:attrNameLst>
                                      </p:cBhvr>
                                      <p:to>
                                        <p:strVal val="visible"/>
                                      </p:to>
                                    </p:set>
                                    <p:animEffect transition="in" filter="box(in)">
                                      <p:cBhvr>
                                        <p:cTn id="12" dur="500"/>
                                        <p:tgtEl>
                                          <p:spTgt spid="224259">
                                            <p:txEl>
                                              <p:pRg st="4" end="4"/>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24259">
                                            <p:txEl>
                                              <p:pRg st="5" end="5"/>
                                            </p:txEl>
                                          </p:spTgt>
                                        </p:tgtEl>
                                        <p:attrNameLst>
                                          <p:attrName>style.visibility</p:attrName>
                                        </p:attrNameLst>
                                      </p:cBhvr>
                                      <p:to>
                                        <p:strVal val="visible"/>
                                      </p:to>
                                    </p:set>
                                    <p:animEffect transition="in" filter="box(in)">
                                      <p:cBhvr>
                                        <p:cTn id="15" dur="500"/>
                                        <p:tgtEl>
                                          <p:spTgt spid="224259">
                                            <p:txEl>
                                              <p:pRg st="5" end="5"/>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24259">
                                            <p:txEl>
                                              <p:pRg st="6" end="6"/>
                                            </p:txEl>
                                          </p:spTgt>
                                        </p:tgtEl>
                                        <p:attrNameLst>
                                          <p:attrName>style.visibility</p:attrName>
                                        </p:attrNameLst>
                                      </p:cBhvr>
                                      <p:to>
                                        <p:strVal val="visible"/>
                                      </p:to>
                                    </p:set>
                                    <p:animEffect transition="in" filter="box(in)">
                                      <p:cBhvr>
                                        <p:cTn id="18" dur="500"/>
                                        <p:tgtEl>
                                          <p:spTgt spid="224259">
                                            <p:txEl>
                                              <p:pRg st="6" end="6"/>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224259">
                                            <p:txEl>
                                              <p:pRg st="8" end="8"/>
                                            </p:txEl>
                                          </p:spTgt>
                                        </p:tgtEl>
                                        <p:attrNameLst>
                                          <p:attrName>style.visibility</p:attrName>
                                        </p:attrNameLst>
                                      </p:cBhvr>
                                      <p:to>
                                        <p:strVal val="visible"/>
                                      </p:to>
                                    </p:set>
                                    <p:animEffect transition="in" filter="box(in)">
                                      <p:cBhvr>
                                        <p:cTn id="23" dur="500"/>
                                        <p:tgtEl>
                                          <p:spTgt spid="2242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94478C76-CC74-44E8-B83E-6E784547ED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3D0C653-9566-425C-A33D-0BD74E05C8EF}" type="slidenum">
              <a:rPr lang="en-GB" altLang="en-US" sz="1400">
                <a:latin typeface="Arial" panose="020B0604020202020204" pitchFamily="34" charset="0"/>
                <a:cs typeface="Arial" panose="020B0604020202020204" pitchFamily="34" charset="0"/>
              </a:rPr>
              <a:pPr>
                <a:spcBef>
                  <a:spcPct val="0"/>
                </a:spcBef>
                <a:buFontTx/>
                <a:buNone/>
              </a:pPr>
              <a:t>16</a:t>
            </a:fld>
            <a:endParaRPr lang="en-GB" altLang="en-US" sz="1400">
              <a:latin typeface="Arial" panose="020B0604020202020204" pitchFamily="34" charset="0"/>
              <a:cs typeface="Arial" panose="020B0604020202020204" pitchFamily="34" charset="0"/>
            </a:endParaRPr>
          </a:p>
        </p:txBody>
      </p:sp>
      <p:sp>
        <p:nvSpPr>
          <p:cNvPr id="18435" name="Rectangle 2">
            <a:extLst>
              <a:ext uri="{FF2B5EF4-FFF2-40B4-BE49-F238E27FC236}">
                <a16:creationId xmlns:a16="http://schemas.microsoft.com/office/drawing/2014/main" id="{F60F7DB4-F195-42D9-A7A5-EDAD11D5AFE6}"/>
              </a:ext>
            </a:extLst>
          </p:cNvPr>
          <p:cNvSpPr>
            <a:spLocks noGrp="1" noChangeArrowheads="1"/>
          </p:cNvSpPr>
          <p:nvPr>
            <p:ph type="title"/>
          </p:nvPr>
        </p:nvSpPr>
        <p:spPr>
          <a:xfrm>
            <a:off x="1981200" y="44926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Discussion: the use of Modus Ponens </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373763" name="Rectangle 3">
            <a:extLst>
              <a:ext uri="{FF2B5EF4-FFF2-40B4-BE49-F238E27FC236}">
                <a16:creationId xmlns:a16="http://schemas.microsoft.com/office/drawing/2014/main" id="{43D0434B-78AC-4019-960E-3E68BAA54BC3}"/>
              </a:ext>
            </a:extLst>
          </p:cNvPr>
          <p:cNvSpPr>
            <a:spLocks noGrp="1" noChangeArrowheads="1"/>
          </p:cNvSpPr>
          <p:nvPr>
            <p:ph type="body" idx="1"/>
          </p:nvPr>
        </p:nvSpPr>
        <p:spPr>
          <a:xfrm>
            <a:off x="986589" y="1771651"/>
            <a:ext cx="10507579" cy="4530725"/>
          </a:xfrm>
        </p:spPr>
        <p:txBody>
          <a:bodyPr/>
          <a:lstStyle/>
          <a:p>
            <a:pPr marL="0" indent="0">
              <a:buNone/>
            </a:pPr>
            <a:r>
              <a:rPr lang="en-US" altLang="en-US" sz="2400" dirty="0"/>
              <a:t>1.	 We have “</a:t>
            </a:r>
            <a:r>
              <a:rPr lang="en-US" altLang="en-US" sz="2400" i="1" dirty="0"/>
              <a:t>n </a:t>
            </a:r>
            <a:r>
              <a:rPr lang="en-US" altLang="en-US" sz="2400" dirty="0">
                <a:sym typeface="Symbol" panose="05050102010706020507" pitchFamily="18" charset="2"/>
              </a:rPr>
              <a:t> ℕ is even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 </a:t>
            </a:r>
            <a:r>
              <a:rPr lang="en-US" altLang="en-US" sz="2400" dirty="0"/>
              <a:t>from previously proved theorem</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a:t>
            </a:r>
          </a:p>
          <a:p>
            <a:pPr marL="0" indent="0">
              <a:buNone/>
            </a:pPr>
            <a:r>
              <a:rPr lang="en-US" altLang="en-US" sz="2400" dirty="0">
                <a:sym typeface="Symbol" panose="05050102010706020507" pitchFamily="18" charset="2"/>
              </a:rPr>
              <a:t>	Let </a:t>
            </a:r>
            <a:r>
              <a:rPr lang="en-US" altLang="en-US" sz="2400" i="1" dirty="0">
                <a:sym typeface="Symbol" panose="05050102010706020507" pitchFamily="18" charset="2"/>
              </a:rPr>
              <a:t>n</a:t>
            </a:r>
            <a:r>
              <a:rPr lang="en-US" altLang="en-US" sz="2400" dirty="0">
                <a:sym typeface="Symbol" panose="05050102010706020507" pitchFamily="18" charset="2"/>
              </a:rPr>
              <a:t> = 98374. </a:t>
            </a:r>
          </a:p>
          <a:p>
            <a:pPr marL="0" indent="0">
              <a:buNone/>
            </a:pPr>
            <a:r>
              <a:rPr lang="en-US" altLang="en-US" sz="2400" dirty="0">
                <a:sym typeface="Symbol" panose="05050102010706020507" pitchFamily="18" charset="2"/>
              </a:rPr>
              <a:t>	 98374</a:t>
            </a:r>
            <a:r>
              <a:rPr lang="en-US" altLang="en-US" sz="2400" baseline="30000" dirty="0">
                <a:sym typeface="Symbol" panose="05050102010706020507" pitchFamily="18" charset="2"/>
              </a:rPr>
              <a:t>2</a:t>
            </a:r>
            <a:r>
              <a:rPr lang="en-US" altLang="en-US" sz="2400" dirty="0">
                <a:sym typeface="Symbol" panose="05050102010706020507" pitchFamily="18" charset="2"/>
              </a:rPr>
              <a:t> is even? True or False? </a:t>
            </a:r>
          </a:p>
          <a:p>
            <a:pPr marL="0" indent="0">
              <a:buNone/>
            </a:pPr>
            <a:r>
              <a:rPr lang="en-US" altLang="en-US" sz="2400" dirty="0">
                <a:sym typeface="Symbol" panose="05050102010706020507" pitchFamily="18" charset="2"/>
              </a:rPr>
              <a:t>	</a:t>
            </a:r>
          </a:p>
          <a:p>
            <a:pPr marL="400050" lvl="1" indent="0">
              <a:buNone/>
            </a:pPr>
            <a:r>
              <a:rPr lang="en-US" altLang="en-US" sz="2000" dirty="0">
                <a:sym typeface="Symbol" panose="05050102010706020507" pitchFamily="18" charset="2"/>
              </a:rPr>
              <a:t>	n</a:t>
            </a:r>
            <a:r>
              <a:rPr lang="en-US" altLang="en-US" sz="2000" i="1" dirty="0"/>
              <a:t> </a:t>
            </a:r>
            <a:r>
              <a:rPr lang="en-US" altLang="en-US" sz="2000" dirty="0">
                <a:sym typeface="Symbol" panose="05050102010706020507" pitchFamily="18" charset="2"/>
              </a:rPr>
              <a:t> ℕ is even  </a:t>
            </a:r>
            <a:r>
              <a:rPr lang="en-US" altLang="en-US" sz="2000" i="1" dirty="0">
                <a:sym typeface="Symbol" panose="05050102010706020507" pitchFamily="18" charset="2"/>
              </a:rPr>
              <a:t>n</a:t>
            </a:r>
            <a:r>
              <a:rPr lang="en-US" altLang="en-US" sz="2000" baseline="30000" dirty="0">
                <a:sym typeface="Symbol" panose="05050102010706020507" pitchFamily="18" charset="2"/>
              </a:rPr>
              <a:t>2</a:t>
            </a:r>
            <a:r>
              <a:rPr lang="en-US" altLang="en-US" sz="2000" dirty="0">
                <a:sym typeface="Symbol" panose="05050102010706020507" pitchFamily="18" charset="2"/>
              </a:rPr>
              <a:t> is even</a:t>
            </a:r>
          </a:p>
          <a:p>
            <a:pPr marL="400050" lvl="1" indent="0">
              <a:buNone/>
            </a:pPr>
            <a:r>
              <a:rPr lang="en-US" altLang="en-US" sz="2000" dirty="0">
                <a:sym typeface="Symbol" panose="05050102010706020507" pitchFamily="18" charset="2"/>
              </a:rPr>
              <a:t>	98374 is even</a:t>
            </a:r>
          </a:p>
          <a:p>
            <a:pPr marL="400050" lvl="1" indent="0">
              <a:buNone/>
            </a:pPr>
            <a:r>
              <a:rPr lang="en-US" altLang="en-US" sz="2000" dirty="0">
                <a:sym typeface="Symbol" panose="05050102010706020507" pitchFamily="18" charset="2"/>
              </a:rPr>
              <a:t>	</a:t>
            </a:r>
            <a:r>
              <a:rPr lang="en-US" altLang="en-US" sz="2000" i="1" dirty="0">
                <a:sym typeface="Symbol" panose="05050102010706020507" pitchFamily="18" charset="2"/>
              </a:rPr>
              <a:t>98734</a:t>
            </a:r>
            <a:r>
              <a:rPr lang="en-US" altLang="en-US" sz="2000" baseline="30000" dirty="0">
                <a:sym typeface="Symbol" panose="05050102010706020507" pitchFamily="18" charset="2"/>
              </a:rPr>
              <a:t>2</a:t>
            </a:r>
            <a:r>
              <a:rPr lang="en-US" altLang="en-US" sz="2000" dirty="0">
                <a:sym typeface="Symbol" panose="05050102010706020507" pitchFamily="18" charset="2"/>
              </a:rPr>
              <a:t> is even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3763">
                                            <p:txEl>
                                              <p:pRg st="4" end="4"/>
                                            </p:txEl>
                                          </p:spTgt>
                                        </p:tgtEl>
                                        <p:attrNameLst>
                                          <p:attrName>style.visibility</p:attrName>
                                        </p:attrNameLst>
                                      </p:cBhvr>
                                      <p:to>
                                        <p:strVal val="visible"/>
                                      </p:to>
                                    </p:set>
                                    <p:animEffect transition="in" filter="box(in)">
                                      <p:cBhvr>
                                        <p:cTn id="7" dur="500"/>
                                        <p:tgtEl>
                                          <p:spTgt spid="37376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3763">
                                            <p:txEl>
                                              <p:pRg st="5" end="5"/>
                                            </p:txEl>
                                          </p:spTgt>
                                        </p:tgtEl>
                                        <p:attrNameLst>
                                          <p:attrName>style.visibility</p:attrName>
                                        </p:attrNameLst>
                                      </p:cBhvr>
                                      <p:to>
                                        <p:strVal val="visible"/>
                                      </p:to>
                                    </p:set>
                                    <p:animEffect transition="in" filter="box(in)">
                                      <p:cBhvr>
                                        <p:cTn id="12" dur="500"/>
                                        <p:tgtEl>
                                          <p:spTgt spid="373763">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3763">
                                            <p:txEl>
                                              <p:pRg st="6" end="6"/>
                                            </p:txEl>
                                          </p:spTgt>
                                        </p:tgtEl>
                                        <p:attrNameLst>
                                          <p:attrName>style.visibility</p:attrName>
                                        </p:attrNameLst>
                                      </p:cBhvr>
                                      <p:to>
                                        <p:strVal val="visible"/>
                                      </p:to>
                                    </p:set>
                                    <p:animEffect transition="in" filter="box(in)">
                                      <p:cBhvr>
                                        <p:cTn id="17" dur="500"/>
                                        <p:tgtEl>
                                          <p:spTgt spid="373763">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3763">
                                            <p:txEl>
                                              <p:pRg st="7" end="7"/>
                                            </p:txEl>
                                          </p:spTgt>
                                        </p:tgtEl>
                                        <p:attrNameLst>
                                          <p:attrName>style.visibility</p:attrName>
                                        </p:attrNameLst>
                                      </p:cBhvr>
                                      <p:to>
                                        <p:strVal val="visible"/>
                                      </p:to>
                                    </p:set>
                                    <p:animEffect transition="in" filter="box(in)">
                                      <p:cBhvr>
                                        <p:cTn id="22" dur="500"/>
                                        <p:tgtEl>
                                          <p:spTgt spid="3737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99C11AA1-C859-4112-A13F-9A6E60184B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A330171-9384-41F2-97DC-4AFC5EC10FBB}" type="slidenum">
              <a:rPr lang="en-GB" altLang="en-US" sz="1400">
                <a:latin typeface="Arial" panose="020B0604020202020204" pitchFamily="34" charset="0"/>
                <a:cs typeface="Arial" panose="020B0604020202020204" pitchFamily="34" charset="0"/>
              </a:rPr>
              <a:pPr>
                <a:spcBef>
                  <a:spcPct val="0"/>
                </a:spcBef>
                <a:buFontTx/>
                <a:buNone/>
              </a:pPr>
              <a:t>17</a:t>
            </a:fld>
            <a:endParaRPr lang="en-GB" altLang="en-US" sz="1400">
              <a:latin typeface="Arial" panose="020B0604020202020204" pitchFamily="34" charset="0"/>
              <a:cs typeface="Arial" panose="020B0604020202020204" pitchFamily="34" charset="0"/>
            </a:endParaRPr>
          </a:p>
        </p:txBody>
      </p:sp>
      <p:sp>
        <p:nvSpPr>
          <p:cNvPr id="19459" name="Rectangle 2">
            <a:extLst>
              <a:ext uri="{FF2B5EF4-FFF2-40B4-BE49-F238E27FC236}">
                <a16:creationId xmlns:a16="http://schemas.microsoft.com/office/drawing/2014/main" id="{40795C34-7CA9-491A-9738-4B79E3F1B531}"/>
              </a:ext>
            </a:extLst>
          </p:cNvPr>
          <p:cNvSpPr>
            <a:spLocks noGrp="1" noChangeArrowheads="1"/>
          </p:cNvSpPr>
          <p:nvPr>
            <p:ph type="title"/>
          </p:nvPr>
        </p:nvSpPr>
        <p:spPr>
          <a:xfrm>
            <a:off x="1850572" y="30163"/>
            <a:ext cx="8229600" cy="753608"/>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Discussion: the use of Modus Ponens </a:t>
            </a:r>
            <a:endParaRPr lang="en-GB" altLang="en-US" sz="3600" b="1" dirty="0">
              <a:solidFill>
                <a:schemeClr val="folHlink"/>
              </a:solidFill>
              <a:latin typeface="Times New Roman" panose="02020603050405020304" pitchFamily="18" charset="0"/>
              <a:cs typeface="Times New Roman" panose="02020603050405020304" pitchFamily="18" charset="0"/>
            </a:endParaRPr>
          </a:p>
        </p:txBody>
      </p:sp>
      <p:sp>
        <p:nvSpPr>
          <p:cNvPr id="19460" name="Rectangle 3">
            <a:extLst>
              <a:ext uri="{FF2B5EF4-FFF2-40B4-BE49-F238E27FC236}">
                <a16:creationId xmlns:a16="http://schemas.microsoft.com/office/drawing/2014/main" id="{C8CAB4B8-C37F-40C0-AF37-4320CFCBE4DC}"/>
              </a:ext>
            </a:extLst>
          </p:cNvPr>
          <p:cNvSpPr>
            <a:spLocks noGrp="1" noChangeArrowheads="1"/>
          </p:cNvSpPr>
          <p:nvPr>
            <p:ph type="body" idx="1"/>
          </p:nvPr>
        </p:nvSpPr>
        <p:spPr>
          <a:xfrm>
            <a:off x="0" y="999754"/>
            <a:ext cx="11982203" cy="5543549"/>
          </a:xfrm>
        </p:spPr>
        <p:txBody>
          <a:bodyPr>
            <a:normAutofit lnSpcReduction="10000"/>
          </a:bodyPr>
          <a:lstStyle/>
          <a:p>
            <a:pPr marL="712788" indent="-712788">
              <a:buNone/>
            </a:pPr>
            <a:r>
              <a:rPr lang="en-US" altLang="en-US" sz="2400" dirty="0"/>
              <a:t>2.	The Principle of Mathematical Induction says that when you have a statement, CLAIM(</a:t>
            </a:r>
            <a:r>
              <a:rPr lang="en-US" altLang="en-US" sz="2400" i="1" dirty="0"/>
              <a:t>n</a:t>
            </a:r>
            <a:r>
              <a:rPr lang="en-US" altLang="en-US" sz="2400" dirty="0"/>
              <a:t>), that concerns </a:t>
            </a:r>
            <a:r>
              <a:rPr lang="en-US" altLang="en-US" sz="2400" i="1" dirty="0"/>
              <a:t>n </a:t>
            </a:r>
            <a:r>
              <a:rPr lang="en-US" altLang="en-US" sz="2400" dirty="0">
                <a:sym typeface="Symbol" panose="05050102010706020507" pitchFamily="18" charset="2"/>
              </a:rPr>
              <a:t> ℕ,</a:t>
            </a:r>
            <a:r>
              <a:rPr lang="en-US" altLang="en-US" sz="2400" b="1" dirty="0">
                <a:sym typeface="Symbol" panose="05050102010706020507" pitchFamily="18" charset="2"/>
              </a:rPr>
              <a:t> if</a:t>
            </a:r>
          </a:p>
          <a:p>
            <a:pPr marL="0" indent="0">
              <a:buNone/>
            </a:pPr>
            <a:r>
              <a:rPr lang="en-US" altLang="en-US" sz="2400" dirty="0"/>
              <a:t>		a.	CLAIM(1) is true, AND </a:t>
            </a:r>
          </a:p>
          <a:p>
            <a:pPr marL="0" indent="0">
              <a:buNone/>
            </a:pPr>
            <a:r>
              <a:rPr lang="en-US" altLang="en-US" sz="2400" dirty="0"/>
              <a:t>		b.	CLAIM(</a:t>
            </a:r>
            <a:r>
              <a:rPr lang="en-US" altLang="en-US" sz="2400" i="1" dirty="0"/>
              <a:t>k</a:t>
            </a:r>
            <a:r>
              <a:rPr lang="en-US" altLang="en-US" sz="2400" dirty="0"/>
              <a:t>) </a:t>
            </a:r>
            <a:r>
              <a:rPr lang="en-US" altLang="en-US" sz="2400" dirty="0">
                <a:sym typeface="Symbol" panose="05050102010706020507" pitchFamily="18" charset="2"/>
              </a:rPr>
              <a:t> </a:t>
            </a:r>
            <a:r>
              <a:rPr lang="en-US" altLang="en-US" sz="2400" dirty="0"/>
              <a:t>CLAIM(</a:t>
            </a:r>
            <a:r>
              <a:rPr lang="en-US" altLang="en-US" sz="2400" i="1" dirty="0"/>
              <a:t>k</a:t>
            </a:r>
            <a:r>
              <a:rPr lang="en-US" altLang="en-US" sz="2400" dirty="0"/>
              <a:t> + 1) for all </a:t>
            </a:r>
            <a:r>
              <a:rPr lang="en-US" altLang="en-US" sz="2400" i="1" dirty="0"/>
              <a:t>k</a:t>
            </a:r>
            <a:r>
              <a:rPr lang="en-US" altLang="en-US" sz="2400" dirty="0"/>
              <a:t> </a:t>
            </a:r>
            <a:r>
              <a:rPr lang="en-US" altLang="en-US" sz="2400" dirty="0">
                <a:sym typeface="Symbol" panose="05050102010706020507" pitchFamily="18" charset="2"/>
              </a:rPr>
              <a:t> ℕ, </a:t>
            </a:r>
            <a:endParaRPr lang="en-US" altLang="en-US" sz="2400" dirty="0"/>
          </a:p>
          <a:p>
            <a:pPr marL="0" indent="0">
              <a:buNone/>
            </a:pPr>
            <a:r>
              <a:rPr lang="en-US" altLang="en-US" sz="2400" dirty="0"/>
              <a:t>	</a:t>
            </a:r>
            <a:r>
              <a:rPr lang="en-US" altLang="en-US" sz="2400" b="1" dirty="0"/>
              <a:t>then</a:t>
            </a:r>
            <a:r>
              <a:rPr lang="en-US" altLang="en-US" sz="2400" dirty="0"/>
              <a:t> CLAIM(</a:t>
            </a:r>
            <a:r>
              <a:rPr lang="en-US" altLang="en-US" sz="2400" i="1" dirty="0"/>
              <a:t>n</a:t>
            </a:r>
            <a:r>
              <a:rPr lang="en-US" altLang="en-US" sz="2400" dirty="0"/>
              <a:t>) is true for all </a:t>
            </a:r>
            <a:r>
              <a:rPr lang="en-US" altLang="en-US" sz="2400" i="1" dirty="0"/>
              <a:t>n</a:t>
            </a:r>
            <a:r>
              <a:rPr lang="en-US" altLang="en-US" sz="2400" dirty="0"/>
              <a:t> </a:t>
            </a:r>
            <a:r>
              <a:rPr lang="en-US" altLang="en-US" sz="2400" dirty="0">
                <a:sym typeface="Symbol" panose="05050102010706020507" pitchFamily="18" charset="2"/>
              </a:rPr>
              <a:t> ℕ.</a:t>
            </a:r>
          </a:p>
          <a:p>
            <a:pPr marL="0" indent="0">
              <a:buNone/>
            </a:pPr>
            <a:r>
              <a:rPr lang="en-US" altLang="en-US" sz="2400" dirty="0">
                <a:sym typeface="Symbol" panose="05050102010706020507" pitchFamily="18" charset="2"/>
              </a:rPr>
              <a:t>		</a:t>
            </a:r>
          </a:p>
          <a:p>
            <a:pPr marL="1887538" lvl="2" indent="-1174750">
              <a:buNone/>
              <a:tabLst>
                <a:tab pos="4037013" algn="l"/>
              </a:tabLst>
            </a:pPr>
            <a:r>
              <a:rPr lang="en-US" altLang="en-US" sz="2400" dirty="0">
                <a:sym typeface="Symbol" panose="05050102010706020507" pitchFamily="18" charset="2"/>
              </a:rPr>
              <a:t>Question: According to Modus Ponens, what must we establish so we can apply this principle to the following statement and be able to say “</a:t>
            </a:r>
            <a:r>
              <a:rPr lang="en-US" altLang="en-US" sz="2400" dirty="0"/>
              <a:t>CLAIM(</a:t>
            </a:r>
            <a:r>
              <a:rPr lang="en-US" altLang="en-US" sz="2400" i="1" dirty="0"/>
              <a:t>n</a:t>
            </a:r>
            <a:r>
              <a:rPr lang="en-US" altLang="en-US" sz="2400" dirty="0"/>
              <a:t>) is true for all </a:t>
            </a:r>
            <a:r>
              <a:rPr lang="en-US" altLang="en-US" sz="2400" i="1" dirty="0"/>
              <a:t>n</a:t>
            </a:r>
            <a:r>
              <a:rPr lang="en-US" altLang="en-US" sz="2400" dirty="0"/>
              <a:t> </a:t>
            </a:r>
            <a:r>
              <a:rPr lang="en-US" altLang="en-US" sz="2400" dirty="0">
                <a:sym typeface="Symbol" panose="05050102010706020507" pitchFamily="18" charset="2"/>
              </a:rPr>
              <a:t> ℕ”?</a:t>
            </a:r>
          </a:p>
          <a:p>
            <a:pPr marL="0" indent="0" defTabSz="630238">
              <a:buNone/>
              <a:tabLst>
                <a:tab pos="1887538" algn="l"/>
              </a:tabLst>
            </a:pPr>
            <a:r>
              <a:rPr lang="en-US" altLang="en-US" sz="2400" dirty="0">
                <a:sym typeface="Symbol" panose="05050102010706020507" pitchFamily="18" charset="2"/>
              </a:rPr>
              <a:t>		 </a:t>
            </a:r>
            <a:r>
              <a:rPr lang="en-US" altLang="en-US" sz="2400" dirty="0"/>
              <a:t>CLAIM(</a:t>
            </a:r>
            <a:r>
              <a:rPr lang="en-US" altLang="en-US" sz="2400" i="1" dirty="0"/>
              <a:t>n</a:t>
            </a:r>
            <a:r>
              <a:rPr lang="en-US" altLang="en-US" sz="2400" dirty="0"/>
              <a:t>): 4</a:t>
            </a:r>
            <a:r>
              <a:rPr lang="en-US" altLang="en-US" sz="2400" i="1" baseline="30000" dirty="0"/>
              <a:t>n</a:t>
            </a:r>
            <a:r>
              <a:rPr lang="en-US" altLang="en-US" sz="2400" dirty="0"/>
              <a:t> – 1 is a multiple of 3.</a:t>
            </a:r>
            <a:endParaRPr lang="en-US" altLang="en-US" sz="2400" dirty="0">
              <a:ea typeface="MS PGothic" panose="020B0600070205080204" pitchFamily="34" charset="-128"/>
            </a:endParaRPr>
          </a:p>
          <a:p>
            <a:pPr marL="0" indent="0">
              <a:buNone/>
            </a:pPr>
            <a:r>
              <a:rPr lang="en-US" altLang="en-US" sz="2400" dirty="0"/>
              <a:t>	</a:t>
            </a:r>
          </a:p>
          <a:p>
            <a:pPr marL="0" indent="0">
              <a:buNone/>
              <a:tabLst>
                <a:tab pos="355600" algn="l"/>
                <a:tab pos="712788" algn="l"/>
              </a:tabLst>
            </a:pPr>
            <a:r>
              <a:rPr lang="en-US" altLang="en-US" sz="2400" dirty="0"/>
              <a:t>		Answer: We must show that:</a:t>
            </a:r>
          </a:p>
          <a:p>
            <a:pPr marL="0" indent="0">
              <a:buNone/>
            </a:pPr>
            <a:r>
              <a:rPr lang="en-US" altLang="en-US" sz="2400" dirty="0"/>
              <a:t> 		a.	CLAIM(1) is true, AND </a:t>
            </a:r>
          </a:p>
          <a:p>
            <a:pPr marL="0" indent="0">
              <a:buNone/>
            </a:pPr>
            <a:r>
              <a:rPr lang="en-US" altLang="en-US" sz="2400" dirty="0"/>
              <a:t>		b.	CLAIM(</a:t>
            </a:r>
            <a:r>
              <a:rPr lang="en-US" altLang="en-US" sz="2400" i="1" dirty="0"/>
              <a:t>k</a:t>
            </a:r>
            <a:r>
              <a:rPr lang="en-US" altLang="en-US" sz="2400" dirty="0"/>
              <a:t>) </a:t>
            </a:r>
            <a:r>
              <a:rPr lang="en-US" altLang="en-US" sz="2400" dirty="0">
                <a:sym typeface="Symbol" panose="05050102010706020507" pitchFamily="18" charset="2"/>
              </a:rPr>
              <a:t> </a:t>
            </a:r>
            <a:r>
              <a:rPr lang="en-US" altLang="en-US" sz="2400" dirty="0"/>
              <a:t>CLAIM(</a:t>
            </a:r>
            <a:r>
              <a:rPr lang="en-US" altLang="en-US" sz="2400" i="1" dirty="0"/>
              <a:t>k</a:t>
            </a:r>
            <a:r>
              <a:rPr lang="en-US" altLang="en-US" sz="2400" dirty="0"/>
              <a:t> + 1) for all </a:t>
            </a:r>
            <a:r>
              <a:rPr lang="en-US" altLang="en-US" sz="2400" i="1" dirty="0"/>
              <a:t>k</a:t>
            </a:r>
            <a:r>
              <a:rPr lang="en-US" altLang="en-US" sz="2400" dirty="0"/>
              <a:t> </a:t>
            </a:r>
            <a:r>
              <a:rPr lang="en-US" altLang="en-US" sz="2400" dirty="0">
                <a:sym typeface="Symbol" panose="05050102010706020507" pitchFamily="18" charset="2"/>
              </a:rPr>
              <a:t> ℕ</a:t>
            </a:r>
          </a:p>
          <a:p>
            <a:pPr marL="0" indent="0">
              <a:buNone/>
            </a:pPr>
            <a:endParaRPr lang="en-US" altLang="en-US" sz="2400" dirty="0">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423D91CB-C855-4A9F-A499-82CBF7CA3D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FE58228-2C90-4AAF-89FE-502A69CA25E8}" type="slidenum">
              <a:rPr lang="en-GB" altLang="en-US" sz="1400">
                <a:latin typeface="Arial" panose="020B0604020202020204" pitchFamily="34" charset="0"/>
                <a:cs typeface="Arial" panose="020B0604020202020204" pitchFamily="34" charset="0"/>
              </a:rPr>
              <a:pPr>
                <a:spcBef>
                  <a:spcPct val="0"/>
                </a:spcBef>
                <a:buFontTx/>
                <a:buNone/>
              </a:pPr>
              <a:t>18</a:t>
            </a:fld>
            <a:endParaRPr lang="en-GB" altLang="en-US" sz="1400">
              <a:latin typeface="Arial" panose="020B0604020202020204" pitchFamily="34" charset="0"/>
              <a:cs typeface="Arial" panose="020B0604020202020204" pitchFamily="34" charset="0"/>
            </a:endParaRPr>
          </a:p>
        </p:txBody>
      </p:sp>
      <p:sp>
        <p:nvSpPr>
          <p:cNvPr id="22531" name="Rectangle 2">
            <a:extLst>
              <a:ext uri="{FF2B5EF4-FFF2-40B4-BE49-F238E27FC236}">
                <a16:creationId xmlns:a16="http://schemas.microsoft.com/office/drawing/2014/main" id="{68B83099-0647-470F-A66C-273FB2E1CB7F}"/>
              </a:ext>
            </a:extLst>
          </p:cNvPr>
          <p:cNvSpPr>
            <a:spLocks noGrp="1" noChangeArrowheads="1"/>
          </p:cNvSpPr>
          <p:nvPr>
            <p:ph type="title"/>
          </p:nvPr>
        </p:nvSpPr>
        <p:spPr>
          <a:xfrm>
            <a:off x="1981200" y="136525"/>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Law Of Syllogism</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77859" name="Rectangle 3">
            <a:extLst>
              <a:ext uri="{FF2B5EF4-FFF2-40B4-BE49-F238E27FC236}">
                <a16:creationId xmlns:a16="http://schemas.microsoft.com/office/drawing/2014/main" id="{975B3296-714F-446F-977B-552DC0C83217}"/>
              </a:ext>
            </a:extLst>
          </p:cNvPr>
          <p:cNvSpPr>
            <a:spLocks noGrp="1" noChangeArrowheads="1"/>
          </p:cNvSpPr>
          <p:nvPr>
            <p:ph type="body" idx="1"/>
          </p:nvPr>
        </p:nvSpPr>
        <p:spPr>
          <a:xfrm>
            <a:off x="795647" y="1279526"/>
            <a:ext cx="10236530" cy="4748213"/>
          </a:xfrm>
        </p:spPr>
        <p:txBody>
          <a:bodyPr>
            <a:normAutofit/>
          </a:bodyPr>
          <a:lstStyle/>
          <a:p>
            <a:pPr marL="0" indent="0">
              <a:buNone/>
            </a:pPr>
            <a:r>
              <a:rPr lang="en-US" altLang="en-US" sz="2400" dirty="0">
                <a:sym typeface="Symbol" panose="05050102010706020507" pitchFamily="18" charset="2"/>
              </a:rPr>
              <a:t>An argument consisting two assumptions and a conclusion is called a </a:t>
            </a:r>
            <a:r>
              <a:rPr lang="en-US" altLang="en-US" sz="2400" b="1" dirty="0">
                <a:solidFill>
                  <a:schemeClr val="accent2">
                    <a:lumMod val="50000"/>
                  </a:schemeClr>
                </a:solidFill>
                <a:sym typeface="Symbol" panose="05050102010706020507" pitchFamily="18" charset="2"/>
              </a:rPr>
              <a:t>syllogism</a:t>
            </a:r>
            <a:r>
              <a:rPr lang="en-US" altLang="en-US" sz="2400" dirty="0">
                <a:sym typeface="Symbol" panose="05050102010706020507" pitchFamily="18" charset="2"/>
              </a:rPr>
              <a:t>. Modus ponens is the most famous form of syllogism.</a:t>
            </a:r>
          </a:p>
          <a:p>
            <a:pPr marL="0" indent="0">
              <a:buNone/>
            </a:pPr>
            <a:endParaRPr lang="en-US" altLang="en-US" sz="2400" b="1" dirty="0">
              <a:solidFill>
                <a:srgbClr val="FFFF00"/>
              </a:solidFill>
              <a:sym typeface="Symbol" panose="05050102010706020507" pitchFamily="18" charset="2"/>
            </a:endParaRPr>
          </a:p>
          <a:p>
            <a:pPr marL="0" indent="0">
              <a:buNone/>
            </a:pPr>
            <a:r>
              <a:rPr lang="en-US" altLang="en-US" sz="2400" b="1" dirty="0">
                <a:solidFill>
                  <a:schemeClr val="accent2">
                    <a:lumMod val="50000"/>
                  </a:schemeClr>
                </a:solidFill>
                <a:sym typeface="Symbol" panose="05050102010706020507" pitchFamily="18" charset="2"/>
              </a:rPr>
              <a:t>Law of  Syllogism</a:t>
            </a:r>
            <a:r>
              <a:rPr lang="en-US" altLang="en-US" sz="2400" dirty="0">
                <a:sym typeface="Symbol" panose="05050102010706020507" pitchFamily="18" charset="2"/>
              </a:rPr>
              <a:t>: If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Q</a:t>
            </a:r>
            <a:r>
              <a:rPr lang="en-US" altLang="en-US" sz="2400" dirty="0"/>
              <a:t> </a:t>
            </a:r>
            <a:r>
              <a:rPr lang="en-US" altLang="en-US" sz="2400" dirty="0">
                <a:sym typeface="Symbol" panose="05050102010706020507" pitchFamily="18" charset="2"/>
              </a:rPr>
              <a:t>and </a:t>
            </a:r>
            <a:r>
              <a:rPr lang="en-US" altLang="en-US" sz="2400" i="1" dirty="0"/>
              <a:t>Q</a:t>
            </a:r>
            <a:r>
              <a:rPr lang="en-US" altLang="en-US" sz="2400" dirty="0"/>
              <a:t> </a:t>
            </a:r>
            <a:r>
              <a:rPr lang="en-US" altLang="en-US" sz="2400" dirty="0">
                <a:sym typeface="Symbol" panose="05050102010706020507" pitchFamily="18" charset="2"/>
              </a:rPr>
              <a:t> </a:t>
            </a:r>
            <a:r>
              <a:rPr lang="en-US" altLang="en-US" sz="2400" i="1" dirty="0"/>
              <a:t>R </a:t>
            </a:r>
            <a:r>
              <a:rPr lang="en-US" altLang="en-US" sz="2400" dirty="0">
                <a:sym typeface="Symbol" panose="05050102010706020507" pitchFamily="18" charset="2"/>
              </a:rPr>
              <a:t>are both true, then so is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R.</a:t>
            </a:r>
            <a:r>
              <a:rPr lang="en-US" altLang="en-US" sz="2400" dirty="0">
                <a:sym typeface="Symbol" panose="05050102010706020507" pitchFamily="18" charset="2"/>
              </a:rPr>
              <a:t> This law is based on the tautology [(</a:t>
            </a:r>
            <a:r>
              <a:rPr lang="en-US" altLang="en-US" sz="2400" i="1" dirty="0">
                <a:sym typeface="Symbol" panose="05050102010706020507" pitchFamily="18" charset="2"/>
              </a:rPr>
              <a:t>P </a:t>
            </a:r>
            <a:r>
              <a:rPr lang="en-US" altLang="en-US" sz="2400" dirty="0">
                <a:sym typeface="Symbol" panose="05050102010706020507" pitchFamily="18" charset="2"/>
              </a:rPr>
              <a:t></a:t>
            </a:r>
            <a:r>
              <a:rPr lang="en-US" altLang="en-US" sz="2400" i="1" dirty="0">
                <a:sym typeface="Symbol" panose="05050102010706020507" pitchFamily="18" charset="2"/>
              </a:rPr>
              <a:t> Q </a:t>
            </a:r>
            <a:r>
              <a:rPr lang="en-US" altLang="en-US" sz="2400" dirty="0">
                <a:sym typeface="Symbol" panose="05050102010706020507" pitchFamily="18" charset="2"/>
              </a:rPr>
              <a:t>)  (</a:t>
            </a:r>
            <a:r>
              <a:rPr lang="en-US" altLang="en-US" sz="2400" i="1" dirty="0"/>
              <a:t>Q </a:t>
            </a:r>
            <a:r>
              <a:rPr lang="en-US" altLang="en-US" sz="2400" i="1" dirty="0">
                <a:sym typeface="Symbol" panose="05050102010706020507" pitchFamily="18" charset="2"/>
              </a:rPr>
              <a:t> R</a:t>
            </a:r>
            <a:r>
              <a:rPr lang="en-US" altLang="en-US" sz="2400" dirty="0">
                <a:sym typeface="Symbol" panose="05050102010706020507" pitchFamily="18" charset="2"/>
              </a:rPr>
              <a:t>)]  (</a:t>
            </a:r>
            <a:r>
              <a:rPr lang="en-US" altLang="en-US" sz="2400" i="1" dirty="0">
                <a:sym typeface="Symbol" panose="05050102010706020507" pitchFamily="18" charset="2"/>
              </a:rPr>
              <a:t>P </a:t>
            </a:r>
            <a:r>
              <a:rPr lang="en-US" altLang="en-US" sz="2400" dirty="0">
                <a:sym typeface="Symbol" panose="05050102010706020507" pitchFamily="18" charset="2"/>
              </a:rPr>
              <a:t></a:t>
            </a:r>
            <a:r>
              <a:rPr lang="en-US" altLang="en-US" sz="2400" i="1" dirty="0">
                <a:sym typeface="Symbol" panose="05050102010706020507" pitchFamily="18" charset="2"/>
              </a:rPr>
              <a:t> R</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Most results in Mathematics that require proof are of the form </a:t>
            </a:r>
          </a:p>
          <a:p>
            <a:pPr marL="0" indent="0">
              <a:buNone/>
            </a:pP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R. </a:t>
            </a:r>
          </a:p>
          <a:p>
            <a:pPr marL="0" indent="0">
              <a:buNone/>
            </a:pPr>
            <a:endParaRPr lang="en-US" altLang="en-US" sz="2400" i="1" dirty="0"/>
          </a:p>
          <a:p>
            <a:pPr marL="0" indent="0">
              <a:buNone/>
            </a:pPr>
            <a:r>
              <a:rPr lang="en-US" altLang="en-US" sz="2400" dirty="0"/>
              <a:t>The Law of Syllogism provides the most common structure for proofing of such statements.</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7859">
                                            <p:txEl>
                                              <p:pRg st="4" end="4"/>
                                            </p:txEl>
                                          </p:spTgt>
                                        </p:tgtEl>
                                        <p:attrNameLst>
                                          <p:attrName>style.visibility</p:attrName>
                                        </p:attrNameLst>
                                      </p:cBhvr>
                                      <p:to>
                                        <p:strVal val="visible"/>
                                      </p:to>
                                    </p:set>
                                    <p:animEffect transition="in" filter="box(in)">
                                      <p:cBhvr>
                                        <p:cTn id="7" dur="500"/>
                                        <p:tgtEl>
                                          <p:spTgt spid="377859">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77859">
                                            <p:txEl>
                                              <p:pRg st="5" end="5"/>
                                            </p:txEl>
                                          </p:spTgt>
                                        </p:tgtEl>
                                        <p:attrNameLst>
                                          <p:attrName>style.visibility</p:attrName>
                                        </p:attrNameLst>
                                      </p:cBhvr>
                                      <p:to>
                                        <p:strVal val="visible"/>
                                      </p:to>
                                    </p:set>
                                    <p:animEffect transition="in" filter="box(in)">
                                      <p:cBhvr>
                                        <p:cTn id="10" dur="500"/>
                                        <p:tgtEl>
                                          <p:spTgt spid="377859">
                                            <p:txEl>
                                              <p:pRg st="5" end="5"/>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377859">
                                            <p:txEl>
                                              <p:pRg st="7" end="7"/>
                                            </p:txEl>
                                          </p:spTgt>
                                        </p:tgtEl>
                                        <p:attrNameLst>
                                          <p:attrName>style.visibility</p:attrName>
                                        </p:attrNameLst>
                                      </p:cBhvr>
                                      <p:to>
                                        <p:strVal val="visible"/>
                                      </p:to>
                                    </p:set>
                                    <p:animEffect transition="in" filter="box(in)">
                                      <p:cBhvr>
                                        <p:cTn id="15" dur="500"/>
                                        <p:tgtEl>
                                          <p:spTgt spid="3778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0B169EAA-7738-4302-B784-C85C89D2CD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CE5518F-DF4B-4C86-8057-1738A2240F6F}" type="slidenum">
              <a:rPr lang="en-GB" altLang="en-US" sz="1400">
                <a:latin typeface="Arial" panose="020B0604020202020204" pitchFamily="34" charset="0"/>
                <a:cs typeface="Arial" panose="020B0604020202020204" pitchFamily="34" charset="0"/>
              </a:rPr>
              <a:pPr>
                <a:spcBef>
                  <a:spcPct val="0"/>
                </a:spcBef>
                <a:buFontTx/>
                <a:buNone/>
              </a:pPr>
              <a:t>19</a:t>
            </a:fld>
            <a:endParaRPr lang="en-GB" altLang="en-US" sz="1400">
              <a:latin typeface="Arial" panose="020B0604020202020204" pitchFamily="34" charset="0"/>
              <a:cs typeface="Arial" panose="020B0604020202020204" pitchFamily="34" charset="0"/>
            </a:endParaRPr>
          </a:p>
        </p:txBody>
      </p:sp>
      <p:sp>
        <p:nvSpPr>
          <p:cNvPr id="23555" name="Rectangle 2">
            <a:extLst>
              <a:ext uri="{FF2B5EF4-FFF2-40B4-BE49-F238E27FC236}">
                <a16:creationId xmlns:a16="http://schemas.microsoft.com/office/drawing/2014/main" id="{92855279-D40A-45FD-8F29-9B35FD7ECD60}"/>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Law Of Syllogism: Method</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23556" name="Rectangle 3">
            <a:extLst>
              <a:ext uri="{FF2B5EF4-FFF2-40B4-BE49-F238E27FC236}">
                <a16:creationId xmlns:a16="http://schemas.microsoft.com/office/drawing/2014/main" id="{45B83023-C566-495D-BA96-F7E9FF48D67F}"/>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To use the Law of Syllogism, we set up a string of  </a:t>
            </a:r>
          </a:p>
          <a:p>
            <a:pPr marL="0" indent="0">
              <a:buNone/>
            </a:pPr>
            <a:r>
              <a:rPr lang="en-US" altLang="en-US" sz="2400" dirty="0">
                <a:sym typeface="Symbol" panose="05050102010706020507" pitchFamily="18" charset="2"/>
              </a:rPr>
              <a:t>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1</a:t>
            </a:r>
            <a:r>
              <a:rPr lang="en-US" altLang="en-US" sz="2400" dirty="0"/>
              <a:t>, </a:t>
            </a:r>
          </a:p>
          <a:p>
            <a:pPr marL="0" indent="0">
              <a:buNone/>
            </a:pPr>
            <a:r>
              <a:rPr lang="en-US" altLang="en-US" sz="2400" dirty="0"/>
              <a:t>			</a:t>
            </a:r>
            <a:r>
              <a:rPr lang="en-US" altLang="en-US" sz="2400" i="1" dirty="0"/>
              <a:t>P</a:t>
            </a:r>
            <a:r>
              <a:rPr lang="en-US" altLang="en-US" sz="2400" baseline="-25000" dirty="0"/>
              <a:t>1</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2</a:t>
            </a:r>
            <a:r>
              <a:rPr lang="en-US" altLang="en-US" sz="2400" dirty="0"/>
              <a:t>, </a:t>
            </a:r>
          </a:p>
          <a:p>
            <a:pPr marL="0" indent="0">
              <a:buNone/>
            </a:pPr>
            <a:r>
              <a:rPr lang="en-US" altLang="en-US" sz="2400" i="1" dirty="0"/>
              <a:t>			P</a:t>
            </a:r>
            <a:r>
              <a:rPr lang="en-US" altLang="en-US" sz="2400" baseline="-25000" dirty="0"/>
              <a:t>2</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3</a:t>
            </a:r>
            <a:r>
              <a:rPr lang="en-US" altLang="en-US" sz="2400" dirty="0"/>
              <a:t>, </a:t>
            </a:r>
          </a:p>
          <a:p>
            <a:pPr marL="0" indent="0">
              <a:buNone/>
            </a:pPr>
            <a:r>
              <a:rPr lang="en-US" altLang="en-US" sz="2400" dirty="0"/>
              <a:t>			…</a:t>
            </a:r>
          </a:p>
          <a:p>
            <a:pPr marL="0" indent="0">
              <a:buNone/>
            </a:pPr>
            <a:r>
              <a:rPr lang="en-US" altLang="en-US" sz="2400" i="1" dirty="0"/>
              <a:t>			</a:t>
            </a:r>
            <a:r>
              <a:rPr lang="en-US" altLang="en-US" sz="2400" i="1" dirty="0" err="1"/>
              <a:t>P</a:t>
            </a:r>
            <a:r>
              <a:rPr lang="en-US" altLang="en-US" sz="2400" i="1" baseline="-25000" dirty="0" err="1"/>
              <a:t>n</a:t>
            </a:r>
            <a:r>
              <a:rPr lang="en-US" altLang="en-US" sz="2400" dirty="0"/>
              <a:t> </a:t>
            </a:r>
            <a:r>
              <a:rPr lang="en-US" altLang="en-US" sz="2400" dirty="0">
                <a:sym typeface="Symbol" panose="05050102010706020507" pitchFamily="18" charset="2"/>
              </a:rPr>
              <a:t> </a:t>
            </a:r>
            <a:r>
              <a:rPr lang="en-US" altLang="en-US" sz="2400" i="1" dirty="0"/>
              <a:t>R</a:t>
            </a:r>
            <a:r>
              <a:rPr lang="en-US" altLang="en-US" sz="2400" dirty="0"/>
              <a:t>. </a:t>
            </a:r>
            <a:endParaRPr lang="en-US" altLang="en-US" sz="2400" i="1" dirty="0"/>
          </a:p>
          <a:p>
            <a:pPr marL="0" indent="0">
              <a:buNone/>
            </a:pPr>
            <a:r>
              <a:rPr lang="en-US" altLang="en-US" sz="2400" i="1" dirty="0"/>
              <a:t>			</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Then, by successive applications of the law, we have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R.</a:t>
            </a:r>
            <a:r>
              <a:rPr lang="en-US" altLang="en-US" sz="2400" dirty="0">
                <a:sym typeface="Symbol" panose="05050102010706020507" pitchFamily="18" charset="2"/>
              </a:rPr>
              <a:t> </a:t>
            </a:r>
          </a:p>
          <a:p>
            <a:pPr marL="0" indent="0">
              <a:buNone/>
            </a:pPr>
            <a:endParaRPr lang="en-US" altLang="en-US" sz="2400" dirty="0">
              <a:sym typeface="Symbol" panose="05050102010706020507"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4B927532-E65C-4861-889A-A331B50FF9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CC353EC-D1DA-4AD7-B573-4191F73F0D29}" type="slidenum">
              <a:rPr lang="en-GB" altLang="en-US" sz="1400">
                <a:latin typeface="Arial" panose="020B0604020202020204" pitchFamily="34" charset="0"/>
                <a:cs typeface="Arial" panose="020B0604020202020204" pitchFamily="34" charset="0"/>
              </a:rPr>
              <a:pPr>
                <a:spcBef>
                  <a:spcPct val="0"/>
                </a:spcBef>
                <a:buFontTx/>
                <a:buNone/>
              </a:pPr>
              <a:t>20</a:t>
            </a:fld>
            <a:endParaRPr lang="en-GB" altLang="en-US" sz="1400">
              <a:latin typeface="Arial" panose="020B0604020202020204" pitchFamily="34" charset="0"/>
              <a:cs typeface="Arial" panose="020B0604020202020204" pitchFamily="34" charset="0"/>
            </a:endParaRPr>
          </a:p>
        </p:txBody>
      </p:sp>
      <p:sp>
        <p:nvSpPr>
          <p:cNvPr id="24579" name="Rectangle 2">
            <a:extLst>
              <a:ext uri="{FF2B5EF4-FFF2-40B4-BE49-F238E27FC236}">
                <a16:creationId xmlns:a16="http://schemas.microsoft.com/office/drawing/2014/main" id="{D2B48BE2-CB18-4B96-948F-D6AFA6604E8C}"/>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Law Of Syllogism: Example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79907" name="Rectangle 3">
            <a:extLst>
              <a:ext uri="{FF2B5EF4-FFF2-40B4-BE49-F238E27FC236}">
                <a16:creationId xmlns:a16="http://schemas.microsoft.com/office/drawing/2014/main" id="{F56280B6-C2BA-4369-A020-617A5C3F6216}"/>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We wish to prove that for </a:t>
            </a:r>
            <a:r>
              <a:rPr lang="en-US" altLang="en-US" sz="2400" i="1" dirty="0"/>
              <a:t>n</a:t>
            </a:r>
            <a:r>
              <a:rPr lang="en-US" altLang="en-US" sz="2400" dirty="0"/>
              <a:t> </a:t>
            </a:r>
            <a:r>
              <a:rPr lang="en-US" altLang="en-US" sz="2400" dirty="0">
                <a:sym typeface="Symbol" panose="05050102010706020507" pitchFamily="18" charset="2"/>
              </a:rPr>
              <a:t> ℕ, if </a:t>
            </a:r>
            <a:r>
              <a:rPr lang="en-US" altLang="en-US" sz="2400" i="1" dirty="0">
                <a:sym typeface="Symbol" panose="05050102010706020507" pitchFamily="18" charset="2"/>
              </a:rPr>
              <a:t>n</a:t>
            </a:r>
            <a:r>
              <a:rPr lang="en-US" altLang="en-US" sz="2400" dirty="0">
                <a:sym typeface="Symbol" panose="05050102010706020507" pitchFamily="18" charset="2"/>
              </a:rPr>
              <a:t> is even, then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 in logic notation, we wish to prove</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dirty="0">
                <a:sym typeface="Symbol" panose="05050102010706020507" pitchFamily="18" charset="2"/>
              </a:rPr>
              <a:t> is even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This has the form </a:t>
            </a:r>
          </a:p>
          <a:p>
            <a:pPr marL="0" indent="0">
              <a:buNone/>
            </a:pPr>
            <a:r>
              <a:rPr lang="en-US" altLang="en-US" sz="2400" dirty="0">
                <a:sym typeface="Symbol" panose="05050102010706020507" pitchFamily="18" charset="2"/>
              </a:rPr>
              <a:t>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Q </a:t>
            </a:r>
          </a:p>
          <a:p>
            <a:pPr marL="0" indent="0">
              <a:buNone/>
            </a:pPr>
            <a:r>
              <a:rPr lang="en-US" altLang="en-US" sz="2400" dirty="0"/>
              <a:t>and we note that our assumption includes </a:t>
            </a:r>
          </a:p>
          <a:p>
            <a:pPr marL="0" indent="0">
              <a:buNone/>
            </a:pPr>
            <a:r>
              <a:rPr lang="en-US" altLang="en-US" sz="2400" dirty="0"/>
              <a:t>			</a:t>
            </a:r>
            <a:r>
              <a:rPr lang="en-US" altLang="en-US" sz="2400" i="1" dirty="0"/>
              <a:t>n</a:t>
            </a:r>
            <a:r>
              <a:rPr lang="en-US" altLang="en-US" sz="2400" dirty="0"/>
              <a:t> </a:t>
            </a:r>
            <a:r>
              <a:rPr lang="en-US" altLang="en-US" sz="2400" dirty="0">
                <a:sym typeface="Symbol" panose="05050102010706020507" pitchFamily="18" charset="2"/>
              </a:rPr>
              <a:t> ℕ, </a:t>
            </a:r>
          </a:p>
          <a:p>
            <a:pPr marL="0" indent="0">
              <a:buNone/>
            </a:pPr>
            <a:r>
              <a:rPr lang="en-US" altLang="en-US" sz="2400" dirty="0">
                <a:sym typeface="Symbol" panose="05050102010706020507" pitchFamily="18" charset="2"/>
              </a:rPr>
              <a:t>and 			</a:t>
            </a:r>
            <a:r>
              <a:rPr lang="en-US" altLang="en-US" sz="2400" i="1" dirty="0">
                <a:sym typeface="Symbol" panose="05050102010706020507" pitchFamily="18" charset="2"/>
              </a:rPr>
              <a:t>P</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dirty="0">
                <a:sym typeface="Symbol" panose="05050102010706020507" pitchFamily="18" charset="2"/>
              </a:rPr>
              <a:t> is even.</a:t>
            </a:r>
            <a:r>
              <a:rPr lang="en-US" altLang="en-US" sz="2400" dirty="0"/>
              <a:t> </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9907">
                                            <p:txEl>
                                              <p:pRg st="3" end="3"/>
                                            </p:txEl>
                                          </p:spTgt>
                                        </p:tgtEl>
                                        <p:attrNameLst>
                                          <p:attrName>style.visibility</p:attrName>
                                        </p:attrNameLst>
                                      </p:cBhvr>
                                      <p:to>
                                        <p:strVal val="visible"/>
                                      </p:to>
                                    </p:set>
                                    <p:animEffect transition="in" filter="box(in)">
                                      <p:cBhvr>
                                        <p:cTn id="7" dur="500"/>
                                        <p:tgtEl>
                                          <p:spTgt spid="379907">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79907">
                                            <p:txEl>
                                              <p:pRg st="4" end="4"/>
                                            </p:txEl>
                                          </p:spTgt>
                                        </p:tgtEl>
                                        <p:attrNameLst>
                                          <p:attrName>style.visibility</p:attrName>
                                        </p:attrNameLst>
                                      </p:cBhvr>
                                      <p:to>
                                        <p:strVal val="visible"/>
                                      </p:to>
                                    </p:set>
                                    <p:animEffect transition="in" filter="box(in)">
                                      <p:cBhvr>
                                        <p:cTn id="10" dur="500"/>
                                        <p:tgtEl>
                                          <p:spTgt spid="379907">
                                            <p:txEl>
                                              <p:pRg st="4" end="4"/>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379907">
                                            <p:txEl>
                                              <p:pRg st="5" end="5"/>
                                            </p:txEl>
                                          </p:spTgt>
                                        </p:tgtEl>
                                        <p:attrNameLst>
                                          <p:attrName>style.visibility</p:attrName>
                                        </p:attrNameLst>
                                      </p:cBhvr>
                                      <p:to>
                                        <p:strVal val="visible"/>
                                      </p:to>
                                    </p:set>
                                    <p:animEffect transition="in" filter="box(in)">
                                      <p:cBhvr>
                                        <p:cTn id="15" dur="500"/>
                                        <p:tgtEl>
                                          <p:spTgt spid="379907">
                                            <p:txEl>
                                              <p:pRg st="5" end="5"/>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379907">
                                            <p:txEl>
                                              <p:pRg st="6" end="6"/>
                                            </p:txEl>
                                          </p:spTgt>
                                        </p:tgtEl>
                                        <p:attrNameLst>
                                          <p:attrName>style.visibility</p:attrName>
                                        </p:attrNameLst>
                                      </p:cBhvr>
                                      <p:to>
                                        <p:strVal val="visible"/>
                                      </p:to>
                                    </p:set>
                                    <p:animEffect transition="in" filter="box(in)">
                                      <p:cBhvr>
                                        <p:cTn id="20" dur="500"/>
                                        <p:tgtEl>
                                          <p:spTgt spid="379907">
                                            <p:txEl>
                                              <p:pRg st="6" end="6"/>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379907">
                                            <p:txEl>
                                              <p:pRg st="7" end="7"/>
                                            </p:txEl>
                                          </p:spTgt>
                                        </p:tgtEl>
                                        <p:attrNameLst>
                                          <p:attrName>style.visibility</p:attrName>
                                        </p:attrNameLst>
                                      </p:cBhvr>
                                      <p:to>
                                        <p:strVal val="visible"/>
                                      </p:to>
                                    </p:set>
                                    <p:animEffect transition="in" filter="box(in)">
                                      <p:cBhvr>
                                        <p:cTn id="25" dur="500"/>
                                        <p:tgtEl>
                                          <p:spTgt spid="3799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74149E46-D8FA-4F5E-954E-E9D611D66D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03D5C9E-3005-46F2-95AC-1A2C3881E18E}" type="slidenum">
              <a:rPr lang="en-GB" altLang="en-US" sz="1400">
                <a:latin typeface="Arial" panose="020B0604020202020204" pitchFamily="34" charset="0"/>
                <a:cs typeface="Arial" panose="020B0604020202020204" pitchFamily="34" charset="0"/>
              </a:rPr>
              <a:pPr>
                <a:spcBef>
                  <a:spcPct val="0"/>
                </a:spcBef>
                <a:buFontTx/>
                <a:buNone/>
              </a:pPr>
              <a:t>21</a:t>
            </a:fld>
            <a:endParaRPr lang="en-GB" altLang="en-US" sz="1400">
              <a:latin typeface="Arial" panose="020B0604020202020204" pitchFamily="34" charset="0"/>
              <a:cs typeface="Arial" panose="020B0604020202020204" pitchFamily="34" charset="0"/>
            </a:endParaRPr>
          </a:p>
        </p:txBody>
      </p:sp>
      <p:sp>
        <p:nvSpPr>
          <p:cNvPr id="25603" name="Rectangle 2">
            <a:extLst>
              <a:ext uri="{FF2B5EF4-FFF2-40B4-BE49-F238E27FC236}">
                <a16:creationId xmlns:a16="http://schemas.microsoft.com/office/drawing/2014/main" id="{2A912A76-A055-46B4-8BE2-6D6A2AC17F64}"/>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Law Of Syllogism: Example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380931" name="Rectangle 3">
            <a:extLst>
              <a:ext uri="{FF2B5EF4-FFF2-40B4-BE49-F238E27FC236}">
                <a16:creationId xmlns:a16="http://schemas.microsoft.com/office/drawing/2014/main" id="{C39395BA-6197-4A53-90B6-1325DB80B72F}"/>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i="1" dirty="0">
                <a:sym typeface="Symbol" panose="05050102010706020507" pitchFamily="18" charset="2"/>
              </a:rPr>
              <a:t>Proof</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dirty="0">
                <a:sym typeface="Symbol" panose="05050102010706020507" pitchFamily="18" charset="2"/>
              </a:rPr>
              <a:t> is even 		 </a:t>
            </a:r>
            <a:r>
              <a:rPr lang="en-US" altLang="en-US" sz="2400" i="1" dirty="0">
                <a:sym typeface="Symbol" panose="05050102010706020507" pitchFamily="18" charset="2"/>
              </a:rPr>
              <a:t>p</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1</a:t>
            </a:r>
            <a:r>
              <a:rPr lang="en-US" altLang="en-US" sz="2400" dirty="0"/>
              <a:t>)</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 		</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baseline="30000" dirty="0">
                <a:sym typeface="Symbol" panose="05050102010706020507" pitchFamily="18" charset="2"/>
              </a:rPr>
              <a:t>2 		</a:t>
            </a:r>
            <a:r>
              <a:rPr lang="en-US" altLang="en-US" sz="2400" dirty="0">
                <a:sym typeface="Symbol" panose="05050102010706020507" pitchFamily="18" charset="2"/>
              </a:rPr>
              <a:t>(</a:t>
            </a:r>
            <a:r>
              <a:rPr lang="en-US" altLang="en-US" sz="2400" i="1" dirty="0"/>
              <a:t>P</a:t>
            </a:r>
            <a:r>
              <a:rPr lang="en-US" altLang="en-US" sz="2400" baseline="-25000" dirty="0"/>
              <a:t>1</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2</a:t>
            </a:r>
            <a:r>
              <a:rPr lang="en-US" altLang="en-US" sz="2400" dirty="0"/>
              <a:t>)</a:t>
            </a:r>
            <a:endParaRPr lang="en-US" altLang="en-US" sz="2400" i="1" baseline="30000" dirty="0">
              <a:sym typeface="Symbol" panose="05050102010706020507" pitchFamily="18" charset="2"/>
            </a:endParaRPr>
          </a:p>
          <a:p>
            <a:pPr marL="0" indent="0">
              <a:buNone/>
            </a:pPr>
            <a:r>
              <a:rPr lang="en-US" altLang="en-US" sz="2400" i="1" dirty="0">
                <a:sym typeface="Symbol" panose="05050102010706020507" pitchFamily="18" charset="2"/>
              </a:rPr>
              <a:t>		n</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baseline="30000" dirty="0">
                <a:sym typeface="Symbol" panose="05050102010706020507" pitchFamily="18" charset="2"/>
              </a:rPr>
              <a:t>2 		</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2(2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a:t>
            </a:r>
            <a:r>
              <a:rPr lang="en-US" altLang="en-US" sz="2400" i="1" dirty="0"/>
              <a:t>P</a:t>
            </a:r>
            <a:r>
              <a:rPr lang="en-US" altLang="en-US" sz="2400" baseline="-25000" dirty="0"/>
              <a:t>2</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3</a:t>
            </a:r>
            <a:r>
              <a:rPr lang="en-US" altLang="en-US" sz="2400" dirty="0"/>
              <a:t>)</a:t>
            </a:r>
            <a:endParaRPr lang="en-US" altLang="en-US" sz="2400" i="1" baseline="30000" dirty="0">
              <a:sym typeface="Symbol" panose="05050102010706020507" pitchFamily="18" charset="2"/>
            </a:endParaRP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 n</a:t>
            </a:r>
            <a:r>
              <a:rPr lang="en-US" altLang="en-US" sz="2400" baseline="30000" dirty="0">
                <a:sym typeface="Symbol" panose="05050102010706020507" pitchFamily="18" charset="2"/>
              </a:rPr>
              <a:t>2</a:t>
            </a:r>
            <a:r>
              <a:rPr lang="en-US" altLang="en-US" sz="2400" dirty="0">
                <a:sym typeface="Symbol" panose="05050102010706020507" pitchFamily="18" charset="2"/>
              </a:rPr>
              <a:t> = 2(2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		(</a:t>
            </a:r>
            <a:r>
              <a:rPr lang="en-US" altLang="en-US" sz="2400" i="1" dirty="0"/>
              <a:t>P</a:t>
            </a:r>
            <a:r>
              <a:rPr lang="en-US" altLang="en-US" sz="2400" baseline="-25000" dirty="0"/>
              <a:t>3</a:t>
            </a:r>
            <a:r>
              <a:rPr lang="en-US" altLang="en-US" sz="2400" dirty="0"/>
              <a:t> </a:t>
            </a:r>
            <a:r>
              <a:rPr lang="en-US" altLang="en-US" sz="2400" dirty="0">
                <a:sym typeface="Symbol" panose="05050102010706020507" pitchFamily="18" charset="2"/>
              </a:rPr>
              <a:t> </a:t>
            </a:r>
            <a:r>
              <a:rPr lang="en-US" altLang="en-US" sz="2400" i="1" dirty="0"/>
              <a:t>Q</a:t>
            </a:r>
            <a:r>
              <a:rPr lang="en-US" altLang="en-US" sz="2400" dirty="0"/>
              <a:t>)</a:t>
            </a:r>
          </a:p>
          <a:p>
            <a:pPr marL="0" indent="0">
              <a:buNone/>
            </a:pPr>
            <a:endParaRPr lang="en-US" altLang="en-US" sz="2400" dirty="0"/>
          </a:p>
          <a:p>
            <a:pPr marL="0" indent="0">
              <a:buNone/>
            </a:pPr>
            <a:r>
              <a:rPr lang="en-US" altLang="en-US" sz="2400" dirty="0"/>
              <a:t>By applying the Law of Syllogism three times, we get</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dirty="0">
                <a:sym typeface="Symbol" panose="05050102010706020507" pitchFamily="18" charset="2"/>
              </a:rPr>
              <a:t> is even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r>
              <a:rPr lang="en-US" altLang="en-US" sz="2400" dirty="0"/>
              <a:t> </a:t>
            </a: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0931">
                                            <p:txEl>
                                              <p:pRg st="2" end="2"/>
                                            </p:txEl>
                                          </p:spTgt>
                                        </p:tgtEl>
                                        <p:attrNameLst>
                                          <p:attrName>style.visibility</p:attrName>
                                        </p:attrNameLst>
                                      </p:cBhvr>
                                      <p:to>
                                        <p:strVal val="visible"/>
                                      </p:to>
                                    </p:set>
                                    <p:animEffect transition="in" filter="box(in)">
                                      <p:cBhvr>
                                        <p:cTn id="7" dur="500"/>
                                        <p:tgtEl>
                                          <p:spTgt spid="38093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0931">
                                            <p:txEl>
                                              <p:pRg st="3" end="3"/>
                                            </p:txEl>
                                          </p:spTgt>
                                        </p:tgtEl>
                                        <p:attrNameLst>
                                          <p:attrName>style.visibility</p:attrName>
                                        </p:attrNameLst>
                                      </p:cBhvr>
                                      <p:to>
                                        <p:strVal val="visible"/>
                                      </p:to>
                                    </p:set>
                                    <p:animEffect transition="in" filter="box(in)">
                                      <p:cBhvr>
                                        <p:cTn id="12" dur="500"/>
                                        <p:tgtEl>
                                          <p:spTgt spid="38093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0931">
                                            <p:txEl>
                                              <p:pRg st="4" end="4"/>
                                            </p:txEl>
                                          </p:spTgt>
                                        </p:tgtEl>
                                        <p:attrNameLst>
                                          <p:attrName>style.visibility</p:attrName>
                                        </p:attrNameLst>
                                      </p:cBhvr>
                                      <p:to>
                                        <p:strVal val="visible"/>
                                      </p:to>
                                    </p:set>
                                    <p:animEffect transition="in" filter="box(in)">
                                      <p:cBhvr>
                                        <p:cTn id="17" dur="500"/>
                                        <p:tgtEl>
                                          <p:spTgt spid="38093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80931">
                                            <p:txEl>
                                              <p:pRg st="6" end="6"/>
                                            </p:txEl>
                                          </p:spTgt>
                                        </p:tgtEl>
                                        <p:attrNameLst>
                                          <p:attrName>style.visibility</p:attrName>
                                        </p:attrNameLst>
                                      </p:cBhvr>
                                      <p:to>
                                        <p:strVal val="visible"/>
                                      </p:to>
                                    </p:set>
                                    <p:animEffect transition="in" filter="box(in)">
                                      <p:cBhvr>
                                        <p:cTn id="22" dur="500"/>
                                        <p:tgtEl>
                                          <p:spTgt spid="380931">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80931">
                                            <p:txEl>
                                              <p:pRg st="7" end="7"/>
                                            </p:txEl>
                                          </p:spTgt>
                                        </p:tgtEl>
                                        <p:attrNameLst>
                                          <p:attrName>style.visibility</p:attrName>
                                        </p:attrNameLst>
                                      </p:cBhvr>
                                      <p:to>
                                        <p:strVal val="visible"/>
                                      </p:to>
                                    </p:set>
                                    <p:animEffect transition="in" filter="box(in)">
                                      <p:cBhvr>
                                        <p:cTn id="25" dur="500"/>
                                        <p:tgtEl>
                                          <p:spTgt spid="3809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2FB8C2F4-B8C9-40FA-A09A-73B6BF5946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C7FA368-7998-4772-B544-B6B45EF7064A}" type="slidenum">
              <a:rPr lang="en-GB" altLang="en-US" sz="1400">
                <a:latin typeface="Arial" panose="020B0604020202020204" pitchFamily="34" charset="0"/>
                <a:cs typeface="Arial" panose="020B0604020202020204" pitchFamily="34" charset="0"/>
              </a:rPr>
              <a:pPr>
                <a:spcBef>
                  <a:spcPct val="0"/>
                </a:spcBef>
                <a:buFontTx/>
                <a:buNone/>
              </a:pPr>
              <a:t>22</a:t>
            </a:fld>
            <a:endParaRPr lang="en-GB" altLang="en-US" sz="1400">
              <a:latin typeface="Arial" panose="020B0604020202020204" pitchFamily="34" charset="0"/>
              <a:cs typeface="Arial" panose="020B0604020202020204" pitchFamily="34" charset="0"/>
            </a:endParaRPr>
          </a:p>
        </p:txBody>
      </p:sp>
      <p:sp>
        <p:nvSpPr>
          <p:cNvPr id="26627" name="Rectangle 2">
            <a:extLst>
              <a:ext uri="{FF2B5EF4-FFF2-40B4-BE49-F238E27FC236}">
                <a16:creationId xmlns:a16="http://schemas.microsoft.com/office/drawing/2014/main" id="{649FD5F4-C0AD-4B4A-A669-73C36A2D584E}"/>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Law Of Syllogism: Note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26628" name="Rectangle 3">
            <a:extLst>
              <a:ext uri="{FF2B5EF4-FFF2-40B4-BE49-F238E27FC236}">
                <a16:creationId xmlns:a16="http://schemas.microsoft.com/office/drawing/2014/main" id="{A85ABC41-C2A3-4363-8DD8-3A7BB2B3605E}"/>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In our work, we shall abbreviate the proofs by applying the Law of Syllogism in a more subtle way as follows:</a:t>
            </a:r>
          </a:p>
          <a:p>
            <a:pPr marL="0" indent="0">
              <a:buNone/>
            </a:pPr>
            <a:r>
              <a:rPr lang="en-US" altLang="en-US" sz="2400" i="1" dirty="0">
                <a:sym typeface="Symbol" panose="05050102010706020507" pitchFamily="18" charset="2"/>
              </a:rPr>
              <a:t>Proof</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dirty="0">
                <a:sym typeface="Symbol" panose="05050102010706020507" pitchFamily="18" charset="2"/>
              </a:rPr>
              <a:t> is even 	 </a:t>
            </a:r>
            <a:r>
              <a:rPr lang="en-US" altLang="en-US" sz="2400" i="1" dirty="0">
                <a:sym typeface="Symbol" panose="05050102010706020507" pitchFamily="18" charset="2"/>
              </a:rPr>
              <a:t>p</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1</a:t>
            </a:r>
            <a:r>
              <a:rPr lang="en-US" altLang="en-US" sz="2400" dirty="0"/>
              <a:t>)</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baseline="30000" dirty="0">
                <a:sym typeface="Symbol" panose="05050102010706020507" pitchFamily="18" charset="2"/>
              </a:rPr>
              <a:t>2 		</a:t>
            </a:r>
            <a:r>
              <a:rPr lang="en-US" altLang="en-US" sz="2400" dirty="0">
                <a:sym typeface="Symbol" panose="05050102010706020507" pitchFamily="18" charset="2"/>
              </a:rPr>
              <a:t>(</a:t>
            </a:r>
            <a:r>
              <a:rPr lang="en-US" altLang="en-US" sz="2400" i="1" dirty="0"/>
              <a:t>P</a:t>
            </a:r>
            <a:r>
              <a:rPr lang="en-US" altLang="en-US" sz="2400" baseline="-25000" dirty="0"/>
              <a:t>1</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2</a:t>
            </a:r>
            <a:r>
              <a:rPr lang="en-US" altLang="en-US" sz="2400" dirty="0"/>
              <a:t>)</a:t>
            </a:r>
            <a:endParaRPr lang="en-US" altLang="en-US" sz="2400" i="1" baseline="30000" dirty="0">
              <a:sym typeface="Symbol" panose="05050102010706020507" pitchFamily="18" charset="2"/>
            </a:endParaRPr>
          </a:p>
          <a:p>
            <a:pPr marL="0" indent="0">
              <a:buNone/>
            </a:pPr>
            <a:r>
              <a:rPr lang="en-US" altLang="en-US" sz="2400" i="1" dirty="0">
                <a:sym typeface="Symbol" panose="05050102010706020507" pitchFamily="18" charset="2"/>
              </a:rPr>
              <a:t>			</a:t>
            </a:r>
            <a:r>
              <a:rPr lang="en-US" altLang="en-US" sz="2400" baseline="30000" dirty="0">
                <a:sym typeface="Symbol" panose="05050102010706020507" pitchFamily="18" charset="2"/>
              </a:rPr>
              <a:t>	</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2(2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a:t>
            </a:r>
            <a:r>
              <a:rPr lang="en-US" altLang="en-US" sz="2400" i="1" dirty="0"/>
              <a:t>P</a:t>
            </a:r>
            <a:r>
              <a:rPr lang="en-US" altLang="en-US" sz="2400" baseline="-25000" dirty="0"/>
              <a:t>2</a:t>
            </a:r>
            <a:r>
              <a:rPr lang="en-US" altLang="en-US" sz="2400" dirty="0"/>
              <a:t> </a:t>
            </a:r>
            <a:r>
              <a:rPr lang="en-US" altLang="en-US" sz="2400" dirty="0">
                <a:sym typeface="Symbol" panose="05050102010706020507" pitchFamily="18" charset="2"/>
              </a:rPr>
              <a:t> </a:t>
            </a:r>
            <a:r>
              <a:rPr lang="en-US" altLang="en-US" sz="2400" i="1" dirty="0"/>
              <a:t>P</a:t>
            </a:r>
            <a:r>
              <a:rPr lang="en-US" altLang="en-US" sz="2400" baseline="-25000" dirty="0"/>
              <a:t>3</a:t>
            </a:r>
            <a:r>
              <a:rPr lang="en-US" altLang="en-US" sz="2400" dirty="0"/>
              <a:t>)</a:t>
            </a:r>
            <a:endParaRPr lang="en-US" altLang="en-US" sz="2400" i="1" baseline="30000" dirty="0">
              <a:sym typeface="Symbol" panose="05050102010706020507" pitchFamily="18" charset="2"/>
            </a:endParaRP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		(</a:t>
            </a:r>
            <a:r>
              <a:rPr lang="en-US" altLang="en-US" sz="2400" i="1" dirty="0"/>
              <a:t>P</a:t>
            </a:r>
            <a:r>
              <a:rPr lang="en-US" altLang="en-US" sz="2400" baseline="-25000" dirty="0"/>
              <a:t>3</a:t>
            </a:r>
            <a:r>
              <a:rPr lang="en-US" altLang="en-US" sz="2400" dirty="0"/>
              <a:t> </a:t>
            </a:r>
            <a:r>
              <a:rPr lang="en-US" altLang="en-US" sz="2400" dirty="0">
                <a:sym typeface="Symbol" panose="05050102010706020507" pitchFamily="18" charset="2"/>
              </a:rPr>
              <a:t> </a:t>
            </a:r>
            <a:r>
              <a:rPr lang="en-US" altLang="en-US" sz="2400" i="1" dirty="0"/>
              <a:t>Q</a:t>
            </a:r>
            <a:r>
              <a:rPr lang="en-US" altLang="en-US" sz="2400" dirty="0"/>
              <a:t>)</a:t>
            </a:r>
            <a:endParaRPr lang="en-US" altLang="en-US" sz="2400" dirty="0">
              <a:sym typeface="Symbol" panose="05050102010706020507" pitchFamily="18" charset="2"/>
            </a:endParaRPr>
          </a:p>
          <a:p>
            <a:pPr marL="0" indent="0">
              <a:buNone/>
            </a:pPr>
            <a:r>
              <a:rPr lang="en-US" altLang="en-US" sz="2400" dirty="0"/>
              <a:t> 	Therefore, if </a:t>
            </a:r>
            <a:r>
              <a:rPr lang="en-US" altLang="en-US" sz="2400" i="1" dirty="0">
                <a:sym typeface="Symbol" panose="05050102010706020507" pitchFamily="18" charset="2"/>
              </a:rPr>
              <a:t>n</a:t>
            </a:r>
            <a:r>
              <a:rPr lang="en-US" altLang="en-US" sz="2400" dirty="0">
                <a:sym typeface="Symbol" panose="05050102010706020507" pitchFamily="18" charset="2"/>
              </a:rPr>
              <a:t> is even,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endParaRPr lang="en-US" altLang="en-US" sz="2400" dirty="0"/>
          </a:p>
          <a:p>
            <a:pPr marL="0" indent="0">
              <a:buNone/>
            </a:pPr>
            <a:r>
              <a:rPr lang="en-US" altLang="en-US" sz="2400" dirty="0"/>
              <a:t>We shall use the Law of Syllogism without direct reference.</a:t>
            </a:r>
            <a:endParaRPr lang="en-US" altLang="en-US" sz="2400" dirty="0">
              <a:sym typeface="Symbol" panose="05050102010706020507" pitchFamily="18"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17DFF6F1-665B-42AF-9FDF-DAC3F4E3B1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6A9CD62-0313-4F26-AF5D-21AAAB3BA9E0}" type="slidenum">
              <a:rPr lang="en-GB" altLang="en-US" sz="1400">
                <a:latin typeface="Arial" panose="020B0604020202020204" pitchFamily="34" charset="0"/>
                <a:cs typeface="Arial" panose="020B0604020202020204" pitchFamily="34" charset="0"/>
              </a:rPr>
              <a:pPr>
                <a:spcBef>
                  <a:spcPct val="0"/>
                </a:spcBef>
                <a:buFontTx/>
                <a:buNone/>
              </a:pPr>
              <a:t>23</a:t>
            </a:fld>
            <a:endParaRPr lang="en-GB" altLang="en-US" sz="1400">
              <a:latin typeface="Arial" panose="020B0604020202020204" pitchFamily="34" charset="0"/>
              <a:cs typeface="Arial" panose="020B0604020202020204" pitchFamily="34" charset="0"/>
            </a:endParaRPr>
          </a:p>
        </p:txBody>
      </p:sp>
      <p:sp>
        <p:nvSpPr>
          <p:cNvPr id="27651" name="Rectangle 2">
            <a:extLst>
              <a:ext uri="{FF2B5EF4-FFF2-40B4-BE49-F238E27FC236}">
                <a16:creationId xmlns:a16="http://schemas.microsoft.com/office/drawing/2014/main" id="{7BD14FA5-5B98-4D19-AA09-51BEDC3D540B}"/>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Law Of Syllogism: Note</a:t>
            </a:r>
            <a:endParaRPr lang="en-GB" altLang="en-US" sz="3600" b="1">
              <a:solidFill>
                <a:schemeClr val="folHlink"/>
              </a:solidFill>
              <a:latin typeface="Times New Roman" panose="02020603050405020304" pitchFamily="18" charset="0"/>
              <a:cs typeface="Times New Roman" panose="02020603050405020304" pitchFamily="18" charset="0"/>
            </a:endParaRPr>
          </a:p>
        </p:txBody>
      </p:sp>
      <p:sp>
        <p:nvSpPr>
          <p:cNvPr id="27652" name="Rectangle 3">
            <a:extLst>
              <a:ext uri="{FF2B5EF4-FFF2-40B4-BE49-F238E27FC236}">
                <a16:creationId xmlns:a16="http://schemas.microsoft.com/office/drawing/2014/main" id="{EF204EC9-80EA-470F-8B30-D1551D510680}"/>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sym typeface="Symbol" panose="05050102010706020507" pitchFamily="18" charset="2"/>
              </a:rPr>
              <a:t>The use of the connective  in the previous proof seems a little repetitive. </a:t>
            </a:r>
          </a:p>
          <a:p>
            <a:pPr marL="0" indent="0">
              <a:buNone/>
            </a:pPr>
            <a:endParaRPr lang="en-US" altLang="en-US" sz="2400">
              <a:sym typeface="Symbol" panose="05050102010706020507" pitchFamily="18" charset="2"/>
            </a:endParaRPr>
          </a:p>
          <a:p>
            <a:pPr marL="0" indent="0">
              <a:buNone/>
            </a:pPr>
            <a:r>
              <a:rPr lang="en-US" altLang="en-US" sz="2400">
                <a:sym typeface="Symbol" panose="05050102010706020507" pitchFamily="18" charset="2"/>
              </a:rPr>
              <a:t>For variety, the connective can be replaced by words such as </a:t>
            </a:r>
          </a:p>
          <a:p>
            <a:pPr marL="0" indent="0">
              <a:buNone/>
            </a:pPr>
            <a:r>
              <a:rPr lang="en-US" altLang="en-US" sz="2400">
                <a:sym typeface="Symbol" panose="05050102010706020507" pitchFamily="18" charset="2"/>
              </a:rPr>
              <a:t>			therefore,</a:t>
            </a:r>
          </a:p>
          <a:p>
            <a:pPr marL="0" indent="0">
              <a:buNone/>
            </a:pPr>
            <a:r>
              <a:rPr lang="en-US" altLang="en-US" sz="2400">
                <a:sym typeface="Symbol" panose="05050102010706020507" pitchFamily="18" charset="2"/>
              </a:rPr>
              <a:t>			thus,</a:t>
            </a:r>
          </a:p>
          <a:p>
            <a:pPr marL="0" indent="0">
              <a:buNone/>
            </a:pPr>
            <a:r>
              <a:rPr lang="en-US" altLang="en-US" sz="2400">
                <a:sym typeface="Symbol" panose="05050102010706020507" pitchFamily="18" charset="2"/>
              </a:rPr>
              <a:t>			so we have,</a:t>
            </a:r>
          </a:p>
          <a:p>
            <a:pPr marL="0" indent="0">
              <a:buNone/>
            </a:pPr>
            <a:r>
              <a:rPr lang="en-US" altLang="en-US" sz="2400">
                <a:sym typeface="Symbol" panose="05050102010706020507" pitchFamily="18" charset="2"/>
              </a:rPr>
              <a:t>and 			hence.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2E395B97-07C2-466E-948C-73818AF264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7741128-D047-44DD-A04E-2C1D92D09F64}" type="slidenum">
              <a:rPr lang="en-GB" altLang="en-US" sz="1400">
                <a:latin typeface="Arial" panose="020B0604020202020204" pitchFamily="34" charset="0"/>
                <a:cs typeface="Arial" panose="020B0604020202020204" pitchFamily="34" charset="0"/>
              </a:rPr>
              <a:pPr>
                <a:spcBef>
                  <a:spcPct val="0"/>
                </a:spcBef>
                <a:buFontTx/>
                <a:buNone/>
              </a:pPr>
              <a:t>24</a:t>
            </a:fld>
            <a:endParaRPr lang="en-GB" altLang="en-US" sz="1400">
              <a:latin typeface="Arial" panose="020B0604020202020204" pitchFamily="34" charset="0"/>
              <a:cs typeface="Arial" panose="020B0604020202020204" pitchFamily="34" charset="0"/>
            </a:endParaRPr>
          </a:p>
        </p:txBody>
      </p:sp>
      <p:sp>
        <p:nvSpPr>
          <p:cNvPr id="28675" name="Rectangle 2">
            <a:extLst>
              <a:ext uri="{FF2B5EF4-FFF2-40B4-BE49-F238E27FC236}">
                <a16:creationId xmlns:a16="http://schemas.microsoft.com/office/drawing/2014/main" id="{311B9BCE-9A39-43C4-B038-1CC4CC053D44}"/>
              </a:ext>
            </a:extLst>
          </p:cNvPr>
          <p:cNvSpPr>
            <a:spLocks noGrp="1" noChangeArrowheads="1"/>
          </p:cNvSpPr>
          <p:nvPr>
            <p:ph type="title"/>
          </p:nvPr>
        </p:nvSpPr>
        <p:spPr>
          <a:xfrm>
            <a:off x="1636714" y="0"/>
            <a:ext cx="8918575" cy="833438"/>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Methods of Proof - Types</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2772" name="Rectangle 3">
            <a:extLst>
              <a:ext uri="{FF2B5EF4-FFF2-40B4-BE49-F238E27FC236}">
                <a16:creationId xmlns:a16="http://schemas.microsoft.com/office/drawing/2014/main" id="{FCEF715D-F9DF-452A-A78B-8B79F36293F4}"/>
              </a:ext>
            </a:extLst>
          </p:cNvPr>
          <p:cNvSpPr>
            <a:spLocks noGrp="1" noChangeArrowheads="1"/>
          </p:cNvSpPr>
          <p:nvPr>
            <p:ph type="body" idx="1"/>
          </p:nvPr>
        </p:nvSpPr>
        <p:spPr>
          <a:xfrm>
            <a:off x="1636714" y="833439"/>
            <a:ext cx="8918575" cy="5781675"/>
          </a:xfrm>
        </p:spPr>
        <p:txBody>
          <a:bodyPr/>
          <a:lstStyle/>
          <a:p>
            <a:pPr marL="0" indent="0">
              <a:buNone/>
              <a:tabLst>
                <a:tab pos="533400" algn="l"/>
              </a:tabLst>
              <a:defRPr/>
            </a:pPr>
            <a:r>
              <a:rPr lang="en-US" altLang="en-US" sz="2400" dirty="0">
                <a:sym typeface="Symbol" panose="05050102010706020507" pitchFamily="18" charset="2"/>
              </a:rPr>
              <a:t>(</a:t>
            </a:r>
            <a:r>
              <a:rPr lang="en-US" altLang="en-US" sz="2400" dirty="0" err="1">
                <a:sym typeface="Symbol" panose="05050102010706020507" pitchFamily="18" charset="2"/>
              </a:rPr>
              <a:t>i</a:t>
            </a:r>
            <a:r>
              <a:rPr lang="en-US" altLang="en-US" sz="2400" dirty="0">
                <a:sym typeface="Symbol" panose="05050102010706020507" pitchFamily="18" charset="2"/>
              </a:rPr>
              <a:t>)	Proving for one Value</a:t>
            </a:r>
          </a:p>
          <a:p>
            <a:pPr marL="514350" indent="-514350">
              <a:buFontTx/>
              <a:buAutoNum type="romanLcParenBoth" startAt="2"/>
              <a:defRPr/>
            </a:pPr>
            <a:r>
              <a:rPr lang="en-US" altLang="en-US" sz="2400" dirty="0">
                <a:sym typeface="Symbol" panose="05050102010706020507" pitchFamily="18" charset="2"/>
              </a:rPr>
              <a:t>Method of Exhaustion: this method will show for each x in D, P(x) is true</a:t>
            </a:r>
          </a:p>
          <a:p>
            <a:pPr marL="0" indent="0">
              <a:buFontTx/>
              <a:buAutoNum type="romanLcParenBoth" startAt="2"/>
              <a:defRPr/>
            </a:pPr>
            <a:r>
              <a:rPr lang="en-US" altLang="en-US" sz="2400" dirty="0">
                <a:sym typeface="Symbol" panose="05050102010706020507" pitchFamily="18" charset="2"/>
              </a:rPr>
              <a:t> Generalized Proof: there are three methods for generalized proof:</a:t>
            </a:r>
          </a:p>
          <a:p>
            <a:pPr marL="938213" lvl="1" indent="-136525">
              <a:buFont typeface="Wingdings" panose="05000000000000000000" pitchFamily="2" charset="2"/>
              <a:buChar char="Ø"/>
              <a:defRPr/>
            </a:pPr>
            <a:r>
              <a:rPr lang="en-US" altLang="en-US" sz="2400" dirty="0">
                <a:sym typeface="Symbol" panose="05050102010706020507" pitchFamily="18" charset="2"/>
              </a:rPr>
              <a:t>Method 1: Direct Proof</a:t>
            </a:r>
          </a:p>
          <a:p>
            <a:pPr marL="938213" lvl="1" indent="-136525">
              <a:buFont typeface="Wingdings" panose="05000000000000000000" pitchFamily="2" charset="2"/>
              <a:buChar char="Ø"/>
              <a:defRPr/>
            </a:pPr>
            <a:r>
              <a:rPr lang="en-US" altLang="en-US" sz="2400" dirty="0">
                <a:sym typeface="Symbol" panose="05050102010706020507" pitchFamily="18" charset="2"/>
              </a:rPr>
              <a:t>Method 2: Indirect Proof</a:t>
            </a:r>
          </a:p>
          <a:p>
            <a:pPr marL="1487488" lvl="2" indent="-285750">
              <a:buFont typeface="Wingdings" panose="05000000000000000000" pitchFamily="2" charset="2"/>
              <a:buChar char="q"/>
              <a:defRPr/>
            </a:pPr>
            <a:r>
              <a:rPr lang="en-US" altLang="en-US" sz="2400" dirty="0">
                <a:sym typeface="Symbol" panose="05050102010706020507" pitchFamily="18" charset="2"/>
              </a:rPr>
              <a:t>Proof by Contradiction</a:t>
            </a:r>
          </a:p>
          <a:p>
            <a:pPr marL="1487488" lvl="2" indent="-285750">
              <a:buFont typeface="Wingdings" panose="05000000000000000000" pitchFamily="2" charset="2"/>
              <a:buChar char="q"/>
              <a:defRPr/>
            </a:pPr>
            <a:r>
              <a:rPr lang="en-US" altLang="en-US" sz="2400" dirty="0">
                <a:sym typeface="Symbol" panose="05050102010706020507" pitchFamily="18" charset="2"/>
              </a:rPr>
              <a:t>Proof by Contrapositive </a:t>
            </a:r>
          </a:p>
          <a:p>
            <a:pPr marL="938213" lvl="1" indent="-136525">
              <a:buFont typeface="Wingdings" panose="05000000000000000000" pitchFamily="2" charset="2"/>
              <a:buChar char="Ø"/>
              <a:defRPr/>
            </a:pPr>
            <a:r>
              <a:rPr lang="en-US" altLang="en-US" sz="2400" dirty="0">
                <a:sym typeface="Symbol" panose="05050102010706020507" pitchFamily="18" charset="2"/>
              </a:rPr>
              <a:t>Method 3: Proof by Cases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1ACC7D72-A683-4552-B170-6B4A7DC1E5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9495D71-3355-40DA-A700-925F8BDCF3F3}" type="slidenum">
              <a:rPr lang="en-GB" altLang="en-US" sz="1400">
                <a:latin typeface="Arial" panose="020B0604020202020204" pitchFamily="34" charset="0"/>
                <a:cs typeface="Arial" panose="020B0604020202020204" pitchFamily="34" charset="0"/>
              </a:rPr>
              <a:pPr>
                <a:spcBef>
                  <a:spcPct val="0"/>
                </a:spcBef>
                <a:buFontTx/>
                <a:buNone/>
              </a:pPr>
              <a:t>25</a:t>
            </a:fld>
            <a:endParaRPr lang="en-GB" altLang="en-US" sz="1400">
              <a:latin typeface="Arial" panose="020B0604020202020204" pitchFamily="34" charset="0"/>
              <a:cs typeface="Arial" panose="020B0604020202020204" pitchFamily="34" charset="0"/>
            </a:endParaRPr>
          </a:p>
        </p:txBody>
      </p:sp>
      <p:sp>
        <p:nvSpPr>
          <p:cNvPr id="29699" name="Rectangle 2">
            <a:extLst>
              <a:ext uri="{FF2B5EF4-FFF2-40B4-BE49-F238E27FC236}">
                <a16:creationId xmlns:a16="http://schemas.microsoft.com/office/drawing/2014/main" id="{5D196C1B-0420-43E8-A96A-858486D8E5FD}"/>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Proving </a:t>
            </a:r>
            <a:r>
              <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Statements</a:t>
            </a:r>
          </a:p>
        </p:txBody>
      </p:sp>
      <p:sp>
        <p:nvSpPr>
          <p:cNvPr id="382979" name="Rectangle 3">
            <a:extLst>
              <a:ext uri="{FF2B5EF4-FFF2-40B4-BE49-F238E27FC236}">
                <a16:creationId xmlns:a16="http://schemas.microsoft.com/office/drawing/2014/main" id="{9CC6234E-0FDC-4F2C-BFEB-10AC693E3E4F}"/>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The statement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is true if and only if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is true for at least one </a:t>
            </a:r>
            <a:r>
              <a:rPr lang="en-US" altLang="en-US" sz="2400" i="1" dirty="0">
                <a:sym typeface="Symbol" panose="05050102010706020507" pitchFamily="18" charset="2"/>
              </a:rPr>
              <a:t>x </a:t>
            </a:r>
            <a:r>
              <a:rPr lang="en-US" altLang="en-US" sz="2400" dirty="0">
                <a:sym typeface="Symbol" panose="05050102010706020507" pitchFamily="18" charset="2"/>
              </a:rPr>
              <a:t> </a:t>
            </a:r>
            <a:r>
              <a:rPr lang="en-US" altLang="en-US" sz="2400" i="1" dirty="0">
                <a:sym typeface="Symbol" panose="05050102010706020507" pitchFamily="18" charset="2"/>
              </a:rPr>
              <a:t>D</a:t>
            </a:r>
            <a:r>
              <a:rPr lang="en-US" altLang="en-US" sz="2400" dirty="0">
                <a:sym typeface="Symbol" panose="05050102010706020507" pitchFamily="18" charset="2"/>
              </a:rPr>
              <a:t>. </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To prove this kind of statement, we need to find one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en-US" sz="2400" dirty="0">
                <a:sym typeface="Symbol" panose="05050102010706020507" pitchFamily="18" charset="2"/>
              </a:rPr>
              <a:t>, that makes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true – use the method, </a:t>
            </a:r>
            <a:r>
              <a:rPr lang="en-US" altLang="en-US" sz="2400" b="1" dirty="0">
                <a:sym typeface="Symbol" panose="05050102010706020507" pitchFamily="18" charset="2"/>
              </a:rPr>
              <a:t>proving for one value </a:t>
            </a:r>
            <a:r>
              <a:rPr lang="en-US" altLang="en-US" sz="2400" dirty="0">
                <a:sym typeface="Symbol" panose="05050102010706020507" pitchFamily="18" charset="2"/>
              </a:rPr>
              <a:t>.</a:t>
            </a:r>
            <a:r>
              <a:rPr lang="en-US" altLang="en-US" sz="240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2979">
                                            <p:txEl>
                                              <p:pRg st="2" end="2"/>
                                            </p:txEl>
                                          </p:spTgt>
                                        </p:tgtEl>
                                        <p:attrNameLst>
                                          <p:attrName>style.visibility</p:attrName>
                                        </p:attrNameLst>
                                      </p:cBhvr>
                                      <p:to>
                                        <p:strVal val="visible"/>
                                      </p:to>
                                    </p:set>
                                    <p:animEffect transition="in" filter="box(in)">
                                      <p:cBhvr>
                                        <p:cTn id="7" dur="500"/>
                                        <p:tgtEl>
                                          <p:spTgt spid="3829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08B06452-5540-43CD-A842-D9C807D5C7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9147A48-4E2C-4214-961A-7F87210E4692}" type="slidenum">
              <a:rPr lang="en-GB" altLang="en-US" sz="1400">
                <a:latin typeface="Arial" panose="020B0604020202020204" pitchFamily="34" charset="0"/>
                <a:cs typeface="Arial" panose="020B0604020202020204" pitchFamily="34" charset="0"/>
              </a:rPr>
              <a:pPr>
                <a:spcBef>
                  <a:spcPct val="0"/>
                </a:spcBef>
                <a:buFontTx/>
                <a:buNone/>
              </a:pPr>
              <a:t>26</a:t>
            </a:fld>
            <a:endParaRPr lang="en-GB" altLang="en-US" sz="1400">
              <a:latin typeface="Arial" panose="020B0604020202020204" pitchFamily="34" charset="0"/>
              <a:cs typeface="Arial" panose="020B0604020202020204" pitchFamily="34" charset="0"/>
            </a:endParaRPr>
          </a:p>
        </p:txBody>
      </p:sp>
      <p:sp>
        <p:nvSpPr>
          <p:cNvPr id="30723" name="Rectangle 2">
            <a:extLst>
              <a:ext uri="{FF2B5EF4-FFF2-40B4-BE49-F238E27FC236}">
                <a16:creationId xmlns:a16="http://schemas.microsoft.com/office/drawing/2014/main" id="{087DFC41-A6EC-479E-922B-B1F8E7EB7323}"/>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Proving </a:t>
            </a:r>
            <a:r>
              <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Statements: Example</a:t>
            </a:r>
          </a:p>
        </p:txBody>
      </p:sp>
      <p:sp>
        <p:nvSpPr>
          <p:cNvPr id="384003" name="Rectangle 3">
            <a:extLst>
              <a:ext uri="{FF2B5EF4-FFF2-40B4-BE49-F238E27FC236}">
                <a16:creationId xmlns:a16="http://schemas.microsoft.com/office/drawing/2014/main" id="{D2E6FCB6-79FB-4813-998C-BBE7BE1DC76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t>Prove that there exists an even integer that can be written two ways as the sum of two primes. </a:t>
            </a:r>
          </a:p>
          <a:p>
            <a:pPr marL="0" indent="0">
              <a:buNone/>
            </a:pPr>
            <a:endParaRPr lang="en-US" altLang="en-US" sz="2400"/>
          </a:p>
          <a:p>
            <a:pPr marL="0" indent="0">
              <a:buNone/>
            </a:pPr>
            <a:r>
              <a:rPr lang="en-US" altLang="en-US" sz="2400" i="1"/>
              <a:t>Essentially, to find the appropriate number, we have to</a:t>
            </a:r>
            <a:r>
              <a:rPr lang="en-US" altLang="en-US" sz="2400"/>
              <a:t> “</a:t>
            </a:r>
            <a:r>
              <a:rPr lang="en-US" altLang="en-US" sz="2400" i="1"/>
              <a:t>guess</a:t>
            </a:r>
            <a:r>
              <a:rPr lang="en-US" altLang="en-US" sz="2400"/>
              <a:t>”.</a:t>
            </a:r>
          </a:p>
          <a:p>
            <a:pPr marL="0" indent="0">
              <a:buNone/>
            </a:pPr>
            <a:endParaRPr lang="en-US" altLang="en-US" sz="2400"/>
          </a:p>
          <a:p>
            <a:pPr marL="0" indent="0">
              <a:buNone/>
            </a:pPr>
            <a:r>
              <a:rPr lang="en-US" altLang="en-US" sz="2400"/>
              <a:t>Consider 	14 = 7 + 7 	[7 is prime];</a:t>
            </a:r>
          </a:p>
          <a:p>
            <a:pPr marL="0" indent="0">
              <a:buNone/>
            </a:pPr>
            <a:r>
              <a:rPr lang="en-US" altLang="en-US" sz="2400"/>
              <a:t>and 		14 = 3 + 11 	[3 and 11 are prime.]   </a:t>
            </a:r>
          </a:p>
          <a:p>
            <a:pPr marL="0" indent="0">
              <a:buNone/>
            </a:pPr>
            <a:endParaRPr lang="en-US" altLang="en-US" sz="2400"/>
          </a:p>
          <a:p>
            <a:pPr marL="0" indent="0">
              <a:buNone/>
            </a:pPr>
            <a:r>
              <a:rPr lang="en-US" altLang="en-US" sz="2400"/>
              <a:t>Therefore, there exists an even integer that can be written two ways as the sum of two primes.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4003">
                                            <p:txEl>
                                              <p:pRg st="2" end="2"/>
                                            </p:txEl>
                                          </p:spTgt>
                                        </p:tgtEl>
                                        <p:attrNameLst>
                                          <p:attrName>style.visibility</p:attrName>
                                        </p:attrNameLst>
                                      </p:cBhvr>
                                      <p:to>
                                        <p:strVal val="visible"/>
                                      </p:to>
                                    </p:set>
                                    <p:animEffect transition="in" filter="box(in)">
                                      <p:cBhvr>
                                        <p:cTn id="7" dur="500"/>
                                        <p:tgtEl>
                                          <p:spTgt spid="38400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4003">
                                            <p:txEl>
                                              <p:pRg st="4" end="4"/>
                                            </p:txEl>
                                          </p:spTgt>
                                        </p:tgtEl>
                                        <p:attrNameLst>
                                          <p:attrName>style.visibility</p:attrName>
                                        </p:attrNameLst>
                                      </p:cBhvr>
                                      <p:to>
                                        <p:strVal val="visible"/>
                                      </p:to>
                                    </p:set>
                                    <p:animEffect transition="in" filter="box(in)">
                                      <p:cBhvr>
                                        <p:cTn id="12" dur="500"/>
                                        <p:tgtEl>
                                          <p:spTgt spid="384003">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4003">
                                            <p:txEl>
                                              <p:pRg st="5" end="5"/>
                                            </p:txEl>
                                          </p:spTgt>
                                        </p:tgtEl>
                                        <p:attrNameLst>
                                          <p:attrName>style.visibility</p:attrName>
                                        </p:attrNameLst>
                                      </p:cBhvr>
                                      <p:to>
                                        <p:strVal val="visible"/>
                                      </p:to>
                                    </p:set>
                                    <p:animEffect transition="in" filter="box(in)">
                                      <p:cBhvr>
                                        <p:cTn id="17" dur="500"/>
                                        <p:tgtEl>
                                          <p:spTgt spid="384003">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84003">
                                            <p:txEl>
                                              <p:pRg st="7" end="7"/>
                                            </p:txEl>
                                          </p:spTgt>
                                        </p:tgtEl>
                                        <p:attrNameLst>
                                          <p:attrName>style.visibility</p:attrName>
                                        </p:attrNameLst>
                                      </p:cBhvr>
                                      <p:to>
                                        <p:strVal val="visible"/>
                                      </p:to>
                                    </p:set>
                                    <p:animEffect transition="in" filter="box(in)">
                                      <p:cBhvr>
                                        <p:cTn id="22" dur="500"/>
                                        <p:tgtEl>
                                          <p:spTgt spid="3840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114BDD34-6B0E-4540-B8AD-B5B24F5A06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5103F6A-C66E-4A8B-89A6-5D31CC931230}" type="slidenum">
              <a:rPr lang="en-GB" altLang="en-US" sz="1400">
                <a:latin typeface="Arial" panose="020B0604020202020204" pitchFamily="34" charset="0"/>
                <a:cs typeface="Arial" panose="020B0604020202020204" pitchFamily="34" charset="0"/>
              </a:rPr>
              <a:pPr>
                <a:spcBef>
                  <a:spcPct val="0"/>
                </a:spcBef>
                <a:buFontTx/>
                <a:buNone/>
              </a:pPr>
              <a:t>27</a:t>
            </a:fld>
            <a:endParaRPr lang="en-GB" altLang="en-US" sz="1400">
              <a:latin typeface="Arial" panose="020B0604020202020204" pitchFamily="34" charset="0"/>
              <a:cs typeface="Arial" panose="020B0604020202020204" pitchFamily="34" charset="0"/>
            </a:endParaRPr>
          </a:p>
        </p:txBody>
      </p:sp>
      <p:sp>
        <p:nvSpPr>
          <p:cNvPr id="32771" name="Rectangle 2">
            <a:extLst>
              <a:ext uri="{FF2B5EF4-FFF2-40B4-BE49-F238E27FC236}">
                <a16:creationId xmlns:a16="http://schemas.microsoft.com/office/drawing/2014/main" id="{7E29EAB7-382F-4B40-AC68-7F3B2862F9DE}"/>
              </a:ext>
            </a:extLst>
          </p:cNvPr>
          <p:cNvSpPr>
            <a:spLocks noGrp="1" noChangeArrowheads="1"/>
          </p:cNvSpPr>
          <p:nvPr>
            <p:ph type="title"/>
          </p:nvPr>
        </p:nvSpPr>
        <p:spPr>
          <a:xfrm>
            <a:off x="1981200" y="463550"/>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86051" name="Rectangle 3">
            <a:extLst>
              <a:ext uri="{FF2B5EF4-FFF2-40B4-BE49-F238E27FC236}">
                <a16:creationId xmlns:a16="http://schemas.microsoft.com/office/drawing/2014/main" id="{D414F21B-C002-4537-B528-B7538CCF0F44}"/>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1.	Prove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zh-CN" sz="2400" dirty="0">
                <a:ea typeface="宋体" panose="02010600030101010101" pitchFamily="2" charset="-122"/>
                <a:sym typeface="Symbol" panose="05050102010706020507" pitchFamily="18" charset="2"/>
              </a:rPr>
              <a:t>ℝ,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+ 5 = 0.</a:t>
            </a:r>
          </a:p>
          <a:p>
            <a:pPr marL="0" indent="0">
              <a:buNone/>
            </a:pPr>
            <a:endParaRPr lang="en-US" altLang="zh-CN" sz="2400" dirty="0">
              <a:ea typeface="宋体" panose="02010600030101010101" pitchFamily="2" charset="-122"/>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	Let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-5,</a:t>
            </a:r>
          </a:p>
          <a:p>
            <a:pPr marL="0" indent="0">
              <a:buNone/>
            </a:pPr>
            <a:r>
              <a:rPr lang="en-US" altLang="zh-CN" sz="2400" dirty="0">
                <a:ea typeface="宋体" panose="02010600030101010101" pitchFamily="2" charset="-122"/>
                <a:sym typeface="Symbol" panose="05050102010706020507" pitchFamily="18" charset="2"/>
              </a:rPr>
              <a:t>	then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+ 5 = 0.</a:t>
            </a:r>
          </a:p>
          <a:p>
            <a:pPr marL="0" indent="0">
              <a:buNone/>
            </a:pPr>
            <a:r>
              <a:rPr lang="en-US" altLang="zh-CN" sz="2400" dirty="0">
                <a:ea typeface="宋体" panose="02010600030101010101" pitchFamily="2" charset="-122"/>
                <a:sym typeface="Symbol" panose="05050102010706020507" pitchFamily="18" charset="2"/>
              </a:rPr>
              <a:t>	Therefore,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zh-CN" sz="2400" dirty="0">
                <a:ea typeface="宋体" panose="02010600030101010101" pitchFamily="2" charset="-122"/>
                <a:sym typeface="Symbol" panose="05050102010706020507" pitchFamily="18" charset="2"/>
              </a:rPr>
              <a:t>ℝ,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+ 5 = 0.</a:t>
            </a:r>
          </a:p>
          <a:p>
            <a:pPr marL="0" indent="0">
              <a:buNone/>
            </a:pPr>
            <a:endParaRPr lang="en-US" altLang="en-US" sz="2400" dirty="0">
              <a:ea typeface="宋体" panose="02010600030101010101" pitchFamily="2" charset="-122"/>
              <a:sym typeface="Symbol" panose="05050102010706020507" pitchFamily="18" charset="2"/>
            </a:endParaRPr>
          </a:p>
          <a:p>
            <a:pPr marL="0" indent="0">
              <a:buNone/>
            </a:pPr>
            <a:endParaRPr lang="en-US" altLang="en-US" sz="2400" dirty="0">
              <a:ea typeface="宋体" panose="02010600030101010101" pitchFamily="2" charset="-122"/>
              <a:sym typeface="Symbol" panose="05050102010706020507" pitchFamily="18" charset="2"/>
            </a:endParaRPr>
          </a:p>
          <a:p>
            <a:pPr marL="0" indent="0">
              <a:buNone/>
            </a:pPr>
            <a:endParaRPr lang="en-US" altLang="en-US" sz="2400" dirty="0">
              <a:ea typeface="宋体" panose="02010600030101010101" pitchFamily="2" charset="-122"/>
              <a:sym typeface="Symbol" panose="05050102010706020507" pitchFamily="18" charset="2"/>
            </a:endParaRPr>
          </a:p>
          <a:p>
            <a:pPr marL="0" indent="0">
              <a:buNone/>
            </a:pPr>
            <a:endParaRPr lang="en-US" altLang="en-US" sz="2400" dirty="0">
              <a:ea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6051">
                                            <p:txEl>
                                              <p:pRg st="2" end="2"/>
                                            </p:txEl>
                                          </p:spTgt>
                                        </p:tgtEl>
                                        <p:attrNameLst>
                                          <p:attrName>style.visibility</p:attrName>
                                        </p:attrNameLst>
                                      </p:cBhvr>
                                      <p:to>
                                        <p:strVal val="visible"/>
                                      </p:to>
                                    </p:set>
                                    <p:animEffect transition="in" filter="box(in)">
                                      <p:cBhvr>
                                        <p:cTn id="7" dur="500"/>
                                        <p:tgtEl>
                                          <p:spTgt spid="38605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6051">
                                            <p:txEl>
                                              <p:pRg st="3" end="3"/>
                                            </p:txEl>
                                          </p:spTgt>
                                        </p:tgtEl>
                                        <p:attrNameLst>
                                          <p:attrName>style.visibility</p:attrName>
                                        </p:attrNameLst>
                                      </p:cBhvr>
                                      <p:to>
                                        <p:strVal val="visible"/>
                                      </p:to>
                                    </p:set>
                                    <p:animEffect transition="in" filter="box(in)">
                                      <p:cBhvr>
                                        <p:cTn id="12" dur="500"/>
                                        <p:tgtEl>
                                          <p:spTgt spid="386051">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6051">
                                            <p:txEl>
                                              <p:pRg st="4" end="4"/>
                                            </p:txEl>
                                          </p:spTgt>
                                        </p:tgtEl>
                                        <p:attrNameLst>
                                          <p:attrName>style.visibility</p:attrName>
                                        </p:attrNameLst>
                                      </p:cBhvr>
                                      <p:to>
                                        <p:strVal val="visible"/>
                                      </p:to>
                                    </p:set>
                                    <p:animEffect transition="in" filter="box(in)">
                                      <p:cBhvr>
                                        <p:cTn id="17" dur="500"/>
                                        <p:tgtEl>
                                          <p:spTgt spid="3860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0A9905E9-4276-4ACF-9623-1B7011F117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00B93EF-9F6F-4A7E-AA57-022787ADC330}" type="slidenum">
              <a:rPr lang="en-GB" altLang="en-US" sz="1400">
                <a:latin typeface="Arial" panose="020B0604020202020204" pitchFamily="34" charset="0"/>
                <a:cs typeface="Arial" panose="020B0604020202020204" pitchFamily="34" charset="0"/>
              </a:rPr>
              <a:pPr>
                <a:spcBef>
                  <a:spcPct val="0"/>
                </a:spcBef>
                <a:buFontTx/>
                <a:buNone/>
              </a:pPr>
              <a:t>28</a:t>
            </a:fld>
            <a:endParaRPr lang="en-GB" altLang="en-US" sz="1400">
              <a:latin typeface="Arial" panose="020B0604020202020204" pitchFamily="34" charset="0"/>
              <a:cs typeface="Arial" panose="020B0604020202020204" pitchFamily="34" charset="0"/>
            </a:endParaRPr>
          </a:p>
        </p:txBody>
      </p:sp>
      <p:sp>
        <p:nvSpPr>
          <p:cNvPr id="34819" name="Rectangle 2">
            <a:extLst>
              <a:ext uri="{FF2B5EF4-FFF2-40B4-BE49-F238E27FC236}">
                <a16:creationId xmlns:a16="http://schemas.microsoft.com/office/drawing/2014/main" id="{45484AC8-25AD-4B06-9A03-5822369BD6F3}"/>
              </a:ext>
            </a:extLst>
          </p:cNvPr>
          <p:cNvSpPr>
            <a:spLocks noGrp="1" noChangeArrowheads="1"/>
          </p:cNvSpPr>
          <p:nvPr>
            <p:ph type="title"/>
          </p:nvPr>
        </p:nvSpPr>
        <p:spPr>
          <a:xfrm>
            <a:off x="1981200" y="136525"/>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Proving </a:t>
            </a:r>
            <a:r>
              <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Statements</a:t>
            </a:r>
          </a:p>
        </p:txBody>
      </p:sp>
      <p:sp>
        <p:nvSpPr>
          <p:cNvPr id="34820" name="Rectangle 3">
            <a:extLst>
              <a:ext uri="{FF2B5EF4-FFF2-40B4-BE49-F238E27FC236}">
                <a16:creationId xmlns:a16="http://schemas.microsoft.com/office/drawing/2014/main" id="{5B91A947-149D-49DA-9EAF-20EBE261A6B6}"/>
              </a:ext>
            </a:extLst>
          </p:cNvPr>
          <p:cNvSpPr>
            <a:spLocks noGrp="1" noChangeArrowheads="1"/>
          </p:cNvSpPr>
          <p:nvPr>
            <p:ph type="body" idx="1"/>
          </p:nvPr>
        </p:nvSpPr>
        <p:spPr>
          <a:xfrm>
            <a:off x="641268" y="1371601"/>
            <a:ext cx="10996550" cy="4930775"/>
          </a:xfrm>
        </p:spPr>
        <p:txBody>
          <a:bodyPr/>
          <a:lstStyle/>
          <a:p>
            <a:pPr marL="0" indent="0">
              <a:buNone/>
            </a:pPr>
            <a:r>
              <a:rPr lang="en-US" altLang="en-US" sz="2400" dirty="0"/>
              <a:t>Most mathematical statements to be proved are </a:t>
            </a:r>
            <a:r>
              <a:rPr lang="en-US" altLang="en-US" sz="2400" dirty="0">
                <a:sym typeface="Symbol" panose="05050102010706020507" pitchFamily="18" charset="2"/>
              </a:rPr>
              <a:t> statements of the form</a:t>
            </a:r>
          </a:p>
          <a:p>
            <a:pPr marL="0" indent="0">
              <a:buNone/>
            </a:pP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To prove such statement, if D is finite and small, we can use </a:t>
            </a:r>
            <a:r>
              <a:rPr lang="en-US" altLang="en-US" sz="2400" b="1" dirty="0">
                <a:sym typeface="Symbol" panose="05050102010706020507" pitchFamily="18" charset="2"/>
              </a:rPr>
              <a:t>Method of Exhaustion</a:t>
            </a:r>
            <a:r>
              <a:rPr lang="en-US" altLang="en-US" sz="2400" dirty="0">
                <a:sym typeface="Symbol" panose="05050102010706020507" pitchFamily="18" charset="2"/>
              </a:rPr>
              <a:t> that requires checking that P(x) is true for of every x in D. But this method is not useful when D is large, and impossible if D is an infinite set.</a:t>
            </a:r>
          </a:p>
          <a:p>
            <a:pPr marL="0" indent="0">
              <a:buNone/>
            </a:pPr>
            <a:r>
              <a:rPr lang="en-US" altLang="en-US" sz="2400" dirty="0"/>
              <a:t>Unfortunately, in most cases the method of exhaustion cannot be used. </a:t>
            </a:r>
          </a:p>
          <a:p>
            <a:pPr marL="0" indent="0">
              <a:buNone/>
            </a:pPr>
            <a:endParaRPr lang="en-US" altLang="en-US" sz="2400" dirty="0"/>
          </a:p>
          <a:p>
            <a:pPr marL="0" indent="0">
              <a:buNone/>
            </a:pPr>
            <a:r>
              <a:rPr lang="en-US" altLang="en-US" sz="2400" dirty="0"/>
              <a:t>For example, how long would it take to prove the statement for all even values of </a:t>
            </a:r>
            <a:r>
              <a:rPr lang="en-US" altLang="en-US" sz="2400" i="1" dirty="0">
                <a:sym typeface="Symbol" panose="05050102010706020507" pitchFamily="18" charset="2"/>
              </a:rPr>
              <a:t>n</a:t>
            </a:r>
            <a:r>
              <a:rPr lang="en-US" altLang="en-US" sz="2400" dirty="0">
                <a:sym typeface="Symbol" panose="05050102010706020507" pitchFamily="18" charset="2"/>
              </a:rPr>
              <a:t>  ℕ?</a:t>
            </a:r>
            <a:endParaRPr lang="en-US" altLang="en-US" sz="2400" dirty="0"/>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In this case, we have to use methods for generalized proof.</a:t>
            </a:r>
          </a:p>
        </p:txBody>
      </p:sp>
    </p:spTree>
    <p:extLst>
      <p:ext uri="{BB962C8B-B14F-4D97-AF65-F5344CB8AC3E}">
        <p14:creationId xmlns:p14="http://schemas.microsoft.com/office/powerpoint/2010/main" val="4292210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2114730B-C706-4E55-A21D-9978723D91D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12BC4FB-DC69-4B13-83FC-826AD4642802}" type="slidenum">
              <a:rPr lang="en-GB" altLang="en-US" sz="1400">
                <a:latin typeface="Arial" panose="020B0604020202020204" pitchFamily="34" charset="0"/>
                <a:cs typeface="Arial" panose="020B0604020202020204" pitchFamily="34" charset="0"/>
              </a:rPr>
              <a:pPr>
                <a:spcBef>
                  <a:spcPct val="0"/>
                </a:spcBef>
                <a:buFontTx/>
                <a:buNone/>
              </a:pPr>
              <a:t>29</a:t>
            </a:fld>
            <a:endParaRPr lang="en-GB" altLang="en-US" sz="1400">
              <a:latin typeface="Arial" panose="020B0604020202020204" pitchFamily="34" charset="0"/>
              <a:cs typeface="Arial" panose="020B0604020202020204" pitchFamily="34" charset="0"/>
            </a:endParaRPr>
          </a:p>
        </p:txBody>
      </p:sp>
      <p:sp>
        <p:nvSpPr>
          <p:cNvPr id="33795" name="Rectangle 2">
            <a:extLst>
              <a:ext uri="{FF2B5EF4-FFF2-40B4-BE49-F238E27FC236}">
                <a16:creationId xmlns:a16="http://schemas.microsoft.com/office/drawing/2014/main" id="{BFAE4E6E-A90B-465E-B851-413F34E91CBF}"/>
              </a:ext>
            </a:extLst>
          </p:cNvPr>
          <p:cNvSpPr>
            <a:spLocks noGrp="1" noChangeArrowheads="1"/>
          </p:cNvSpPr>
          <p:nvPr>
            <p:ph type="title"/>
          </p:nvPr>
        </p:nvSpPr>
        <p:spPr>
          <a:xfrm>
            <a:off x="1684317" y="136523"/>
            <a:ext cx="8229600" cy="652731"/>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Proving </a:t>
            </a:r>
            <a:r>
              <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Statements: Example</a:t>
            </a:r>
          </a:p>
        </p:txBody>
      </p:sp>
      <p:sp>
        <p:nvSpPr>
          <p:cNvPr id="389123" name="Rectangle 3">
            <a:extLst>
              <a:ext uri="{FF2B5EF4-FFF2-40B4-BE49-F238E27FC236}">
                <a16:creationId xmlns:a16="http://schemas.microsoft.com/office/drawing/2014/main" id="{1206DD51-8D69-4E82-B6F5-6B63451B8C09}"/>
              </a:ext>
            </a:extLst>
          </p:cNvPr>
          <p:cNvSpPr>
            <a:spLocks noGrp="1" noChangeArrowheads="1"/>
          </p:cNvSpPr>
          <p:nvPr>
            <p:ph type="body" idx="1"/>
          </p:nvPr>
        </p:nvSpPr>
        <p:spPr>
          <a:xfrm>
            <a:off x="864919" y="1299894"/>
            <a:ext cx="9868396" cy="3628366"/>
          </a:xfrm>
        </p:spPr>
        <p:txBody>
          <a:bodyPr/>
          <a:lstStyle/>
          <a:p>
            <a:pPr marL="0" indent="0">
              <a:buNone/>
            </a:pPr>
            <a:r>
              <a:rPr lang="en-US" altLang="en-US" sz="2400" dirty="0"/>
              <a:t>Prove the following statement: Every even number between 2 and 16 can be written as a sum of two prime numbers.</a:t>
            </a:r>
          </a:p>
          <a:p>
            <a:pPr marL="0" indent="0">
              <a:buNone/>
            </a:pPr>
            <a:endParaRPr lang="en-US" altLang="en-US" sz="2400" dirty="0"/>
          </a:p>
          <a:p>
            <a:pPr marL="0" indent="0">
              <a:buNone/>
            </a:pPr>
            <a:r>
              <a:rPr lang="en-US" altLang="en-US" sz="2400" dirty="0"/>
              <a:t>	4 = 2 + 2	6 = 3 + 3	8 = 3 + 5</a:t>
            </a:r>
          </a:p>
          <a:p>
            <a:pPr marL="0" indent="0">
              <a:buNone/>
            </a:pPr>
            <a:r>
              <a:rPr lang="en-US" altLang="en-US" sz="2400" dirty="0"/>
              <a:t>	10 = 5 + 5	12 = 5 + 7	14 = 7 + 7</a:t>
            </a:r>
          </a:p>
          <a:p>
            <a:pPr marL="0" indent="0">
              <a:buNone/>
            </a:pPr>
            <a:endParaRPr lang="en-US" altLang="en-US" sz="2400" dirty="0"/>
          </a:p>
          <a:p>
            <a:pPr marL="0" indent="0">
              <a:buNone/>
            </a:pPr>
            <a:r>
              <a:rPr lang="en-US" altLang="en-US" sz="2400" dirty="0"/>
              <a:t>Therefore, by the method of exhaustion, the statement is true.</a:t>
            </a: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9123">
                                            <p:txEl>
                                              <p:pRg st="2" end="2"/>
                                            </p:txEl>
                                          </p:spTgt>
                                        </p:tgtEl>
                                        <p:attrNameLst>
                                          <p:attrName>style.visibility</p:attrName>
                                        </p:attrNameLst>
                                      </p:cBhvr>
                                      <p:to>
                                        <p:strVal val="visible"/>
                                      </p:to>
                                    </p:set>
                                    <p:animEffect transition="in" filter="box(in)">
                                      <p:cBhvr>
                                        <p:cTn id="7" dur="500"/>
                                        <p:tgtEl>
                                          <p:spTgt spid="38912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9123">
                                            <p:txEl>
                                              <p:pRg st="3" end="3"/>
                                            </p:txEl>
                                          </p:spTgt>
                                        </p:tgtEl>
                                        <p:attrNameLst>
                                          <p:attrName>style.visibility</p:attrName>
                                        </p:attrNameLst>
                                      </p:cBhvr>
                                      <p:to>
                                        <p:strVal val="visible"/>
                                      </p:to>
                                    </p:set>
                                    <p:animEffect transition="in" filter="box(in)">
                                      <p:cBhvr>
                                        <p:cTn id="12" dur="500"/>
                                        <p:tgtEl>
                                          <p:spTgt spid="38912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9123">
                                            <p:txEl>
                                              <p:pRg st="5" end="5"/>
                                            </p:txEl>
                                          </p:spTgt>
                                        </p:tgtEl>
                                        <p:attrNameLst>
                                          <p:attrName>style.visibility</p:attrName>
                                        </p:attrNameLst>
                                      </p:cBhvr>
                                      <p:to>
                                        <p:strVal val="visible"/>
                                      </p:to>
                                    </p:set>
                                    <p:animEffect transition="in" filter="box(in)">
                                      <p:cBhvr>
                                        <p:cTn id="17" dur="500"/>
                                        <p:tgtEl>
                                          <p:spTgt spid="389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585EC627-837D-4F6B-A48F-5008174A25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ABB40BC-0E92-4A36-BE72-550F33881E2B}" type="slidenum">
              <a:rPr lang="en-GB" altLang="en-US" sz="1400">
                <a:latin typeface="Arial" panose="020B0604020202020204" pitchFamily="34" charset="0"/>
                <a:cs typeface="Arial" panose="020B0604020202020204" pitchFamily="34" charset="0"/>
              </a:rPr>
              <a:pPr>
                <a:spcBef>
                  <a:spcPct val="0"/>
                </a:spcBef>
                <a:buFontTx/>
                <a:buNone/>
              </a:pPr>
              <a:t>30</a:t>
            </a:fld>
            <a:endParaRPr lang="en-GB" altLang="en-US" sz="1400">
              <a:latin typeface="Arial" panose="020B0604020202020204" pitchFamily="34" charset="0"/>
              <a:cs typeface="Arial" panose="020B0604020202020204" pitchFamily="34" charset="0"/>
            </a:endParaRPr>
          </a:p>
        </p:txBody>
      </p:sp>
      <p:sp>
        <p:nvSpPr>
          <p:cNvPr id="35843" name="Rectangle 2">
            <a:extLst>
              <a:ext uri="{FF2B5EF4-FFF2-40B4-BE49-F238E27FC236}">
                <a16:creationId xmlns:a16="http://schemas.microsoft.com/office/drawing/2014/main" id="{4BC7A138-CDF7-4DF5-8E50-FB356BD892CC}"/>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Disproving </a:t>
            </a:r>
            <a:r>
              <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Statements</a:t>
            </a:r>
          </a:p>
        </p:txBody>
      </p:sp>
      <p:sp>
        <p:nvSpPr>
          <p:cNvPr id="391171" name="Rectangle 3">
            <a:extLst>
              <a:ext uri="{FF2B5EF4-FFF2-40B4-BE49-F238E27FC236}">
                <a16:creationId xmlns:a16="http://schemas.microsoft.com/office/drawing/2014/main" id="{5D96C7AD-A68F-49C0-90A7-2F202B54F366}"/>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To disprove the statement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zh-CN" sz="2400" dirty="0">
                <a:ea typeface="宋体" panose="02010600030101010101" pitchFamily="2" charset="-122"/>
                <a:sym typeface="Symbol" panose="05050102010706020507" pitchFamily="18" charset="2"/>
              </a:rPr>
              <a:t>,</a:t>
            </a:r>
            <a:r>
              <a:rPr lang="en-US" altLang="en-US" sz="2400" dirty="0"/>
              <a:t> </a:t>
            </a:r>
            <a:r>
              <a:rPr lang="en-US" altLang="en-US" sz="2400" i="1" dirty="0"/>
              <a:t>P</a:t>
            </a:r>
            <a:r>
              <a:rPr lang="en-US" altLang="en-US" sz="2400" dirty="0"/>
              <a:t>(</a:t>
            </a:r>
            <a:r>
              <a:rPr lang="en-US" altLang="en-US" sz="2400" i="1" dirty="0"/>
              <a:t>x</a:t>
            </a:r>
            <a:r>
              <a:rPr lang="en-US" altLang="en-US" sz="2400" dirty="0"/>
              <a:t>), we must </a:t>
            </a:r>
            <a:r>
              <a:rPr lang="en-US" altLang="en-US" sz="2400" i="1" dirty="0"/>
              <a:t>prove</a:t>
            </a:r>
            <a:r>
              <a:rPr lang="en-US" altLang="en-US" sz="2400" dirty="0"/>
              <a:t> its negation, that is prove</a:t>
            </a:r>
          </a:p>
          <a:p>
            <a:pPr marL="0" indent="0">
              <a:buNone/>
            </a:pPr>
            <a:r>
              <a:rPr lang="en-US" altLang="en-US" sz="2400" dirty="0"/>
              <a:t>		~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zh-CN" sz="2400" dirty="0">
                <a:ea typeface="宋体" panose="02010600030101010101" pitchFamily="2" charset="-122"/>
                <a:sym typeface="Symbol" panose="05050102010706020507" pitchFamily="18" charset="2"/>
              </a:rPr>
              <a:t>,</a:t>
            </a:r>
            <a:r>
              <a:rPr lang="en-US" altLang="en-US" sz="2400" dirty="0"/>
              <a:t> </a:t>
            </a:r>
            <a:r>
              <a:rPr lang="en-US" altLang="en-US" sz="2400" i="1" dirty="0"/>
              <a:t>P</a:t>
            </a:r>
            <a:r>
              <a:rPr lang="en-US" altLang="en-US" sz="2400" dirty="0"/>
              <a:t>(</a:t>
            </a:r>
            <a:r>
              <a:rPr lang="en-US" altLang="en-US" sz="2400" i="1" dirty="0"/>
              <a:t>x</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zh-CN" sz="2400" dirty="0">
                <a:ea typeface="宋体" panose="02010600030101010101" pitchFamily="2" charset="-122"/>
                <a:sym typeface="Symbol" panose="05050102010706020507" pitchFamily="18" charset="2"/>
              </a:rPr>
              <a:t>,</a:t>
            </a:r>
            <a:r>
              <a:rPr lang="en-US" altLang="en-US" sz="2400" dirty="0"/>
              <a:t> ~ </a:t>
            </a:r>
            <a:r>
              <a:rPr lang="en-US" altLang="en-US" sz="2400" i="1" dirty="0"/>
              <a:t>P</a:t>
            </a:r>
            <a:r>
              <a:rPr lang="en-US" altLang="en-US" sz="2400" dirty="0"/>
              <a:t>(</a:t>
            </a:r>
            <a:r>
              <a:rPr lang="en-US" altLang="en-US" sz="2400" i="1" dirty="0"/>
              <a:t>x</a:t>
            </a:r>
            <a:r>
              <a:rPr lang="en-US" altLang="en-US" sz="2400" dirty="0"/>
              <a:t>).</a:t>
            </a:r>
          </a:p>
          <a:p>
            <a:pPr marL="0" indent="0">
              <a:buNone/>
            </a:pPr>
            <a:r>
              <a:rPr lang="en-US" altLang="en-US" sz="2400" dirty="0"/>
              <a:t> </a:t>
            </a:r>
            <a:endParaRPr lang="en-US" altLang="en-US" sz="2400" dirty="0">
              <a:sym typeface="Symbol" panose="05050102010706020507" pitchFamily="18" charset="2"/>
            </a:endParaRPr>
          </a:p>
          <a:p>
            <a:pPr marL="0" indent="0">
              <a:buNone/>
            </a:pPr>
            <a:r>
              <a:rPr lang="en-US" altLang="en-US" sz="2400" dirty="0"/>
              <a:t>Hence, to prove this statement, we must use a generalized proof as mentioned earlier, to prove that ~ </a:t>
            </a:r>
            <a:r>
              <a:rPr lang="en-US" altLang="en-US" sz="2400" i="1" dirty="0"/>
              <a:t>P</a:t>
            </a:r>
            <a:r>
              <a:rPr lang="en-US" altLang="en-US" sz="2400" dirty="0"/>
              <a:t>(</a:t>
            </a:r>
            <a:r>
              <a:rPr lang="en-US" altLang="en-US" sz="2400" i="1" dirty="0"/>
              <a:t>x</a:t>
            </a:r>
            <a:r>
              <a:rPr lang="en-US" altLang="en-US" sz="2400" dirty="0"/>
              <a:t>) is true.</a:t>
            </a:r>
          </a:p>
          <a:p>
            <a:pPr marL="0" indent="0">
              <a:buNone/>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1171">
                                            <p:txEl>
                                              <p:pRg st="3" end="3"/>
                                            </p:txEl>
                                          </p:spTgt>
                                        </p:tgtEl>
                                        <p:attrNameLst>
                                          <p:attrName>style.visibility</p:attrName>
                                        </p:attrNameLst>
                                      </p:cBhvr>
                                      <p:to>
                                        <p:strVal val="visible"/>
                                      </p:to>
                                    </p:set>
                                    <p:animEffect transition="in" filter="box(in)">
                                      <p:cBhvr>
                                        <p:cTn id="7" dur="500"/>
                                        <p:tgtEl>
                                          <p:spTgt spid="391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C7A86833-BA84-46B5-8EA4-F763EB713B6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A0475F3-578C-4980-9779-378B28BFC00C}" type="slidenum">
              <a:rPr lang="en-GB" altLang="en-US" sz="1400">
                <a:latin typeface="Arial" panose="020B0604020202020204" pitchFamily="34" charset="0"/>
                <a:cs typeface="Arial" panose="020B0604020202020204" pitchFamily="34" charset="0"/>
              </a:rPr>
              <a:pPr>
                <a:spcBef>
                  <a:spcPct val="0"/>
                </a:spcBef>
                <a:buFontTx/>
                <a:buNone/>
              </a:pPr>
              <a:t>31</a:t>
            </a:fld>
            <a:endParaRPr lang="en-GB" altLang="en-US" sz="1400">
              <a:latin typeface="Arial" panose="020B0604020202020204" pitchFamily="34" charset="0"/>
              <a:cs typeface="Arial" panose="020B0604020202020204" pitchFamily="34" charset="0"/>
            </a:endParaRPr>
          </a:p>
        </p:txBody>
      </p:sp>
      <p:sp>
        <p:nvSpPr>
          <p:cNvPr id="36867" name="Rectangle 2">
            <a:extLst>
              <a:ext uri="{FF2B5EF4-FFF2-40B4-BE49-F238E27FC236}">
                <a16:creationId xmlns:a16="http://schemas.microsoft.com/office/drawing/2014/main" id="{533DCBCC-6C83-4EFF-852B-A94289CED07E}"/>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Disproving </a:t>
            </a:r>
            <a:r>
              <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 Statements</a:t>
            </a:r>
          </a:p>
        </p:txBody>
      </p:sp>
      <p:sp>
        <p:nvSpPr>
          <p:cNvPr id="393219" name="Rectangle 3">
            <a:extLst>
              <a:ext uri="{FF2B5EF4-FFF2-40B4-BE49-F238E27FC236}">
                <a16:creationId xmlns:a16="http://schemas.microsoft.com/office/drawing/2014/main" id="{D23CD5EF-A246-4133-870F-45046ED07625}"/>
              </a:ext>
            </a:extLst>
          </p:cNvPr>
          <p:cNvSpPr>
            <a:spLocks noGrp="1" noChangeArrowheads="1"/>
          </p:cNvSpPr>
          <p:nvPr>
            <p:ph type="body" idx="1"/>
          </p:nvPr>
        </p:nvSpPr>
        <p:spPr>
          <a:xfrm>
            <a:off x="1981200" y="1771651"/>
            <a:ext cx="8229600" cy="4530725"/>
          </a:xfrm>
        </p:spPr>
        <p:txBody>
          <a:bodyPr>
            <a:normAutofit lnSpcReduction="10000"/>
          </a:bodyPr>
          <a:lstStyle/>
          <a:p>
            <a:pPr marL="0" indent="0">
              <a:buNone/>
            </a:pPr>
            <a:r>
              <a:rPr lang="en-US" altLang="en-US" sz="2400" dirty="0"/>
              <a:t>To disprove the statement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zh-CN" sz="2400" dirty="0">
                <a:ea typeface="宋体" panose="02010600030101010101" pitchFamily="2" charset="-122"/>
                <a:sym typeface="Symbol" panose="05050102010706020507" pitchFamily="18" charset="2"/>
              </a:rPr>
              <a:t>,</a:t>
            </a:r>
            <a:r>
              <a:rPr lang="en-US" altLang="en-US" sz="2400" dirty="0"/>
              <a:t> </a:t>
            </a:r>
            <a:r>
              <a:rPr lang="en-US" altLang="en-US" sz="2400" i="1" dirty="0"/>
              <a:t>P</a:t>
            </a:r>
            <a:r>
              <a:rPr lang="en-US" altLang="en-US" sz="2400" dirty="0"/>
              <a:t>(</a:t>
            </a:r>
            <a:r>
              <a:rPr lang="en-US" altLang="en-US" sz="2400" i="1" dirty="0"/>
              <a:t>x</a:t>
            </a:r>
            <a:r>
              <a:rPr lang="en-US" altLang="en-US" sz="2400" dirty="0"/>
              <a:t>), we must </a:t>
            </a:r>
            <a:r>
              <a:rPr lang="en-US" altLang="en-US" sz="2400" i="1" dirty="0"/>
              <a:t>prove</a:t>
            </a:r>
            <a:r>
              <a:rPr lang="en-US" altLang="en-US" sz="2400" dirty="0"/>
              <a:t> its negation, that is prove</a:t>
            </a:r>
          </a:p>
          <a:p>
            <a:pPr marL="0" indent="0">
              <a:buNone/>
            </a:pPr>
            <a:r>
              <a:rPr lang="en-US" altLang="en-US" sz="2400" dirty="0"/>
              <a:t>		~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zh-CN" sz="2400" dirty="0">
                <a:ea typeface="宋体" panose="02010600030101010101" pitchFamily="2" charset="-122"/>
                <a:sym typeface="Symbol" panose="05050102010706020507" pitchFamily="18" charset="2"/>
              </a:rPr>
              <a:t>,</a:t>
            </a:r>
            <a:r>
              <a:rPr lang="en-US" altLang="en-US" sz="2400" dirty="0"/>
              <a:t> </a:t>
            </a:r>
            <a:r>
              <a:rPr lang="en-US" altLang="en-US" sz="2400" i="1" dirty="0"/>
              <a:t>P</a:t>
            </a:r>
            <a:r>
              <a:rPr lang="en-US" altLang="en-US" sz="2400" dirty="0"/>
              <a:t>(</a:t>
            </a:r>
            <a:r>
              <a:rPr lang="en-US" altLang="en-US" sz="2400" i="1" dirty="0"/>
              <a:t>x</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zh-CN" sz="2400" dirty="0">
                <a:ea typeface="宋体" panose="02010600030101010101" pitchFamily="2" charset="-122"/>
                <a:sym typeface="Symbol" panose="05050102010706020507" pitchFamily="18" charset="2"/>
              </a:rPr>
              <a:t>,</a:t>
            </a:r>
            <a:r>
              <a:rPr lang="en-US" altLang="en-US" sz="2400" dirty="0"/>
              <a:t> ~ </a:t>
            </a:r>
            <a:r>
              <a:rPr lang="en-US" altLang="en-US" sz="2400" i="1" dirty="0"/>
              <a:t>P</a:t>
            </a:r>
            <a:r>
              <a:rPr lang="en-US" altLang="en-US" sz="2400" dirty="0"/>
              <a:t>(</a:t>
            </a:r>
            <a:r>
              <a:rPr lang="en-US" altLang="en-US" sz="2400" i="1" dirty="0"/>
              <a:t>x</a:t>
            </a:r>
            <a:r>
              <a:rPr lang="en-US" altLang="en-US" sz="2400" dirty="0"/>
              <a:t>).</a:t>
            </a:r>
          </a:p>
          <a:p>
            <a:pPr marL="0" indent="0">
              <a:buNone/>
            </a:pPr>
            <a:r>
              <a:rPr lang="en-US" altLang="en-US" sz="2400" dirty="0"/>
              <a:t> </a:t>
            </a:r>
            <a:endParaRPr lang="en-US" altLang="en-US" sz="2400" dirty="0">
              <a:sym typeface="Symbol" panose="05050102010706020507" pitchFamily="18" charset="2"/>
            </a:endParaRPr>
          </a:p>
          <a:p>
            <a:pPr marL="0" indent="0">
              <a:buNone/>
            </a:pPr>
            <a:r>
              <a:rPr lang="en-US" altLang="en-US" sz="2400" dirty="0"/>
              <a:t>Note that to disprove a “</a:t>
            </a:r>
            <a:r>
              <a:rPr lang="en-US" altLang="en-US" sz="2400" dirty="0">
                <a:sym typeface="Symbol" panose="05050102010706020507" pitchFamily="18" charset="2"/>
              </a:rPr>
              <a:t>” </a:t>
            </a:r>
            <a:r>
              <a:rPr lang="en-US" altLang="en-US" sz="2400" dirty="0"/>
              <a:t>statement, we are required to prove a “</a:t>
            </a:r>
            <a:r>
              <a:rPr lang="en-US" altLang="en-US" sz="2400" dirty="0">
                <a:sym typeface="Symbol" panose="05050102010706020507" pitchFamily="18" charset="2"/>
              </a:rPr>
              <a:t>” statement.</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Therefore, it is enough to use the method, proving for one value, to find one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en-US" sz="2400" i="1" dirty="0">
                <a:sym typeface="Symbol" panose="05050102010706020507" pitchFamily="18" charset="2"/>
              </a:rPr>
              <a:t>D</a:t>
            </a:r>
            <a:r>
              <a:rPr lang="en-US" altLang="en-US" sz="2400" dirty="0">
                <a:sym typeface="Symbol" panose="05050102010706020507" pitchFamily="18" charset="2"/>
              </a:rPr>
              <a:t> that satisfies </a:t>
            </a:r>
            <a:r>
              <a:rPr lang="en-US" altLang="en-US" sz="2400" dirty="0"/>
              <a:t>~ </a:t>
            </a:r>
            <a:r>
              <a:rPr lang="en-US" altLang="en-US" sz="2400" i="1" dirty="0"/>
              <a:t>P</a:t>
            </a:r>
            <a:r>
              <a:rPr lang="en-US" altLang="en-US" sz="2400" dirty="0"/>
              <a:t>(</a:t>
            </a:r>
            <a:r>
              <a:rPr lang="en-US" altLang="en-US" sz="2400" i="1" dirty="0"/>
              <a:t>x</a:t>
            </a:r>
            <a:r>
              <a:rPr lang="en-US" altLang="en-US" sz="2400" dirty="0"/>
              <a:t>), that is, one value that makes </a:t>
            </a:r>
            <a:r>
              <a:rPr lang="en-US" altLang="en-US" sz="2400" i="1" dirty="0"/>
              <a:t>P</a:t>
            </a:r>
            <a:r>
              <a:rPr lang="en-US" altLang="en-US" sz="2400" dirty="0"/>
              <a:t>(</a:t>
            </a:r>
            <a:r>
              <a:rPr lang="en-US" altLang="en-US" sz="2400" i="1" dirty="0"/>
              <a:t>x</a:t>
            </a:r>
            <a:r>
              <a:rPr lang="en-US" altLang="en-US" sz="2400" dirty="0"/>
              <a:t>) false.</a:t>
            </a:r>
          </a:p>
          <a:p>
            <a:pPr marL="0" indent="0">
              <a:buNone/>
            </a:pPr>
            <a:endParaRPr lang="en-US" altLang="en-US" sz="2400" dirty="0"/>
          </a:p>
          <a:p>
            <a:pPr marL="0" indent="0">
              <a:buNone/>
            </a:pPr>
            <a:r>
              <a:rPr lang="en-US" altLang="en-US" sz="2400" dirty="0"/>
              <a:t>This is also called </a:t>
            </a:r>
            <a:r>
              <a:rPr lang="en-US" altLang="en-US" sz="2400" b="1" i="1" dirty="0"/>
              <a:t>counterexample</a:t>
            </a:r>
            <a:r>
              <a:rPr lang="en-US" altLang="en-US" sz="2400" dirty="0"/>
              <a:t>.</a:t>
            </a:r>
          </a:p>
          <a:p>
            <a:pPr marL="0" indent="0">
              <a:buNone/>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3219">
                                            <p:txEl>
                                              <p:pRg st="3" end="3"/>
                                            </p:txEl>
                                          </p:spTgt>
                                        </p:tgtEl>
                                        <p:attrNameLst>
                                          <p:attrName>style.visibility</p:attrName>
                                        </p:attrNameLst>
                                      </p:cBhvr>
                                      <p:to>
                                        <p:strVal val="visible"/>
                                      </p:to>
                                    </p:set>
                                    <p:animEffect transition="in" filter="box(in)">
                                      <p:cBhvr>
                                        <p:cTn id="7" dur="500"/>
                                        <p:tgtEl>
                                          <p:spTgt spid="39321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3219">
                                            <p:txEl>
                                              <p:pRg st="5" end="5"/>
                                            </p:txEl>
                                          </p:spTgt>
                                        </p:tgtEl>
                                        <p:attrNameLst>
                                          <p:attrName>style.visibility</p:attrName>
                                        </p:attrNameLst>
                                      </p:cBhvr>
                                      <p:to>
                                        <p:strVal val="visible"/>
                                      </p:to>
                                    </p:set>
                                    <p:animEffect transition="in" filter="box(in)">
                                      <p:cBhvr>
                                        <p:cTn id="12" dur="500"/>
                                        <p:tgtEl>
                                          <p:spTgt spid="393219">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3219">
                                            <p:txEl>
                                              <p:pRg st="7" end="7"/>
                                            </p:txEl>
                                          </p:spTgt>
                                        </p:tgtEl>
                                        <p:attrNameLst>
                                          <p:attrName>style.visibility</p:attrName>
                                        </p:attrNameLst>
                                      </p:cBhvr>
                                      <p:to>
                                        <p:strVal val="visible"/>
                                      </p:to>
                                    </p:set>
                                    <p:animEffect transition="in" filter="box(in)">
                                      <p:cBhvr>
                                        <p:cTn id="17" dur="500"/>
                                        <p:tgtEl>
                                          <p:spTgt spid="39321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0E1F5D4A-2DEE-4EDB-9615-13A7C3DCA5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FD9F202-5773-4789-AB4A-576F81F6DD55}" type="slidenum">
              <a:rPr lang="en-GB" altLang="en-US" sz="1400">
                <a:latin typeface="Arial" panose="020B0604020202020204" pitchFamily="34" charset="0"/>
                <a:cs typeface="Arial" panose="020B0604020202020204" pitchFamily="34" charset="0"/>
              </a:rPr>
              <a:pPr>
                <a:spcBef>
                  <a:spcPct val="0"/>
                </a:spcBef>
                <a:buFontTx/>
                <a:buNone/>
              </a:pPr>
              <a:t>32</a:t>
            </a:fld>
            <a:endParaRPr lang="en-GB" altLang="en-US" sz="1400">
              <a:latin typeface="Arial" panose="020B0604020202020204" pitchFamily="34" charset="0"/>
              <a:cs typeface="Arial" panose="020B0604020202020204" pitchFamily="34" charset="0"/>
            </a:endParaRPr>
          </a:p>
        </p:txBody>
      </p:sp>
      <p:sp>
        <p:nvSpPr>
          <p:cNvPr id="37891" name="Rectangle 2">
            <a:extLst>
              <a:ext uri="{FF2B5EF4-FFF2-40B4-BE49-F238E27FC236}">
                <a16:creationId xmlns:a16="http://schemas.microsoft.com/office/drawing/2014/main" id="{3C459D1D-4E86-4DB4-AA3D-82A7B79D4804}"/>
              </a:ext>
            </a:extLst>
          </p:cNvPr>
          <p:cNvSpPr>
            <a:spLocks noGrp="1" noChangeArrowheads="1"/>
          </p:cNvSpPr>
          <p:nvPr>
            <p:ph type="title"/>
          </p:nvPr>
        </p:nvSpPr>
        <p:spPr>
          <a:xfrm>
            <a:off x="1981200" y="463550"/>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94243" name="Rectangle 3">
            <a:extLst>
              <a:ext uri="{FF2B5EF4-FFF2-40B4-BE49-F238E27FC236}">
                <a16:creationId xmlns:a16="http://schemas.microsoft.com/office/drawing/2014/main" id="{BC328B05-4CE4-4069-AEAF-CE2D663A7BDC}"/>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Disprove the statement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zh-CN" sz="2400" dirty="0">
                <a:ea typeface="宋体" panose="02010600030101010101" pitchFamily="2" charset="-122"/>
                <a:sym typeface="Symbol" panose="05050102010706020507" pitchFamily="18" charset="2"/>
              </a:rPr>
              <a:t>ℝ,</a:t>
            </a:r>
            <a:r>
              <a:rPr lang="en-US" altLang="en-US" sz="2400" dirty="0"/>
              <a:t> (</a:t>
            </a:r>
            <a:r>
              <a:rPr lang="en-US" altLang="en-US" sz="2400" i="1" dirty="0"/>
              <a:t>x </a:t>
            </a:r>
            <a:r>
              <a:rPr lang="en-US" altLang="en-US" sz="2400" dirty="0"/>
              <a:t>&gt; 0 </a:t>
            </a:r>
            <a:r>
              <a:rPr lang="en-US" altLang="en-US" sz="2400" dirty="0">
                <a:sym typeface="Symbol" panose="05050102010706020507" pitchFamily="18" charset="2"/>
              </a:rPr>
              <a:t> </a:t>
            </a:r>
            <a:r>
              <a:rPr lang="en-US" altLang="en-US" sz="2400" i="1" dirty="0">
                <a:sym typeface="Symbol" panose="05050102010706020507" pitchFamily="18" charset="2"/>
              </a:rPr>
              <a:t>x</a:t>
            </a:r>
            <a:r>
              <a:rPr lang="en-US" altLang="en-US" sz="2400" dirty="0">
                <a:sym typeface="Symbol" panose="05050102010706020507" pitchFamily="18" charset="2"/>
              </a:rPr>
              <a:t> &lt; 0</a:t>
            </a:r>
            <a:r>
              <a:rPr lang="en-US" altLang="en-US" sz="2400" dirty="0"/>
              <a:t>).</a:t>
            </a:r>
          </a:p>
          <a:p>
            <a:pPr marL="0" indent="0">
              <a:buNone/>
            </a:pPr>
            <a:endParaRPr lang="en-US" altLang="en-US" sz="2400" dirty="0"/>
          </a:p>
          <a:p>
            <a:pPr marL="0" indent="0">
              <a:buNone/>
            </a:pPr>
            <a:r>
              <a:rPr lang="en-US" altLang="en-US" sz="2400" dirty="0"/>
              <a:t>The negation is</a:t>
            </a:r>
          </a:p>
          <a:p>
            <a:pPr marL="0" indent="0">
              <a:buNone/>
            </a:pPr>
            <a:r>
              <a:rPr lang="en-US" altLang="en-US" sz="2400" dirty="0"/>
              <a:t>		 </a:t>
            </a:r>
            <a:r>
              <a:rPr lang="en-US" altLang="en-US" sz="2400" dirty="0">
                <a:sym typeface="Symbol" panose="05050102010706020507" pitchFamily="18" charset="2"/>
              </a:rPr>
              <a:t></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zh-CN" sz="2400" dirty="0">
                <a:ea typeface="宋体" panose="02010600030101010101" pitchFamily="2" charset="-122"/>
                <a:sym typeface="Symbol" panose="05050102010706020507" pitchFamily="18" charset="2"/>
              </a:rPr>
              <a:t>ℝ,</a:t>
            </a:r>
            <a:r>
              <a:rPr lang="en-US" altLang="en-US" sz="2400" dirty="0"/>
              <a:t> (</a:t>
            </a:r>
            <a:r>
              <a:rPr lang="en-US" altLang="en-US" sz="2400" i="1" dirty="0"/>
              <a:t>x ≤</a:t>
            </a:r>
            <a:r>
              <a:rPr lang="en-US" altLang="en-US" sz="2400" dirty="0"/>
              <a:t> 0 </a:t>
            </a:r>
            <a:r>
              <a:rPr lang="en-US" altLang="en-US" sz="2400" dirty="0">
                <a:sym typeface="Symbol" panose="05050102010706020507" pitchFamily="18" charset="2"/>
              </a:rPr>
              <a:t> </a:t>
            </a:r>
            <a:r>
              <a:rPr lang="en-US" altLang="en-US" sz="2400" i="1" dirty="0">
                <a:sym typeface="Symbol" panose="05050102010706020507" pitchFamily="18" charset="2"/>
              </a:rPr>
              <a:t>x  </a:t>
            </a:r>
            <a:r>
              <a:rPr lang="en-US" altLang="en-US" sz="2400" dirty="0">
                <a:sym typeface="Symbol" panose="05050102010706020507" pitchFamily="18" charset="2"/>
              </a:rPr>
              <a:t> 0</a:t>
            </a:r>
            <a:r>
              <a:rPr lang="en-US" altLang="en-US" sz="2400" dirty="0"/>
              <a:t>).</a:t>
            </a:r>
            <a:endParaRPr lang="en-US" altLang="en-US" sz="2400" dirty="0">
              <a:sym typeface="Symbol" panose="05050102010706020507" pitchFamily="18" charset="2"/>
            </a:endParaRPr>
          </a:p>
          <a:p>
            <a:pPr marL="0" indent="0">
              <a:buNone/>
            </a:pPr>
            <a:endParaRPr lang="en-US" altLang="en-US" sz="2400" dirty="0"/>
          </a:p>
          <a:p>
            <a:pPr marL="0" indent="0">
              <a:buNone/>
            </a:pPr>
            <a:r>
              <a:rPr lang="en-US" altLang="en-US" sz="2400" dirty="0"/>
              <a:t>We can use a </a:t>
            </a:r>
            <a:r>
              <a:rPr lang="en-US" altLang="en-US" sz="2400" b="1" i="1" dirty="0"/>
              <a:t>counterexample</a:t>
            </a:r>
            <a:r>
              <a:rPr lang="en-US" altLang="en-US" sz="2400" dirty="0"/>
              <a:t>.</a:t>
            </a:r>
          </a:p>
          <a:p>
            <a:pPr marL="0" indent="0">
              <a:buNone/>
            </a:pPr>
            <a:r>
              <a:rPr lang="en-US" altLang="en-US" sz="2400" dirty="0"/>
              <a:t>	Let 	</a:t>
            </a:r>
            <a:r>
              <a:rPr lang="en-US" altLang="en-US" sz="2400" i="1" dirty="0"/>
              <a:t>x</a:t>
            </a:r>
            <a:r>
              <a:rPr lang="en-US" altLang="en-US" sz="2400" dirty="0"/>
              <a:t> = 0.</a:t>
            </a:r>
          </a:p>
          <a:p>
            <a:pPr marL="0" indent="0">
              <a:buNone/>
            </a:pPr>
            <a:r>
              <a:rPr lang="en-US" altLang="en-US" sz="2400" dirty="0"/>
              <a:t>	But 	0</a:t>
            </a:r>
            <a:r>
              <a:rPr lang="en-US" altLang="en-US" sz="2400" i="1" dirty="0"/>
              <a:t> ≤  </a:t>
            </a:r>
            <a:r>
              <a:rPr lang="en-US" altLang="en-US" sz="2400" dirty="0"/>
              <a:t>0 </a:t>
            </a:r>
            <a:r>
              <a:rPr lang="en-US" altLang="en-US" sz="2400" dirty="0">
                <a:sym typeface="Symbol" panose="05050102010706020507" pitchFamily="18" charset="2"/>
              </a:rPr>
              <a:t> 0</a:t>
            </a:r>
            <a:r>
              <a:rPr lang="en-US" altLang="en-US" sz="2400" i="1" dirty="0">
                <a:sym typeface="Symbol" panose="05050102010706020507" pitchFamily="18" charset="2"/>
              </a:rPr>
              <a:t>  </a:t>
            </a:r>
            <a:r>
              <a:rPr lang="en-US" altLang="en-US" sz="2400" dirty="0">
                <a:sym typeface="Symbol" panose="05050102010706020507" pitchFamily="18" charset="2"/>
              </a:rPr>
              <a:t> 0.</a:t>
            </a:r>
          </a:p>
          <a:p>
            <a:pPr marL="0" indent="0">
              <a:buNone/>
            </a:pPr>
            <a:r>
              <a:rPr lang="en-US" altLang="en-US" sz="2400" dirty="0">
                <a:sym typeface="Symbol" panose="05050102010706020507" pitchFamily="18" charset="2"/>
              </a:rPr>
              <a:t>Hence, the statement is false.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4243">
                                            <p:txEl>
                                              <p:pRg st="2" end="2"/>
                                            </p:txEl>
                                          </p:spTgt>
                                        </p:tgtEl>
                                        <p:attrNameLst>
                                          <p:attrName>style.visibility</p:attrName>
                                        </p:attrNameLst>
                                      </p:cBhvr>
                                      <p:to>
                                        <p:strVal val="visible"/>
                                      </p:to>
                                    </p:set>
                                    <p:animEffect transition="in" filter="box(in)">
                                      <p:cBhvr>
                                        <p:cTn id="7" dur="500"/>
                                        <p:tgtEl>
                                          <p:spTgt spid="394243">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4243">
                                            <p:txEl>
                                              <p:pRg st="3" end="3"/>
                                            </p:txEl>
                                          </p:spTgt>
                                        </p:tgtEl>
                                        <p:attrNameLst>
                                          <p:attrName>style.visibility</p:attrName>
                                        </p:attrNameLst>
                                      </p:cBhvr>
                                      <p:to>
                                        <p:strVal val="visible"/>
                                      </p:to>
                                    </p:set>
                                    <p:animEffect transition="in" filter="box(in)">
                                      <p:cBhvr>
                                        <p:cTn id="10" dur="500"/>
                                        <p:tgtEl>
                                          <p:spTgt spid="394243">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394243">
                                            <p:txEl>
                                              <p:pRg st="5" end="5"/>
                                            </p:txEl>
                                          </p:spTgt>
                                        </p:tgtEl>
                                        <p:attrNameLst>
                                          <p:attrName>style.visibility</p:attrName>
                                        </p:attrNameLst>
                                      </p:cBhvr>
                                      <p:to>
                                        <p:strVal val="visible"/>
                                      </p:to>
                                    </p:set>
                                    <p:animEffect transition="in" filter="box(in)">
                                      <p:cBhvr>
                                        <p:cTn id="15" dur="500"/>
                                        <p:tgtEl>
                                          <p:spTgt spid="394243">
                                            <p:txEl>
                                              <p:pRg st="5" end="5"/>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394243">
                                            <p:txEl>
                                              <p:pRg st="6" end="6"/>
                                            </p:txEl>
                                          </p:spTgt>
                                        </p:tgtEl>
                                        <p:attrNameLst>
                                          <p:attrName>style.visibility</p:attrName>
                                        </p:attrNameLst>
                                      </p:cBhvr>
                                      <p:to>
                                        <p:strVal val="visible"/>
                                      </p:to>
                                    </p:set>
                                    <p:animEffect transition="in" filter="box(in)">
                                      <p:cBhvr>
                                        <p:cTn id="20" dur="500"/>
                                        <p:tgtEl>
                                          <p:spTgt spid="394243">
                                            <p:txEl>
                                              <p:pRg st="6" end="6"/>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394243">
                                            <p:txEl>
                                              <p:pRg st="7" end="7"/>
                                            </p:txEl>
                                          </p:spTgt>
                                        </p:tgtEl>
                                        <p:attrNameLst>
                                          <p:attrName>style.visibility</p:attrName>
                                        </p:attrNameLst>
                                      </p:cBhvr>
                                      <p:to>
                                        <p:strVal val="visible"/>
                                      </p:to>
                                    </p:set>
                                    <p:animEffect transition="in" filter="box(in)">
                                      <p:cBhvr>
                                        <p:cTn id="25" dur="500"/>
                                        <p:tgtEl>
                                          <p:spTgt spid="394243">
                                            <p:txEl>
                                              <p:pRg st="7" end="7"/>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394243">
                                            <p:txEl>
                                              <p:pRg st="8" end="8"/>
                                            </p:txEl>
                                          </p:spTgt>
                                        </p:tgtEl>
                                        <p:attrNameLst>
                                          <p:attrName>style.visibility</p:attrName>
                                        </p:attrNameLst>
                                      </p:cBhvr>
                                      <p:to>
                                        <p:strVal val="visible"/>
                                      </p:to>
                                    </p:set>
                                    <p:animEffect transition="in" filter="box(in)">
                                      <p:cBhvr>
                                        <p:cTn id="30" dur="500"/>
                                        <p:tgtEl>
                                          <p:spTgt spid="39424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79CAA352-AA16-4459-9AD2-D3FC7FF096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94C91D8-DF6B-4D75-B07B-8253DA03FE2B}" type="slidenum">
              <a:rPr lang="en-GB" altLang="en-US" sz="1400">
                <a:latin typeface="Arial" panose="020B0604020202020204" pitchFamily="34" charset="0"/>
                <a:cs typeface="Arial" panose="020B0604020202020204" pitchFamily="34" charset="0"/>
              </a:rPr>
              <a:pPr>
                <a:spcBef>
                  <a:spcPct val="0"/>
                </a:spcBef>
                <a:buFontTx/>
                <a:buNone/>
              </a:pPr>
              <a:t>33</a:t>
            </a:fld>
            <a:endParaRPr lang="en-GB" altLang="en-US" sz="1400">
              <a:latin typeface="Arial" panose="020B0604020202020204" pitchFamily="34" charset="0"/>
              <a:cs typeface="Arial" panose="020B0604020202020204" pitchFamily="34" charset="0"/>
            </a:endParaRPr>
          </a:p>
        </p:txBody>
      </p:sp>
      <p:sp>
        <p:nvSpPr>
          <p:cNvPr id="38915" name="Rectangle 2">
            <a:extLst>
              <a:ext uri="{FF2B5EF4-FFF2-40B4-BE49-F238E27FC236}">
                <a16:creationId xmlns:a16="http://schemas.microsoft.com/office/drawing/2014/main" id="{EF79ED1A-CB41-42CF-AECE-B99A12186CA4}"/>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Discussion:</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95267" name="Rectangle 3">
            <a:extLst>
              <a:ext uri="{FF2B5EF4-FFF2-40B4-BE49-F238E27FC236}">
                <a16:creationId xmlns:a16="http://schemas.microsoft.com/office/drawing/2014/main" id="{AC58AAC2-D3CB-47D1-A35B-9EFEB99DF628}"/>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t>Prove or disprove the statement </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zh-CN" sz="2400">
                <a:ea typeface="宋体" panose="02010600030101010101" pitchFamily="2" charset="-122"/>
                <a:sym typeface="Symbol" panose="05050102010706020507" pitchFamily="18" charset="2"/>
              </a:rPr>
              <a:t>ℝ,</a:t>
            </a:r>
            <a:r>
              <a:rPr lang="en-US" altLang="en-US" sz="2400"/>
              <a:t> </a:t>
            </a:r>
            <a:r>
              <a:rPr lang="en-US" altLang="en-US" sz="2400">
                <a:sym typeface="Symbol" panose="05050102010706020507" pitchFamily="18" charset="2"/>
              </a:rPr>
              <a:t></a:t>
            </a:r>
            <a:r>
              <a:rPr lang="en-US" altLang="en-US" sz="2400" i="1"/>
              <a:t>y </a:t>
            </a:r>
            <a:r>
              <a:rPr lang="en-US" altLang="en-US" sz="2400">
                <a:sym typeface="Symbol" panose="05050102010706020507" pitchFamily="18" charset="2"/>
              </a:rPr>
              <a:t> </a:t>
            </a:r>
            <a:r>
              <a:rPr lang="en-US" altLang="zh-CN" sz="2400">
                <a:ea typeface="宋体" panose="02010600030101010101" pitchFamily="2" charset="-122"/>
                <a:sym typeface="Symbol" panose="05050102010706020507" pitchFamily="18" charset="2"/>
              </a:rPr>
              <a:t>ℝ,</a:t>
            </a:r>
            <a:r>
              <a:rPr lang="en-US" altLang="en-US" sz="2400" i="1"/>
              <a:t> </a:t>
            </a:r>
            <a:r>
              <a:rPr lang="en-US" altLang="en-US" sz="2400" i="1">
                <a:sym typeface="Symbol" panose="05050102010706020507" pitchFamily="18" charset="2"/>
              </a:rPr>
              <a:t>x </a:t>
            </a:r>
            <a:r>
              <a:rPr lang="en-US" altLang="en-US" sz="2400">
                <a:sym typeface="Symbol" panose="05050102010706020507" pitchFamily="18" charset="2"/>
              </a:rPr>
              <a:t>+</a:t>
            </a:r>
            <a:r>
              <a:rPr lang="en-US" altLang="en-US" sz="2400" i="1">
                <a:sym typeface="Symbol" panose="05050102010706020507" pitchFamily="18" charset="2"/>
              </a:rPr>
              <a:t> y</a:t>
            </a:r>
            <a:r>
              <a:rPr lang="en-US" altLang="en-US" sz="2400">
                <a:sym typeface="Symbol" panose="05050102010706020507" pitchFamily="18" charset="2"/>
              </a:rPr>
              <a:t> = 0</a:t>
            </a:r>
            <a:r>
              <a:rPr lang="en-US" altLang="en-US" sz="2400"/>
              <a:t>.</a:t>
            </a:r>
          </a:p>
          <a:p>
            <a:pPr marL="0" indent="0">
              <a:buNone/>
            </a:pPr>
            <a:endParaRPr lang="en-US" altLang="en-US" sz="2400"/>
          </a:p>
          <a:p>
            <a:pPr marL="0" indent="0">
              <a:buNone/>
            </a:pPr>
            <a:r>
              <a:rPr lang="en-US" altLang="en-US" sz="2400"/>
              <a:t>Given </a:t>
            </a:r>
            <a:r>
              <a:rPr lang="en-US" altLang="en-US" sz="2400" i="1"/>
              <a:t>x</a:t>
            </a:r>
            <a:r>
              <a:rPr lang="en-US" altLang="en-US" sz="2400"/>
              <a:t> </a:t>
            </a:r>
            <a:r>
              <a:rPr lang="en-US" altLang="en-US" sz="2400">
                <a:sym typeface="Symbol" panose="05050102010706020507" pitchFamily="18" charset="2"/>
              </a:rPr>
              <a:t> </a:t>
            </a:r>
            <a:r>
              <a:rPr lang="en-US" altLang="zh-CN" sz="2400">
                <a:ea typeface="宋体" panose="02010600030101010101" pitchFamily="2" charset="-122"/>
                <a:sym typeface="Symbol" panose="05050102010706020507" pitchFamily="18" charset="2"/>
              </a:rPr>
              <a:t>ℝ, we choose </a:t>
            </a:r>
            <a:r>
              <a:rPr lang="en-US" altLang="en-US" sz="2400" i="1"/>
              <a:t>y</a:t>
            </a:r>
            <a:r>
              <a:rPr lang="en-US" altLang="en-US" sz="2400"/>
              <a:t> = -</a:t>
            </a:r>
            <a:r>
              <a:rPr lang="en-US" altLang="en-US" sz="2400" i="1"/>
              <a:t>x.</a:t>
            </a:r>
            <a:endParaRPr lang="en-US" altLang="zh-CN" sz="2400">
              <a:ea typeface="宋体" panose="02010600030101010101" pitchFamily="2" charset="-122"/>
              <a:sym typeface="Symbol" panose="05050102010706020507" pitchFamily="18" charset="2"/>
            </a:endParaRPr>
          </a:p>
          <a:p>
            <a:pPr marL="0" indent="0">
              <a:buNone/>
            </a:pPr>
            <a:r>
              <a:rPr lang="en-US" altLang="zh-CN" sz="2400">
                <a:ea typeface="宋体" panose="02010600030101010101" pitchFamily="2" charset="-122"/>
                <a:sym typeface="Symbol" panose="05050102010706020507" pitchFamily="18" charset="2"/>
              </a:rPr>
              <a:t>This implies that </a:t>
            </a:r>
            <a:r>
              <a:rPr lang="en-US" altLang="en-US" sz="2400" i="1">
                <a:sym typeface="Symbol" panose="05050102010706020507" pitchFamily="18" charset="2"/>
              </a:rPr>
              <a:t>x </a:t>
            </a:r>
            <a:r>
              <a:rPr lang="en-US" altLang="en-US" sz="2400">
                <a:sym typeface="Symbol" panose="05050102010706020507" pitchFamily="18" charset="2"/>
              </a:rPr>
              <a:t>+</a:t>
            </a:r>
            <a:r>
              <a:rPr lang="en-US" altLang="en-US" sz="2400" i="1">
                <a:sym typeface="Symbol" panose="05050102010706020507" pitchFamily="18" charset="2"/>
              </a:rPr>
              <a:t> y</a:t>
            </a:r>
            <a:r>
              <a:rPr lang="en-US" altLang="en-US" sz="2400">
                <a:sym typeface="Symbol" panose="05050102010706020507" pitchFamily="18" charset="2"/>
              </a:rPr>
              <a:t> </a:t>
            </a:r>
            <a:r>
              <a:rPr lang="en-US" altLang="en-US" sz="2400"/>
              <a:t>= 0.</a:t>
            </a:r>
          </a:p>
          <a:p>
            <a:pPr marL="0" indent="0">
              <a:buNone/>
            </a:pPr>
            <a:endParaRPr lang="en-US" altLang="en-US" sz="2400"/>
          </a:p>
          <a:p>
            <a:pPr marL="0" indent="0">
              <a:buNone/>
            </a:pPr>
            <a:r>
              <a:rPr lang="en-US" altLang="en-US" sz="2400"/>
              <a:t>Therefore, </a:t>
            </a:r>
            <a:r>
              <a:rPr lang="en-US" altLang="en-US" sz="2400">
                <a:sym typeface="Symbol" panose="05050102010706020507" pitchFamily="18" charset="2"/>
              </a:rPr>
              <a:t></a:t>
            </a:r>
            <a:r>
              <a:rPr lang="en-US" altLang="en-US" sz="2400" i="1">
                <a:sym typeface="Symbol" panose="05050102010706020507" pitchFamily="18" charset="2"/>
              </a:rPr>
              <a:t>x</a:t>
            </a:r>
            <a:r>
              <a:rPr lang="en-US" altLang="en-US" sz="2400">
                <a:sym typeface="Symbol" panose="05050102010706020507" pitchFamily="18" charset="2"/>
              </a:rPr>
              <a:t>  </a:t>
            </a:r>
            <a:r>
              <a:rPr lang="en-US" altLang="zh-CN" sz="2400">
                <a:ea typeface="宋体" panose="02010600030101010101" pitchFamily="2" charset="-122"/>
                <a:sym typeface="Symbol" panose="05050102010706020507" pitchFamily="18" charset="2"/>
              </a:rPr>
              <a:t>ℝ,</a:t>
            </a:r>
            <a:r>
              <a:rPr lang="en-US" altLang="en-US" sz="2400"/>
              <a:t> </a:t>
            </a:r>
            <a:r>
              <a:rPr lang="en-US" altLang="en-US" sz="2400">
                <a:sym typeface="Symbol" panose="05050102010706020507" pitchFamily="18" charset="2"/>
              </a:rPr>
              <a:t></a:t>
            </a:r>
            <a:r>
              <a:rPr lang="en-US" altLang="en-US" sz="2400" i="1"/>
              <a:t>y </a:t>
            </a:r>
            <a:r>
              <a:rPr lang="en-US" altLang="en-US" sz="2400">
                <a:sym typeface="Symbol" panose="05050102010706020507" pitchFamily="18" charset="2"/>
              </a:rPr>
              <a:t> </a:t>
            </a:r>
            <a:r>
              <a:rPr lang="en-US" altLang="zh-CN" sz="2400">
                <a:ea typeface="宋体" panose="02010600030101010101" pitchFamily="2" charset="-122"/>
                <a:sym typeface="Symbol" panose="05050102010706020507" pitchFamily="18" charset="2"/>
              </a:rPr>
              <a:t>ℝ,</a:t>
            </a:r>
            <a:r>
              <a:rPr lang="en-US" altLang="en-US" sz="2400" i="1"/>
              <a:t> </a:t>
            </a:r>
            <a:r>
              <a:rPr lang="en-US" altLang="en-US" sz="2400" i="1">
                <a:sym typeface="Symbol" panose="05050102010706020507" pitchFamily="18" charset="2"/>
              </a:rPr>
              <a:t>x </a:t>
            </a:r>
            <a:r>
              <a:rPr lang="en-US" altLang="en-US" sz="2400">
                <a:sym typeface="Symbol" panose="05050102010706020507" pitchFamily="18" charset="2"/>
              </a:rPr>
              <a:t>+</a:t>
            </a:r>
            <a:r>
              <a:rPr lang="en-US" altLang="en-US" sz="2400" i="1">
                <a:sym typeface="Symbol" panose="05050102010706020507" pitchFamily="18" charset="2"/>
              </a:rPr>
              <a:t> y</a:t>
            </a:r>
            <a:r>
              <a:rPr lang="en-US" altLang="en-US" sz="2400">
                <a:sym typeface="Symbol" panose="05050102010706020507" pitchFamily="18" charset="2"/>
              </a:rPr>
              <a:t> = 0.</a:t>
            </a:r>
            <a:endParaRPr lang="en-US" altLang="en-US" sz="2400"/>
          </a:p>
          <a:p>
            <a:pPr marL="0" indent="0">
              <a:buNone/>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5267">
                                            <p:txEl>
                                              <p:pRg st="2" end="2"/>
                                            </p:txEl>
                                          </p:spTgt>
                                        </p:tgtEl>
                                        <p:attrNameLst>
                                          <p:attrName>style.visibility</p:attrName>
                                        </p:attrNameLst>
                                      </p:cBhvr>
                                      <p:to>
                                        <p:strVal val="visible"/>
                                      </p:to>
                                    </p:set>
                                    <p:animEffect transition="in" filter="box(in)">
                                      <p:cBhvr>
                                        <p:cTn id="7" dur="500"/>
                                        <p:tgtEl>
                                          <p:spTgt spid="39526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5267">
                                            <p:txEl>
                                              <p:pRg st="3" end="3"/>
                                            </p:txEl>
                                          </p:spTgt>
                                        </p:tgtEl>
                                        <p:attrNameLst>
                                          <p:attrName>style.visibility</p:attrName>
                                        </p:attrNameLst>
                                      </p:cBhvr>
                                      <p:to>
                                        <p:strVal val="visible"/>
                                      </p:to>
                                    </p:set>
                                    <p:animEffect transition="in" filter="box(in)">
                                      <p:cBhvr>
                                        <p:cTn id="12" dur="500"/>
                                        <p:tgtEl>
                                          <p:spTgt spid="395267">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5267">
                                            <p:txEl>
                                              <p:pRg st="5" end="5"/>
                                            </p:txEl>
                                          </p:spTgt>
                                        </p:tgtEl>
                                        <p:attrNameLst>
                                          <p:attrName>style.visibility</p:attrName>
                                        </p:attrNameLst>
                                      </p:cBhvr>
                                      <p:to>
                                        <p:strVal val="visible"/>
                                      </p:to>
                                    </p:set>
                                    <p:animEffect transition="in" filter="box(in)">
                                      <p:cBhvr>
                                        <p:cTn id="17" dur="500"/>
                                        <p:tgtEl>
                                          <p:spTgt spid="395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FA741312-643C-4025-9E2E-1C00258919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EC7FFDD-BA90-4843-ACE8-BC3E7912A4A4}" type="slidenum">
              <a:rPr lang="en-GB" altLang="en-US" sz="1400">
                <a:latin typeface="Arial" panose="020B0604020202020204" pitchFamily="34" charset="0"/>
                <a:cs typeface="Arial" panose="020B0604020202020204" pitchFamily="34" charset="0"/>
              </a:rPr>
              <a:pPr>
                <a:spcBef>
                  <a:spcPct val="0"/>
                </a:spcBef>
                <a:buFontTx/>
                <a:buNone/>
              </a:pPr>
              <a:t>34</a:t>
            </a:fld>
            <a:endParaRPr lang="en-GB" altLang="en-US" sz="1400">
              <a:latin typeface="Arial" panose="020B0604020202020204" pitchFamily="34" charset="0"/>
              <a:cs typeface="Arial" panose="020B0604020202020204" pitchFamily="34" charset="0"/>
            </a:endParaRPr>
          </a:p>
        </p:txBody>
      </p:sp>
      <p:sp>
        <p:nvSpPr>
          <p:cNvPr id="39939" name="Rectangle 2">
            <a:extLst>
              <a:ext uri="{FF2B5EF4-FFF2-40B4-BE49-F238E27FC236}">
                <a16:creationId xmlns:a16="http://schemas.microsoft.com/office/drawing/2014/main" id="{9D82FAAD-E4FC-4861-B172-B4197CBCC341}"/>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The Direct Proof</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9940" name="Rectangle 3">
            <a:extLst>
              <a:ext uri="{FF2B5EF4-FFF2-40B4-BE49-F238E27FC236}">
                <a16:creationId xmlns:a16="http://schemas.microsoft.com/office/drawing/2014/main" id="{9B0DFCD1-8EA5-4B8C-B1DF-E41D0CC69C07}"/>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t>A direct proof is one in which we work in a straightforward fashion to the answer.</a:t>
            </a:r>
          </a:p>
          <a:p>
            <a:pPr marL="0" indent="0">
              <a:buNone/>
            </a:pPr>
            <a:endParaRPr lang="en-US" alt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77708144-42E5-4609-AB88-B2C7E4A265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19791E6-C083-435B-92CA-0DAC45FC8EE3}" type="slidenum">
              <a:rPr lang="en-GB" altLang="en-US" sz="1400">
                <a:latin typeface="Arial" panose="020B0604020202020204" pitchFamily="34" charset="0"/>
                <a:cs typeface="Arial" panose="020B0604020202020204" pitchFamily="34" charset="0"/>
              </a:rPr>
              <a:pPr>
                <a:spcBef>
                  <a:spcPct val="0"/>
                </a:spcBef>
                <a:buFontTx/>
                <a:buNone/>
              </a:pPr>
              <a:t>35</a:t>
            </a:fld>
            <a:endParaRPr lang="en-GB" altLang="en-US" sz="1400">
              <a:latin typeface="Arial" panose="020B0604020202020204" pitchFamily="34" charset="0"/>
              <a:cs typeface="Arial" panose="020B0604020202020204" pitchFamily="34" charset="0"/>
            </a:endParaRPr>
          </a:p>
        </p:txBody>
      </p:sp>
      <p:sp>
        <p:nvSpPr>
          <p:cNvPr id="40963" name="Rectangle 2">
            <a:extLst>
              <a:ext uri="{FF2B5EF4-FFF2-40B4-BE49-F238E27FC236}">
                <a16:creationId xmlns:a16="http://schemas.microsoft.com/office/drawing/2014/main" id="{CB0AF358-D8B7-45E4-A72D-8C8EC7F87E24}"/>
              </a:ext>
            </a:extLst>
          </p:cNvPr>
          <p:cNvSpPr>
            <a:spLocks noGrp="1" noChangeArrowheads="1"/>
          </p:cNvSpPr>
          <p:nvPr>
            <p:ph type="title"/>
          </p:nvPr>
        </p:nvSpPr>
        <p:spPr>
          <a:xfrm>
            <a:off x="1981200" y="463550"/>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Examples:</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97315" name="Rectangle 3">
            <a:extLst>
              <a:ext uri="{FF2B5EF4-FFF2-40B4-BE49-F238E27FC236}">
                <a16:creationId xmlns:a16="http://schemas.microsoft.com/office/drawing/2014/main" id="{96F54FE4-E387-4D1B-88B2-99127282C946}"/>
              </a:ext>
            </a:extLst>
          </p:cNvPr>
          <p:cNvSpPr>
            <a:spLocks noGrp="1" noChangeArrowheads="1"/>
          </p:cNvSpPr>
          <p:nvPr>
            <p:ph type="body" idx="1"/>
          </p:nvPr>
        </p:nvSpPr>
        <p:spPr>
          <a:xfrm>
            <a:off x="1981200" y="1771651"/>
            <a:ext cx="8229600" cy="4530725"/>
          </a:xfrm>
        </p:spPr>
        <p:txBody>
          <a:bodyPr/>
          <a:lstStyle/>
          <a:p>
            <a:pPr marL="400050" lvl="1" indent="-400050">
              <a:buNone/>
              <a:defRPr/>
            </a:pPr>
            <a:r>
              <a:rPr lang="en-US" altLang="en-US" sz="2000" dirty="0"/>
              <a:t>1. 	</a:t>
            </a:r>
            <a:r>
              <a:rPr lang="en-US" altLang="en-US" sz="2400" dirty="0"/>
              <a:t>Prove that if 3</a:t>
            </a:r>
            <a:r>
              <a:rPr lang="en-US" altLang="en-US" sz="2400" i="1" dirty="0"/>
              <a:t>x</a:t>
            </a:r>
            <a:r>
              <a:rPr lang="en-US" altLang="en-US" sz="2400" dirty="0"/>
              <a:t> – 9 = 15 then </a:t>
            </a:r>
            <a:r>
              <a:rPr lang="en-US" altLang="en-US" sz="2400" i="1" dirty="0"/>
              <a:t>x</a:t>
            </a:r>
            <a:r>
              <a:rPr lang="en-US" altLang="en-US" sz="2400" dirty="0"/>
              <a:t> = 8.</a:t>
            </a:r>
          </a:p>
          <a:p>
            <a:pPr marL="400050" lvl="1" indent="0">
              <a:buNone/>
              <a:defRPr/>
            </a:pPr>
            <a:endParaRPr lang="en-US" altLang="en-US" sz="2400" dirty="0"/>
          </a:p>
          <a:p>
            <a:pPr marL="400050" lvl="1" indent="0">
              <a:buNone/>
              <a:defRPr/>
            </a:pPr>
            <a:r>
              <a:rPr lang="en-US" altLang="en-US" sz="2400" dirty="0"/>
              <a:t>The statement is of the form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Q</a:t>
            </a:r>
            <a:r>
              <a:rPr lang="en-US" altLang="en-US" sz="2400" dirty="0">
                <a:sym typeface="Symbol" panose="05050102010706020507" pitchFamily="18" charset="2"/>
              </a:rPr>
              <a:t>.</a:t>
            </a:r>
          </a:p>
          <a:p>
            <a:pPr marL="400050" lvl="1" indent="0">
              <a:buNone/>
              <a:defRPr/>
            </a:pPr>
            <a:r>
              <a:rPr lang="en-US" altLang="en-US" sz="2400" dirty="0"/>
              <a:t>Now, 		3</a:t>
            </a:r>
            <a:r>
              <a:rPr lang="en-US" altLang="en-US" sz="2400" i="1" dirty="0"/>
              <a:t>x</a:t>
            </a:r>
            <a:r>
              <a:rPr lang="en-US" altLang="en-US" sz="2400" dirty="0"/>
              <a:t> – 9 	= 15 </a:t>
            </a:r>
          </a:p>
          <a:p>
            <a:pPr marL="400050" lvl="1" indent="0">
              <a:buNone/>
              <a:defRPr/>
            </a:pPr>
            <a:r>
              <a:rPr lang="en-US" altLang="en-US" sz="2400" dirty="0">
                <a:sym typeface="Symbol" panose="05050102010706020507" pitchFamily="18" charset="2"/>
              </a:rPr>
              <a:t>	</a:t>
            </a:r>
            <a:r>
              <a:rPr lang="en-US" altLang="en-US" sz="2400" dirty="0"/>
              <a:t>	3</a:t>
            </a:r>
            <a:r>
              <a:rPr lang="en-US" altLang="en-US" sz="2400" i="1" dirty="0"/>
              <a:t>x</a:t>
            </a:r>
            <a:r>
              <a:rPr lang="en-US" altLang="en-US" sz="2400" dirty="0"/>
              <a:t>  	= 15 + 9</a:t>
            </a:r>
          </a:p>
          <a:p>
            <a:pPr marL="400050" lvl="1" indent="0">
              <a:buNone/>
              <a:defRPr/>
            </a:pPr>
            <a:r>
              <a:rPr lang="en-US" altLang="en-US" sz="2400" dirty="0">
                <a:sym typeface="Symbol" panose="05050102010706020507" pitchFamily="18" charset="2"/>
              </a:rPr>
              <a:t>	</a:t>
            </a:r>
            <a:r>
              <a:rPr lang="en-US" altLang="en-US" sz="2400" dirty="0"/>
              <a:t> 	3</a:t>
            </a:r>
            <a:r>
              <a:rPr lang="en-US" altLang="en-US" sz="2400" i="1" dirty="0"/>
              <a:t>x</a:t>
            </a:r>
            <a:r>
              <a:rPr lang="en-US" altLang="en-US" sz="2400" dirty="0"/>
              <a:t> 	= 24</a:t>
            </a:r>
          </a:p>
          <a:p>
            <a:pPr marL="400050" lvl="1" indent="0">
              <a:buNone/>
              <a:defRPr/>
            </a:pPr>
            <a:r>
              <a:rPr lang="en-US" altLang="en-US" sz="2400" dirty="0">
                <a:sym typeface="Symbol" panose="05050102010706020507" pitchFamily="18" charset="2"/>
              </a:rPr>
              <a:t>	</a:t>
            </a:r>
            <a:r>
              <a:rPr lang="en-US" altLang="en-US" sz="2400" dirty="0"/>
              <a:t> 	</a:t>
            </a:r>
            <a:r>
              <a:rPr lang="en-US" altLang="en-US" sz="2400" i="1" dirty="0"/>
              <a:t>x</a:t>
            </a:r>
            <a:r>
              <a:rPr lang="en-US" altLang="en-US" sz="2400" dirty="0"/>
              <a:t> 	= 8</a:t>
            </a:r>
          </a:p>
          <a:p>
            <a:pPr marL="400050" lvl="1" indent="0">
              <a:buNone/>
              <a:defRPr/>
            </a:pPr>
            <a:endParaRPr lang="en-US" altLang="en-US" sz="2400" dirty="0"/>
          </a:p>
          <a:p>
            <a:pPr marL="400050" lvl="1" indent="0">
              <a:buNone/>
              <a:defRPr/>
            </a:pPr>
            <a:r>
              <a:rPr lang="en-US" altLang="en-US" sz="2400" dirty="0"/>
              <a:t>Therefore, if 3</a:t>
            </a:r>
            <a:r>
              <a:rPr lang="en-US" altLang="en-US" sz="2400" i="1" dirty="0"/>
              <a:t>x</a:t>
            </a:r>
            <a:r>
              <a:rPr lang="en-US" altLang="en-US" sz="2400" dirty="0"/>
              <a:t> – 9 = 15 then </a:t>
            </a:r>
            <a:r>
              <a:rPr lang="en-US" altLang="en-US" sz="2400" i="1" dirty="0"/>
              <a:t>x</a:t>
            </a:r>
            <a:r>
              <a:rPr lang="en-US" altLang="en-US" sz="2400" dirty="0"/>
              <a:t> = 8.</a:t>
            </a:r>
          </a:p>
          <a:p>
            <a:pPr marL="0" indent="0">
              <a:buNone/>
              <a:defRPr/>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7315">
                                            <p:txEl>
                                              <p:pRg st="2" end="2"/>
                                            </p:txEl>
                                          </p:spTgt>
                                        </p:tgtEl>
                                        <p:attrNameLst>
                                          <p:attrName>style.visibility</p:attrName>
                                        </p:attrNameLst>
                                      </p:cBhvr>
                                      <p:to>
                                        <p:strVal val="visible"/>
                                      </p:to>
                                    </p:set>
                                    <p:animEffect transition="in" filter="box(in)">
                                      <p:cBhvr>
                                        <p:cTn id="7" dur="500"/>
                                        <p:tgtEl>
                                          <p:spTgt spid="39731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7315">
                                            <p:txEl>
                                              <p:pRg st="3" end="3"/>
                                            </p:txEl>
                                          </p:spTgt>
                                        </p:tgtEl>
                                        <p:attrNameLst>
                                          <p:attrName>style.visibility</p:attrName>
                                        </p:attrNameLst>
                                      </p:cBhvr>
                                      <p:to>
                                        <p:strVal val="visible"/>
                                      </p:to>
                                    </p:set>
                                    <p:animEffect transition="in" filter="box(in)">
                                      <p:cBhvr>
                                        <p:cTn id="12" dur="500"/>
                                        <p:tgtEl>
                                          <p:spTgt spid="39731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7315">
                                            <p:txEl>
                                              <p:pRg st="4" end="4"/>
                                            </p:txEl>
                                          </p:spTgt>
                                        </p:tgtEl>
                                        <p:attrNameLst>
                                          <p:attrName>style.visibility</p:attrName>
                                        </p:attrNameLst>
                                      </p:cBhvr>
                                      <p:to>
                                        <p:strVal val="visible"/>
                                      </p:to>
                                    </p:set>
                                    <p:animEffect transition="in" filter="box(in)">
                                      <p:cBhvr>
                                        <p:cTn id="17" dur="500"/>
                                        <p:tgtEl>
                                          <p:spTgt spid="39731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97315">
                                            <p:txEl>
                                              <p:pRg st="5" end="5"/>
                                            </p:txEl>
                                          </p:spTgt>
                                        </p:tgtEl>
                                        <p:attrNameLst>
                                          <p:attrName>style.visibility</p:attrName>
                                        </p:attrNameLst>
                                      </p:cBhvr>
                                      <p:to>
                                        <p:strVal val="visible"/>
                                      </p:to>
                                    </p:set>
                                    <p:animEffect transition="in" filter="box(in)">
                                      <p:cBhvr>
                                        <p:cTn id="22" dur="500"/>
                                        <p:tgtEl>
                                          <p:spTgt spid="39731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97315">
                                            <p:txEl>
                                              <p:pRg st="6" end="6"/>
                                            </p:txEl>
                                          </p:spTgt>
                                        </p:tgtEl>
                                        <p:attrNameLst>
                                          <p:attrName>style.visibility</p:attrName>
                                        </p:attrNameLst>
                                      </p:cBhvr>
                                      <p:to>
                                        <p:strVal val="visible"/>
                                      </p:to>
                                    </p:set>
                                    <p:animEffect transition="in" filter="box(in)">
                                      <p:cBhvr>
                                        <p:cTn id="27" dur="500"/>
                                        <p:tgtEl>
                                          <p:spTgt spid="397315">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97315">
                                            <p:txEl>
                                              <p:pRg st="8" end="8"/>
                                            </p:txEl>
                                          </p:spTgt>
                                        </p:tgtEl>
                                        <p:attrNameLst>
                                          <p:attrName>style.visibility</p:attrName>
                                        </p:attrNameLst>
                                      </p:cBhvr>
                                      <p:to>
                                        <p:strVal val="visible"/>
                                      </p:to>
                                    </p:set>
                                    <p:animEffect transition="in" filter="box(in)">
                                      <p:cBhvr>
                                        <p:cTn id="32" dur="500"/>
                                        <p:tgtEl>
                                          <p:spTgt spid="3973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E6246969-5697-42E1-932B-3987A115F8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0EC5A70-CD04-44D0-BF03-AC421521B982}" type="slidenum">
              <a:rPr lang="en-GB" altLang="en-US" sz="1400">
                <a:latin typeface="Arial" panose="020B0604020202020204" pitchFamily="34" charset="0"/>
                <a:cs typeface="Arial" panose="020B0604020202020204" pitchFamily="34" charset="0"/>
              </a:rPr>
              <a:pPr>
                <a:spcBef>
                  <a:spcPct val="0"/>
                </a:spcBef>
                <a:buFontTx/>
                <a:buNone/>
              </a:pPr>
              <a:t>36</a:t>
            </a:fld>
            <a:endParaRPr lang="en-GB" altLang="en-US" sz="1400">
              <a:latin typeface="Arial" panose="020B0604020202020204" pitchFamily="34" charset="0"/>
              <a:cs typeface="Arial" panose="020B0604020202020204" pitchFamily="34" charset="0"/>
            </a:endParaRPr>
          </a:p>
        </p:txBody>
      </p:sp>
      <p:sp>
        <p:nvSpPr>
          <p:cNvPr id="41987" name="Rectangle 2">
            <a:extLst>
              <a:ext uri="{FF2B5EF4-FFF2-40B4-BE49-F238E27FC236}">
                <a16:creationId xmlns:a16="http://schemas.microsoft.com/office/drawing/2014/main" id="{4A520329-CF1B-4EAD-9515-3ECC3810409C}"/>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Exercise:</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387075" name="Rectangle 3">
            <a:extLst>
              <a:ext uri="{FF2B5EF4-FFF2-40B4-BE49-F238E27FC236}">
                <a16:creationId xmlns:a16="http://schemas.microsoft.com/office/drawing/2014/main" id="{7A384297-0630-45C8-A50E-00540C24A3F2}"/>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t>2.	Prove that if </a:t>
            </a:r>
            <a:r>
              <a:rPr lang="en-US" altLang="en-US" sz="2400" i="1"/>
              <a:t>a</a:t>
            </a:r>
            <a:r>
              <a:rPr lang="en-US" altLang="en-US" sz="2400"/>
              <a:t>, </a:t>
            </a:r>
            <a:r>
              <a:rPr lang="en-US" altLang="en-US" sz="2400" i="1"/>
              <a:t>b</a:t>
            </a:r>
            <a:r>
              <a:rPr lang="en-US" altLang="en-US" sz="2400"/>
              <a:t> </a:t>
            </a:r>
            <a:r>
              <a:rPr lang="en-US" altLang="en-US" sz="2400">
                <a:sym typeface="Symbol" panose="05050102010706020507" pitchFamily="18" charset="2"/>
              </a:rPr>
              <a:t> ℤ, then 10</a:t>
            </a:r>
            <a:r>
              <a:rPr lang="en-US" altLang="en-US" sz="2400" i="1">
                <a:sym typeface="Symbol" panose="05050102010706020507" pitchFamily="18" charset="2"/>
              </a:rPr>
              <a:t>a</a:t>
            </a:r>
            <a:r>
              <a:rPr lang="en-US" altLang="en-US" sz="2400">
                <a:sym typeface="Symbol" panose="05050102010706020507" pitchFamily="18" charset="2"/>
              </a:rPr>
              <a:t> + 8</a:t>
            </a:r>
            <a:r>
              <a:rPr lang="en-US" altLang="en-US" sz="2400" i="1">
                <a:sym typeface="Symbol" panose="05050102010706020507" pitchFamily="18" charset="2"/>
              </a:rPr>
              <a:t>b</a:t>
            </a:r>
            <a:r>
              <a:rPr lang="en-US" altLang="en-US" sz="2400">
                <a:sym typeface="Symbol" panose="05050102010706020507" pitchFamily="18" charset="2"/>
              </a:rPr>
              <a:t> is divisible by 2 </a:t>
            </a:r>
          </a:p>
          <a:p>
            <a:pPr marL="0" indent="0">
              <a:buNone/>
            </a:pPr>
            <a:r>
              <a:rPr lang="en-US" altLang="en-US" sz="2400">
                <a:sym typeface="Symbol" panose="05050102010706020507" pitchFamily="18" charset="2"/>
              </a:rPr>
              <a:t>	(ie., is even)</a:t>
            </a:r>
            <a:r>
              <a:rPr lang="en-US" altLang="zh-CN" sz="2400">
                <a:ea typeface="宋体" panose="02010600030101010101" pitchFamily="2" charset="-122"/>
                <a:sym typeface="Symbol" panose="05050102010706020507" pitchFamily="18" charset="2"/>
              </a:rPr>
              <a:t>.</a:t>
            </a:r>
          </a:p>
          <a:p>
            <a:pPr marL="0" indent="0">
              <a:buNone/>
            </a:pPr>
            <a:endParaRPr lang="en-US" altLang="zh-CN" sz="2400">
              <a:ea typeface="宋体" panose="02010600030101010101" pitchFamily="2" charset="-122"/>
              <a:sym typeface="Symbol" panose="05050102010706020507" pitchFamily="18" charset="2"/>
            </a:endParaRPr>
          </a:p>
          <a:p>
            <a:pPr marL="0" indent="0">
              <a:buNone/>
            </a:pPr>
            <a:r>
              <a:rPr lang="en-US" altLang="zh-CN" sz="2400">
                <a:ea typeface="宋体" panose="02010600030101010101" pitchFamily="2" charset="-122"/>
                <a:sym typeface="Symbol" panose="05050102010706020507" pitchFamily="18" charset="2"/>
              </a:rPr>
              <a:t>	Form:	</a:t>
            </a:r>
            <a:r>
              <a:rPr lang="en-US" altLang="en-US" sz="2400" i="1"/>
              <a:t>a</a:t>
            </a:r>
            <a:r>
              <a:rPr lang="en-US" altLang="en-US" sz="2400"/>
              <a:t>, </a:t>
            </a:r>
            <a:r>
              <a:rPr lang="en-US" altLang="en-US" sz="2400" i="1"/>
              <a:t>b</a:t>
            </a:r>
            <a:r>
              <a:rPr lang="en-US" altLang="en-US" sz="2400"/>
              <a:t> </a:t>
            </a:r>
            <a:r>
              <a:rPr lang="en-US" altLang="en-US" sz="2400">
                <a:sym typeface="Symbol" panose="05050102010706020507" pitchFamily="18" charset="2"/>
              </a:rPr>
              <a:t> ℤ</a:t>
            </a:r>
            <a:r>
              <a:rPr lang="en-US" altLang="zh-CN" sz="2400">
                <a:ea typeface="宋体" panose="02010600030101010101" pitchFamily="2" charset="-122"/>
                <a:sym typeface="Symbol" panose="05050102010706020507" pitchFamily="18" charset="2"/>
              </a:rPr>
              <a:t>  </a:t>
            </a:r>
            <a:r>
              <a:rPr lang="en-US" altLang="en-US" sz="2400">
                <a:sym typeface="Symbol" panose="05050102010706020507" pitchFamily="18" charset="2"/>
              </a:rPr>
              <a:t>10</a:t>
            </a:r>
            <a:r>
              <a:rPr lang="en-US" altLang="en-US" sz="2400" i="1">
                <a:sym typeface="Symbol" panose="05050102010706020507" pitchFamily="18" charset="2"/>
              </a:rPr>
              <a:t>a</a:t>
            </a:r>
            <a:r>
              <a:rPr lang="en-US" altLang="en-US" sz="2400">
                <a:sym typeface="Symbol" panose="05050102010706020507" pitchFamily="18" charset="2"/>
              </a:rPr>
              <a:t> + 8</a:t>
            </a:r>
            <a:r>
              <a:rPr lang="en-US" altLang="en-US" sz="2400" i="1">
                <a:sym typeface="Symbol" panose="05050102010706020507" pitchFamily="18" charset="2"/>
              </a:rPr>
              <a:t>b</a:t>
            </a:r>
            <a:r>
              <a:rPr lang="en-US" altLang="en-US" sz="2400">
                <a:sym typeface="Symbol" panose="05050102010706020507" pitchFamily="18" charset="2"/>
              </a:rPr>
              <a:t> is divisible by 2 </a:t>
            </a:r>
          </a:p>
          <a:p>
            <a:pPr marL="0" indent="0">
              <a:buNone/>
            </a:pPr>
            <a:r>
              <a:rPr lang="en-US" altLang="zh-CN" sz="2400">
                <a:ea typeface="宋体" panose="02010600030101010101" pitchFamily="2" charset="-122"/>
                <a:sym typeface="Symbol" panose="05050102010706020507" pitchFamily="18" charset="2"/>
              </a:rPr>
              <a:t>	Let </a:t>
            </a:r>
            <a:r>
              <a:rPr lang="en-US" altLang="zh-CN" sz="2400" i="1">
                <a:ea typeface="宋体" panose="02010600030101010101" pitchFamily="2" charset="-122"/>
                <a:sym typeface="Symbol" panose="05050102010706020507" pitchFamily="18" charset="2"/>
              </a:rPr>
              <a:t>a</a:t>
            </a:r>
            <a:r>
              <a:rPr lang="en-US" altLang="zh-CN" sz="2400">
                <a:ea typeface="宋体" panose="02010600030101010101" pitchFamily="2" charset="-122"/>
                <a:sym typeface="Symbol" panose="05050102010706020507" pitchFamily="18" charset="2"/>
              </a:rPr>
              <a:t> and </a:t>
            </a:r>
            <a:r>
              <a:rPr lang="en-US" altLang="zh-CN" sz="2400" i="1">
                <a:ea typeface="宋体" panose="02010600030101010101" pitchFamily="2" charset="-122"/>
                <a:sym typeface="Symbol" panose="05050102010706020507" pitchFamily="18" charset="2"/>
              </a:rPr>
              <a:t>b</a:t>
            </a:r>
            <a:r>
              <a:rPr lang="en-US" altLang="zh-CN" sz="2400">
                <a:ea typeface="宋体" panose="02010600030101010101" pitchFamily="2" charset="-122"/>
                <a:sym typeface="Symbol" panose="05050102010706020507" pitchFamily="18" charset="2"/>
              </a:rPr>
              <a:t> be integers.</a:t>
            </a:r>
          </a:p>
          <a:p>
            <a:pPr marL="0" indent="0">
              <a:buNone/>
            </a:pPr>
            <a:r>
              <a:rPr lang="en-US" altLang="zh-CN" sz="2400">
                <a:ea typeface="宋体" panose="02010600030101010101" pitchFamily="2" charset="-122"/>
                <a:sym typeface="Symbol" panose="05050102010706020507" pitchFamily="18" charset="2"/>
              </a:rPr>
              <a:t>	Now,	 </a:t>
            </a:r>
          </a:p>
          <a:p>
            <a:pPr marL="0" indent="0">
              <a:buNone/>
            </a:pPr>
            <a:r>
              <a:rPr lang="en-US" altLang="zh-CN" sz="2400">
                <a:ea typeface="宋体" panose="02010600030101010101" pitchFamily="2" charset="-122"/>
                <a:sym typeface="Symbol" panose="05050102010706020507" pitchFamily="18" charset="2"/>
              </a:rPr>
              <a:t>		</a:t>
            </a:r>
            <a:r>
              <a:rPr lang="en-US" altLang="en-US" sz="2400">
                <a:sym typeface="Symbol" panose="05050102010706020507" pitchFamily="18" charset="2"/>
              </a:rPr>
              <a:t>10</a:t>
            </a:r>
            <a:r>
              <a:rPr lang="en-US" altLang="en-US" sz="2400" i="1">
                <a:sym typeface="Symbol" panose="05050102010706020507" pitchFamily="18" charset="2"/>
              </a:rPr>
              <a:t>a</a:t>
            </a:r>
            <a:r>
              <a:rPr lang="en-US" altLang="en-US" sz="2400">
                <a:sym typeface="Symbol" panose="05050102010706020507" pitchFamily="18" charset="2"/>
              </a:rPr>
              <a:t> + 8</a:t>
            </a:r>
            <a:r>
              <a:rPr lang="en-US" altLang="en-US" sz="2400" i="1">
                <a:sym typeface="Symbol" panose="05050102010706020507" pitchFamily="18" charset="2"/>
              </a:rPr>
              <a:t>b	</a:t>
            </a:r>
            <a:r>
              <a:rPr lang="en-US" altLang="zh-CN" sz="2400">
                <a:ea typeface="宋体" panose="02010600030101010101" pitchFamily="2" charset="-122"/>
                <a:sym typeface="Symbol" panose="05050102010706020507" pitchFamily="18" charset="2"/>
              </a:rPr>
              <a:t>= 25</a:t>
            </a:r>
            <a:r>
              <a:rPr lang="en-US" altLang="zh-CN" sz="2400" i="1">
                <a:ea typeface="宋体" panose="02010600030101010101" pitchFamily="2" charset="-122"/>
                <a:sym typeface="Symbol" panose="05050102010706020507" pitchFamily="18" charset="2"/>
              </a:rPr>
              <a:t>a + </a:t>
            </a:r>
            <a:r>
              <a:rPr lang="en-US" altLang="zh-CN" sz="2400">
                <a:ea typeface="宋体" panose="02010600030101010101" pitchFamily="2" charset="-122"/>
                <a:sym typeface="Symbol" panose="05050102010706020507" pitchFamily="18" charset="2"/>
              </a:rPr>
              <a:t>24</a:t>
            </a:r>
            <a:r>
              <a:rPr lang="en-US" altLang="zh-CN" sz="2400" i="1">
                <a:ea typeface="宋体" panose="02010600030101010101" pitchFamily="2" charset="-122"/>
                <a:sym typeface="Symbol" panose="05050102010706020507" pitchFamily="18" charset="2"/>
              </a:rPr>
              <a:t>b</a:t>
            </a:r>
            <a:endParaRPr lang="en-US" altLang="zh-CN" sz="2400">
              <a:ea typeface="宋体" panose="02010600030101010101" pitchFamily="2" charset="-122"/>
              <a:sym typeface="Symbol" panose="05050102010706020507" pitchFamily="18" charset="2"/>
            </a:endParaRPr>
          </a:p>
          <a:p>
            <a:pPr marL="0" indent="0">
              <a:buNone/>
            </a:pPr>
            <a:r>
              <a:rPr lang="en-US" altLang="zh-CN" sz="2400">
                <a:ea typeface="宋体" panose="02010600030101010101" pitchFamily="2" charset="-122"/>
                <a:sym typeface="Symbol" panose="05050102010706020507" pitchFamily="18" charset="2"/>
              </a:rPr>
              <a:t>			   	= 2(5</a:t>
            </a:r>
            <a:r>
              <a:rPr lang="en-US" altLang="zh-CN" sz="2400" i="1">
                <a:ea typeface="宋体" panose="02010600030101010101" pitchFamily="2" charset="-122"/>
                <a:sym typeface="Symbol" panose="05050102010706020507" pitchFamily="18" charset="2"/>
              </a:rPr>
              <a:t>a</a:t>
            </a:r>
            <a:r>
              <a:rPr lang="en-US" altLang="zh-CN" sz="2400">
                <a:ea typeface="宋体" panose="02010600030101010101" pitchFamily="2" charset="-122"/>
                <a:sym typeface="Symbol" panose="05050102010706020507" pitchFamily="18" charset="2"/>
              </a:rPr>
              <a:t> + 4</a:t>
            </a:r>
            <a:r>
              <a:rPr lang="en-US" altLang="zh-CN" sz="2400" i="1">
                <a:ea typeface="宋体" panose="02010600030101010101" pitchFamily="2" charset="-122"/>
                <a:sym typeface="Symbol" panose="05050102010706020507" pitchFamily="18" charset="2"/>
              </a:rPr>
              <a:t>b</a:t>
            </a:r>
            <a:r>
              <a:rPr lang="en-US" altLang="zh-CN" sz="2400">
                <a:ea typeface="宋体" panose="02010600030101010101" pitchFamily="2" charset="-122"/>
                <a:sym typeface="Symbol" panose="05050102010706020507" pitchFamily="18" charset="2"/>
              </a:rPr>
              <a:t>)</a:t>
            </a:r>
          </a:p>
          <a:p>
            <a:pPr marL="0" indent="0">
              <a:buNone/>
            </a:pPr>
            <a:r>
              <a:rPr lang="en-US" altLang="zh-CN" sz="2400">
                <a:ea typeface="宋体" panose="02010600030101010101" pitchFamily="2" charset="-122"/>
                <a:sym typeface="Symbol" panose="05050102010706020507" pitchFamily="18" charset="2"/>
              </a:rPr>
              <a:t>				= 2</a:t>
            </a:r>
            <a:r>
              <a:rPr lang="en-US" altLang="zh-CN" sz="2400" i="1">
                <a:ea typeface="宋体" panose="02010600030101010101" pitchFamily="2" charset="-122"/>
                <a:sym typeface="Symbol" panose="05050102010706020507" pitchFamily="18" charset="2"/>
              </a:rPr>
              <a:t>k	</a:t>
            </a:r>
            <a:r>
              <a:rPr lang="en-US" altLang="zh-CN" sz="2400">
                <a:ea typeface="宋体" panose="02010600030101010101" pitchFamily="2" charset="-122"/>
                <a:sym typeface="Symbol" panose="05050102010706020507" pitchFamily="18" charset="2"/>
              </a:rPr>
              <a:t>where </a:t>
            </a:r>
            <a:r>
              <a:rPr lang="en-US" altLang="zh-CN" sz="2400" i="1">
                <a:ea typeface="宋体" panose="02010600030101010101" pitchFamily="2" charset="-122"/>
                <a:sym typeface="Symbol" panose="05050102010706020507" pitchFamily="18" charset="2"/>
              </a:rPr>
              <a:t>k</a:t>
            </a:r>
            <a:r>
              <a:rPr lang="en-US" altLang="zh-CN" sz="2400">
                <a:ea typeface="宋体" panose="02010600030101010101" pitchFamily="2" charset="-122"/>
                <a:sym typeface="Symbol" panose="05050102010706020507" pitchFamily="18" charset="2"/>
              </a:rPr>
              <a:t> = 5</a:t>
            </a:r>
            <a:r>
              <a:rPr lang="en-US" altLang="zh-CN" sz="2400" i="1">
                <a:ea typeface="宋体" panose="02010600030101010101" pitchFamily="2" charset="-122"/>
                <a:sym typeface="Symbol" panose="05050102010706020507" pitchFamily="18" charset="2"/>
              </a:rPr>
              <a:t>a</a:t>
            </a:r>
            <a:r>
              <a:rPr lang="en-US" altLang="zh-CN" sz="2400">
                <a:ea typeface="宋体" panose="02010600030101010101" pitchFamily="2" charset="-122"/>
                <a:sym typeface="Symbol" panose="05050102010706020507" pitchFamily="18" charset="2"/>
              </a:rPr>
              <a:t> + 4</a:t>
            </a:r>
            <a:r>
              <a:rPr lang="en-US" altLang="zh-CN" sz="2400" i="1">
                <a:ea typeface="宋体" panose="02010600030101010101" pitchFamily="2" charset="-122"/>
                <a:sym typeface="Symbol" panose="05050102010706020507" pitchFamily="18" charset="2"/>
              </a:rPr>
              <a:t>b, k </a:t>
            </a:r>
            <a:r>
              <a:rPr lang="en-US" altLang="en-US" sz="2400">
                <a:sym typeface="Symbol" panose="05050102010706020507" pitchFamily="18" charset="2"/>
              </a:rPr>
              <a:t> ℤ</a:t>
            </a:r>
            <a:endParaRPr lang="en-US" altLang="zh-CN" sz="2400">
              <a:ea typeface="宋体" panose="02010600030101010101" pitchFamily="2" charset="-122"/>
              <a:sym typeface="Symbol" panose="05050102010706020507" pitchFamily="18" charset="2"/>
            </a:endParaRPr>
          </a:p>
          <a:p>
            <a:pPr marL="0" indent="0">
              <a:buNone/>
            </a:pPr>
            <a:r>
              <a:rPr lang="en-US" altLang="en-US" sz="2400">
                <a:ea typeface="宋体" panose="02010600030101010101" pitchFamily="2" charset="-122"/>
                <a:sym typeface="Symbol" panose="05050102010706020507" pitchFamily="18" charset="2"/>
              </a:rPr>
              <a:t>	Therefore, </a:t>
            </a:r>
            <a:r>
              <a:rPr lang="en-US" altLang="en-US" sz="2400"/>
              <a:t>if </a:t>
            </a:r>
            <a:r>
              <a:rPr lang="en-US" altLang="en-US" sz="2400" i="1"/>
              <a:t>a</a:t>
            </a:r>
            <a:r>
              <a:rPr lang="en-US" altLang="en-US" sz="2400"/>
              <a:t>, </a:t>
            </a:r>
            <a:r>
              <a:rPr lang="en-US" altLang="en-US" sz="2400" i="1"/>
              <a:t>b</a:t>
            </a:r>
            <a:r>
              <a:rPr lang="en-US" altLang="en-US" sz="2400"/>
              <a:t> </a:t>
            </a:r>
            <a:r>
              <a:rPr lang="en-US" altLang="en-US" sz="2400">
                <a:sym typeface="Symbol" panose="05050102010706020507" pitchFamily="18" charset="2"/>
              </a:rPr>
              <a:t> ℤ, then 10</a:t>
            </a:r>
            <a:r>
              <a:rPr lang="en-US" altLang="en-US" sz="2400" i="1">
                <a:sym typeface="Symbol" panose="05050102010706020507" pitchFamily="18" charset="2"/>
              </a:rPr>
              <a:t>a</a:t>
            </a:r>
            <a:r>
              <a:rPr lang="en-US" altLang="en-US" sz="2400">
                <a:sym typeface="Symbol" panose="05050102010706020507" pitchFamily="18" charset="2"/>
              </a:rPr>
              <a:t> + 8</a:t>
            </a:r>
            <a:r>
              <a:rPr lang="en-US" altLang="en-US" sz="2400" i="1">
                <a:sym typeface="Symbol" panose="05050102010706020507" pitchFamily="18" charset="2"/>
              </a:rPr>
              <a:t>b</a:t>
            </a:r>
            <a:r>
              <a:rPr lang="en-US" altLang="en-US" sz="2400">
                <a:sym typeface="Symbol" panose="05050102010706020507" pitchFamily="18" charset="2"/>
              </a:rPr>
              <a:t> is divisible by 2.</a:t>
            </a:r>
            <a:endParaRPr lang="en-US" altLang="en-US" sz="2400">
              <a:ea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7075">
                                            <p:txEl>
                                              <p:pRg st="3" end="3"/>
                                            </p:txEl>
                                          </p:spTgt>
                                        </p:tgtEl>
                                        <p:attrNameLst>
                                          <p:attrName>style.visibility</p:attrName>
                                        </p:attrNameLst>
                                      </p:cBhvr>
                                      <p:to>
                                        <p:strVal val="visible"/>
                                      </p:to>
                                    </p:set>
                                    <p:animEffect transition="in" filter="box(in)">
                                      <p:cBhvr>
                                        <p:cTn id="7" dur="500"/>
                                        <p:tgtEl>
                                          <p:spTgt spid="38707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7075">
                                            <p:txEl>
                                              <p:pRg st="4" end="4"/>
                                            </p:txEl>
                                          </p:spTgt>
                                        </p:tgtEl>
                                        <p:attrNameLst>
                                          <p:attrName>style.visibility</p:attrName>
                                        </p:attrNameLst>
                                      </p:cBhvr>
                                      <p:to>
                                        <p:strVal val="visible"/>
                                      </p:to>
                                    </p:set>
                                    <p:animEffect transition="in" filter="box(in)">
                                      <p:cBhvr>
                                        <p:cTn id="12" dur="500"/>
                                        <p:tgtEl>
                                          <p:spTgt spid="387075">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7075">
                                            <p:txEl>
                                              <p:pRg st="5" end="5"/>
                                            </p:txEl>
                                          </p:spTgt>
                                        </p:tgtEl>
                                        <p:attrNameLst>
                                          <p:attrName>style.visibility</p:attrName>
                                        </p:attrNameLst>
                                      </p:cBhvr>
                                      <p:to>
                                        <p:strVal val="visible"/>
                                      </p:to>
                                    </p:set>
                                    <p:animEffect transition="in" filter="box(in)">
                                      <p:cBhvr>
                                        <p:cTn id="17" dur="500"/>
                                        <p:tgtEl>
                                          <p:spTgt spid="387075">
                                            <p:txEl>
                                              <p:pRg st="5" end="5"/>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387075">
                                            <p:txEl>
                                              <p:pRg st="6" end="6"/>
                                            </p:txEl>
                                          </p:spTgt>
                                        </p:tgtEl>
                                        <p:attrNameLst>
                                          <p:attrName>style.visibility</p:attrName>
                                        </p:attrNameLst>
                                      </p:cBhvr>
                                      <p:to>
                                        <p:strVal val="visible"/>
                                      </p:to>
                                    </p:set>
                                    <p:animEffect transition="in" filter="box(in)">
                                      <p:cBhvr>
                                        <p:cTn id="20" dur="500"/>
                                        <p:tgtEl>
                                          <p:spTgt spid="387075">
                                            <p:txEl>
                                              <p:pRg st="6" end="6"/>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387075">
                                            <p:txEl>
                                              <p:pRg st="7" end="7"/>
                                            </p:txEl>
                                          </p:spTgt>
                                        </p:tgtEl>
                                        <p:attrNameLst>
                                          <p:attrName>style.visibility</p:attrName>
                                        </p:attrNameLst>
                                      </p:cBhvr>
                                      <p:to>
                                        <p:strVal val="visible"/>
                                      </p:to>
                                    </p:set>
                                    <p:animEffect transition="in" filter="box(in)">
                                      <p:cBhvr>
                                        <p:cTn id="25" dur="500"/>
                                        <p:tgtEl>
                                          <p:spTgt spid="387075">
                                            <p:txEl>
                                              <p:pRg st="7" end="7"/>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387075">
                                            <p:txEl>
                                              <p:pRg st="8" end="8"/>
                                            </p:txEl>
                                          </p:spTgt>
                                        </p:tgtEl>
                                        <p:attrNameLst>
                                          <p:attrName>style.visibility</p:attrName>
                                        </p:attrNameLst>
                                      </p:cBhvr>
                                      <p:to>
                                        <p:strVal val="visible"/>
                                      </p:to>
                                    </p:set>
                                    <p:animEffect transition="in" filter="box(in)">
                                      <p:cBhvr>
                                        <p:cTn id="30" dur="500"/>
                                        <p:tgtEl>
                                          <p:spTgt spid="387075">
                                            <p:txEl>
                                              <p:pRg st="8" end="8"/>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387075">
                                            <p:txEl>
                                              <p:pRg st="9" end="9"/>
                                            </p:txEl>
                                          </p:spTgt>
                                        </p:tgtEl>
                                        <p:attrNameLst>
                                          <p:attrName>style.visibility</p:attrName>
                                        </p:attrNameLst>
                                      </p:cBhvr>
                                      <p:to>
                                        <p:strVal val="visible"/>
                                      </p:to>
                                    </p:set>
                                    <p:animEffect transition="in" filter="box(in)">
                                      <p:cBhvr>
                                        <p:cTn id="35" dur="500"/>
                                        <p:tgtEl>
                                          <p:spTgt spid="38707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FCB823E8-0FAB-4D29-9839-C8719BF98B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9356076-CBAC-4342-B103-27075C92A043}" type="slidenum">
              <a:rPr lang="en-GB" altLang="en-US" sz="1400">
                <a:latin typeface="Arial" panose="020B0604020202020204" pitchFamily="34" charset="0"/>
                <a:cs typeface="Arial" panose="020B0604020202020204" pitchFamily="34" charset="0"/>
              </a:rPr>
              <a:pPr>
                <a:spcBef>
                  <a:spcPct val="0"/>
                </a:spcBef>
                <a:buFontTx/>
                <a:buNone/>
              </a:pPr>
              <a:t>37</a:t>
            </a:fld>
            <a:endParaRPr lang="en-GB" altLang="en-US" sz="1400">
              <a:latin typeface="Arial" panose="020B0604020202020204" pitchFamily="34" charset="0"/>
              <a:cs typeface="Arial" panose="020B0604020202020204" pitchFamily="34" charset="0"/>
            </a:endParaRPr>
          </a:p>
        </p:txBody>
      </p:sp>
      <p:sp>
        <p:nvSpPr>
          <p:cNvPr id="43011" name="Rectangle 2">
            <a:extLst>
              <a:ext uri="{FF2B5EF4-FFF2-40B4-BE49-F238E27FC236}">
                <a16:creationId xmlns:a16="http://schemas.microsoft.com/office/drawing/2014/main" id="{CB45A7BF-A71B-4CE2-BA7D-09B9E2F3A346}"/>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Handy Hint:</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3012" name="Rectangle 3">
            <a:extLst>
              <a:ext uri="{FF2B5EF4-FFF2-40B4-BE49-F238E27FC236}">
                <a16:creationId xmlns:a16="http://schemas.microsoft.com/office/drawing/2014/main" id="{EB3C9DD4-B83C-41FD-BFE4-55E1269B227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a:t>Before proving a statement, it is of great use to write the statement using logic notation, including quantifiers, where appropriate. </a:t>
            </a:r>
          </a:p>
          <a:p>
            <a:pPr marL="0" indent="0">
              <a:buNone/>
            </a:pPr>
            <a:endParaRPr lang="en-US" altLang="en-US" sz="2400"/>
          </a:p>
          <a:p>
            <a:pPr marL="0" indent="0">
              <a:buNone/>
            </a:pPr>
            <a:r>
              <a:rPr lang="en-US" altLang="en-US" sz="2400"/>
              <a:t>Doing this means you have clearly written in front of you the assumptions you can make AND where you are eventually trying to get.</a:t>
            </a:r>
          </a:p>
          <a:p>
            <a:pPr marL="0" indent="0">
              <a:buNone/>
            </a:pPr>
            <a:endParaRPr lang="en-US" altLang="en-US"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8619DD80-7A38-47C0-9B55-85072A296A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E9C6613-E342-4206-8F5F-E35B42BB9CBE}" type="slidenum">
              <a:rPr lang="en-GB" altLang="en-US" sz="1400">
                <a:latin typeface="Arial" panose="020B0604020202020204" pitchFamily="34" charset="0"/>
                <a:cs typeface="Arial" panose="020B0604020202020204" pitchFamily="34" charset="0"/>
              </a:rPr>
              <a:pPr>
                <a:spcBef>
                  <a:spcPct val="0"/>
                </a:spcBef>
                <a:buFontTx/>
                <a:buNone/>
              </a:pPr>
              <a:t>38</a:t>
            </a:fld>
            <a:endParaRPr lang="en-GB" altLang="en-US" sz="1400">
              <a:latin typeface="Arial" panose="020B0604020202020204" pitchFamily="34" charset="0"/>
              <a:cs typeface="Arial" panose="020B0604020202020204" pitchFamily="34" charset="0"/>
            </a:endParaRPr>
          </a:p>
        </p:txBody>
      </p:sp>
      <p:sp>
        <p:nvSpPr>
          <p:cNvPr id="44035" name="Rectangle 2">
            <a:extLst>
              <a:ext uri="{FF2B5EF4-FFF2-40B4-BE49-F238E27FC236}">
                <a16:creationId xmlns:a16="http://schemas.microsoft.com/office/drawing/2014/main" id="{BAEAE224-A740-4008-BFB4-12C85DD948FD}"/>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Forwards And Backwards Process</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4036" name="Rectangle 3">
            <a:extLst>
              <a:ext uri="{FF2B5EF4-FFF2-40B4-BE49-F238E27FC236}">
                <a16:creationId xmlns:a16="http://schemas.microsoft.com/office/drawing/2014/main" id="{9CE24A1B-78CF-4AE0-8652-8D9BEAF65F64}"/>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To develop a proof, it is often helpful to work in a forwards and backwards manner, with the hope that the steps will “meet u” in the middle.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78D4E204-D524-47D4-94ED-DE44991327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53A1834-8AB3-4327-88DD-7C4D4579FBE9}" type="slidenum">
              <a:rPr lang="en-GB" altLang="en-US" sz="1400">
                <a:latin typeface="Arial" panose="020B0604020202020204" pitchFamily="34" charset="0"/>
                <a:cs typeface="Arial" panose="020B0604020202020204" pitchFamily="34" charset="0"/>
              </a:rPr>
              <a:pPr>
                <a:spcBef>
                  <a:spcPct val="0"/>
                </a:spcBef>
                <a:buFontTx/>
                <a:buNone/>
              </a:pPr>
              <a:t>39</a:t>
            </a:fld>
            <a:endParaRPr lang="en-GB" altLang="en-US" sz="1400">
              <a:latin typeface="Arial" panose="020B0604020202020204" pitchFamily="34" charset="0"/>
              <a:cs typeface="Arial" panose="020B0604020202020204" pitchFamily="34" charset="0"/>
            </a:endParaRPr>
          </a:p>
        </p:txBody>
      </p:sp>
      <p:sp>
        <p:nvSpPr>
          <p:cNvPr id="45059" name="Rectangle 2">
            <a:extLst>
              <a:ext uri="{FF2B5EF4-FFF2-40B4-BE49-F238E27FC236}">
                <a16:creationId xmlns:a16="http://schemas.microsoft.com/office/drawing/2014/main" id="{D679D6D0-003F-46FE-A889-9986F6CA5CC7}"/>
              </a:ext>
            </a:extLst>
          </p:cNvPr>
          <p:cNvSpPr>
            <a:spLocks noGrp="1" noChangeArrowheads="1"/>
          </p:cNvSpPr>
          <p:nvPr>
            <p:ph type="title"/>
          </p:nvPr>
        </p:nvSpPr>
        <p:spPr>
          <a:xfrm>
            <a:off x="1874322" y="1"/>
            <a:ext cx="9597242" cy="510270"/>
          </a:xfrm>
        </p:spPr>
        <p:txBody>
          <a:bodyPr>
            <a:normAutofit fontScale="90000"/>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Forwards And Backwards Process: Example</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00387" name="Rectangle 3">
            <a:extLst>
              <a:ext uri="{FF2B5EF4-FFF2-40B4-BE49-F238E27FC236}">
                <a16:creationId xmlns:a16="http://schemas.microsoft.com/office/drawing/2014/main" id="{7B110524-CA1A-43FD-A195-7EB87D16C9EF}"/>
              </a:ext>
            </a:extLst>
          </p:cNvPr>
          <p:cNvSpPr>
            <a:spLocks noGrp="1" noChangeArrowheads="1"/>
          </p:cNvSpPr>
          <p:nvPr>
            <p:ph type="body" idx="1"/>
          </p:nvPr>
        </p:nvSpPr>
        <p:spPr>
          <a:xfrm>
            <a:off x="0" y="450526"/>
            <a:ext cx="12053455" cy="6211207"/>
          </a:xfrm>
        </p:spPr>
        <p:txBody>
          <a:bodyPr>
            <a:normAutofit fontScale="92500" lnSpcReduction="10000"/>
          </a:bodyPr>
          <a:lstStyle/>
          <a:p>
            <a:pPr marL="0" indent="0">
              <a:buNone/>
            </a:pPr>
            <a:r>
              <a:rPr lang="en-US" altLang="en-US" sz="2400" dirty="0"/>
              <a:t>When approaching a proof of the statement, </a:t>
            </a:r>
          </a:p>
          <a:p>
            <a:pPr marL="0" indent="0">
              <a:buNone/>
            </a:pPr>
            <a:r>
              <a:rPr lang="en-US" altLang="en-US" sz="2400" dirty="0"/>
              <a:t>		“</a:t>
            </a:r>
            <a:r>
              <a:rPr lang="en-US" altLang="en-US" sz="2400" i="1" dirty="0"/>
              <a:t>n</a:t>
            </a:r>
            <a:r>
              <a:rPr lang="en-US" altLang="en-US" sz="2400" dirty="0"/>
              <a:t> is even </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r>
              <a:rPr lang="en-US" altLang="en-US" sz="2400" dirty="0">
                <a:sym typeface="Symbol" panose="05050102010706020507" pitchFamily="18" charset="2"/>
              </a:rPr>
              <a:t>it is useful to not only consider what it means for </a:t>
            </a:r>
            <a:r>
              <a:rPr lang="en-US" altLang="en-US" sz="2400" i="1" dirty="0">
                <a:sym typeface="Symbol" panose="05050102010706020507" pitchFamily="18" charset="2"/>
              </a:rPr>
              <a:t>n</a:t>
            </a:r>
            <a:r>
              <a:rPr lang="en-US" altLang="en-US" sz="2400" dirty="0">
                <a:sym typeface="Symbol" panose="05050102010706020507" pitchFamily="18" charset="2"/>
              </a:rPr>
              <a:t> to be even, but also what we must show to be able to say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r>
              <a:rPr lang="en-US" altLang="en-US" sz="2400" i="1" dirty="0">
                <a:sym typeface="Symbol" panose="05050102010706020507" pitchFamily="18" charset="2"/>
              </a:rPr>
              <a:t>Forward working</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dirty="0">
                <a:sym typeface="Symbol" panose="05050102010706020507" pitchFamily="18" charset="2"/>
              </a:rPr>
              <a:t> is even  </a:t>
            </a:r>
            <a:r>
              <a:rPr lang="en-US" altLang="en-US" sz="2400" i="1" dirty="0">
                <a:sym typeface="Symbol" panose="05050102010706020507" pitchFamily="18" charset="2"/>
              </a:rPr>
              <a:t>p</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baseline="30000" dirty="0">
                <a:sym typeface="Symbol" panose="05050102010706020507" pitchFamily="18" charset="2"/>
              </a:rPr>
              <a:t>2</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2(2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k</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2k  (Since 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ℕ)</a:t>
            </a:r>
          </a:p>
          <a:p>
            <a:pPr marL="0" indent="0">
              <a:buNone/>
            </a:pPr>
            <a:r>
              <a:rPr lang="en-US" altLang="en-US" sz="2400" i="1" dirty="0">
                <a:sym typeface="Symbol" panose="05050102010706020507" pitchFamily="18" charset="2"/>
              </a:rPr>
              <a:t>Backward working</a:t>
            </a:r>
            <a:r>
              <a:rPr lang="en-US" altLang="en-US" sz="2400" dirty="0">
                <a:sym typeface="Symbol" panose="05050102010706020507" pitchFamily="18" charset="2"/>
              </a:rPr>
              <a:t>:	 </a:t>
            </a:r>
            <a:r>
              <a:rPr lang="en-US" altLang="en-US" sz="2400" i="1" dirty="0">
                <a:sym typeface="Symbol" panose="05050102010706020507" pitchFamily="18" charset="2"/>
              </a:rPr>
              <a:t>k</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k </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Can “match up” the two sets of working? Yes, it is as follows to form the proof:</a:t>
            </a:r>
          </a:p>
          <a:p>
            <a:pPr marL="0" indent="0">
              <a:buNone/>
            </a:pPr>
            <a:endParaRPr lang="en-US" altLang="en-US" sz="2400" i="1" dirty="0">
              <a:sym typeface="Symbol" panose="05050102010706020507" pitchFamily="18" charset="2"/>
            </a:endParaRPr>
          </a:p>
          <a:p>
            <a:pPr marL="0" indent="0">
              <a:buNone/>
            </a:pPr>
            <a:r>
              <a:rPr lang="en-US" altLang="en-US" sz="2400" i="1" dirty="0">
                <a:sym typeface="Symbol" panose="05050102010706020507" pitchFamily="18" charset="2"/>
              </a:rPr>
              <a:t>n</a:t>
            </a:r>
            <a:r>
              <a:rPr lang="en-US" altLang="en-US" sz="2400" dirty="0">
                <a:sym typeface="Symbol" panose="05050102010706020507" pitchFamily="18" charset="2"/>
              </a:rPr>
              <a:t> is even  </a:t>
            </a:r>
            <a:r>
              <a:rPr lang="en-US" altLang="en-US" sz="2400" i="1" dirty="0">
                <a:sym typeface="Symbol" panose="05050102010706020507" pitchFamily="18" charset="2"/>
              </a:rPr>
              <a:t>p</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p</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2(2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k</a:t>
            </a:r>
            <a:r>
              <a:rPr lang="en-US" altLang="en-US" sz="2400" dirty="0">
                <a:sym typeface="Symbol" panose="05050102010706020507" pitchFamily="18" charset="2"/>
              </a:rPr>
              <a:t>  ℕ,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 2k  (Since 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ℕ)</a:t>
            </a:r>
          </a:p>
          <a:p>
            <a:pPr marL="0" indent="0">
              <a:buNone/>
            </a:pPr>
            <a:r>
              <a:rPr lang="en-US" altLang="en-US" sz="2400" i="1" dirty="0">
                <a:sym typeface="Symbol" panose="05050102010706020507" pitchFamily="18" charset="2"/>
              </a:rPr>
              <a:t>			</a:t>
            </a: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38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038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038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038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038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0387">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0387">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0387">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0387">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0387">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038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32CC68A6-898B-47DB-A034-B0624CC213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B51B638-03AD-4C70-8B1B-1E6FA6140F47}" type="slidenum">
              <a:rPr lang="en-GB" altLang="en-US" sz="1400">
                <a:latin typeface="Arial" panose="020B0604020202020204" pitchFamily="34" charset="0"/>
                <a:cs typeface="Arial" panose="020B0604020202020204" pitchFamily="34" charset="0"/>
              </a:rPr>
              <a:pPr>
                <a:spcBef>
                  <a:spcPct val="0"/>
                </a:spcBef>
                <a:buFontTx/>
                <a:buNone/>
              </a:pPr>
              <a:t>40</a:t>
            </a:fld>
            <a:endParaRPr lang="en-GB" altLang="en-US" sz="1400" dirty="0">
              <a:latin typeface="Arial" panose="020B0604020202020204" pitchFamily="34" charset="0"/>
              <a:cs typeface="Arial" panose="020B0604020202020204" pitchFamily="34" charset="0"/>
            </a:endParaRPr>
          </a:p>
        </p:txBody>
      </p:sp>
      <p:sp>
        <p:nvSpPr>
          <p:cNvPr id="46083" name="Rectangle 2">
            <a:extLst>
              <a:ext uri="{FF2B5EF4-FFF2-40B4-BE49-F238E27FC236}">
                <a16:creationId xmlns:a16="http://schemas.microsoft.com/office/drawing/2014/main" id="{5746B2E1-1444-40F9-A49D-5A85A068799F}"/>
              </a:ext>
            </a:extLst>
          </p:cNvPr>
          <p:cNvSpPr>
            <a:spLocks noGrp="1" noChangeArrowheads="1"/>
          </p:cNvSpPr>
          <p:nvPr>
            <p:ph type="title"/>
          </p:nvPr>
        </p:nvSpPr>
        <p:spPr>
          <a:xfrm>
            <a:off x="403760" y="-15876"/>
            <a:ext cx="10865921"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Forwards And Backwards Process: Example</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01411" name="Rectangle 3">
            <a:extLst>
              <a:ext uri="{FF2B5EF4-FFF2-40B4-BE49-F238E27FC236}">
                <a16:creationId xmlns:a16="http://schemas.microsoft.com/office/drawing/2014/main" id="{4FF7AB2B-784E-4893-8761-906741631499}"/>
              </a:ext>
            </a:extLst>
          </p:cNvPr>
          <p:cNvSpPr>
            <a:spLocks noGrp="1" noChangeArrowheads="1"/>
          </p:cNvSpPr>
          <p:nvPr>
            <p:ph type="body" idx="1"/>
          </p:nvPr>
        </p:nvSpPr>
        <p:spPr>
          <a:xfrm>
            <a:off x="1" y="1163637"/>
            <a:ext cx="12192000" cy="5192715"/>
          </a:xfrm>
        </p:spPr>
        <p:txBody>
          <a:bodyPr>
            <a:normAutofit/>
          </a:bodyPr>
          <a:lstStyle/>
          <a:p>
            <a:pPr marL="0" indent="0">
              <a:lnSpc>
                <a:spcPct val="80000"/>
              </a:lnSpc>
              <a:buNone/>
            </a:pPr>
            <a:r>
              <a:rPr lang="en-US" altLang="en-US" sz="2400" dirty="0">
                <a:sym typeface="Symbol" panose="05050102010706020507" pitchFamily="18" charset="2"/>
              </a:rPr>
              <a:t>Prove that for </a:t>
            </a:r>
            <a:r>
              <a:rPr lang="en-US" altLang="en-US" sz="2400" i="1" dirty="0">
                <a:sym typeface="Symbol" panose="05050102010706020507" pitchFamily="18" charset="2"/>
              </a:rPr>
              <a:t>x</a:t>
            </a:r>
            <a:r>
              <a:rPr lang="en-US" altLang="en-US" sz="2400" dirty="0">
                <a:sym typeface="Symbol" panose="05050102010706020507" pitchFamily="18" charset="2"/>
              </a:rPr>
              <a:t>  </a:t>
            </a:r>
            <a:r>
              <a:rPr lang="en-US" altLang="zh-CN" sz="2400" dirty="0">
                <a:ea typeface="宋体" panose="02010600030101010101" pitchFamily="2" charset="-122"/>
                <a:sym typeface="Symbol" panose="05050102010706020507" pitchFamily="18" charset="2"/>
              </a:rPr>
              <a:t>ℝ,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+1)  2.</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Forward:	(nothing can be drawn)</a:t>
            </a:r>
          </a:p>
          <a:p>
            <a:pPr marL="0" indent="0">
              <a:lnSpc>
                <a:spcPct val="80000"/>
              </a:lnSpc>
              <a:buNone/>
            </a:pPr>
            <a:r>
              <a:rPr lang="en-US" altLang="en-US" sz="2400" dirty="0">
                <a:sym typeface="Symbol" panose="05050102010706020507" pitchFamily="18" charset="2"/>
              </a:rPr>
              <a:t>Backward:	</a:t>
            </a:r>
            <a:r>
              <a:rPr lang="en-US" altLang="zh-CN" sz="2400" dirty="0">
                <a:ea typeface="宋体" panose="02010600030101010101" pitchFamily="2" charset="-122"/>
                <a:sym typeface="Symbol" panose="05050102010706020507" pitchFamily="18" charset="2"/>
              </a:rPr>
              <a:t>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  2</a:t>
            </a:r>
          </a:p>
          <a:p>
            <a:pPr marL="0" indent="0">
              <a:lnSpc>
                <a:spcPct val="80000"/>
              </a:lnSpc>
              <a:buNone/>
            </a:pPr>
            <a:r>
              <a:rPr lang="en-US" altLang="en-US" sz="2400" dirty="0">
                <a:sym typeface="Symbol" panose="05050102010706020507" pitchFamily="18" charset="2"/>
              </a:rPr>
              <a:t>		 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  0               (Since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 =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0) </a:t>
            </a:r>
            <a:endParaRPr lang="en-US" altLang="en-US" sz="2400" dirty="0">
              <a:sym typeface="Symbol" panose="05050102010706020507" pitchFamily="18" charset="2"/>
            </a:endParaRPr>
          </a:p>
          <a:p>
            <a:pPr marL="0" indent="0">
              <a:lnSpc>
                <a:spcPct val="80000"/>
              </a:lnSpc>
              <a:buNone/>
            </a:pP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  </a:t>
            </a:r>
            <a:r>
              <a:rPr lang="en-US" altLang="zh-CN" sz="2400" dirty="0">
                <a:ea typeface="宋体" panose="02010600030101010101" pitchFamily="2" charset="-122"/>
                <a:sym typeface="Symbol" panose="05050102010706020507" pitchFamily="18" charset="2"/>
              </a:rPr>
              <a:t>(</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0                    (Since the square of any real number is always non-negative)</a:t>
            </a:r>
            <a:endParaRPr lang="en-US" altLang="en-US" sz="2400" dirty="0">
              <a:sym typeface="Symbol" panose="05050102010706020507" pitchFamily="18" charset="2"/>
            </a:endParaRP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We can now put the proof together:</a:t>
            </a:r>
          </a:p>
          <a:p>
            <a:pPr marL="0" indent="0">
              <a:lnSpc>
                <a:spcPct val="80000"/>
              </a:lnSpc>
              <a:buNone/>
            </a:pP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0                        (Since the square of any real number is always non-negative</a:t>
            </a:r>
          </a:p>
          <a:p>
            <a:pPr marL="0" indent="0">
              <a:lnSpc>
                <a:spcPct val="80000"/>
              </a:lnSpc>
              <a:buNone/>
            </a:pP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			</a:t>
            </a:r>
            <a:r>
              <a:rPr lang="en-US" altLang="zh-CN" sz="2400" i="1" dirty="0">
                <a:ea typeface="宋体" panose="02010600030101010101" pitchFamily="2" charset="-122"/>
                <a:sym typeface="Symbol" panose="05050102010706020507" pitchFamily="18" charset="2"/>
              </a:rPr>
              <a:t> 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  0     (Since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 = (</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0) </a:t>
            </a:r>
          </a:p>
          <a:p>
            <a:pPr marL="0" indent="0">
              <a:lnSpc>
                <a:spcPct val="80000"/>
              </a:lnSpc>
              <a:buNone/>
            </a:pP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 </a:t>
            </a:r>
            <a:r>
              <a:rPr lang="en-US" altLang="zh-CN" sz="2400" dirty="0">
                <a:ea typeface="宋体" panose="02010600030101010101" pitchFamily="2" charset="-122"/>
                <a:sym typeface="Symbol" panose="05050102010706020507" pitchFamily="18" charset="2"/>
              </a:rPr>
              <a:t>(-</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+ 1)  2</a:t>
            </a:r>
          </a:p>
          <a:p>
            <a:pPr marL="0" indent="0">
              <a:lnSpc>
                <a:spcPct val="80000"/>
              </a:lnSpc>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1411">
                                            <p:txEl>
                                              <p:pRg st="2" end="2"/>
                                            </p:txEl>
                                          </p:spTgt>
                                        </p:tgtEl>
                                        <p:attrNameLst>
                                          <p:attrName>style.visibility</p:attrName>
                                        </p:attrNameLst>
                                      </p:cBhvr>
                                      <p:to>
                                        <p:strVal val="visible"/>
                                      </p:to>
                                    </p:set>
                                    <p:animEffect transition="in" filter="box(in)">
                                      <p:cBhvr>
                                        <p:cTn id="7" dur="500"/>
                                        <p:tgtEl>
                                          <p:spTgt spid="40141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1411">
                                            <p:txEl>
                                              <p:pRg st="3" end="3"/>
                                            </p:txEl>
                                          </p:spTgt>
                                        </p:tgtEl>
                                        <p:attrNameLst>
                                          <p:attrName>style.visibility</p:attrName>
                                        </p:attrNameLst>
                                      </p:cBhvr>
                                      <p:to>
                                        <p:strVal val="visible"/>
                                      </p:to>
                                    </p:set>
                                    <p:animEffect transition="in" filter="box(in)">
                                      <p:cBhvr>
                                        <p:cTn id="12" dur="500"/>
                                        <p:tgtEl>
                                          <p:spTgt spid="4014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01411">
                                            <p:txEl>
                                              <p:pRg st="4" end="4"/>
                                            </p:txEl>
                                          </p:spTgt>
                                        </p:tgtEl>
                                        <p:attrNameLst>
                                          <p:attrName>style.visibility</p:attrName>
                                        </p:attrNameLst>
                                      </p:cBhvr>
                                      <p:to>
                                        <p:strVal val="visible"/>
                                      </p:to>
                                    </p:set>
                                    <p:animEffect transition="in" filter="box(in)">
                                      <p:cBhvr>
                                        <p:cTn id="17" dur="500"/>
                                        <p:tgtEl>
                                          <p:spTgt spid="4014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01411">
                                            <p:txEl>
                                              <p:pRg st="5" end="5"/>
                                            </p:txEl>
                                          </p:spTgt>
                                        </p:tgtEl>
                                        <p:attrNameLst>
                                          <p:attrName>style.visibility</p:attrName>
                                        </p:attrNameLst>
                                      </p:cBhvr>
                                      <p:to>
                                        <p:strVal val="visible"/>
                                      </p:to>
                                    </p:set>
                                    <p:animEffect transition="in" filter="box(in)">
                                      <p:cBhvr>
                                        <p:cTn id="22" dur="500"/>
                                        <p:tgtEl>
                                          <p:spTgt spid="401411">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141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141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1411">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14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FB7A2578-FC0B-47C4-A1F0-5759265922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FA32E33-04CD-4217-9E07-D24E7197076E}" type="slidenum">
              <a:rPr lang="en-GB" altLang="en-US" sz="1400">
                <a:latin typeface="Arial" panose="020B0604020202020204" pitchFamily="34" charset="0"/>
                <a:cs typeface="Arial" panose="020B0604020202020204" pitchFamily="34" charset="0"/>
              </a:rPr>
              <a:pPr>
                <a:spcBef>
                  <a:spcPct val="0"/>
                </a:spcBef>
                <a:buFontTx/>
                <a:buNone/>
              </a:pPr>
              <a:t>41</a:t>
            </a:fld>
            <a:endParaRPr lang="en-GB" altLang="en-US" sz="1400">
              <a:latin typeface="Arial" panose="020B0604020202020204" pitchFamily="34" charset="0"/>
              <a:cs typeface="Arial" panose="020B0604020202020204" pitchFamily="34" charset="0"/>
            </a:endParaRPr>
          </a:p>
        </p:txBody>
      </p:sp>
      <p:sp>
        <p:nvSpPr>
          <p:cNvPr id="47107" name="Rectangle 2">
            <a:extLst>
              <a:ext uri="{FF2B5EF4-FFF2-40B4-BE49-F238E27FC236}">
                <a16:creationId xmlns:a16="http://schemas.microsoft.com/office/drawing/2014/main" id="{A4ECBBE7-31C1-44E6-92D3-2C1A19571DBD}"/>
              </a:ext>
            </a:extLst>
          </p:cNvPr>
          <p:cNvSpPr>
            <a:spLocks noGrp="1" noChangeArrowheads="1"/>
          </p:cNvSpPr>
          <p:nvPr>
            <p:ph type="title"/>
          </p:nvPr>
        </p:nvSpPr>
        <p:spPr>
          <a:xfrm>
            <a:off x="1981200" y="136523"/>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Forwards And Backwards Process: Note</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7108" name="Rectangle 3">
            <a:extLst>
              <a:ext uri="{FF2B5EF4-FFF2-40B4-BE49-F238E27FC236}">
                <a16:creationId xmlns:a16="http://schemas.microsoft.com/office/drawing/2014/main" id="{5F823DD0-69D5-43E8-A7BD-8A3E0DCF4AA6}"/>
              </a:ext>
            </a:extLst>
          </p:cNvPr>
          <p:cNvSpPr>
            <a:spLocks noGrp="1" noChangeArrowheads="1"/>
          </p:cNvSpPr>
          <p:nvPr>
            <p:ph type="body" idx="1"/>
          </p:nvPr>
        </p:nvSpPr>
        <p:spPr>
          <a:xfrm>
            <a:off x="795647" y="1279523"/>
            <a:ext cx="10770920" cy="4530725"/>
          </a:xfrm>
        </p:spPr>
        <p:txBody>
          <a:bodyPr/>
          <a:lstStyle/>
          <a:p>
            <a:pPr marL="0" indent="0">
              <a:buNone/>
            </a:pPr>
            <a:r>
              <a:rPr lang="en-US" altLang="zh-CN" sz="2400" dirty="0">
                <a:ea typeface="宋体" panose="02010600030101010101" pitchFamily="2" charset="-122"/>
                <a:sym typeface="Symbol" panose="05050102010706020507" pitchFamily="18" charset="2"/>
              </a:rPr>
              <a:t>In the previous example, we must NOT start with the statement </a:t>
            </a:r>
          </a:p>
          <a:p>
            <a:pPr marL="0" indent="0">
              <a:buNone/>
            </a:pPr>
            <a:endParaRPr lang="en-US" altLang="zh-CN" sz="2400" dirty="0">
              <a:ea typeface="宋体" panose="02010600030101010101" pitchFamily="2" charset="-122"/>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		(-</a:t>
            </a:r>
            <a:r>
              <a:rPr lang="en-US" altLang="zh-CN" sz="2400" i="1" dirty="0">
                <a:ea typeface="宋体" panose="02010600030101010101" pitchFamily="2" charset="-122"/>
                <a:sym typeface="Symbol" panose="05050102010706020507" pitchFamily="18" charset="2"/>
              </a:rPr>
              <a:t>x</a:t>
            </a:r>
            <a:r>
              <a:rPr lang="en-US" altLang="zh-CN" sz="2400" baseline="30000" dirty="0">
                <a:ea typeface="宋体" panose="02010600030101010101" pitchFamily="2" charset="-122"/>
                <a:sym typeface="Symbol" panose="05050102010706020507" pitchFamily="18" charset="2"/>
              </a:rPr>
              <a:t>2</a:t>
            </a:r>
            <a:r>
              <a:rPr lang="en-US" altLang="zh-CN" sz="2400" dirty="0">
                <a:ea typeface="宋体" panose="02010600030101010101" pitchFamily="2" charset="-122"/>
                <a:sym typeface="Symbol" panose="05050102010706020507" pitchFamily="18" charset="2"/>
              </a:rPr>
              <a:t> + 2</a:t>
            </a:r>
            <a:r>
              <a:rPr lang="en-US" altLang="zh-CN" sz="2400" i="1" dirty="0">
                <a:ea typeface="宋体" panose="02010600030101010101" pitchFamily="2" charset="-122"/>
                <a:sym typeface="Symbol" panose="05050102010706020507" pitchFamily="18" charset="2"/>
              </a:rPr>
              <a:t>x</a:t>
            </a:r>
            <a:r>
              <a:rPr lang="en-US" altLang="zh-CN" sz="2400" dirty="0">
                <a:ea typeface="宋体" panose="02010600030101010101" pitchFamily="2" charset="-122"/>
                <a:sym typeface="Symbol" panose="05050102010706020507" pitchFamily="18" charset="2"/>
              </a:rPr>
              <a:t> +1)  2, </a:t>
            </a:r>
          </a:p>
          <a:p>
            <a:pPr marL="0" indent="0">
              <a:buNone/>
            </a:pPr>
            <a:endParaRPr lang="en-US" altLang="zh-CN" sz="2400" dirty="0">
              <a:ea typeface="宋体" panose="02010600030101010101" pitchFamily="2" charset="-122"/>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as we technically do not know whether it is true or not. </a:t>
            </a:r>
          </a:p>
          <a:p>
            <a:pPr marL="0" indent="0">
              <a:buNone/>
            </a:pPr>
            <a:endParaRPr lang="en-US" altLang="zh-CN" sz="2400" dirty="0">
              <a:ea typeface="宋体" panose="02010600030101010101" pitchFamily="2" charset="-122"/>
              <a:sym typeface="Symbol" panose="05050102010706020507" pitchFamily="18" charset="2"/>
            </a:endParaRPr>
          </a:p>
          <a:p>
            <a:pPr marL="0" indent="0">
              <a:buNone/>
            </a:pPr>
            <a:r>
              <a:rPr lang="en-US" altLang="zh-CN" sz="2400" dirty="0">
                <a:ea typeface="宋体" panose="02010600030101010101" pitchFamily="2" charset="-122"/>
                <a:sym typeface="Symbol" panose="05050102010706020507" pitchFamily="18" charset="2"/>
              </a:rPr>
              <a:t>We started our proof with a statement we know to be true from basic algebra.</a:t>
            </a:r>
          </a:p>
          <a:p>
            <a:pPr marL="0" indent="0">
              <a:buNone/>
            </a:pPr>
            <a:endParaRPr lang="en-US" altLang="en-US" sz="2400" dirty="0">
              <a:ea typeface="宋体" panose="02010600030101010101" pitchFamily="2" charset="-122"/>
              <a:sym typeface="Symbol" panose="05050102010706020507" pitchFamily="18" charset="2"/>
            </a:endParaRPr>
          </a:p>
          <a:p>
            <a:pPr marL="0" indent="0">
              <a:buNone/>
            </a:pPr>
            <a:r>
              <a:rPr lang="en-US" altLang="en-US" sz="2400" dirty="0">
                <a:ea typeface="宋体" panose="02010600030101010101" pitchFamily="2" charset="-122"/>
                <a:sym typeface="Symbol" panose="05050102010706020507" pitchFamily="18" charset="2"/>
              </a:rPr>
              <a:t>The steps drawn from backward process CANNOT be used as a proof. These steps are just for helping us to construct a proof from assumptions and/or well-known facts to conclusion.</a:t>
            </a:r>
            <a:endParaRPr lang="en-US" altLang="en-US" sz="2400" dirty="0">
              <a:sym typeface="Symbol" panose="05050102010706020507" pitchFamily="18" charset="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327881B9-FAAD-4D87-8A42-F39D9D1B10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E487FFD-8987-4A36-B0C7-0FDB05A033A1}" type="slidenum">
              <a:rPr lang="en-GB" altLang="en-US" sz="1400">
                <a:latin typeface="Arial" panose="020B0604020202020204" pitchFamily="34" charset="0"/>
                <a:cs typeface="Arial" panose="020B0604020202020204" pitchFamily="34" charset="0"/>
              </a:rPr>
              <a:pPr>
                <a:spcBef>
                  <a:spcPct val="0"/>
                </a:spcBef>
                <a:buFontTx/>
                <a:buNone/>
              </a:pPr>
              <a:t>42</a:t>
            </a:fld>
            <a:endParaRPr lang="en-GB" altLang="en-US" sz="1400">
              <a:latin typeface="Arial" panose="020B0604020202020204" pitchFamily="34" charset="0"/>
              <a:cs typeface="Arial" panose="020B0604020202020204" pitchFamily="34" charset="0"/>
            </a:endParaRPr>
          </a:p>
        </p:txBody>
      </p:sp>
      <p:sp>
        <p:nvSpPr>
          <p:cNvPr id="50179" name="Rectangle 2">
            <a:extLst>
              <a:ext uri="{FF2B5EF4-FFF2-40B4-BE49-F238E27FC236}">
                <a16:creationId xmlns:a16="http://schemas.microsoft.com/office/drawing/2014/main" id="{59C5319B-2ACA-4A49-A921-839FC9265193}"/>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Proof By Contradiction: Method</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50180" name="Rectangle 3">
            <a:extLst>
              <a:ext uri="{FF2B5EF4-FFF2-40B4-BE49-F238E27FC236}">
                <a16:creationId xmlns:a16="http://schemas.microsoft.com/office/drawing/2014/main" id="{9A3B318D-1000-4F58-8343-A2630DDC885A}"/>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We assume the negation of what we are trying to prove (~ </a:t>
            </a:r>
            <a:r>
              <a:rPr lang="en-US" altLang="en-US" sz="2400" i="1" dirty="0">
                <a:sym typeface="Symbol" panose="05050102010706020507" pitchFamily="18" charset="2"/>
              </a:rPr>
              <a:t>Q</a:t>
            </a:r>
            <a:r>
              <a:rPr lang="en-US" altLang="en-US" sz="2400" dirty="0">
                <a:sym typeface="Symbol" panose="05050102010706020507" pitchFamily="18" charset="2"/>
              </a:rPr>
              <a:t>) is true, then use a logical argument to show that we would then have a contradiction with either </a:t>
            </a:r>
            <a:r>
              <a:rPr lang="en-US" altLang="en-US" sz="2400" i="1" dirty="0">
                <a:sym typeface="Symbol" panose="05050102010706020507" pitchFamily="18" charset="2"/>
              </a:rPr>
              <a:t>P</a:t>
            </a:r>
            <a:r>
              <a:rPr lang="en-US" altLang="en-US" sz="2400" dirty="0">
                <a:sym typeface="Symbol" panose="05050102010706020507" pitchFamily="18" charset="2"/>
              </a:rPr>
              <a:t> or some other well-know truth.</a:t>
            </a:r>
            <a:endParaRPr lang="en-US" altLang="en-US" sz="2400" i="1" dirty="0">
              <a:sym typeface="Symbol" panose="05050102010706020507" pitchFamily="18" charset="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75D878D6-9D46-47B8-8EB3-81FE59D287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0051FEC-5D81-47F0-A834-B61CF893156F}" type="slidenum">
              <a:rPr lang="en-GB" altLang="en-US" sz="1400">
                <a:latin typeface="Arial" panose="020B0604020202020204" pitchFamily="34" charset="0"/>
                <a:cs typeface="Arial" panose="020B0604020202020204" pitchFamily="34" charset="0"/>
              </a:rPr>
              <a:pPr>
                <a:spcBef>
                  <a:spcPct val="0"/>
                </a:spcBef>
                <a:buFontTx/>
                <a:buNone/>
              </a:pPr>
              <a:t>43</a:t>
            </a:fld>
            <a:endParaRPr lang="en-GB" altLang="en-US" sz="1400">
              <a:latin typeface="Arial" panose="020B0604020202020204" pitchFamily="34" charset="0"/>
              <a:cs typeface="Arial" panose="020B0604020202020204" pitchFamily="34" charset="0"/>
            </a:endParaRPr>
          </a:p>
        </p:txBody>
      </p:sp>
      <p:sp>
        <p:nvSpPr>
          <p:cNvPr id="52227" name="Rectangle 2">
            <a:extLst>
              <a:ext uri="{FF2B5EF4-FFF2-40B4-BE49-F238E27FC236}">
                <a16:creationId xmlns:a16="http://schemas.microsoft.com/office/drawing/2014/main" id="{5170952E-BE32-42C5-8C2F-9796DF6167F0}"/>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Proof By Contradiction: Example</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08579" name="Rectangle 3">
            <a:extLst>
              <a:ext uri="{FF2B5EF4-FFF2-40B4-BE49-F238E27FC236}">
                <a16:creationId xmlns:a16="http://schemas.microsoft.com/office/drawing/2014/main" id="{43262FC5-CCC7-43D4-8B87-F3B4152E97CD}"/>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Prove that for </a:t>
            </a:r>
            <a:r>
              <a:rPr lang="en-US" altLang="en-US" sz="2400" i="1" dirty="0"/>
              <a:t>n</a:t>
            </a:r>
            <a:r>
              <a:rPr lang="en-US" altLang="en-US" sz="2400" dirty="0">
                <a:sym typeface="Symbol" panose="05050102010706020507" pitchFamily="18" charset="2"/>
              </a:rPr>
              <a:t>  ℕ, if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 then </a:t>
            </a:r>
            <a:r>
              <a:rPr lang="en-US" altLang="en-US" sz="2400" i="1" dirty="0">
                <a:sym typeface="Symbol" panose="05050102010706020507" pitchFamily="18" charset="2"/>
              </a:rPr>
              <a:t>n</a:t>
            </a:r>
            <a:r>
              <a:rPr lang="en-US" altLang="en-US" sz="2400" dirty="0">
                <a:sym typeface="Symbol" panose="05050102010706020507" pitchFamily="18" charset="2"/>
              </a:rPr>
              <a:t> is even,</a:t>
            </a:r>
            <a:endParaRPr lang="en-US" altLang="en-US" sz="2400" dirty="0"/>
          </a:p>
          <a:p>
            <a:pPr marL="0" indent="0">
              <a:buNone/>
            </a:pPr>
            <a:endParaRPr lang="en-US" altLang="en-US" sz="2400" dirty="0"/>
          </a:p>
          <a:p>
            <a:pPr marL="0" indent="0">
              <a:buNone/>
            </a:pPr>
            <a:r>
              <a:rPr lang="en-US" altLang="en-US" sz="2400" dirty="0"/>
              <a:t>This is of the form </a:t>
            </a:r>
          </a:p>
          <a:p>
            <a:pPr marL="0" indent="0">
              <a:buNone/>
            </a:pPr>
            <a:r>
              <a:rPr lang="en-US" altLang="en-US" sz="2400" dirty="0">
                <a:sym typeface="Symbol" panose="05050102010706020507" pitchFamily="18" charset="2"/>
              </a:rPr>
              <a:t>		</a:t>
            </a:r>
            <a:r>
              <a:rPr lang="en-US" altLang="en-US" sz="2400" i="1" dirty="0"/>
              <a:t>n</a:t>
            </a:r>
            <a:r>
              <a:rPr lang="en-US" altLang="en-US" sz="2400" dirty="0">
                <a:sym typeface="Symbol" panose="05050102010706020507" pitchFamily="18" charset="2"/>
              </a:rPr>
              <a:t>  ℕ,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Q</a:t>
            </a:r>
            <a:r>
              <a:rPr lang="en-US" altLang="en-US" sz="2400" dirty="0">
                <a:sym typeface="Symbol" panose="05050102010706020507" pitchFamily="18" charset="2"/>
              </a:rPr>
              <a:t>), </a:t>
            </a:r>
          </a:p>
          <a:p>
            <a:pPr marL="0" indent="0">
              <a:buNone/>
            </a:pPr>
            <a:r>
              <a:rPr lang="en-US" altLang="en-US" sz="2400" dirty="0">
                <a:sym typeface="Symbol" panose="05050102010706020507" pitchFamily="18" charset="2"/>
              </a:rPr>
              <a:t>where 		</a:t>
            </a:r>
            <a:r>
              <a:rPr lang="en-US" altLang="en-US" sz="2400" i="1" dirty="0">
                <a:sym typeface="Symbol" panose="05050102010706020507" pitchFamily="18" charset="2"/>
              </a:rPr>
              <a:t>P</a:t>
            </a:r>
            <a:r>
              <a:rPr lang="en-US" altLang="en-US" sz="2400" dirty="0">
                <a:sym typeface="Symbol" panose="05050102010706020507" pitchFamily="18" charset="2"/>
              </a:rPr>
              <a:t> is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 </a:t>
            </a:r>
          </a:p>
          <a:p>
            <a:pPr marL="0" indent="0">
              <a:buNone/>
            </a:pPr>
            <a:r>
              <a:rPr lang="en-US" altLang="en-US" sz="2400" dirty="0">
                <a:sym typeface="Symbol" panose="05050102010706020507" pitchFamily="18" charset="2"/>
              </a:rPr>
              <a:t>and 		</a:t>
            </a:r>
            <a:r>
              <a:rPr lang="en-US" altLang="en-US" sz="2400" i="1" dirty="0">
                <a:sym typeface="Symbol" panose="05050102010706020507" pitchFamily="18" charset="2"/>
              </a:rPr>
              <a:t>Q</a:t>
            </a:r>
            <a:r>
              <a:rPr lang="en-US" altLang="en-US" sz="2400" dirty="0">
                <a:sym typeface="Symbol" panose="05050102010706020507" pitchFamily="18" charset="2"/>
              </a:rPr>
              <a:t> is “</a:t>
            </a:r>
            <a:r>
              <a:rPr lang="en-US" altLang="en-US" sz="2400" i="1" dirty="0">
                <a:sym typeface="Symbol" panose="05050102010706020507" pitchFamily="18" charset="2"/>
              </a:rPr>
              <a:t>n</a:t>
            </a:r>
            <a:r>
              <a:rPr lang="en-US" altLang="en-US" sz="2400" dirty="0">
                <a:sym typeface="Symbol" panose="05050102010706020507" pitchFamily="18" charset="2"/>
              </a:rPr>
              <a:t> is even”. </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Thus, we must give a general proof and we start with the premise that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even.</a:t>
            </a:r>
          </a:p>
          <a:p>
            <a:pPr marL="0" indent="0">
              <a:buNone/>
            </a:pPr>
            <a:r>
              <a:rPr lang="en-US" altLang="en-US" sz="2400" dirty="0"/>
              <a:t>If we try a direct proof, we start with </a:t>
            </a:r>
            <a:r>
              <a:rPr lang="en-US" altLang="en-US" sz="2400" i="1" dirty="0"/>
              <a:t>n</a:t>
            </a:r>
            <a:r>
              <a:rPr lang="en-US" altLang="en-US" sz="2400" baseline="30000" dirty="0"/>
              <a:t>2</a:t>
            </a:r>
            <a:r>
              <a:rPr lang="en-US" altLang="en-US" sz="2400" dirty="0"/>
              <a:t> = 2</a:t>
            </a:r>
            <a:r>
              <a:rPr lang="en-US" altLang="en-US" sz="2400" i="1" dirty="0"/>
              <a:t>p</a:t>
            </a:r>
            <a:r>
              <a:rPr lang="en-US" altLang="en-US" sz="2400" dirty="0"/>
              <a:t> for some </a:t>
            </a:r>
            <a:r>
              <a:rPr lang="en-US" altLang="en-US" sz="2400" i="1" dirty="0"/>
              <a:t>p</a:t>
            </a:r>
            <a:r>
              <a:rPr lang="en-US" altLang="en-US" sz="2400" dirty="0">
                <a:sym typeface="Symbol" panose="05050102010706020507" pitchFamily="18" charset="2"/>
              </a:rPr>
              <a:t>  ℕ</a:t>
            </a:r>
            <a:r>
              <a:rPr lang="en-US" altLang="en-US" sz="2400" dirty="0"/>
              <a:t> … but then we get “stuck”!</a:t>
            </a: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8579">
                                            <p:txEl>
                                              <p:pRg st="2" end="2"/>
                                            </p:txEl>
                                          </p:spTgt>
                                        </p:tgtEl>
                                        <p:attrNameLst>
                                          <p:attrName>style.visibility</p:attrName>
                                        </p:attrNameLst>
                                      </p:cBhvr>
                                      <p:to>
                                        <p:strVal val="visible"/>
                                      </p:to>
                                    </p:set>
                                    <p:animEffect transition="in" filter="box(in)">
                                      <p:cBhvr>
                                        <p:cTn id="7" dur="500"/>
                                        <p:tgtEl>
                                          <p:spTgt spid="408579">
                                            <p:txEl>
                                              <p:pRg st="2" end="2"/>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08579">
                                            <p:txEl>
                                              <p:pRg st="3" end="3"/>
                                            </p:txEl>
                                          </p:spTgt>
                                        </p:tgtEl>
                                        <p:attrNameLst>
                                          <p:attrName>style.visibility</p:attrName>
                                        </p:attrNameLst>
                                      </p:cBhvr>
                                      <p:to>
                                        <p:strVal val="visible"/>
                                      </p:to>
                                    </p:set>
                                    <p:animEffect transition="in" filter="box(in)">
                                      <p:cBhvr>
                                        <p:cTn id="10" dur="500"/>
                                        <p:tgtEl>
                                          <p:spTgt spid="408579">
                                            <p:txEl>
                                              <p:pRg st="3" end="3"/>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408579">
                                            <p:txEl>
                                              <p:pRg st="4" end="4"/>
                                            </p:txEl>
                                          </p:spTgt>
                                        </p:tgtEl>
                                        <p:attrNameLst>
                                          <p:attrName>style.visibility</p:attrName>
                                        </p:attrNameLst>
                                      </p:cBhvr>
                                      <p:to>
                                        <p:strVal val="visible"/>
                                      </p:to>
                                    </p:set>
                                    <p:animEffect transition="in" filter="box(in)">
                                      <p:cBhvr>
                                        <p:cTn id="15" dur="500"/>
                                        <p:tgtEl>
                                          <p:spTgt spid="408579">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08579">
                                            <p:txEl>
                                              <p:pRg st="5" end="5"/>
                                            </p:txEl>
                                          </p:spTgt>
                                        </p:tgtEl>
                                        <p:attrNameLst>
                                          <p:attrName>style.visibility</p:attrName>
                                        </p:attrNameLst>
                                      </p:cBhvr>
                                      <p:to>
                                        <p:strVal val="visible"/>
                                      </p:to>
                                    </p:set>
                                    <p:animEffect transition="in" filter="box(in)">
                                      <p:cBhvr>
                                        <p:cTn id="20" dur="500"/>
                                        <p:tgtEl>
                                          <p:spTgt spid="408579">
                                            <p:txEl>
                                              <p:pRg st="5" end="5"/>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408579">
                                            <p:txEl>
                                              <p:pRg st="7" end="7"/>
                                            </p:txEl>
                                          </p:spTgt>
                                        </p:tgtEl>
                                        <p:attrNameLst>
                                          <p:attrName>style.visibility</p:attrName>
                                        </p:attrNameLst>
                                      </p:cBhvr>
                                      <p:to>
                                        <p:strVal val="visible"/>
                                      </p:to>
                                    </p:set>
                                    <p:animEffect transition="in" filter="box(in)">
                                      <p:cBhvr>
                                        <p:cTn id="25" dur="500"/>
                                        <p:tgtEl>
                                          <p:spTgt spid="408579">
                                            <p:txEl>
                                              <p:pRg st="7" end="7"/>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408579">
                                            <p:txEl>
                                              <p:pRg st="8" end="8"/>
                                            </p:txEl>
                                          </p:spTgt>
                                        </p:tgtEl>
                                        <p:attrNameLst>
                                          <p:attrName>style.visibility</p:attrName>
                                        </p:attrNameLst>
                                      </p:cBhvr>
                                      <p:to>
                                        <p:strVal val="visible"/>
                                      </p:to>
                                    </p:set>
                                    <p:animEffect transition="in" filter="box(in)">
                                      <p:cBhvr>
                                        <p:cTn id="30" dur="500"/>
                                        <p:tgtEl>
                                          <p:spTgt spid="4085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DBFE0F5C-9EAA-4B6C-8B57-0CA9D945BD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74F5CC8-6C19-4F23-9EC9-3399267F0F18}" type="slidenum">
              <a:rPr lang="en-GB" altLang="en-US" sz="1400">
                <a:latin typeface="Arial" panose="020B0604020202020204" pitchFamily="34" charset="0"/>
                <a:cs typeface="Arial" panose="020B0604020202020204" pitchFamily="34" charset="0"/>
              </a:rPr>
              <a:pPr>
                <a:spcBef>
                  <a:spcPct val="0"/>
                </a:spcBef>
                <a:buFontTx/>
                <a:buNone/>
              </a:pPr>
              <a:t>44</a:t>
            </a:fld>
            <a:endParaRPr lang="en-GB" altLang="en-US" sz="1400">
              <a:latin typeface="Arial" panose="020B0604020202020204" pitchFamily="34" charset="0"/>
              <a:cs typeface="Arial" panose="020B0604020202020204" pitchFamily="34" charset="0"/>
            </a:endParaRPr>
          </a:p>
        </p:txBody>
      </p:sp>
      <p:sp>
        <p:nvSpPr>
          <p:cNvPr id="53251" name="Rectangle 2">
            <a:extLst>
              <a:ext uri="{FF2B5EF4-FFF2-40B4-BE49-F238E27FC236}">
                <a16:creationId xmlns:a16="http://schemas.microsoft.com/office/drawing/2014/main" id="{97988149-41A9-4B39-98E0-CBC53CFAC87B}"/>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Proof By Contradiction: Example</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09603" name="Rectangle 3">
            <a:extLst>
              <a:ext uri="{FF2B5EF4-FFF2-40B4-BE49-F238E27FC236}">
                <a16:creationId xmlns:a16="http://schemas.microsoft.com/office/drawing/2014/main" id="{BB46DEC8-A9DF-4327-B749-823B205F4A4E}"/>
              </a:ext>
            </a:extLst>
          </p:cNvPr>
          <p:cNvSpPr>
            <a:spLocks noGrp="1" noChangeArrowheads="1"/>
          </p:cNvSpPr>
          <p:nvPr>
            <p:ph type="body" idx="1"/>
          </p:nvPr>
        </p:nvSpPr>
        <p:spPr>
          <a:xfrm>
            <a:off x="1981200" y="1771651"/>
            <a:ext cx="9372600" cy="4530725"/>
          </a:xfrm>
        </p:spPr>
        <p:txBody>
          <a:bodyPr/>
          <a:lstStyle/>
          <a:p>
            <a:pPr marL="0" indent="0">
              <a:buNone/>
            </a:pPr>
            <a:r>
              <a:rPr lang="en-US" altLang="en-US" sz="2400" dirty="0">
                <a:sym typeface="Symbol" panose="05050102010706020507" pitchFamily="18" charset="2"/>
              </a:rPr>
              <a:t>A proof by contradiction proceeds as follows:</a:t>
            </a:r>
          </a:p>
          <a:p>
            <a:pPr marL="0" indent="0">
              <a:buNone/>
            </a:pPr>
            <a:r>
              <a:rPr lang="en-US" altLang="en-US" sz="2400" dirty="0">
                <a:sym typeface="Symbol" panose="05050102010706020507" pitchFamily="18" charset="2"/>
              </a:rPr>
              <a:t>	Let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be even.			(The “usual” assumption </a:t>
            </a:r>
            <a:r>
              <a:rPr lang="en-US" altLang="en-US" sz="2400" i="1" dirty="0">
                <a:sym typeface="Symbol" panose="05050102010706020507" pitchFamily="18" charset="2"/>
              </a:rPr>
              <a:t>P</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Suppose that </a:t>
            </a:r>
            <a:r>
              <a:rPr lang="en-US" altLang="en-US" sz="2400" i="1" dirty="0"/>
              <a:t>n</a:t>
            </a:r>
            <a:r>
              <a:rPr lang="en-US" altLang="en-US" sz="2400" dirty="0">
                <a:sym typeface="Symbol" panose="05050102010706020507" pitchFamily="18" charset="2"/>
              </a:rPr>
              <a:t> is an odd number.	(Assume ~ </a:t>
            </a:r>
            <a:r>
              <a:rPr lang="en-US" altLang="en-US" sz="2400" i="1" dirty="0">
                <a:sym typeface="Symbol" panose="05050102010706020507" pitchFamily="18" charset="2"/>
              </a:rPr>
              <a:t>Q</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	Then 	      </a:t>
            </a:r>
            <a:r>
              <a:rPr lang="en-US" altLang="en-US" sz="2400" i="1" dirty="0">
                <a:sym typeface="Symbol" panose="05050102010706020507" pitchFamily="18" charset="2"/>
              </a:rPr>
              <a:t>n</a:t>
            </a:r>
            <a:r>
              <a:rPr lang="en-US" altLang="en-US" sz="2400" dirty="0">
                <a:sym typeface="Symbol" panose="05050102010706020507" pitchFamily="18" charset="2"/>
              </a:rPr>
              <a:t>    = </a:t>
            </a:r>
            <a:r>
              <a:rPr lang="en-US" altLang="en-US" sz="2400" dirty="0"/>
              <a:t>2</a:t>
            </a:r>
            <a:r>
              <a:rPr lang="en-US" altLang="en-US" sz="2400" i="1" dirty="0"/>
              <a:t>p</a:t>
            </a:r>
            <a:r>
              <a:rPr lang="en-US" altLang="en-US" sz="2400" dirty="0">
                <a:sym typeface="Symbol" panose="05050102010706020507" pitchFamily="18" charset="2"/>
              </a:rPr>
              <a:t> + 1 for some </a:t>
            </a:r>
            <a:r>
              <a:rPr lang="en-US" altLang="en-US" sz="2400" i="1" dirty="0"/>
              <a:t>p</a:t>
            </a:r>
            <a:r>
              <a:rPr lang="en-US" altLang="en-US" sz="2400" dirty="0">
                <a:sym typeface="Symbol" panose="05050102010706020507" pitchFamily="18" charset="2"/>
              </a:rPr>
              <a:t>  ℕ</a:t>
            </a:r>
            <a:r>
              <a:rPr lang="en-US" altLang="en-US" sz="2400" dirty="0"/>
              <a:t> </a:t>
            </a:r>
          </a:p>
          <a:p>
            <a:pPr marL="0" indent="0">
              <a:buNone/>
            </a:pPr>
            <a:r>
              <a:rPr lang="en-US" altLang="en-US" sz="2400" dirty="0">
                <a:sym typeface="Symbol" panose="05050102010706020507" pitchFamily="18" charset="2"/>
              </a:rPr>
              <a:t>	Now,         </a:t>
            </a:r>
            <a:r>
              <a:rPr lang="en-US" altLang="en-US" sz="2400" i="1" dirty="0">
                <a:sym typeface="Symbol" panose="05050102010706020507" pitchFamily="18" charset="2"/>
              </a:rPr>
              <a:t>n</a:t>
            </a:r>
            <a:r>
              <a:rPr lang="en-US" altLang="en-US" sz="2400" i="1" baseline="30000" dirty="0">
                <a:sym typeface="Symbol" panose="05050102010706020507" pitchFamily="18" charset="2"/>
              </a:rPr>
              <a:t>2</a:t>
            </a:r>
            <a:r>
              <a:rPr lang="en-US" altLang="en-US" sz="2400" dirty="0">
                <a:sym typeface="Symbol" panose="05050102010706020507" pitchFamily="18" charset="2"/>
              </a:rPr>
              <a:t> 	= (</a:t>
            </a:r>
            <a:r>
              <a:rPr lang="en-US" altLang="en-US" sz="2400" dirty="0"/>
              <a:t>2</a:t>
            </a:r>
            <a:r>
              <a:rPr lang="en-US" altLang="en-US" sz="2400" i="1" dirty="0"/>
              <a:t>p</a:t>
            </a:r>
            <a:r>
              <a:rPr lang="en-US" altLang="en-US" sz="2400" dirty="0">
                <a:sym typeface="Symbol" panose="05050102010706020507" pitchFamily="18" charset="2"/>
              </a:rPr>
              <a:t> + 1)</a:t>
            </a:r>
            <a:r>
              <a:rPr lang="en-US" altLang="en-US" sz="2400" baseline="30000" dirty="0">
                <a:sym typeface="Symbol" panose="05050102010706020507" pitchFamily="18" charset="2"/>
              </a:rPr>
              <a:t>2</a:t>
            </a:r>
            <a:r>
              <a:rPr lang="en-US" altLang="en-US" sz="2400" dirty="0">
                <a:sym typeface="Symbol" panose="05050102010706020507" pitchFamily="18" charset="2"/>
              </a:rPr>
              <a:t> </a:t>
            </a:r>
          </a:p>
          <a:p>
            <a:pPr marL="0" indent="0">
              <a:buNone/>
            </a:pP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dirty="0">
                <a:sym typeface="Symbol" panose="05050102010706020507" pitchFamily="18" charset="2"/>
              </a:rPr>
              <a:t> + 1 </a:t>
            </a:r>
          </a:p>
          <a:p>
            <a:pPr marL="0" indent="0">
              <a:buNone/>
            </a:pPr>
            <a:r>
              <a:rPr lang="en-US" altLang="en-US" sz="2400" dirty="0">
                <a:sym typeface="Symbol" panose="05050102010706020507" pitchFamily="18" charset="2"/>
              </a:rPr>
              <a:t>			= 2(2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 + 1</a:t>
            </a:r>
          </a:p>
          <a:p>
            <a:pPr marL="0" indent="0">
              <a:buNone/>
            </a:pPr>
            <a:r>
              <a:rPr lang="en-US" altLang="en-US" sz="2400" dirty="0">
                <a:sym typeface="Symbol" panose="05050102010706020507" pitchFamily="18" charset="2"/>
              </a:rPr>
              <a:t>			  </a:t>
            </a:r>
            <a:r>
              <a:rPr lang="en-US" altLang="en-US" sz="2400" i="1" dirty="0">
                <a:sym typeface="Symbol" panose="05050102010706020507" pitchFamily="18" charset="2"/>
              </a:rPr>
              <a:t>n</a:t>
            </a:r>
            <a:r>
              <a:rPr lang="en-US" altLang="en-US" sz="2400" i="1"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k </a:t>
            </a:r>
            <a:r>
              <a:rPr lang="en-US" altLang="en-US" sz="2400" dirty="0">
                <a:sym typeface="Symbol" panose="05050102010706020507" pitchFamily="18" charset="2"/>
              </a:rPr>
              <a:t>+ 1	where </a:t>
            </a:r>
            <a:r>
              <a:rPr lang="en-US" altLang="en-US" sz="2400" i="1" dirty="0">
                <a:sym typeface="Symbol" panose="05050102010706020507" pitchFamily="18" charset="2"/>
              </a:rPr>
              <a:t>k</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 </a:t>
            </a:r>
            <a:r>
              <a:rPr lang="en-US" altLang="en-US" sz="2400" i="1" dirty="0">
                <a:sym typeface="Symbol" panose="05050102010706020507" pitchFamily="18" charset="2"/>
              </a:rPr>
              <a:t>k</a:t>
            </a:r>
            <a:r>
              <a:rPr lang="en-US" altLang="en-US" sz="2400" dirty="0">
                <a:sym typeface="Symbol" panose="05050102010706020507" pitchFamily="18" charset="2"/>
              </a:rPr>
              <a:t>  ℕ. </a:t>
            </a:r>
            <a:br>
              <a:rPr lang="en-US" altLang="en-US" sz="2400" dirty="0">
                <a:sym typeface="Symbol" panose="05050102010706020507" pitchFamily="18" charset="2"/>
              </a:rPr>
            </a:br>
            <a:r>
              <a:rPr lang="en-US" altLang="en-US" sz="2400" dirty="0">
                <a:sym typeface="Symbol" panose="05050102010706020507" pitchFamily="18" charset="2"/>
              </a:rPr>
              <a:t>			Thus, </a:t>
            </a:r>
            <a:r>
              <a:rPr lang="en-US" altLang="en-US" sz="2400" i="1" dirty="0">
                <a:sym typeface="Symbol" panose="05050102010706020507" pitchFamily="18" charset="2"/>
              </a:rPr>
              <a:t>n</a:t>
            </a:r>
            <a:r>
              <a:rPr lang="en-US" altLang="en-US" sz="2400" i="1" baseline="30000" dirty="0">
                <a:sym typeface="Symbol" panose="05050102010706020507" pitchFamily="18" charset="2"/>
              </a:rPr>
              <a:t>2</a:t>
            </a:r>
            <a:r>
              <a:rPr lang="en-US" altLang="en-US" sz="2400" dirty="0">
                <a:sym typeface="Symbol" panose="05050102010706020507" pitchFamily="18" charset="2"/>
              </a:rPr>
              <a:t> is odd.			(Show ~ </a:t>
            </a:r>
            <a:r>
              <a:rPr lang="en-US" altLang="en-US" sz="2400" i="1" dirty="0">
                <a:sym typeface="Symbol" panose="05050102010706020507" pitchFamily="18" charset="2"/>
              </a:rPr>
              <a:t>P</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Therefore, we have a contradiction, and so </a:t>
            </a:r>
            <a:r>
              <a:rPr lang="en-US" altLang="en-US" sz="2400" i="1" dirty="0">
                <a:sym typeface="Symbol" panose="05050102010706020507" pitchFamily="18" charset="2"/>
              </a:rPr>
              <a:t>n</a:t>
            </a:r>
            <a:r>
              <a:rPr lang="en-US" altLang="en-US" sz="2400" dirty="0">
                <a:sym typeface="Symbol" panose="05050102010706020507" pitchFamily="18" charset="2"/>
              </a:rPr>
              <a:t> is even.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9603">
                                            <p:txEl>
                                              <p:pRg st="1" end="1"/>
                                            </p:txEl>
                                          </p:spTgt>
                                        </p:tgtEl>
                                        <p:attrNameLst>
                                          <p:attrName>style.visibility</p:attrName>
                                        </p:attrNameLst>
                                      </p:cBhvr>
                                      <p:to>
                                        <p:strVal val="visible"/>
                                      </p:to>
                                    </p:set>
                                    <p:animEffect transition="in" filter="box(in)">
                                      <p:cBhvr>
                                        <p:cTn id="7" dur="500"/>
                                        <p:tgtEl>
                                          <p:spTgt spid="4096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9603">
                                            <p:txEl>
                                              <p:pRg st="2" end="2"/>
                                            </p:txEl>
                                          </p:spTgt>
                                        </p:tgtEl>
                                        <p:attrNameLst>
                                          <p:attrName>style.visibility</p:attrName>
                                        </p:attrNameLst>
                                      </p:cBhvr>
                                      <p:to>
                                        <p:strVal val="visible"/>
                                      </p:to>
                                    </p:set>
                                    <p:animEffect transition="in" filter="box(in)">
                                      <p:cBhvr>
                                        <p:cTn id="12" dur="500"/>
                                        <p:tgtEl>
                                          <p:spTgt spid="4096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9603">
                                            <p:txEl>
                                              <p:pRg st="3" end="3"/>
                                            </p:txEl>
                                          </p:spTgt>
                                        </p:tgtEl>
                                        <p:attrNameLst>
                                          <p:attrName>style.visibility</p:attrName>
                                        </p:attrNameLst>
                                      </p:cBhvr>
                                      <p:to>
                                        <p:strVal val="visible"/>
                                      </p:to>
                                    </p:set>
                                    <p:animEffect transition="in" filter="box(in)">
                                      <p:cBhvr>
                                        <p:cTn id="17" dur="500"/>
                                        <p:tgtEl>
                                          <p:spTgt spid="40960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09603">
                                            <p:txEl>
                                              <p:pRg st="4" end="4"/>
                                            </p:txEl>
                                          </p:spTgt>
                                        </p:tgtEl>
                                        <p:attrNameLst>
                                          <p:attrName>style.visibility</p:attrName>
                                        </p:attrNameLst>
                                      </p:cBhvr>
                                      <p:to>
                                        <p:strVal val="visible"/>
                                      </p:to>
                                    </p:set>
                                    <p:animEffect transition="in" filter="box(in)">
                                      <p:cBhvr>
                                        <p:cTn id="22" dur="500"/>
                                        <p:tgtEl>
                                          <p:spTgt spid="40960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09603">
                                            <p:txEl>
                                              <p:pRg st="5" end="5"/>
                                            </p:txEl>
                                          </p:spTgt>
                                        </p:tgtEl>
                                        <p:attrNameLst>
                                          <p:attrName>style.visibility</p:attrName>
                                        </p:attrNameLst>
                                      </p:cBhvr>
                                      <p:to>
                                        <p:strVal val="visible"/>
                                      </p:to>
                                    </p:set>
                                    <p:animEffect transition="in" filter="box(in)">
                                      <p:cBhvr>
                                        <p:cTn id="27" dur="500"/>
                                        <p:tgtEl>
                                          <p:spTgt spid="40960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09603">
                                            <p:txEl>
                                              <p:pRg st="6" end="6"/>
                                            </p:txEl>
                                          </p:spTgt>
                                        </p:tgtEl>
                                        <p:attrNameLst>
                                          <p:attrName>style.visibility</p:attrName>
                                        </p:attrNameLst>
                                      </p:cBhvr>
                                      <p:to>
                                        <p:strVal val="visible"/>
                                      </p:to>
                                    </p:set>
                                    <p:animEffect transition="in" filter="box(in)">
                                      <p:cBhvr>
                                        <p:cTn id="32" dur="500"/>
                                        <p:tgtEl>
                                          <p:spTgt spid="40960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960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0960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90A828D6-7832-48D6-AD1A-B0D5584A3F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B758C5D-31A9-4995-9D67-75E1CB216EC6}" type="slidenum">
              <a:rPr lang="en-GB" altLang="en-US" sz="1400">
                <a:latin typeface="Arial" panose="020B0604020202020204" pitchFamily="34" charset="0"/>
                <a:cs typeface="Arial" panose="020B0604020202020204" pitchFamily="34" charset="0"/>
              </a:rPr>
              <a:pPr>
                <a:spcBef>
                  <a:spcPct val="0"/>
                </a:spcBef>
                <a:buFontTx/>
                <a:buNone/>
              </a:pPr>
              <a:t>45</a:t>
            </a:fld>
            <a:endParaRPr lang="en-GB" altLang="en-US" sz="1400">
              <a:latin typeface="Arial" panose="020B0604020202020204" pitchFamily="34" charset="0"/>
              <a:cs typeface="Arial" panose="020B0604020202020204" pitchFamily="34" charset="0"/>
            </a:endParaRPr>
          </a:p>
        </p:txBody>
      </p:sp>
      <p:sp>
        <p:nvSpPr>
          <p:cNvPr id="54275" name="Rectangle 2">
            <a:extLst>
              <a:ext uri="{FF2B5EF4-FFF2-40B4-BE49-F238E27FC236}">
                <a16:creationId xmlns:a16="http://schemas.microsoft.com/office/drawing/2014/main" id="{9648964C-BB1D-437B-8745-92FDB9950CE8}"/>
              </a:ext>
            </a:extLst>
          </p:cNvPr>
          <p:cNvSpPr>
            <a:spLocks noGrp="1" noChangeArrowheads="1"/>
          </p:cNvSpPr>
          <p:nvPr>
            <p:ph type="title"/>
          </p:nvPr>
        </p:nvSpPr>
        <p:spPr>
          <a:xfrm>
            <a:off x="1981200" y="463550"/>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rPr>
              <a:t>Example:</a:t>
            </a:r>
            <a:endPar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10627" name="Rectangle 3">
            <a:extLst>
              <a:ext uri="{FF2B5EF4-FFF2-40B4-BE49-F238E27FC236}">
                <a16:creationId xmlns:a16="http://schemas.microsoft.com/office/drawing/2014/main" id="{558B2673-E4BA-4650-953D-8734A8516D79}"/>
              </a:ext>
            </a:extLst>
          </p:cNvPr>
          <p:cNvSpPr>
            <a:spLocks noGrp="1" noChangeArrowheads="1"/>
          </p:cNvSpPr>
          <p:nvPr>
            <p:ph type="body" idx="1"/>
          </p:nvPr>
        </p:nvSpPr>
        <p:spPr>
          <a:xfrm>
            <a:off x="1981200" y="1771651"/>
            <a:ext cx="8229600" cy="4530725"/>
          </a:xfrm>
        </p:spPr>
        <p:txBody>
          <a:bodyPr>
            <a:normAutofit lnSpcReduction="10000"/>
          </a:bodyPr>
          <a:lstStyle/>
          <a:p>
            <a:pPr marL="0" indent="0">
              <a:lnSpc>
                <a:spcPct val="80000"/>
              </a:lnSpc>
              <a:buNone/>
            </a:pPr>
            <a:r>
              <a:rPr lang="en-US" altLang="en-US" sz="2400" dirty="0">
                <a:sym typeface="Symbol" panose="05050102010706020507" pitchFamily="18" charset="2"/>
              </a:rPr>
              <a:t>Complete the following proof by contradiction that if </a:t>
            </a:r>
            <a:r>
              <a:rPr lang="en-US" altLang="en-US" sz="2400" i="1" dirty="0">
                <a:sym typeface="Symbol" panose="05050102010706020507" pitchFamily="18" charset="2"/>
              </a:rPr>
              <a:t>y</a:t>
            </a:r>
            <a:r>
              <a:rPr lang="en-US" altLang="en-US" sz="2400" dirty="0">
                <a:sym typeface="Symbol" panose="05050102010706020507" pitchFamily="18" charset="2"/>
              </a:rPr>
              <a:t> is irrational, then </a:t>
            </a:r>
            <a:r>
              <a:rPr lang="en-US" altLang="en-US" sz="2400" i="1" dirty="0">
                <a:sym typeface="Symbol" panose="05050102010706020507" pitchFamily="18" charset="2"/>
              </a:rPr>
              <a:t>y</a:t>
            </a:r>
            <a:r>
              <a:rPr lang="en-US" altLang="en-US" sz="2400" dirty="0">
                <a:sym typeface="Symbol" panose="05050102010706020507" pitchFamily="18" charset="2"/>
              </a:rPr>
              <a:t> + 7 is also irrational.</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Let </a:t>
            </a:r>
            <a:r>
              <a:rPr lang="en-US" altLang="en-US" sz="2400" i="1" dirty="0">
                <a:sym typeface="Symbol" panose="05050102010706020507" pitchFamily="18" charset="2"/>
              </a:rPr>
              <a:t>y</a:t>
            </a:r>
            <a:r>
              <a:rPr lang="en-US" altLang="en-US" sz="2400" dirty="0">
                <a:sym typeface="Symbol" panose="05050102010706020507" pitchFamily="18" charset="2"/>
              </a:rPr>
              <a:t> be an irrational number. Suppose </a:t>
            </a:r>
            <a:r>
              <a:rPr lang="en-US" altLang="en-US" sz="2400" i="1" dirty="0">
                <a:sym typeface="Symbol" panose="05050102010706020507" pitchFamily="18" charset="2"/>
              </a:rPr>
              <a:t>y</a:t>
            </a:r>
            <a:r>
              <a:rPr lang="en-US" altLang="en-US" sz="2400" dirty="0">
                <a:sym typeface="Symbol" panose="05050102010706020507" pitchFamily="18" charset="2"/>
              </a:rPr>
              <a:t> + 7 is rational.</a:t>
            </a:r>
          </a:p>
          <a:p>
            <a:pPr marL="0" indent="0">
              <a:lnSpc>
                <a:spcPct val="80000"/>
              </a:lnSpc>
              <a:buNone/>
            </a:pPr>
            <a:r>
              <a:rPr lang="en-US" altLang="en-US" sz="2400" dirty="0">
                <a:sym typeface="Symbol" panose="05050102010706020507" pitchFamily="18" charset="2"/>
              </a:rPr>
              <a:t>Therefore, </a:t>
            </a:r>
            <a:r>
              <a:rPr lang="en-US" altLang="en-US" sz="2400" i="1" dirty="0">
                <a:sym typeface="Symbol" panose="05050102010706020507" pitchFamily="18" charset="2"/>
              </a:rPr>
              <a:t>y</a:t>
            </a:r>
            <a:r>
              <a:rPr lang="en-US" altLang="en-US" sz="2400" dirty="0">
                <a:sym typeface="Symbol" panose="05050102010706020507" pitchFamily="18" charset="2"/>
              </a:rPr>
              <a:t> + 7 can be written as a fraction, that is </a:t>
            </a:r>
            <a:r>
              <a:rPr lang="en-US" altLang="en-US" sz="2400" i="1" dirty="0">
                <a:sym typeface="Symbol" panose="05050102010706020507" pitchFamily="18" charset="2"/>
              </a:rPr>
              <a:t>y</a:t>
            </a:r>
            <a:r>
              <a:rPr lang="en-US" altLang="en-US" sz="2400" dirty="0">
                <a:sym typeface="Symbol" panose="05050102010706020507" pitchFamily="18" charset="2"/>
              </a:rPr>
              <a:t> + 7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q</a:t>
            </a: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	where </a:t>
            </a:r>
            <a:r>
              <a:rPr lang="en-US" altLang="en-US" sz="2400" i="1" dirty="0">
                <a:sym typeface="Symbol" panose="05050102010706020507" pitchFamily="18" charset="2"/>
              </a:rPr>
              <a:t>p</a:t>
            </a:r>
            <a:r>
              <a:rPr lang="en-US" altLang="en-US" sz="2400" dirty="0">
                <a:sym typeface="Symbol" panose="05050102010706020507" pitchFamily="18" charset="2"/>
              </a:rPr>
              <a:t>, </a:t>
            </a:r>
            <a:r>
              <a:rPr lang="en-US" altLang="en-US" sz="2400" i="1" dirty="0">
                <a:sym typeface="Symbol" panose="05050102010706020507" pitchFamily="18" charset="2"/>
              </a:rPr>
              <a:t>q</a:t>
            </a:r>
            <a:r>
              <a:rPr lang="en-US" altLang="en-US" sz="2400" dirty="0">
                <a:sym typeface="Symbol" panose="05050102010706020507" pitchFamily="18" charset="2"/>
              </a:rPr>
              <a:t>  ℤ and </a:t>
            </a:r>
            <a:r>
              <a:rPr lang="en-US" altLang="en-US" sz="2400" i="1" dirty="0">
                <a:sym typeface="Symbol" panose="05050102010706020507" pitchFamily="18" charset="2"/>
              </a:rPr>
              <a:t>q</a:t>
            </a:r>
            <a:r>
              <a:rPr lang="en-US" altLang="en-US" sz="2400" dirty="0">
                <a:sym typeface="Symbol" panose="05050102010706020507" pitchFamily="18" charset="2"/>
              </a:rPr>
              <a:t>  0.</a:t>
            </a:r>
          </a:p>
          <a:p>
            <a:pPr marL="0" indent="0">
              <a:lnSpc>
                <a:spcPct val="80000"/>
              </a:lnSpc>
              <a:buNone/>
            </a:pPr>
            <a:r>
              <a:rPr lang="en-US" altLang="en-US" sz="2400" dirty="0">
                <a:sym typeface="Symbol" panose="05050102010706020507" pitchFamily="18" charset="2"/>
              </a:rPr>
              <a:t>Simplifying, </a:t>
            </a:r>
          </a:p>
          <a:p>
            <a:pPr marL="0" indent="0">
              <a:lnSpc>
                <a:spcPct val="80000"/>
              </a:lnSpc>
              <a:buNone/>
            </a:pPr>
            <a:r>
              <a:rPr lang="en-US" altLang="en-US" sz="2400" dirty="0">
                <a:sym typeface="Symbol" panose="05050102010706020507" pitchFamily="18" charset="2"/>
              </a:rPr>
              <a:t>		</a:t>
            </a:r>
            <a:r>
              <a:rPr lang="en-US" altLang="en-US" sz="2400" i="1" dirty="0">
                <a:sym typeface="Symbol" panose="05050102010706020507" pitchFamily="18" charset="2"/>
              </a:rPr>
              <a:t>y</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i="1" dirty="0">
                <a:sym typeface="Symbol" panose="05050102010706020507" pitchFamily="18" charset="2"/>
              </a:rPr>
              <a:t>q</a:t>
            </a:r>
            <a:r>
              <a:rPr lang="en-US" altLang="en-US" sz="2400" dirty="0">
                <a:sym typeface="Symbol" panose="05050102010706020507" pitchFamily="18" charset="2"/>
              </a:rPr>
              <a:t>) - 7 </a:t>
            </a:r>
          </a:p>
          <a:p>
            <a:pPr marL="0" indent="0">
              <a:lnSpc>
                <a:spcPct val="80000"/>
              </a:lnSpc>
              <a:buNone/>
            </a:pPr>
            <a:r>
              <a:rPr lang="en-US" altLang="en-US" sz="2400" dirty="0">
                <a:sym typeface="Symbol" panose="05050102010706020507" pitchFamily="18" charset="2"/>
              </a:rPr>
              <a:t>			= (</a:t>
            </a:r>
            <a:r>
              <a:rPr lang="en-US" altLang="en-US" sz="2400" i="1" dirty="0">
                <a:sym typeface="Symbol" panose="05050102010706020507" pitchFamily="18" charset="2"/>
              </a:rPr>
              <a:t>p -7q</a:t>
            </a:r>
            <a:r>
              <a:rPr lang="en-US" altLang="en-US" sz="2400" dirty="0">
                <a:sym typeface="Symbol" panose="05050102010706020507" pitchFamily="18" charset="2"/>
              </a:rPr>
              <a:t>)/</a:t>
            </a:r>
            <a:r>
              <a:rPr lang="en-US" altLang="en-US" sz="2400" i="1" dirty="0">
                <a:sym typeface="Symbol" panose="05050102010706020507" pitchFamily="18" charset="2"/>
              </a:rPr>
              <a:t>q</a:t>
            </a:r>
          </a:p>
          <a:p>
            <a:pPr marL="0" indent="0">
              <a:lnSpc>
                <a:spcPct val="80000"/>
              </a:lnSpc>
              <a:buNone/>
            </a:pPr>
            <a:r>
              <a:rPr lang="en-US" altLang="en-US" sz="2400" i="1" dirty="0">
                <a:sym typeface="Symbol" panose="05050102010706020507" pitchFamily="18" charset="2"/>
              </a:rPr>
              <a:t>			= k</a:t>
            </a:r>
            <a:r>
              <a:rPr lang="en-US" altLang="en-US" sz="2400" dirty="0">
                <a:sym typeface="Symbol" panose="05050102010706020507" pitchFamily="18" charset="2"/>
              </a:rPr>
              <a:t>/</a:t>
            </a:r>
            <a:r>
              <a:rPr lang="en-US" altLang="en-US" sz="2400" i="1" dirty="0">
                <a:sym typeface="Symbol" panose="05050102010706020507" pitchFamily="18" charset="2"/>
              </a:rPr>
              <a:t>q</a:t>
            </a:r>
            <a:r>
              <a:rPr lang="en-US" altLang="en-US" sz="2400" dirty="0">
                <a:sym typeface="Symbol" panose="05050102010706020507" pitchFamily="18" charset="2"/>
              </a:rPr>
              <a:t>		where </a:t>
            </a:r>
            <a:r>
              <a:rPr lang="en-US" altLang="en-US" sz="2400" i="1" dirty="0">
                <a:sym typeface="Symbol" panose="05050102010706020507" pitchFamily="18" charset="2"/>
              </a:rPr>
              <a:t>k</a:t>
            </a:r>
            <a:r>
              <a:rPr lang="en-US" altLang="en-US" sz="2400" dirty="0">
                <a:sym typeface="Symbol" panose="05050102010706020507" pitchFamily="18" charset="2"/>
              </a:rPr>
              <a:t> = </a:t>
            </a:r>
            <a:r>
              <a:rPr lang="en-US" altLang="en-US" sz="2400" i="1" dirty="0">
                <a:sym typeface="Symbol" panose="05050102010706020507" pitchFamily="18" charset="2"/>
              </a:rPr>
              <a:t>p -7q</a:t>
            </a:r>
            <a:r>
              <a:rPr lang="en-US" altLang="en-US" sz="2400" dirty="0">
                <a:sym typeface="Symbol" panose="05050102010706020507" pitchFamily="18" charset="2"/>
              </a:rPr>
              <a:t>, </a:t>
            </a:r>
            <a:r>
              <a:rPr lang="en-US" altLang="en-US" sz="2400" i="1" dirty="0">
                <a:sym typeface="Symbol" panose="05050102010706020507" pitchFamily="18" charset="2"/>
              </a:rPr>
              <a:t>k</a:t>
            </a:r>
            <a:r>
              <a:rPr lang="en-US" altLang="en-US" sz="2400" dirty="0">
                <a:sym typeface="Symbol" panose="05050102010706020507" pitchFamily="18" charset="2"/>
              </a:rPr>
              <a:t>  ℤ.</a:t>
            </a:r>
          </a:p>
          <a:p>
            <a:pPr marL="0" indent="0">
              <a:lnSpc>
                <a:spcPct val="80000"/>
              </a:lnSpc>
              <a:buNone/>
            </a:pPr>
            <a:r>
              <a:rPr lang="en-US" altLang="zh-CN" sz="2400" dirty="0">
                <a:ea typeface="宋体" panose="02010600030101010101" pitchFamily="2" charset="-122"/>
                <a:sym typeface="Symbol" panose="05050102010706020507" pitchFamily="18" charset="2"/>
              </a:rPr>
              <a:t>Thus, </a:t>
            </a:r>
            <a:r>
              <a:rPr lang="en-US" altLang="zh-CN" sz="2400" i="1" dirty="0">
                <a:ea typeface="宋体" panose="02010600030101010101" pitchFamily="2" charset="-122"/>
                <a:sym typeface="Symbol" panose="05050102010706020507" pitchFamily="18" charset="2"/>
              </a:rPr>
              <a:t>y</a:t>
            </a:r>
            <a:r>
              <a:rPr lang="en-US" altLang="zh-CN" sz="2400" dirty="0">
                <a:ea typeface="宋体" panose="02010600030101010101" pitchFamily="2" charset="-122"/>
                <a:sym typeface="Symbol" panose="05050102010706020507" pitchFamily="18" charset="2"/>
              </a:rPr>
              <a:t> is rational, which is a contradiction.</a:t>
            </a:r>
          </a:p>
          <a:p>
            <a:pPr marL="0" indent="0">
              <a:lnSpc>
                <a:spcPct val="80000"/>
              </a:lnSpc>
              <a:buNone/>
            </a:pPr>
            <a:r>
              <a:rPr lang="en-US" altLang="zh-CN" sz="2400" dirty="0">
                <a:ea typeface="宋体" panose="02010600030101010101" pitchFamily="2" charset="-122"/>
                <a:sym typeface="Symbol" panose="05050102010706020507" pitchFamily="18" charset="2"/>
              </a:rPr>
              <a:t>Therefore, </a:t>
            </a:r>
            <a:r>
              <a:rPr lang="en-US" altLang="en-US" sz="2400" dirty="0">
                <a:sym typeface="Symbol" panose="05050102010706020507" pitchFamily="18" charset="2"/>
              </a:rPr>
              <a:t>if </a:t>
            </a:r>
            <a:r>
              <a:rPr lang="en-US" altLang="en-US" sz="2400" i="1" dirty="0">
                <a:sym typeface="Symbol" panose="05050102010706020507" pitchFamily="18" charset="2"/>
              </a:rPr>
              <a:t>y</a:t>
            </a:r>
            <a:r>
              <a:rPr lang="en-US" altLang="en-US" sz="2400" dirty="0">
                <a:sym typeface="Symbol" panose="05050102010706020507" pitchFamily="18" charset="2"/>
              </a:rPr>
              <a:t> is irrational, then </a:t>
            </a:r>
            <a:r>
              <a:rPr lang="en-US" altLang="en-US" sz="2400" i="1" dirty="0">
                <a:sym typeface="Symbol" panose="05050102010706020507" pitchFamily="18" charset="2"/>
              </a:rPr>
              <a:t>y</a:t>
            </a:r>
            <a:r>
              <a:rPr lang="en-US" altLang="en-US" sz="2400" dirty="0">
                <a:sym typeface="Symbol" panose="05050102010706020507" pitchFamily="18" charset="2"/>
              </a:rPr>
              <a:t> + 7 is also irrational.</a:t>
            </a:r>
            <a:r>
              <a:rPr lang="en-US" altLang="zh-CN" sz="2400" dirty="0">
                <a:ea typeface="宋体" panose="02010600030101010101" pitchFamily="2" charset="-122"/>
                <a:sym typeface="Symbol" panose="05050102010706020507" pitchFamily="18" charset="2"/>
              </a:rPr>
              <a:t> </a:t>
            </a:r>
            <a:r>
              <a:rPr lang="en-US" altLang="en-US" sz="2400" dirty="0">
                <a:sym typeface="Symbol" panose="05050102010706020507"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0627">
                                            <p:txEl>
                                              <p:pRg st="2" end="2"/>
                                            </p:txEl>
                                          </p:spTgt>
                                        </p:tgtEl>
                                        <p:attrNameLst>
                                          <p:attrName>style.visibility</p:attrName>
                                        </p:attrNameLst>
                                      </p:cBhvr>
                                      <p:to>
                                        <p:strVal val="visible"/>
                                      </p:to>
                                    </p:set>
                                    <p:animEffect transition="in" filter="box(in)">
                                      <p:cBhvr>
                                        <p:cTn id="7" dur="500"/>
                                        <p:tgtEl>
                                          <p:spTgt spid="41062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0627">
                                            <p:txEl>
                                              <p:pRg st="3" end="3"/>
                                            </p:txEl>
                                          </p:spTgt>
                                        </p:tgtEl>
                                        <p:attrNameLst>
                                          <p:attrName>style.visibility</p:attrName>
                                        </p:attrNameLst>
                                      </p:cBhvr>
                                      <p:to>
                                        <p:strVal val="visible"/>
                                      </p:to>
                                    </p:set>
                                    <p:animEffect transition="in" filter="box(in)">
                                      <p:cBhvr>
                                        <p:cTn id="12" dur="500"/>
                                        <p:tgtEl>
                                          <p:spTgt spid="410627">
                                            <p:txEl>
                                              <p:pRg st="3" end="3"/>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410627">
                                            <p:txEl>
                                              <p:pRg st="4" end="4"/>
                                            </p:txEl>
                                          </p:spTgt>
                                        </p:tgtEl>
                                        <p:attrNameLst>
                                          <p:attrName>style.visibility</p:attrName>
                                        </p:attrNameLst>
                                      </p:cBhvr>
                                      <p:to>
                                        <p:strVal val="visible"/>
                                      </p:to>
                                    </p:set>
                                    <p:animEffect transition="in" filter="box(in)">
                                      <p:cBhvr>
                                        <p:cTn id="15" dur="500"/>
                                        <p:tgtEl>
                                          <p:spTgt spid="410627">
                                            <p:txEl>
                                              <p:pRg st="4" end="4"/>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410627">
                                            <p:txEl>
                                              <p:pRg st="5" end="5"/>
                                            </p:txEl>
                                          </p:spTgt>
                                        </p:tgtEl>
                                        <p:attrNameLst>
                                          <p:attrName>style.visibility</p:attrName>
                                        </p:attrNameLst>
                                      </p:cBhvr>
                                      <p:to>
                                        <p:strVal val="visible"/>
                                      </p:to>
                                    </p:set>
                                    <p:animEffect transition="in" filter="box(in)">
                                      <p:cBhvr>
                                        <p:cTn id="20" dur="500"/>
                                        <p:tgtEl>
                                          <p:spTgt spid="410627">
                                            <p:txEl>
                                              <p:pRg st="5" end="5"/>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410627">
                                            <p:txEl>
                                              <p:pRg st="6" end="6"/>
                                            </p:txEl>
                                          </p:spTgt>
                                        </p:tgtEl>
                                        <p:attrNameLst>
                                          <p:attrName>style.visibility</p:attrName>
                                        </p:attrNameLst>
                                      </p:cBhvr>
                                      <p:to>
                                        <p:strVal val="visible"/>
                                      </p:to>
                                    </p:set>
                                    <p:animEffect transition="in" filter="box(in)">
                                      <p:cBhvr>
                                        <p:cTn id="23" dur="500"/>
                                        <p:tgtEl>
                                          <p:spTgt spid="410627">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410627">
                                            <p:txEl>
                                              <p:pRg st="7" end="7"/>
                                            </p:txEl>
                                          </p:spTgt>
                                        </p:tgtEl>
                                        <p:attrNameLst>
                                          <p:attrName>style.visibility</p:attrName>
                                        </p:attrNameLst>
                                      </p:cBhvr>
                                      <p:to>
                                        <p:strVal val="visible"/>
                                      </p:to>
                                    </p:set>
                                    <p:animEffect transition="in" filter="box(in)">
                                      <p:cBhvr>
                                        <p:cTn id="28" dur="500"/>
                                        <p:tgtEl>
                                          <p:spTgt spid="410627">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410627">
                                            <p:txEl>
                                              <p:pRg st="8" end="8"/>
                                            </p:txEl>
                                          </p:spTgt>
                                        </p:tgtEl>
                                        <p:attrNameLst>
                                          <p:attrName>style.visibility</p:attrName>
                                        </p:attrNameLst>
                                      </p:cBhvr>
                                      <p:to>
                                        <p:strVal val="visible"/>
                                      </p:to>
                                    </p:set>
                                    <p:animEffect transition="in" filter="box(in)">
                                      <p:cBhvr>
                                        <p:cTn id="33" dur="500"/>
                                        <p:tgtEl>
                                          <p:spTgt spid="410627">
                                            <p:txEl>
                                              <p:pRg st="8" end="8"/>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nodeType="clickEffect">
                                  <p:stCondLst>
                                    <p:cond delay="0"/>
                                  </p:stCondLst>
                                  <p:childTnLst>
                                    <p:set>
                                      <p:cBhvr>
                                        <p:cTn id="37" dur="1" fill="hold">
                                          <p:stCondLst>
                                            <p:cond delay="0"/>
                                          </p:stCondLst>
                                        </p:cTn>
                                        <p:tgtEl>
                                          <p:spTgt spid="410627">
                                            <p:txEl>
                                              <p:pRg st="9" end="9"/>
                                            </p:txEl>
                                          </p:spTgt>
                                        </p:tgtEl>
                                        <p:attrNameLst>
                                          <p:attrName>style.visibility</p:attrName>
                                        </p:attrNameLst>
                                      </p:cBhvr>
                                      <p:to>
                                        <p:strVal val="visible"/>
                                      </p:to>
                                    </p:set>
                                    <p:animEffect transition="in" filter="box(in)">
                                      <p:cBhvr>
                                        <p:cTn id="38" dur="500"/>
                                        <p:tgtEl>
                                          <p:spTgt spid="410627">
                                            <p:txEl>
                                              <p:pRg st="9" end="9"/>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410627">
                                            <p:txEl>
                                              <p:pRg st="10" end="10"/>
                                            </p:txEl>
                                          </p:spTgt>
                                        </p:tgtEl>
                                        <p:attrNameLst>
                                          <p:attrName>style.visibility</p:attrName>
                                        </p:attrNameLst>
                                      </p:cBhvr>
                                      <p:to>
                                        <p:strVal val="visible"/>
                                      </p:to>
                                    </p:set>
                                    <p:animEffect transition="in" filter="box(in)">
                                      <p:cBhvr>
                                        <p:cTn id="43" dur="500"/>
                                        <p:tgtEl>
                                          <p:spTgt spid="41062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EA44F1E4-9F54-4E12-A7D7-C98C242E3E2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ECB8C25-38B9-4FE5-9267-2CA6C22E8652}" type="slidenum">
              <a:rPr lang="en-GB" altLang="en-US" sz="1400">
                <a:latin typeface="Arial" panose="020B0604020202020204" pitchFamily="34" charset="0"/>
                <a:cs typeface="Arial" panose="020B0604020202020204" pitchFamily="34" charset="0"/>
              </a:rPr>
              <a:pPr>
                <a:spcBef>
                  <a:spcPct val="0"/>
                </a:spcBef>
                <a:buFontTx/>
                <a:buNone/>
              </a:pPr>
              <a:t>46</a:t>
            </a:fld>
            <a:endParaRPr lang="en-GB" altLang="en-US" sz="1400">
              <a:latin typeface="Arial" panose="020B0604020202020204" pitchFamily="34" charset="0"/>
              <a:cs typeface="Arial" panose="020B0604020202020204" pitchFamily="34" charset="0"/>
            </a:endParaRPr>
          </a:p>
        </p:txBody>
      </p:sp>
      <p:sp>
        <p:nvSpPr>
          <p:cNvPr id="55299" name="Rectangle 2">
            <a:extLst>
              <a:ext uri="{FF2B5EF4-FFF2-40B4-BE49-F238E27FC236}">
                <a16:creationId xmlns:a16="http://schemas.microsoft.com/office/drawing/2014/main" id="{17A0D818-8CCD-4858-A2A0-5B71A316CDAB}"/>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Proof By Contrapositive: Method</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16771" name="Rectangle 3">
            <a:extLst>
              <a:ext uri="{FF2B5EF4-FFF2-40B4-BE49-F238E27FC236}">
                <a16:creationId xmlns:a16="http://schemas.microsoft.com/office/drawing/2014/main" id="{89C458A4-D932-4DA8-A23C-F986F9AFA84D}"/>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t>Given the statement to be proved in the form </a:t>
            </a:r>
            <a:r>
              <a:rPr lang="en-US" altLang="en-US" sz="2400" i="1" dirty="0"/>
              <a:t>P</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Q</a:t>
            </a:r>
            <a:r>
              <a:rPr lang="en-US" altLang="en-US" sz="2400" dirty="0">
                <a:sym typeface="Symbol" panose="05050102010706020507" pitchFamily="18" charset="2"/>
              </a:rPr>
              <a:t>. </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Rewrite the statement in the contrapositive form ~ </a:t>
            </a:r>
            <a:r>
              <a:rPr lang="en-US" altLang="en-US" sz="2400" i="1" dirty="0">
                <a:sym typeface="Symbol" panose="05050102010706020507" pitchFamily="18" charset="2"/>
              </a:rPr>
              <a:t>Q</a:t>
            </a:r>
            <a:r>
              <a:rPr lang="en-US" altLang="en-US" sz="2400" dirty="0">
                <a:sym typeface="Symbol" panose="05050102010706020507" pitchFamily="18" charset="2"/>
              </a:rPr>
              <a:t>  ~ </a:t>
            </a:r>
            <a:r>
              <a:rPr lang="en-US" altLang="en-US" sz="2400" i="1" dirty="0">
                <a:sym typeface="Symbol" panose="05050102010706020507" pitchFamily="18" charset="2"/>
              </a:rPr>
              <a:t>P</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Prove the contrapositive by a direct proof.</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In other words, we assume the negation of what we are trying to prove (~ </a:t>
            </a:r>
            <a:r>
              <a:rPr lang="en-US" altLang="en-US" sz="2400" i="1" dirty="0">
                <a:sym typeface="Symbol" panose="05050102010706020507" pitchFamily="18" charset="2"/>
              </a:rPr>
              <a:t>Q</a:t>
            </a:r>
            <a:r>
              <a:rPr lang="en-US" altLang="en-US" sz="2400" dirty="0">
                <a:sym typeface="Symbol" panose="05050102010706020507" pitchFamily="18" charset="2"/>
              </a:rPr>
              <a:t>), then use a logical argument to prove ~ </a:t>
            </a:r>
            <a:r>
              <a:rPr lang="en-US" altLang="en-US" sz="2400" i="1" dirty="0">
                <a:sym typeface="Symbol" panose="05050102010706020507" pitchFamily="18" charset="2"/>
              </a:rPr>
              <a:t>P</a:t>
            </a:r>
            <a:r>
              <a:rPr lang="en-US" altLang="en-US" sz="2400" dirty="0">
                <a:sym typeface="Symbol" panose="05050102010706020507" pitchFamily="18" charset="2"/>
              </a:rPr>
              <a:t>.</a:t>
            </a:r>
          </a:p>
          <a:p>
            <a:pPr marL="0" indent="0">
              <a:buNone/>
            </a:pPr>
            <a:endParaRPr lang="en-US" altLang="en-US" sz="24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6771">
                                            <p:txEl>
                                              <p:pRg st="2" end="2"/>
                                            </p:txEl>
                                          </p:spTgt>
                                        </p:tgtEl>
                                        <p:attrNameLst>
                                          <p:attrName>style.visibility</p:attrName>
                                        </p:attrNameLst>
                                      </p:cBhvr>
                                      <p:to>
                                        <p:strVal val="visible"/>
                                      </p:to>
                                    </p:set>
                                    <p:animEffect transition="in" filter="box(in)">
                                      <p:cBhvr>
                                        <p:cTn id="7" dur="500"/>
                                        <p:tgtEl>
                                          <p:spTgt spid="41677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6771">
                                            <p:txEl>
                                              <p:pRg st="4" end="4"/>
                                            </p:txEl>
                                          </p:spTgt>
                                        </p:tgtEl>
                                        <p:attrNameLst>
                                          <p:attrName>style.visibility</p:attrName>
                                        </p:attrNameLst>
                                      </p:cBhvr>
                                      <p:to>
                                        <p:strVal val="visible"/>
                                      </p:to>
                                    </p:set>
                                    <p:animEffect transition="in" filter="box(in)">
                                      <p:cBhvr>
                                        <p:cTn id="12" dur="500"/>
                                        <p:tgtEl>
                                          <p:spTgt spid="416771">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6771">
                                            <p:txEl>
                                              <p:pRg st="6" end="6"/>
                                            </p:txEl>
                                          </p:spTgt>
                                        </p:tgtEl>
                                        <p:attrNameLst>
                                          <p:attrName>style.visibility</p:attrName>
                                        </p:attrNameLst>
                                      </p:cBhvr>
                                      <p:to>
                                        <p:strVal val="visible"/>
                                      </p:to>
                                    </p:set>
                                    <p:animEffect transition="in" filter="box(in)">
                                      <p:cBhvr>
                                        <p:cTn id="17" dur="500"/>
                                        <p:tgtEl>
                                          <p:spTgt spid="4167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9A0184F7-E00F-4EDC-ACEB-7B462A4D62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A05713AB-293A-4D63-ACC3-D55ED12F60DA}" type="slidenum">
              <a:rPr lang="en-GB" altLang="en-US" sz="1400">
                <a:latin typeface="Arial" panose="020B0604020202020204" pitchFamily="34" charset="0"/>
                <a:cs typeface="Arial" panose="020B0604020202020204" pitchFamily="34" charset="0"/>
              </a:rPr>
              <a:pPr>
                <a:spcBef>
                  <a:spcPct val="0"/>
                </a:spcBef>
                <a:buFontTx/>
                <a:buNone/>
              </a:pPr>
              <a:t>47</a:t>
            </a:fld>
            <a:endParaRPr lang="en-GB" altLang="en-US" sz="1400">
              <a:latin typeface="Arial" panose="020B0604020202020204" pitchFamily="34" charset="0"/>
              <a:cs typeface="Arial" panose="020B0604020202020204" pitchFamily="34" charset="0"/>
            </a:endParaRPr>
          </a:p>
        </p:txBody>
      </p:sp>
      <p:sp>
        <p:nvSpPr>
          <p:cNvPr id="56323" name="Rectangle 2">
            <a:extLst>
              <a:ext uri="{FF2B5EF4-FFF2-40B4-BE49-F238E27FC236}">
                <a16:creationId xmlns:a16="http://schemas.microsoft.com/office/drawing/2014/main" id="{A8726BEB-1B86-4B0D-8BC2-C2FBCAC3B1A4}"/>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rPr>
              <a:t>Proof By Contrapositive: Example</a:t>
            </a:r>
            <a:endPar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18819" name="Rectangle 3">
            <a:extLst>
              <a:ext uri="{FF2B5EF4-FFF2-40B4-BE49-F238E27FC236}">
                <a16:creationId xmlns:a16="http://schemas.microsoft.com/office/drawing/2014/main" id="{3333161F-2D6C-4F3E-8658-58B00B31AA54}"/>
              </a:ext>
            </a:extLst>
          </p:cNvPr>
          <p:cNvSpPr>
            <a:spLocks noGrp="1" noChangeArrowheads="1"/>
          </p:cNvSpPr>
          <p:nvPr>
            <p:ph type="body" idx="1"/>
          </p:nvPr>
        </p:nvSpPr>
        <p:spPr>
          <a:xfrm>
            <a:off x="1752600" y="1606550"/>
            <a:ext cx="8229600" cy="4530725"/>
          </a:xfrm>
        </p:spPr>
        <p:txBody>
          <a:bodyPr>
            <a:normAutofit lnSpcReduction="10000"/>
          </a:bodyPr>
          <a:lstStyle/>
          <a:p>
            <a:pPr marL="0" indent="0">
              <a:buNone/>
            </a:pPr>
            <a:r>
              <a:rPr lang="en-US" altLang="en-US" sz="2400" dirty="0"/>
              <a:t>Prove for all integers </a:t>
            </a:r>
            <a:r>
              <a:rPr lang="en-US" altLang="en-US" sz="2400" i="1" dirty="0"/>
              <a:t>n</a:t>
            </a:r>
            <a:r>
              <a:rPr lang="en-US" altLang="en-US" sz="2400" dirty="0"/>
              <a:t>, if </a:t>
            </a:r>
            <a:r>
              <a:rPr lang="en-US" altLang="en-US" sz="2400" i="1" dirty="0"/>
              <a:t>n</a:t>
            </a:r>
            <a:r>
              <a:rPr lang="en-US" altLang="en-US" sz="2400" baseline="30000" dirty="0"/>
              <a:t>2</a:t>
            </a:r>
            <a:r>
              <a:rPr lang="en-US" altLang="en-US" sz="2400" dirty="0"/>
              <a:t> is even then </a:t>
            </a:r>
            <a:r>
              <a:rPr lang="en-US" altLang="en-US" sz="2400" i="1" dirty="0"/>
              <a:t>n</a:t>
            </a:r>
            <a:r>
              <a:rPr lang="en-US" altLang="en-US" sz="2400" dirty="0"/>
              <a:t> is even.</a:t>
            </a:r>
            <a:r>
              <a:rPr lang="en-US" altLang="en-US" sz="2400" dirty="0">
                <a:sym typeface="Symbol" panose="05050102010706020507" pitchFamily="18" charset="2"/>
              </a:rPr>
              <a:t> </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Rewrite the statement in the contrapositive form:</a:t>
            </a:r>
          </a:p>
          <a:p>
            <a:pPr marL="1365250" lvl="1">
              <a:buNone/>
            </a:pPr>
            <a:r>
              <a:rPr lang="en-US" altLang="en-US" sz="2400" dirty="0"/>
              <a:t>For all integers </a:t>
            </a:r>
            <a:r>
              <a:rPr lang="en-US" altLang="en-US" sz="2400" i="1" dirty="0"/>
              <a:t>n</a:t>
            </a:r>
            <a:r>
              <a:rPr lang="en-US" altLang="en-US" sz="2400" dirty="0"/>
              <a:t>, if </a:t>
            </a:r>
            <a:r>
              <a:rPr lang="en-US" altLang="en-US" sz="2400" i="1" dirty="0"/>
              <a:t>n</a:t>
            </a:r>
            <a:r>
              <a:rPr lang="en-US" altLang="en-US" sz="2400" dirty="0"/>
              <a:t> is odd then </a:t>
            </a:r>
            <a:r>
              <a:rPr lang="en-US" altLang="en-US" sz="2400" i="1" dirty="0"/>
              <a:t>n</a:t>
            </a:r>
            <a:r>
              <a:rPr lang="en-US" altLang="en-US" sz="2400" baseline="30000" dirty="0"/>
              <a:t>2</a:t>
            </a:r>
            <a:r>
              <a:rPr lang="en-US" altLang="en-US" sz="2400" dirty="0"/>
              <a:t> is odd. </a:t>
            </a: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Suppose </a:t>
            </a:r>
            <a:r>
              <a:rPr lang="en-US" altLang="en-US" sz="2400" i="1" dirty="0">
                <a:sym typeface="Symbol" panose="05050102010706020507" pitchFamily="18" charset="2"/>
              </a:rPr>
              <a:t>n</a:t>
            </a:r>
            <a:r>
              <a:rPr lang="en-US" altLang="en-US" sz="2400" dirty="0">
                <a:sym typeface="Symbol" panose="05050102010706020507" pitchFamily="18" charset="2"/>
              </a:rPr>
              <a:t> is any odd integer.</a:t>
            </a:r>
          </a:p>
          <a:p>
            <a:pPr marL="0" indent="0">
              <a:buNone/>
            </a:pPr>
            <a:r>
              <a:rPr lang="en-US" altLang="en-US" sz="2400" dirty="0">
                <a:sym typeface="Symbol" panose="05050102010706020507" pitchFamily="18" charset="2"/>
              </a:rPr>
              <a:t>Hence, 	</a:t>
            </a:r>
            <a:r>
              <a:rPr lang="en-US" altLang="en-US" sz="2400" i="1" dirty="0">
                <a:sym typeface="Symbol" panose="05050102010706020507" pitchFamily="18" charset="2"/>
              </a:rPr>
              <a:t>n</a:t>
            </a:r>
            <a:r>
              <a:rPr lang="en-US" altLang="en-US" sz="2400" dirty="0">
                <a:sym typeface="Symbol" panose="05050102010706020507" pitchFamily="18" charset="2"/>
              </a:rPr>
              <a:t> 	= 2</a:t>
            </a:r>
            <a:r>
              <a:rPr lang="en-US" altLang="en-US" sz="2400" i="1" dirty="0">
                <a:sym typeface="Symbol" panose="05050102010706020507" pitchFamily="18" charset="2"/>
              </a:rPr>
              <a:t>k</a:t>
            </a:r>
            <a:r>
              <a:rPr lang="en-US" altLang="en-US" sz="2400" dirty="0">
                <a:sym typeface="Symbol" panose="05050102010706020507" pitchFamily="18" charset="2"/>
              </a:rPr>
              <a:t> + 1 for some integers </a:t>
            </a:r>
            <a:r>
              <a:rPr lang="en-US" altLang="en-US" sz="2400" i="1" dirty="0">
                <a:sym typeface="Symbol" panose="05050102010706020507" pitchFamily="18" charset="2"/>
              </a:rPr>
              <a:t>k</a:t>
            </a:r>
            <a:r>
              <a:rPr lang="en-US" altLang="en-US" sz="2400" dirty="0">
                <a:sym typeface="Symbol" panose="05050102010706020507" pitchFamily="18" charset="2"/>
              </a:rPr>
              <a:t>.</a:t>
            </a:r>
          </a:p>
          <a:p>
            <a:pPr marL="0" indent="0">
              <a:buNone/>
            </a:pPr>
            <a:r>
              <a:rPr lang="en-US" altLang="en-US" sz="2400" dirty="0">
                <a:sym typeface="Symbol" panose="05050102010706020507" pitchFamily="18" charset="2"/>
              </a:rPr>
              <a:t>Thus, </a:t>
            </a:r>
            <a:r>
              <a:rPr lang="en-US" altLang="en-US" sz="2400">
                <a:sym typeface="Symbol" panose="05050102010706020507" pitchFamily="18" charset="2"/>
              </a:rPr>
              <a:t>	</a:t>
            </a:r>
            <a:r>
              <a:rPr lang="en-US" altLang="en-US" sz="2400" i="1">
                <a:sym typeface="Symbol" panose="05050102010706020507" pitchFamily="18" charset="2"/>
              </a:rPr>
              <a:t>n</a:t>
            </a:r>
            <a:r>
              <a:rPr lang="en-US" altLang="en-US" sz="2400" baseline="30000">
                <a:sym typeface="Symbol" panose="05050102010706020507" pitchFamily="18" charset="2"/>
              </a:rPr>
              <a:t>2</a:t>
            </a:r>
            <a:r>
              <a:rPr lang="en-US" altLang="en-US" sz="2400">
                <a:sym typeface="Symbol" panose="05050102010706020507" pitchFamily="18" charset="2"/>
              </a:rPr>
              <a:t> </a:t>
            </a:r>
            <a:r>
              <a:rPr lang="en-US" altLang="en-US" sz="2400" dirty="0">
                <a:sym typeface="Symbol" panose="05050102010706020507" pitchFamily="18" charset="2"/>
              </a:rPr>
              <a:t>	= (2</a:t>
            </a:r>
            <a:r>
              <a:rPr lang="en-US" altLang="en-US" sz="2400" i="1" dirty="0">
                <a:sym typeface="Symbol" panose="05050102010706020507" pitchFamily="18" charset="2"/>
              </a:rPr>
              <a:t>k</a:t>
            </a:r>
            <a:r>
              <a:rPr lang="en-US" altLang="en-US" sz="2400" dirty="0">
                <a:sym typeface="Symbol" panose="05050102010706020507" pitchFamily="18" charset="2"/>
              </a:rPr>
              <a:t> + 1)</a:t>
            </a:r>
            <a:r>
              <a:rPr lang="en-US" altLang="en-US" sz="2400" baseline="30000" dirty="0">
                <a:sym typeface="Symbol" panose="05050102010706020507" pitchFamily="18" charset="2"/>
              </a:rPr>
              <a:t>2</a:t>
            </a:r>
          </a:p>
          <a:p>
            <a:pPr marL="0" indent="0">
              <a:buNone/>
            </a:pPr>
            <a:r>
              <a:rPr lang="en-US" altLang="en-US" sz="2400" baseline="30000" dirty="0">
                <a:sym typeface="Symbol" panose="05050102010706020507" pitchFamily="18" charset="2"/>
              </a:rPr>
              <a:t>		</a:t>
            </a:r>
            <a:r>
              <a:rPr lang="en-US" altLang="en-US" sz="2400" dirty="0">
                <a:sym typeface="Symbol" panose="05050102010706020507" pitchFamily="18" charset="2"/>
              </a:rPr>
              <a:t>    	= 4</a:t>
            </a:r>
            <a:r>
              <a:rPr lang="en-US" altLang="en-US" sz="2400" i="1" dirty="0">
                <a:sym typeface="Symbol" panose="05050102010706020507" pitchFamily="18" charset="2"/>
              </a:rPr>
              <a:t>k</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k</a:t>
            </a:r>
            <a:r>
              <a:rPr lang="en-US" altLang="en-US" sz="2400" dirty="0">
                <a:sym typeface="Symbol" panose="05050102010706020507" pitchFamily="18" charset="2"/>
              </a:rPr>
              <a:t> + 1</a:t>
            </a:r>
          </a:p>
          <a:p>
            <a:pPr marL="0" indent="0">
              <a:buNone/>
            </a:pPr>
            <a:r>
              <a:rPr lang="en-US" altLang="en-US" sz="2400" dirty="0">
                <a:sym typeface="Symbol" panose="05050102010706020507" pitchFamily="18" charset="2"/>
              </a:rPr>
              <a:t>			= 2(2</a:t>
            </a:r>
            <a:r>
              <a:rPr lang="en-US" altLang="en-US" sz="2400" i="1" dirty="0">
                <a:sym typeface="Symbol" panose="05050102010706020507" pitchFamily="18" charset="2"/>
              </a:rPr>
              <a:t>k</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k</a:t>
            </a:r>
            <a:r>
              <a:rPr lang="en-US" altLang="en-US" sz="2400" dirty="0">
                <a:sym typeface="Symbol" panose="05050102010706020507" pitchFamily="18" charset="2"/>
              </a:rPr>
              <a:t>) + 1</a:t>
            </a:r>
          </a:p>
          <a:p>
            <a:pPr marL="0" indent="0">
              <a:buNone/>
            </a:pPr>
            <a:r>
              <a:rPr lang="en-US" altLang="en-US" sz="2400" dirty="0">
                <a:sym typeface="Symbol" panose="05050102010706020507" pitchFamily="18" charset="2"/>
              </a:rPr>
              <a:t>			= 2</a:t>
            </a:r>
            <a:r>
              <a:rPr lang="en-US" altLang="en-US" sz="2400" i="1" dirty="0">
                <a:sym typeface="Symbol" panose="05050102010706020507" pitchFamily="18" charset="2"/>
              </a:rPr>
              <a:t>l</a:t>
            </a:r>
            <a:r>
              <a:rPr lang="en-US" altLang="en-US" sz="2400" dirty="0">
                <a:sym typeface="Symbol" panose="05050102010706020507" pitchFamily="18" charset="2"/>
              </a:rPr>
              <a:t> + 1 where </a:t>
            </a:r>
            <a:r>
              <a:rPr lang="en-US" altLang="en-US" sz="2400" i="1" dirty="0">
                <a:sym typeface="Symbol" panose="05050102010706020507" pitchFamily="18" charset="2"/>
              </a:rPr>
              <a:t>l</a:t>
            </a:r>
            <a:r>
              <a:rPr lang="en-US" altLang="en-US" sz="2400" dirty="0">
                <a:sym typeface="Symbol" panose="05050102010706020507" pitchFamily="18" charset="2"/>
              </a:rPr>
              <a:t> = 2</a:t>
            </a:r>
            <a:r>
              <a:rPr lang="en-US" altLang="en-US" sz="2400" i="1" dirty="0">
                <a:sym typeface="Symbol" panose="05050102010706020507" pitchFamily="18" charset="2"/>
              </a:rPr>
              <a:t>k</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k</a:t>
            </a:r>
            <a:r>
              <a:rPr lang="en-US" altLang="en-US" sz="2400" dirty="0">
                <a:sym typeface="Symbol" panose="05050102010706020507" pitchFamily="18" charset="2"/>
              </a:rPr>
              <a:t>  </a:t>
            </a:r>
            <a:r>
              <a:rPr lang="en-US" altLang="en-US" sz="2400" dirty="0">
                <a:ea typeface="MS Mincho" panose="02020609040205080304" pitchFamily="49" charset="-128"/>
                <a:sym typeface="Symbol" panose="05050102010706020507" pitchFamily="18" charset="2"/>
              </a:rPr>
              <a:t>ℤ</a:t>
            </a:r>
          </a:p>
          <a:p>
            <a:pPr marL="0" indent="0">
              <a:buNone/>
            </a:pPr>
            <a:r>
              <a:rPr lang="en-US" altLang="en-US" sz="2400" dirty="0">
                <a:sym typeface="Symbol" panose="05050102010706020507" pitchFamily="18" charset="2"/>
              </a:rPr>
              <a:t>Since </a:t>
            </a:r>
            <a:r>
              <a:rPr lang="en-US" altLang="en-US" sz="2400" i="1" dirty="0">
                <a:sym typeface="Symbol" panose="05050102010706020507" pitchFamily="18" charset="2"/>
              </a:rPr>
              <a:t>n</a:t>
            </a:r>
            <a:r>
              <a:rPr lang="en-US" altLang="en-US" sz="2400" baseline="30000" dirty="0">
                <a:sym typeface="Symbol" panose="05050102010706020507" pitchFamily="18" charset="2"/>
              </a:rPr>
              <a:t>2</a:t>
            </a:r>
            <a:r>
              <a:rPr lang="en-US" altLang="en-US" sz="2400" dirty="0">
                <a:sym typeface="Symbol" panose="05050102010706020507" pitchFamily="18" charset="2"/>
              </a:rPr>
              <a:t> is odd, therefore, the statement is true.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8819">
                                            <p:txEl>
                                              <p:pRg st="2" end="2"/>
                                            </p:txEl>
                                          </p:spTgt>
                                        </p:tgtEl>
                                        <p:attrNameLst>
                                          <p:attrName>style.visibility</p:attrName>
                                        </p:attrNameLst>
                                      </p:cBhvr>
                                      <p:to>
                                        <p:strVal val="visible"/>
                                      </p:to>
                                    </p:set>
                                    <p:animEffect transition="in" filter="box(in)">
                                      <p:cBhvr>
                                        <p:cTn id="7" dur="500"/>
                                        <p:tgtEl>
                                          <p:spTgt spid="41881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8819">
                                            <p:txEl>
                                              <p:pRg st="3" end="3"/>
                                            </p:txEl>
                                          </p:spTgt>
                                        </p:tgtEl>
                                        <p:attrNameLst>
                                          <p:attrName>style.visibility</p:attrName>
                                        </p:attrNameLst>
                                      </p:cBhvr>
                                      <p:to>
                                        <p:strVal val="visible"/>
                                      </p:to>
                                    </p:set>
                                    <p:animEffect transition="in" filter="box(in)">
                                      <p:cBhvr>
                                        <p:cTn id="12" dur="500"/>
                                        <p:tgtEl>
                                          <p:spTgt spid="41881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8819">
                                            <p:txEl>
                                              <p:pRg st="4" end="4"/>
                                            </p:txEl>
                                          </p:spTgt>
                                        </p:tgtEl>
                                        <p:attrNameLst>
                                          <p:attrName>style.visibility</p:attrName>
                                        </p:attrNameLst>
                                      </p:cBhvr>
                                      <p:to>
                                        <p:strVal val="visible"/>
                                      </p:to>
                                    </p:set>
                                    <p:animEffect transition="in" filter="box(in)">
                                      <p:cBhvr>
                                        <p:cTn id="17" dur="500"/>
                                        <p:tgtEl>
                                          <p:spTgt spid="41881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18819">
                                            <p:txEl>
                                              <p:pRg st="5" end="5"/>
                                            </p:txEl>
                                          </p:spTgt>
                                        </p:tgtEl>
                                        <p:attrNameLst>
                                          <p:attrName>style.visibility</p:attrName>
                                        </p:attrNameLst>
                                      </p:cBhvr>
                                      <p:to>
                                        <p:strVal val="visible"/>
                                      </p:to>
                                    </p:set>
                                    <p:animEffect transition="in" filter="box(in)">
                                      <p:cBhvr>
                                        <p:cTn id="22" dur="500"/>
                                        <p:tgtEl>
                                          <p:spTgt spid="41881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18819">
                                            <p:txEl>
                                              <p:pRg st="6" end="6"/>
                                            </p:txEl>
                                          </p:spTgt>
                                        </p:tgtEl>
                                        <p:attrNameLst>
                                          <p:attrName>style.visibility</p:attrName>
                                        </p:attrNameLst>
                                      </p:cBhvr>
                                      <p:to>
                                        <p:strVal val="visible"/>
                                      </p:to>
                                    </p:set>
                                    <p:animEffect transition="in" filter="box(in)">
                                      <p:cBhvr>
                                        <p:cTn id="27" dur="500"/>
                                        <p:tgtEl>
                                          <p:spTgt spid="41881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18819">
                                            <p:txEl>
                                              <p:pRg st="7" end="7"/>
                                            </p:txEl>
                                          </p:spTgt>
                                        </p:tgtEl>
                                        <p:attrNameLst>
                                          <p:attrName>style.visibility</p:attrName>
                                        </p:attrNameLst>
                                      </p:cBhvr>
                                      <p:to>
                                        <p:strVal val="visible"/>
                                      </p:to>
                                    </p:set>
                                    <p:animEffect transition="in" filter="box(in)">
                                      <p:cBhvr>
                                        <p:cTn id="32" dur="500"/>
                                        <p:tgtEl>
                                          <p:spTgt spid="41881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18819">
                                            <p:txEl>
                                              <p:pRg st="8" end="8"/>
                                            </p:txEl>
                                          </p:spTgt>
                                        </p:tgtEl>
                                        <p:attrNameLst>
                                          <p:attrName>style.visibility</p:attrName>
                                        </p:attrNameLst>
                                      </p:cBhvr>
                                      <p:to>
                                        <p:strVal val="visible"/>
                                      </p:to>
                                    </p:set>
                                    <p:animEffect transition="in" filter="box(in)">
                                      <p:cBhvr>
                                        <p:cTn id="37" dur="500"/>
                                        <p:tgtEl>
                                          <p:spTgt spid="418819">
                                            <p:txEl>
                                              <p:pRg st="8" end="8"/>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418819">
                                            <p:txEl>
                                              <p:pRg st="9" end="9"/>
                                            </p:txEl>
                                          </p:spTgt>
                                        </p:tgtEl>
                                        <p:attrNameLst>
                                          <p:attrName>style.visibility</p:attrName>
                                        </p:attrNameLst>
                                      </p:cBhvr>
                                      <p:to>
                                        <p:strVal val="visible"/>
                                      </p:to>
                                    </p:set>
                                    <p:animEffect transition="in" filter="box(in)">
                                      <p:cBhvr>
                                        <p:cTn id="42" dur="500"/>
                                        <p:tgtEl>
                                          <p:spTgt spid="418819">
                                            <p:txEl>
                                              <p:pRg st="9" end="9"/>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418819">
                                            <p:txEl>
                                              <p:pRg st="10" end="10"/>
                                            </p:txEl>
                                          </p:spTgt>
                                        </p:tgtEl>
                                        <p:attrNameLst>
                                          <p:attrName>style.visibility</p:attrName>
                                        </p:attrNameLst>
                                      </p:cBhvr>
                                      <p:to>
                                        <p:strVal val="visible"/>
                                      </p:to>
                                    </p:set>
                                    <p:animEffect transition="in" filter="box(in)">
                                      <p:cBhvr>
                                        <p:cTn id="47" dur="500"/>
                                        <p:tgtEl>
                                          <p:spTgt spid="41881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62AF7C30-6E68-4E65-94F1-0DF6AFBDD5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37353A5-69C7-4748-87DA-ED3DA5006547}" type="slidenum">
              <a:rPr lang="en-GB" altLang="en-US" sz="1400">
                <a:latin typeface="Arial" panose="020B0604020202020204" pitchFamily="34" charset="0"/>
                <a:cs typeface="Arial" panose="020B0604020202020204" pitchFamily="34" charset="0"/>
              </a:rPr>
              <a:pPr>
                <a:spcBef>
                  <a:spcPct val="0"/>
                </a:spcBef>
                <a:buFontTx/>
                <a:buNone/>
              </a:pPr>
              <a:t>48</a:t>
            </a:fld>
            <a:endParaRPr lang="en-GB" altLang="en-US" sz="1400">
              <a:latin typeface="Arial" panose="020B0604020202020204" pitchFamily="34" charset="0"/>
              <a:cs typeface="Arial" panose="020B0604020202020204" pitchFamily="34" charset="0"/>
            </a:endParaRPr>
          </a:p>
        </p:txBody>
      </p:sp>
      <p:sp>
        <p:nvSpPr>
          <p:cNvPr id="57347" name="Rectangle 2">
            <a:extLst>
              <a:ext uri="{FF2B5EF4-FFF2-40B4-BE49-F238E27FC236}">
                <a16:creationId xmlns:a16="http://schemas.microsoft.com/office/drawing/2014/main" id="{1AE1C3C5-B86F-42CA-83DD-8A2C9CDAEAF7}"/>
              </a:ext>
            </a:extLst>
          </p:cNvPr>
          <p:cNvSpPr>
            <a:spLocks noGrp="1" noChangeArrowheads="1"/>
          </p:cNvSpPr>
          <p:nvPr>
            <p:ph type="title"/>
          </p:nvPr>
        </p:nvSpPr>
        <p:spPr>
          <a:xfrm>
            <a:off x="237506" y="136526"/>
            <a:ext cx="11400312" cy="905042"/>
          </a:xfrm>
        </p:spPr>
        <p:txBody>
          <a:bodyPr/>
          <a:lstStyle/>
          <a:p>
            <a:pPr eaLnBrk="1" hangingPunct="1"/>
            <a:r>
              <a:rPr lang="en-US" altLang="en-US" sz="2400" b="1" dirty="0">
                <a:solidFill>
                  <a:schemeClr val="folHlink"/>
                </a:solidFill>
                <a:latin typeface="Times New Roman" panose="02020603050405020304" pitchFamily="18" charset="0"/>
                <a:cs typeface="Times New Roman" panose="02020603050405020304" pitchFamily="18" charset="0"/>
              </a:rPr>
              <a:t>When to use Proof By Contrapositive and Proof by Contradiction</a:t>
            </a:r>
            <a:endParaRPr lang="en-US" altLang="en-US" sz="24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endParaRPr>
          </a:p>
        </p:txBody>
      </p:sp>
      <p:sp>
        <p:nvSpPr>
          <p:cNvPr id="417795" name="Rectangle 3">
            <a:extLst>
              <a:ext uri="{FF2B5EF4-FFF2-40B4-BE49-F238E27FC236}">
                <a16:creationId xmlns:a16="http://schemas.microsoft.com/office/drawing/2014/main" id="{3012D0BF-DE08-43A9-800A-7407BE47CD2D}"/>
              </a:ext>
            </a:extLst>
          </p:cNvPr>
          <p:cNvSpPr>
            <a:spLocks noGrp="1" noChangeArrowheads="1"/>
          </p:cNvSpPr>
          <p:nvPr>
            <p:ph type="body" idx="1"/>
          </p:nvPr>
        </p:nvSpPr>
        <p:spPr>
          <a:xfrm>
            <a:off x="1524001" y="1403515"/>
            <a:ext cx="9025247" cy="4841710"/>
          </a:xfrm>
        </p:spPr>
        <p:txBody>
          <a:bodyPr/>
          <a:lstStyle/>
          <a:p>
            <a:pPr marL="0" indent="0">
              <a:buNone/>
            </a:pPr>
            <a:r>
              <a:rPr lang="en-US" altLang="en-US" sz="2400" dirty="0">
                <a:sym typeface="Symbol" panose="05050102010706020507" pitchFamily="18" charset="2"/>
              </a:rPr>
              <a:t>For proving P  Q:</a:t>
            </a:r>
          </a:p>
          <a:p>
            <a:pPr marL="0" indent="0">
              <a:buNone/>
            </a:pPr>
            <a:endParaRPr lang="en-US" altLang="en-US" sz="2400" dirty="0">
              <a:sym typeface="Symbol" panose="05050102010706020507" pitchFamily="18" charset="2"/>
            </a:endParaRPr>
          </a:p>
          <a:p>
            <a:r>
              <a:rPr lang="en-US" altLang="en-US" sz="2400" dirty="0">
                <a:sym typeface="Symbol" panose="05050102010706020507" pitchFamily="18" charset="2"/>
              </a:rPr>
              <a:t>When we have difficult with direct proof, we should consider the use of Proof by Contradiction or Proof by Contrapositive. </a:t>
            </a:r>
          </a:p>
          <a:p>
            <a:pPr eaLnBrk="1" hangingPunct="1">
              <a:buFont typeface="Arial" panose="020B0604020202020204" pitchFamily="34" charset="0"/>
              <a:buChar char="•"/>
            </a:pPr>
            <a:r>
              <a:rPr lang="en-US" altLang="en-US" sz="2400" dirty="0">
                <a:sym typeface="Symbol" panose="05050102010706020507" pitchFamily="18" charset="2"/>
              </a:rPr>
              <a:t>The method of Contrapositive has the advantage that your goal is clear: Prove Not P. </a:t>
            </a:r>
          </a:p>
          <a:p>
            <a:pPr eaLnBrk="1" hangingPunct="1">
              <a:buFont typeface="Arial" panose="020B0604020202020204" pitchFamily="34" charset="0"/>
              <a:buChar char="•"/>
            </a:pPr>
            <a:r>
              <a:rPr lang="en-US" altLang="en-US" sz="2400" dirty="0">
                <a:sym typeface="Symbol" panose="05050102010706020507" pitchFamily="18" charset="2"/>
              </a:rPr>
              <a:t>In the method of Contradiction, your goal is to prove a contradiction. Though at the start, it is not always clear what the contradiction is going to be, but usually it is also Not 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779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779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7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B8B22E1E-3868-4D19-939A-BEF255E441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FD41223-A00D-4B3F-B0B0-09434BE19210}" type="slidenum">
              <a:rPr lang="en-GB" altLang="en-US" sz="1400">
                <a:latin typeface="Arial" panose="020B0604020202020204" pitchFamily="34" charset="0"/>
                <a:cs typeface="Arial" panose="020B0604020202020204" pitchFamily="34" charset="0"/>
              </a:rPr>
              <a:pPr>
                <a:spcBef>
                  <a:spcPct val="0"/>
                </a:spcBef>
                <a:buFontTx/>
                <a:buNone/>
              </a:pPr>
              <a:t>49</a:t>
            </a:fld>
            <a:endParaRPr lang="en-GB" altLang="en-US" sz="1400">
              <a:latin typeface="Arial" panose="020B0604020202020204" pitchFamily="34" charset="0"/>
              <a:cs typeface="Arial" panose="020B0604020202020204" pitchFamily="34" charset="0"/>
            </a:endParaRPr>
          </a:p>
        </p:txBody>
      </p:sp>
      <p:sp>
        <p:nvSpPr>
          <p:cNvPr id="58371" name="Rectangle 2">
            <a:extLst>
              <a:ext uri="{FF2B5EF4-FFF2-40B4-BE49-F238E27FC236}">
                <a16:creationId xmlns:a16="http://schemas.microsoft.com/office/drawing/2014/main" id="{5687C879-7CCE-4AD1-A5E2-57CC689A0348}"/>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Discussion:</a:t>
            </a:r>
          </a:p>
        </p:txBody>
      </p:sp>
      <p:sp>
        <p:nvSpPr>
          <p:cNvPr id="58372" name="Rectangle 3">
            <a:extLst>
              <a:ext uri="{FF2B5EF4-FFF2-40B4-BE49-F238E27FC236}">
                <a16:creationId xmlns:a16="http://schemas.microsoft.com/office/drawing/2014/main" id="{A283DCEB-0F42-4047-B700-B3DEE64B65DB}"/>
              </a:ext>
            </a:extLst>
          </p:cNvPr>
          <p:cNvSpPr>
            <a:spLocks noGrp="1" noChangeArrowheads="1"/>
          </p:cNvSpPr>
          <p:nvPr>
            <p:ph type="body" idx="1"/>
          </p:nvPr>
        </p:nvSpPr>
        <p:spPr>
          <a:xfrm>
            <a:off x="1981200" y="1771651"/>
            <a:ext cx="8229600" cy="4530725"/>
          </a:xfrm>
        </p:spPr>
        <p:txBody>
          <a:bodyPr/>
          <a:lstStyle/>
          <a:p>
            <a:pPr marL="0" indent="0">
              <a:buNone/>
            </a:pPr>
            <a:r>
              <a:rPr lang="en-US" altLang="en-US" sz="2400" dirty="0">
                <a:sym typeface="Symbol" panose="05050102010706020507" pitchFamily="18" charset="2"/>
              </a:rPr>
              <a:t>How would you go about proving the following statement?</a:t>
            </a:r>
          </a:p>
          <a:p>
            <a:pPr marL="0" indent="0">
              <a:buNone/>
            </a:pPr>
            <a:r>
              <a:rPr lang="en-US" altLang="en-US" sz="2400" dirty="0">
                <a:sym typeface="Symbol" panose="05050102010706020507" pitchFamily="18" charset="2"/>
              </a:rPr>
              <a:t>		If </a:t>
            </a:r>
            <a:r>
              <a:rPr lang="en-US" altLang="en-US" sz="2400" i="1" dirty="0">
                <a:sym typeface="Symbol" panose="05050102010706020507" pitchFamily="18" charset="2"/>
              </a:rPr>
              <a:t>x</a:t>
            </a:r>
            <a:r>
              <a:rPr lang="en-US" altLang="en-US" sz="2400" dirty="0">
                <a:sym typeface="Symbol" panose="05050102010706020507" pitchFamily="18" charset="2"/>
              </a:rPr>
              <a:t>  0 or </a:t>
            </a:r>
            <a:r>
              <a:rPr lang="en-US" altLang="en-US" sz="2400" i="1" dirty="0">
                <a:sym typeface="Symbol" panose="05050102010706020507" pitchFamily="18" charset="2"/>
              </a:rPr>
              <a:t>y</a:t>
            </a:r>
            <a:r>
              <a:rPr lang="en-US" altLang="en-US" sz="2400" dirty="0">
                <a:sym typeface="Symbol" panose="05050102010706020507" pitchFamily="18" charset="2"/>
              </a:rPr>
              <a:t>  0, then </a:t>
            </a:r>
            <a:r>
              <a:rPr lang="en-US" altLang="en-US" sz="2400" i="1" dirty="0">
                <a:sym typeface="Symbol" panose="05050102010706020507" pitchFamily="18" charset="2"/>
              </a:rPr>
              <a:t>x</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y</a:t>
            </a:r>
            <a:r>
              <a:rPr lang="en-US" altLang="en-US" sz="2400" baseline="30000" dirty="0">
                <a:sym typeface="Symbol" panose="05050102010706020507" pitchFamily="18" charset="2"/>
              </a:rPr>
              <a:t>2</a:t>
            </a:r>
            <a:r>
              <a:rPr lang="en-US" altLang="en-US" sz="2400" dirty="0">
                <a:sym typeface="Symbol" panose="05050102010706020507" pitchFamily="18" charset="2"/>
              </a:rPr>
              <a:t> &gt; 0.</a:t>
            </a:r>
          </a:p>
          <a:p>
            <a:pPr marL="0" indent="0">
              <a:buNone/>
            </a:pPr>
            <a:endParaRPr lang="en-US" altLang="en-US" sz="2400" dirty="0">
              <a:sym typeface="Symbol" panose="05050102010706020507" pitchFamily="18" charset="2"/>
            </a:endParaRPr>
          </a:p>
          <a:p>
            <a:pPr marL="0" indent="0">
              <a:buNone/>
            </a:pPr>
            <a:r>
              <a:rPr lang="en-US" altLang="en-US" sz="2400" dirty="0">
                <a:sym typeface="Symbol" panose="05050102010706020507" pitchFamily="18" charset="2"/>
              </a:rPr>
              <a:t>Your have to show:</a:t>
            </a:r>
          </a:p>
          <a:p>
            <a:pPr marL="0" indent="0">
              <a:buNone/>
            </a:pPr>
            <a:r>
              <a:rPr lang="en-US" altLang="en-US" sz="2400" dirty="0">
                <a:sym typeface="Symbol" panose="05050102010706020507" pitchFamily="18" charset="2"/>
              </a:rPr>
              <a:t>(1)  	If </a:t>
            </a:r>
            <a:r>
              <a:rPr lang="en-US" altLang="en-US" sz="2400" i="1" dirty="0">
                <a:sym typeface="Symbol" panose="05050102010706020507" pitchFamily="18" charset="2"/>
              </a:rPr>
              <a:t>x</a:t>
            </a:r>
            <a:r>
              <a:rPr lang="en-US" altLang="en-US" sz="2400" dirty="0">
                <a:sym typeface="Symbol" panose="05050102010706020507" pitchFamily="18" charset="2"/>
              </a:rPr>
              <a:t>  0, then </a:t>
            </a:r>
            <a:r>
              <a:rPr lang="en-US" altLang="en-US" sz="2400" i="1" dirty="0">
                <a:sym typeface="Symbol" panose="05050102010706020507" pitchFamily="18" charset="2"/>
              </a:rPr>
              <a:t>x</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y</a:t>
            </a:r>
            <a:r>
              <a:rPr lang="en-US" altLang="en-US" sz="2400" baseline="30000" dirty="0">
                <a:sym typeface="Symbol" panose="05050102010706020507" pitchFamily="18" charset="2"/>
              </a:rPr>
              <a:t>2</a:t>
            </a:r>
            <a:r>
              <a:rPr lang="en-US" altLang="en-US" sz="2400" dirty="0">
                <a:sym typeface="Symbol" panose="05050102010706020507" pitchFamily="18" charset="2"/>
              </a:rPr>
              <a:t> &gt; 0</a:t>
            </a:r>
          </a:p>
          <a:p>
            <a:pPr marL="0" indent="0">
              <a:buNone/>
            </a:pPr>
            <a:r>
              <a:rPr lang="en-US" altLang="en-US" sz="2400" dirty="0">
                <a:sym typeface="Symbol" panose="05050102010706020507" pitchFamily="18" charset="2"/>
              </a:rPr>
              <a:t>(2) 	If </a:t>
            </a:r>
            <a:r>
              <a:rPr lang="en-US" altLang="en-US" sz="2400" i="1" dirty="0">
                <a:sym typeface="Symbol" panose="05050102010706020507" pitchFamily="18" charset="2"/>
              </a:rPr>
              <a:t>y</a:t>
            </a:r>
            <a:r>
              <a:rPr lang="en-US" altLang="en-US" sz="2400" dirty="0">
                <a:sym typeface="Symbol" panose="05050102010706020507" pitchFamily="18" charset="2"/>
              </a:rPr>
              <a:t>  0, then </a:t>
            </a:r>
            <a:r>
              <a:rPr lang="en-US" altLang="en-US" sz="2400" i="1" dirty="0">
                <a:sym typeface="Symbol" panose="05050102010706020507" pitchFamily="18" charset="2"/>
              </a:rPr>
              <a:t>x</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y</a:t>
            </a:r>
            <a:r>
              <a:rPr lang="en-US" altLang="en-US" sz="2400" baseline="30000" dirty="0">
                <a:sym typeface="Symbol" panose="05050102010706020507" pitchFamily="18" charset="2"/>
              </a:rPr>
              <a:t>2</a:t>
            </a:r>
            <a:r>
              <a:rPr lang="en-US" altLang="en-US" sz="2400" dirty="0">
                <a:sym typeface="Symbol" panose="05050102010706020507" pitchFamily="18" charset="2"/>
              </a:rPr>
              <a:t> &gt; 0</a:t>
            </a:r>
          </a:p>
          <a:p>
            <a:pPr marL="0" indent="0">
              <a:buNone/>
            </a:pPr>
            <a:endParaRPr lang="en-US" altLang="en-US" sz="2400" dirty="0">
              <a:sym typeface="Symbol" panose="05050102010706020507"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F79C5945-696B-4562-B837-AB4DACAF12B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3EADDC3-4DA4-4295-9BA9-3248F21AD6F6}" type="slidenum">
              <a:rPr lang="en-GB" altLang="en-US" sz="1400">
                <a:latin typeface="Arial" panose="020B0604020202020204" pitchFamily="34" charset="0"/>
                <a:cs typeface="Arial" panose="020B0604020202020204" pitchFamily="34" charset="0"/>
              </a:rPr>
              <a:pPr>
                <a:spcBef>
                  <a:spcPct val="0"/>
                </a:spcBef>
                <a:buFontTx/>
                <a:buNone/>
              </a:pPr>
              <a:t>50</a:t>
            </a:fld>
            <a:endParaRPr lang="en-GB" altLang="en-US" sz="1400">
              <a:latin typeface="Arial" panose="020B0604020202020204" pitchFamily="34" charset="0"/>
              <a:cs typeface="Arial" panose="020B0604020202020204" pitchFamily="34" charset="0"/>
            </a:endParaRPr>
          </a:p>
        </p:txBody>
      </p:sp>
      <p:sp>
        <p:nvSpPr>
          <p:cNvPr id="59395" name="Rectangle 2">
            <a:extLst>
              <a:ext uri="{FF2B5EF4-FFF2-40B4-BE49-F238E27FC236}">
                <a16:creationId xmlns:a16="http://schemas.microsoft.com/office/drawing/2014/main" id="{626184EB-B261-4EE4-80C1-9F596AD70CBC}"/>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Proof By Cases</a:t>
            </a:r>
          </a:p>
        </p:txBody>
      </p:sp>
      <p:sp>
        <p:nvSpPr>
          <p:cNvPr id="411651" name="Rectangle 3">
            <a:extLst>
              <a:ext uri="{FF2B5EF4-FFF2-40B4-BE49-F238E27FC236}">
                <a16:creationId xmlns:a16="http://schemas.microsoft.com/office/drawing/2014/main" id="{9280C0E3-CA79-4681-8D67-74401CE05BB7}"/>
              </a:ext>
            </a:extLst>
          </p:cNvPr>
          <p:cNvSpPr>
            <a:spLocks noGrp="1" noChangeArrowheads="1"/>
          </p:cNvSpPr>
          <p:nvPr>
            <p:ph type="body" idx="1"/>
          </p:nvPr>
        </p:nvSpPr>
        <p:spPr>
          <a:xfrm>
            <a:off x="1981200" y="1771651"/>
            <a:ext cx="8229600" cy="4530725"/>
          </a:xfrm>
        </p:spPr>
        <p:txBody>
          <a:bodyPr/>
          <a:lstStyle/>
          <a:p>
            <a:pPr marL="0" indent="0">
              <a:lnSpc>
                <a:spcPct val="80000"/>
              </a:lnSpc>
              <a:buNone/>
            </a:pPr>
            <a:r>
              <a:rPr lang="en-US" altLang="en-US" sz="2400" dirty="0">
                <a:sym typeface="Symbol" panose="05050102010706020507" pitchFamily="18" charset="2"/>
              </a:rPr>
              <a:t>The method for proving  the statement discussed is </a:t>
            </a:r>
            <a:r>
              <a:rPr lang="en-US" altLang="en-US" sz="2400" i="1" dirty="0">
                <a:sym typeface="Symbol" panose="05050102010706020507" pitchFamily="18" charset="2"/>
              </a:rPr>
              <a:t>proof by cases</a:t>
            </a:r>
            <a:r>
              <a:rPr lang="en-US" altLang="en-US" sz="2400" dirty="0">
                <a:sym typeface="Symbol" panose="05050102010706020507" pitchFamily="18" charset="2"/>
              </a:rPr>
              <a:t>. The method is used whenever you wish to prove a statement of the form </a:t>
            </a:r>
          </a:p>
          <a:p>
            <a:pPr marL="0" indent="0">
              <a:lnSpc>
                <a:spcPct val="80000"/>
              </a:lnSpc>
              <a:buNone/>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  </a:t>
            </a:r>
            <a:r>
              <a:rPr lang="en-US" altLang="en-US" sz="2400" i="1" dirty="0">
                <a:sym typeface="Symbol" panose="05050102010706020507" pitchFamily="18" charset="2"/>
              </a:rPr>
              <a:t>Q</a:t>
            </a:r>
            <a:r>
              <a:rPr lang="en-US" altLang="en-US" sz="2400" dirty="0">
                <a:sym typeface="Symbol" panose="05050102010706020507" pitchFamily="18" charset="2"/>
              </a:rPr>
              <a:t>)  </a:t>
            </a:r>
            <a:r>
              <a:rPr lang="en-US" altLang="en-US" sz="2400" i="1" dirty="0">
                <a:sym typeface="Symbol" panose="05050102010706020507" pitchFamily="18" charset="2"/>
              </a:rPr>
              <a:t>R</a:t>
            </a:r>
            <a:r>
              <a:rPr lang="en-US" altLang="en-US" sz="2400" dirty="0">
                <a:sym typeface="Symbol" panose="05050102010706020507" pitchFamily="18" charset="2"/>
              </a:rPr>
              <a:t>.</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The rationale behind a proof by cases is based on a generalization of the following logical equivalence.</a:t>
            </a:r>
          </a:p>
          <a:p>
            <a:pPr marL="0" indent="0">
              <a:lnSpc>
                <a:spcPct val="80000"/>
              </a:lnSpc>
              <a:buNone/>
            </a:pPr>
            <a:r>
              <a:rPr lang="en-US" altLang="en-US" sz="2400" dirty="0">
                <a:sym typeface="Symbol" panose="05050102010706020507" pitchFamily="18" charset="2"/>
              </a:rPr>
              <a:t>		(</a:t>
            </a:r>
            <a:r>
              <a:rPr lang="en-US" altLang="en-US" sz="2400" i="1" dirty="0">
                <a:sym typeface="Symbol" panose="05050102010706020507" pitchFamily="18" charset="2"/>
              </a:rPr>
              <a:t>P</a:t>
            </a:r>
            <a:r>
              <a:rPr lang="en-US" altLang="en-US" sz="2400" dirty="0">
                <a:sym typeface="Symbol" panose="05050102010706020507" pitchFamily="18" charset="2"/>
              </a:rPr>
              <a:t>  </a:t>
            </a:r>
            <a:r>
              <a:rPr lang="en-US" altLang="en-US" sz="2400" i="1" dirty="0">
                <a:sym typeface="Symbol" panose="05050102010706020507" pitchFamily="18" charset="2"/>
              </a:rPr>
              <a:t>R</a:t>
            </a:r>
            <a:r>
              <a:rPr lang="en-US" altLang="en-US" sz="2400" dirty="0">
                <a:sym typeface="Symbol" panose="05050102010706020507" pitchFamily="18" charset="2"/>
              </a:rPr>
              <a:t>)  (</a:t>
            </a:r>
            <a:r>
              <a:rPr lang="en-US" altLang="en-US" sz="2400" i="1" dirty="0">
                <a:sym typeface="Symbol" panose="05050102010706020507" pitchFamily="18" charset="2"/>
              </a:rPr>
              <a:t>Q</a:t>
            </a:r>
            <a:r>
              <a:rPr lang="en-US" altLang="en-US" sz="2400" dirty="0">
                <a:sym typeface="Symbol" panose="05050102010706020507" pitchFamily="18" charset="2"/>
              </a:rPr>
              <a:t>  </a:t>
            </a:r>
            <a:r>
              <a:rPr lang="en-US" altLang="en-US" sz="2400" i="1" dirty="0">
                <a:sym typeface="Symbol" panose="05050102010706020507" pitchFamily="18" charset="2"/>
              </a:rPr>
              <a:t>R</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  </a:t>
            </a:r>
            <a:r>
              <a:rPr lang="en-US" altLang="en-US" sz="2400" i="1" dirty="0">
                <a:sym typeface="Symbol" panose="05050102010706020507" pitchFamily="18" charset="2"/>
              </a:rPr>
              <a:t>Q</a:t>
            </a:r>
            <a:r>
              <a:rPr lang="en-US" altLang="en-US" sz="2400" dirty="0">
                <a:sym typeface="Symbol" panose="05050102010706020507" pitchFamily="18" charset="2"/>
              </a:rPr>
              <a:t>)  </a:t>
            </a:r>
            <a:r>
              <a:rPr lang="en-US" altLang="en-US" sz="2400" i="1" dirty="0">
                <a:sym typeface="Symbol" panose="05050102010706020507" pitchFamily="18" charset="2"/>
              </a:rPr>
              <a:t>R</a:t>
            </a:r>
            <a:r>
              <a:rPr lang="en-US" altLang="en-US" sz="2400" dirty="0">
                <a:sym typeface="Symbol" panose="05050102010706020507" pitchFamily="18" charset="2"/>
              </a:rPr>
              <a:t>.</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The only problem with this method of proof is that it is not always obvious that this is the technique required and how to dividing into cases.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1651">
                                            <p:txEl>
                                              <p:pRg st="3" end="3"/>
                                            </p:txEl>
                                          </p:spTgt>
                                        </p:tgtEl>
                                        <p:attrNameLst>
                                          <p:attrName>style.visibility</p:attrName>
                                        </p:attrNameLst>
                                      </p:cBhvr>
                                      <p:to>
                                        <p:strVal val="visible"/>
                                      </p:to>
                                    </p:set>
                                    <p:animEffect transition="in" filter="box(in)">
                                      <p:cBhvr>
                                        <p:cTn id="7" dur="500"/>
                                        <p:tgtEl>
                                          <p:spTgt spid="411651">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1651">
                                            <p:txEl>
                                              <p:pRg st="4" end="4"/>
                                            </p:txEl>
                                          </p:spTgt>
                                        </p:tgtEl>
                                        <p:attrNameLst>
                                          <p:attrName>style.visibility</p:attrName>
                                        </p:attrNameLst>
                                      </p:cBhvr>
                                      <p:to>
                                        <p:strVal val="visible"/>
                                      </p:to>
                                    </p:set>
                                    <p:animEffect transition="in" filter="box(in)">
                                      <p:cBhvr>
                                        <p:cTn id="12" dur="500"/>
                                        <p:tgtEl>
                                          <p:spTgt spid="411651">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1651">
                                            <p:txEl>
                                              <p:pRg st="6" end="6"/>
                                            </p:txEl>
                                          </p:spTgt>
                                        </p:tgtEl>
                                        <p:attrNameLst>
                                          <p:attrName>style.visibility</p:attrName>
                                        </p:attrNameLst>
                                      </p:cBhvr>
                                      <p:to>
                                        <p:strVal val="visible"/>
                                      </p:to>
                                    </p:set>
                                    <p:animEffect transition="in" filter="box(in)">
                                      <p:cBhvr>
                                        <p:cTn id="17" dur="500"/>
                                        <p:tgtEl>
                                          <p:spTgt spid="41165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3A5E28BE-ADC1-4180-BAB5-EF2536719A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B597C1B-D157-4CA5-9A9B-2BEEE9E10AF1}" type="slidenum">
              <a:rPr lang="en-GB" altLang="en-US" sz="1400">
                <a:latin typeface="Arial" panose="020B0604020202020204" pitchFamily="34" charset="0"/>
                <a:cs typeface="Arial" panose="020B0604020202020204" pitchFamily="34" charset="0"/>
              </a:rPr>
              <a:pPr>
                <a:spcBef>
                  <a:spcPct val="0"/>
                </a:spcBef>
                <a:buFontTx/>
                <a:buNone/>
              </a:pPr>
              <a:t>51</a:t>
            </a:fld>
            <a:endParaRPr lang="en-GB" altLang="en-US" sz="1400">
              <a:latin typeface="Arial" panose="020B0604020202020204" pitchFamily="34" charset="0"/>
              <a:cs typeface="Arial" panose="020B0604020202020204" pitchFamily="34" charset="0"/>
            </a:endParaRPr>
          </a:p>
        </p:txBody>
      </p:sp>
      <p:sp>
        <p:nvSpPr>
          <p:cNvPr id="60419" name="Rectangle 2">
            <a:extLst>
              <a:ext uri="{FF2B5EF4-FFF2-40B4-BE49-F238E27FC236}">
                <a16:creationId xmlns:a16="http://schemas.microsoft.com/office/drawing/2014/main" id="{592517C2-6E8B-4C06-9690-42C44F87CEE5}"/>
              </a:ext>
            </a:extLst>
          </p:cNvPr>
          <p:cNvSpPr>
            <a:spLocks noGrp="1" noChangeArrowheads="1"/>
          </p:cNvSpPr>
          <p:nvPr>
            <p:ph type="title"/>
          </p:nvPr>
        </p:nvSpPr>
        <p:spPr>
          <a:xfrm>
            <a:off x="1981200" y="463550"/>
            <a:ext cx="8229600" cy="1143000"/>
          </a:xfrm>
        </p:spPr>
        <p:txBody>
          <a:bodyPr/>
          <a:lstStyle/>
          <a:p>
            <a:pPr eaLnBrk="1" hangingPunct="1"/>
            <a:r>
              <a:rPr lang="en-US" altLang="en-US" sz="3600" b="1">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Proof By Cases: Example</a:t>
            </a:r>
          </a:p>
        </p:txBody>
      </p:sp>
      <p:sp>
        <p:nvSpPr>
          <p:cNvPr id="413699" name="Rectangle 3">
            <a:extLst>
              <a:ext uri="{FF2B5EF4-FFF2-40B4-BE49-F238E27FC236}">
                <a16:creationId xmlns:a16="http://schemas.microsoft.com/office/drawing/2014/main" id="{3D6B96BC-2BA0-4F7C-A72F-BD40BC798295}"/>
              </a:ext>
            </a:extLst>
          </p:cNvPr>
          <p:cNvSpPr>
            <a:spLocks noGrp="1" noChangeArrowheads="1"/>
          </p:cNvSpPr>
          <p:nvPr>
            <p:ph type="body" idx="1"/>
          </p:nvPr>
        </p:nvSpPr>
        <p:spPr>
          <a:xfrm>
            <a:off x="1981200" y="1771651"/>
            <a:ext cx="8229600" cy="4530725"/>
          </a:xfrm>
        </p:spPr>
        <p:txBody>
          <a:bodyPr/>
          <a:lstStyle/>
          <a:p>
            <a:pPr marL="0" indent="0">
              <a:lnSpc>
                <a:spcPct val="80000"/>
              </a:lnSpc>
              <a:buNone/>
            </a:pPr>
            <a:r>
              <a:rPr lang="en-US" altLang="en-US" sz="2400" dirty="0">
                <a:sym typeface="Symbol" panose="05050102010706020507" pitchFamily="18" charset="2"/>
              </a:rPr>
              <a:t>To prove the statement “</a:t>
            </a:r>
            <a:r>
              <a:rPr lang="en-US" altLang="en-US" sz="2400" i="1" dirty="0">
                <a:sym typeface="Symbol" panose="05050102010706020507" pitchFamily="18" charset="2"/>
              </a:rPr>
              <a:t>m</a:t>
            </a:r>
            <a:r>
              <a:rPr lang="en-US" altLang="en-US" sz="2400" dirty="0">
                <a:sym typeface="Symbol" panose="05050102010706020507" pitchFamily="18" charset="2"/>
              </a:rPr>
              <a:t>  ℕ, </a:t>
            </a:r>
            <a:r>
              <a:rPr lang="en-US" altLang="en-US" sz="2400" i="1" dirty="0">
                <a:sym typeface="Symbol" panose="05050102010706020507" pitchFamily="18" charset="2"/>
              </a:rPr>
              <a:t>m</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m</a:t>
            </a:r>
            <a:r>
              <a:rPr lang="en-US" altLang="en-US" sz="2400" dirty="0">
                <a:sym typeface="Symbol" panose="05050102010706020507" pitchFamily="18" charset="2"/>
              </a:rPr>
              <a:t> + 1 is odd”, we should use a proof by cases, that is when </a:t>
            </a:r>
            <a:r>
              <a:rPr lang="en-US" altLang="en-US" sz="2400" i="1" dirty="0">
                <a:sym typeface="Symbol" panose="05050102010706020507" pitchFamily="18" charset="2"/>
              </a:rPr>
              <a:t>m</a:t>
            </a:r>
            <a:r>
              <a:rPr lang="en-US" altLang="en-US" sz="2400" dirty="0">
                <a:sym typeface="Symbol" panose="05050102010706020507" pitchFamily="18" charset="2"/>
              </a:rPr>
              <a:t> is even and when </a:t>
            </a:r>
            <a:r>
              <a:rPr lang="en-US" altLang="en-US" sz="2400" i="1" dirty="0">
                <a:sym typeface="Symbol" panose="05050102010706020507" pitchFamily="18" charset="2"/>
              </a:rPr>
              <a:t>m</a:t>
            </a:r>
            <a:r>
              <a:rPr lang="en-US" altLang="en-US" sz="2400" dirty="0">
                <a:sym typeface="Symbol" panose="05050102010706020507" pitchFamily="18" charset="2"/>
              </a:rPr>
              <a:t> is odd.</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Let </a:t>
            </a:r>
            <a:r>
              <a:rPr lang="en-US" altLang="en-US" sz="2400" i="1" dirty="0">
                <a:sym typeface="Symbol" panose="05050102010706020507" pitchFamily="18" charset="2"/>
              </a:rPr>
              <a:t>m</a:t>
            </a:r>
            <a:r>
              <a:rPr lang="en-US" altLang="en-US" sz="2400" dirty="0">
                <a:sym typeface="Symbol" panose="05050102010706020507" pitchFamily="18" charset="2"/>
              </a:rPr>
              <a:t> be even. Then </a:t>
            </a:r>
            <a:r>
              <a:rPr lang="en-US" altLang="en-US" sz="2400" i="1" dirty="0">
                <a:sym typeface="Symbol" panose="05050102010706020507" pitchFamily="18" charset="2"/>
              </a:rPr>
              <a:t>m</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 for some </a:t>
            </a:r>
            <a:r>
              <a:rPr lang="en-US" altLang="en-US" sz="2400" i="1" dirty="0">
                <a:sym typeface="Symbol" panose="05050102010706020507" pitchFamily="18" charset="2"/>
              </a:rPr>
              <a:t>p</a:t>
            </a:r>
            <a:r>
              <a:rPr lang="en-US" altLang="en-US" sz="2400" dirty="0">
                <a:sym typeface="Symbol" panose="05050102010706020507" pitchFamily="18" charset="2"/>
              </a:rPr>
              <a:t>  ℕ.</a:t>
            </a:r>
          </a:p>
          <a:p>
            <a:pPr marL="0" indent="0">
              <a:lnSpc>
                <a:spcPct val="80000"/>
              </a:lnSpc>
              <a:buNone/>
            </a:pPr>
            <a:r>
              <a:rPr lang="en-US" altLang="en-US" sz="2400" dirty="0">
                <a:sym typeface="Symbol" panose="05050102010706020507" pitchFamily="18" charset="2"/>
              </a:rPr>
              <a:t>Hence,</a:t>
            </a:r>
          </a:p>
          <a:p>
            <a:pPr marL="0" indent="0">
              <a:lnSpc>
                <a:spcPct val="80000"/>
              </a:lnSpc>
              <a:buNone/>
            </a:pPr>
            <a:r>
              <a:rPr lang="en-US" altLang="en-US" sz="2400" dirty="0">
                <a:sym typeface="Symbol" panose="05050102010706020507" pitchFamily="18" charset="2"/>
              </a:rPr>
              <a:t>	 </a:t>
            </a:r>
            <a:r>
              <a:rPr lang="en-US" altLang="en-US" sz="2400" i="1" dirty="0">
                <a:sym typeface="Symbol" panose="05050102010706020507" pitchFamily="18" charset="2"/>
              </a:rPr>
              <a:t>m</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m</a:t>
            </a:r>
            <a:r>
              <a:rPr lang="en-US" altLang="en-US" sz="2400" dirty="0">
                <a:sym typeface="Symbol" panose="05050102010706020507" pitchFamily="18" charset="2"/>
              </a:rPr>
              <a:t> + 1 	= (2</a:t>
            </a:r>
            <a:r>
              <a:rPr lang="en-US" altLang="en-US" sz="2400" i="1" dirty="0">
                <a:sym typeface="Symbol" panose="05050102010706020507" pitchFamily="18" charset="2"/>
              </a:rPr>
              <a:t>p</a:t>
            </a:r>
            <a:r>
              <a:rPr lang="en-US" altLang="en-US" sz="2400" dirty="0">
                <a:sym typeface="Symbol" panose="05050102010706020507" pitchFamily="18" charset="2"/>
              </a:rPr>
              <a:t>)</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 + 1 </a:t>
            </a:r>
          </a:p>
          <a:p>
            <a:pPr marL="0" indent="0">
              <a:lnSpc>
                <a:spcPct val="80000"/>
              </a:lnSpc>
              <a:buNone/>
            </a:pPr>
            <a:r>
              <a:rPr lang="en-US" altLang="en-US" sz="2400" dirty="0">
                <a:sym typeface="Symbol" panose="05050102010706020507" pitchFamily="18" charset="2"/>
              </a:rPr>
              <a:t>			= 4</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dirty="0">
                <a:sym typeface="Symbol" panose="05050102010706020507" pitchFamily="18" charset="2"/>
              </a:rPr>
              <a:t> + 1 </a:t>
            </a:r>
          </a:p>
          <a:p>
            <a:pPr marL="0" indent="0">
              <a:lnSpc>
                <a:spcPct val="80000"/>
              </a:lnSpc>
              <a:buNone/>
            </a:pPr>
            <a:r>
              <a:rPr lang="en-US" altLang="en-US" sz="2400" dirty="0">
                <a:sym typeface="Symbol" panose="05050102010706020507" pitchFamily="18" charset="2"/>
              </a:rPr>
              <a:t>			= 2(2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 + 1</a:t>
            </a:r>
          </a:p>
          <a:p>
            <a:pPr marL="0" indent="0">
              <a:lnSpc>
                <a:spcPct val="80000"/>
              </a:lnSpc>
              <a:buNone/>
            </a:pPr>
            <a:r>
              <a:rPr lang="en-US" altLang="en-US" sz="2400" dirty="0">
                <a:sym typeface="Symbol" panose="05050102010706020507" pitchFamily="18" charset="2"/>
              </a:rPr>
              <a:t>			= 2</a:t>
            </a:r>
            <a:r>
              <a:rPr lang="en-US" altLang="en-US" sz="2400" i="1" dirty="0">
                <a:sym typeface="Symbol" panose="05050102010706020507" pitchFamily="18" charset="2"/>
              </a:rPr>
              <a:t>k</a:t>
            </a:r>
            <a:r>
              <a:rPr lang="en-US" altLang="en-US" sz="2400" dirty="0">
                <a:sym typeface="Symbol" panose="05050102010706020507" pitchFamily="18" charset="2"/>
              </a:rPr>
              <a:t> + 1	where </a:t>
            </a:r>
            <a:r>
              <a:rPr lang="en-US" altLang="en-US" sz="2400" i="1" dirty="0">
                <a:sym typeface="Symbol" panose="05050102010706020507" pitchFamily="18" charset="2"/>
              </a:rPr>
              <a:t>k</a:t>
            </a:r>
            <a:r>
              <a:rPr lang="en-US" altLang="en-US" sz="2400" dirty="0">
                <a:sym typeface="Symbol" panose="05050102010706020507" pitchFamily="18" charset="2"/>
              </a:rPr>
              <a:t> = 2</a:t>
            </a:r>
            <a:r>
              <a:rPr lang="en-US" altLang="en-US" sz="2400" i="1" dirty="0">
                <a:sym typeface="Symbol" panose="05050102010706020507" pitchFamily="18" charset="2"/>
              </a:rPr>
              <a:t>p</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p</a:t>
            </a:r>
            <a:r>
              <a:rPr lang="en-US" altLang="en-US" sz="2400" dirty="0">
                <a:sym typeface="Symbol" panose="05050102010706020507" pitchFamily="18" charset="2"/>
              </a:rPr>
              <a:t>, </a:t>
            </a:r>
            <a:r>
              <a:rPr lang="en-US" altLang="en-US" sz="2400" i="1" dirty="0">
                <a:sym typeface="Symbol" panose="05050102010706020507" pitchFamily="18" charset="2"/>
              </a:rPr>
              <a:t>k</a:t>
            </a:r>
            <a:r>
              <a:rPr lang="en-US" altLang="en-US" sz="2400" dirty="0">
                <a:sym typeface="Symbol" panose="05050102010706020507" pitchFamily="18" charset="2"/>
              </a:rPr>
              <a:t>  ℕ.</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Therefore, when </a:t>
            </a:r>
            <a:r>
              <a:rPr lang="en-US" altLang="en-US" sz="2400" i="1" dirty="0">
                <a:sym typeface="Symbol" panose="05050102010706020507" pitchFamily="18" charset="2"/>
              </a:rPr>
              <a:t>m</a:t>
            </a:r>
            <a:r>
              <a:rPr lang="en-US" altLang="en-US" sz="2400" dirty="0">
                <a:sym typeface="Symbol" panose="05050102010706020507" pitchFamily="18" charset="2"/>
              </a:rPr>
              <a:t> is even, </a:t>
            </a:r>
            <a:r>
              <a:rPr lang="en-US" altLang="en-US" sz="2400" i="1" dirty="0">
                <a:sym typeface="Symbol" panose="05050102010706020507" pitchFamily="18" charset="2"/>
              </a:rPr>
              <a:t>m</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m</a:t>
            </a:r>
            <a:r>
              <a:rPr lang="en-US" altLang="en-US" sz="2400" dirty="0">
                <a:sym typeface="Symbol" panose="05050102010706020507" pitchFamily="18" charset="2"/>
              </a:rPr>
              <a:t> + 1 is odd.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3699">
                                            <p:txEl>
                                              <p:pRg st="2" end="2"/>
                                            </p:txEl>
                                          </p:spTgt>
                                        </p:tgtEl>
                                        <p:attrNameLst>
                                          <p:attrName>style.visibility</p:attrName>
                                        </p:attrNameLst>
                                      </p:cBhvr>
                                      <p:to>
                                        <p:strVal val="visible"/>
                                      </p:to>
                                    </p:set>
                                    <p:animEffect transition="in" filter="box(in)">
                                      <p:cBhvr>
                                        <p:cTn id="7" dur="500"/>
                                        <p:tgtEl>
                                          <p:spTgt spid="41369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3699">
                                            <p:txEl>
                                              <p:pRg st="3" end="3"/>
                                            </p:txEl>
                                          </p:spTgt>
                                        </p:tgtEl>
                                        <p:attrNameLst>
                                          <p:attrName>style.visibility</p:attrName>
                                        </p:attrNameLst>
                                      </p:cBhvr>
                                      <p:to>
                                        <p:strVal val="visible"/>
                                      </p:to>
                                    </p:set>
                                    <p:animEffect transition="in" filter="box(in)">
                                      <p:cBhvr>
                                        <p:cTn id="12" dur="500"/>
                                        <p:tgtEl>
                                          <p:spTgt spid="41369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3699">
                                            <p:txEl>
                                              <p:pRg st="4" end="4"/>
                                            </p:txEl>
                                          </p:spTgt>
                                        </p:tgtEl>
                                        <p:attrNameLst>
                                          <p:attrName>style.visibility</p:attrName>
                                        </p:attrNameLst>
                                      </p:cBhvr>
                                      <p:to>
                                        <p:strVal val="visible"/>
                                      </p:to>
                                    </p:set>
                                    <p:animEffect transition="in" filter="box(in)">
                                      <p:cBhvr>
                                        <p:cTn id="17" dur="500"/>
                                        <p:tgtEl>
                                          <p:spTgt spid="41369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13699">
                                            <p:txEl>
                                              <p:pRg st="5" end="5"/>
                                            </p:txEl>
                                          </p:spTgt>
                                        </p:tgtEl>
                                        <p:attrNameLst>
                                          <p:attrName>style.visibility</p:attrName>
                                        </p:attrNameLst>
                                      </p:cBhvr>
                                      <p:to>
                                        <p:strVal val="visible"/>
                                      </p:to>
                                    </p:set>
                                    <p:animEffect transition="in" filter="box(in)">
                                      <p:cBhvr>
                                        <p:cTn id="22" dur="500"/>
                                        <p:tgtEl>
                                          <p:spTgt spid="413699">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13699">
                                            <p:txEl>
                                              <p:pRg st="6" end="6"/>
                                            </p:txEl>
                                          </p:spTgt>
                                        </p:tgtEl>
                                        <p:attrNameLst>
                                          <p:attrName>style.visibility</p:attrName>
                                        </p:attrNameLst>
                                      </p:cBhvr>
                                      <p:to>
                                        <p:strVal val="visible"/>
                                      </p:to>
                                    </p:set>
                                    <p:animEffect transition="in" filter="box(in)">
                                      <p:cBhvr>
                                        <p:cTn id="27" dur="500"/>
                                        <p:tgtEl>
                                          <p:spTgt spid="413699">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13699">
                                            <p:txEl>
                                              <p:pRg st="7" end="7"/>
                                            </p:txEl>
                                          </p:spTgt>
                                        </p:tgtEl>
                                        <p:attrNameLst>
                                          <p:attrName>style.visibility</p:attrName>
                                        </p:attrNameLst>
                                      </p:cBhvr>
                                      <p:to>
                                        <p:strVal val="visible"/>
                                      </p:to>
                                    </p:set>
                                    <p:animEffect transition="in" filter="box(in)">
                                      <p:cBhvr>
                                        <p:cTn id="32" dur="500"/>
                                        <p:tgtEl>
                                          <p:spTgt spid="413699">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13699">
                                            <p:txEl>
                                              <p:pRg st="9" end="9"/>
                                            </p:txEl>
                                          </p:spTgt>
                                        </p:tgtEl>
                                        <p:attrNameLst>
                                          <p:attrName>style.visibility</p:attrName>
                                        </p:attrNameLst>
                                      </p:cBhvr>
                                      <p:to>
                                        <p:strVal val="visible"/>
                                      </p:to>
                                    </p:set>
                                    <p:animEffect transition="in" filter="box(in)">
                                      <p:cBhvr>
                                        <p:cTn id="37" dur="500"/>
                                        <p:tgtEl>
                                          <p:spTgt spid="4136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269D6C92-083E-4A5D-BE50-DD3F7956A5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D40D100-C1E9-43E4-A4BC-E31072A88DF1}" type="slidenum">
              <a:rPr lang="en-GB" altLang="en-US" sz="1400">
                <a:latin typeface="Arial" panose="020B0604020202020204" pitchFamily="34" charset="0"/>
                <a:cs typeface="Arial" panose="020B0604020202020204" pitchFamily="34" charset="0"/>
              </a:rPr>
              <a:pPr>
                <a:spcBef>
                  <a:spcPct val="0"/>
                </a:spcBef>
                <a:buFontTx/>
                <a:buNone/>
              </a:pPr>
              <a:t>52</a:t>
            </a:fld>
            <a:endParaRPr lang="en-GB" altLang="en-US" sz="1400">
              <a:latin typeface="Arial" panose="020B0604020202020204" pitchFamily="34" charset="0"/>
              <a:cs typeface="Arial" panose="020B0604020202020204" pitchFamily="34" charset="0"/>
            </a:endParaRPr>
          </a:p>
        </p:txBody>
      </p:sp>
      <p:sp>
        <p:nvSpPr>
          <p:cNvPr id="61443" name="Rectangle 2">
            <a:extLst>
              <a:ext uri="{FF2B5EF4-FFF2-40B4-BE49-F238E27FC236}">
                <a16:creationId xmlns:a16="http://schemas.microsoft.com/office/drawing/2014/main" id="{F5B3B747-1A72-41BC-8C01-4BB25122FAE0}"/>
              </a:ext>
            </a:extLst>
          </p:cNvPr>
          <p:cNvSpPr>
            <a:spLocks noGrp="1" noChangeArrowheads="1"/>
          </p:cNvSpPr>
          <p:nvPr>
            <p:ph type="title"/>
          </p:nvPr>
        </p:nvSpPr>
        <p:spPr>
          <a:xfrm>
            <a:off x="1981200" y="463550"/>
            <a:ext cx="8229600" cy="1143000"/>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Proof By Cases: Example</a:t>
            </a:r>
          </a:p>
        </p:txBody>
      </p:sp>
      <p:sp>
        <p:nvSpPr>
          <p:cNvPr id="414723" name="Rectangle 3">
            <a:extLst>
              <a:ext uri="{FF2B5EF4-FFF2-40B4-BE49-F238E27FC236}">
                <a16:creationId xmlns:a16="http://schemas.microsoft.com/office/drawing/2014/main" id="{7AFD75AC-399E-40F5-9DC3-D0FFB4366ED0}"/>
              </a:ext>
            </a:extLst>
          </p:cNvPr>
          <p:cNvSpPr>
            <a:spLocks noGrp="1" noChangeArrowheads="1"/>
          </p:cNvSpPr>
          <p:nvPr>
            <p:ph type="body" idx="1"/>
          </p:nvPr>
        </p:nvSpPr>
        <p:spPr>
          <a:xfrm>
            <a:off x="1981200" y="1771651"/>
            <a:ext cx="8229600" cy="4530725"/>
          </a:xfrm>
        </p:spPr>
        <p:txBody>
          <a:bodyPr>
            <a:normAutofit lnSpcReduction="10000"/>
          </a:bodyPr>
          <a:lstStyle/>
          <a:p>
            <a:pPr marL="0" indent="0">
              <a:lnSpc>
                <a:spcPct val="80000"/>
              </a:lnSpc>
              <a:buNone/>
            </a:pPr>
            <a:r>
              <a:rPr lang="en-US" altLang="en-US" sz="2400" dirty="0">
                <a:sym typeface="Symbol" panose="05050102010706020507" pitchFamily="18" charset="2"/>
              </a:rPr>
              <a:t>Let </a:t>
            </a:r>
            <a:r>
              <a:rPr lang="en-US" altLang="en-US" sz="2400" i="1" dirty="0">
                <a:sym typeface="Symbol" panose="05050102010706020507" pitchFamily="18" charset="2"/>
              </a:rPr>
              <a:t>m</a:t>
            </a:r>
            <a:r>
              <a:rPr lang="en-US" altLang="en-US" sz="2400" dirty="0">
                <a:sym typeface="Symbol" panose="05050102010706020507" pitchFamily="18" charset="2"/>
              </a:rPr>
              <a:t> be odd. Then </a:t>
            </a:r>
            <a:r>
              <a:rPr lang="en-US" altLang="en-US" sz="2400" i="1" dirty="0">
                <a:sym typeface="Symbol" panose="05050102010706020507" pitchFamily="18" charset="2"/>
              </a:rPr>
              <a:t>m</a:t>
            </a:r>
            <a:r>
              <a:rPr lang="en-US" altLang="en-US" sz="2400" dirty="0">
                <a:sym typeface="Symbol" panose="05050102010706020507" pitchFamily="18" charset="2"/>
              </a:rPr>
              <a:t> = 2</a:t>
            </a:r>
            <a:r>
              <a:rPr lang="en-US" altLang="en-US" sz="2400" i="1" dirty="0">
                <a:sym typeface="Symbol" panose="05050102010706020507" pitchFamily="18" charset="2"/>
              </a:rPr>
              <a:t>q </a:t>
            </a:r>
            <a:r>
              <a:rPr lang="en-US" altLang="en-US" sz="2400" dirty="0">
                <a:sym typeface="Symbol" panose="05050102010706020507" pitchFamily="18" charset="2"/>
              </a:rPr>
              <a:t> + 1, for some </a:t>
            </a:r>
            <a:r>
              <a:rPr lang="en-US" altLang="en-US" sz="2400" i="1" dirty="0">
                <a:sym typeface="Symbol" panose="05050102010706020507" pitchFamily="18" charset="2"/>
              </a:rPr>
              <a:t>q</a:t>
            </a:r>
            <a:r>
              <a:rPr lang="en-US" altLang="en-US" sz="2400" dirty="0">
                <a:sym typeface="Symbol" panose="05050102010706020507" pitchFamily="18" charset="2"/>
              </a:rPr>
              <a:t>  ℕ.</a:t>
            </a:r>
          </a:p>
          <a:p>
            <a:pPr marL="0" indent="0">
              <a:lnSpc>
                <a:spcPct val="80000"/>
              </a:lnSpc>
              <a:buNone/>
            </a:pPr>
            <a:r>
              <a:rPr lang="en-US" altLang="en-US" sz="2400" dirty="0">
                <a:sym typeface="Symbol" panose="05050102010706020507" pitchFamily="18" charset="2"/>
              </a:rPr>
              <a:t>Hence,</a:t>
            </a:r>
          </a:p>
          <a:p>
            <a:pPr marL="0" indent="0">
              <a:lnSpc>
                <a:spcPct val="80000"/>
              </a:lnSpc>
              <a:buNone/>
            </a:pPr>
            <a:r>
              <a:rPr lang="en-US" altLang="en-US" sz="2400" dirty="0">
                <a:sym typeface="Symbol" panose="05050102010706020507" pitchFamily="18" charset="2"/>
              </a:rPr>
              <a:t>	 </a:t>
            </a:r>
            <a:r>
              <a:rPr lang="en-US" altLang="en-US" sz="2400" i="1" dirty="0">
                <a:sym typeface="Symbol" panose="05050102010706020507" pitchFamily="18" charset="2"/>
              </a:rPr>
              <a:t>m</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m</a:t>
            </a:r>
            <a:r>
              <a:rPr lang="en-US" altLang="en-US" sz="2400" dirty="0">
                <a:sym typeface="Symbol" panose="05050102010706020507" pitchFamily="18" charset="2"/>
              </a:rPr>
              <a:t> + 1 	= (2</a:t>
            </a:r>
            <a:r>
              <a:rPr lang="en-US" altLang="en-US" sz="2400" i="1" dirty="0">
                <a:sym typeface="Symbol" panose="05050102010706020507" pitchFamily="18" charset="2"/>
              </a:rPr>
              <a:t>q </a:t>
            </a:r>
            <a:r>
              <a:rPr lang="en-US" altLang="en-US" sz="2400" dirty="0">
                <a:sym typeface="Symbol" panose="05050102010706020507" pitchFamily="18" charset="2"/>
              </a:rPr>
              <a:t>+ 1)</a:t>
            </a:r>
            <a:r>
              <a:rPr lang="en-US" altLang="en-US" sz="2400" baseline="30000" dirty="0">
                <a:sym typeface="Symbol" panose="05050102010706020507" pitchFamily="18" charset="2"/>
              </a:rPr>
              <a:t>2</a:t>
            </a:r>
            <a:r>
              <a:rPr lang="en-US" altLang="en-US" sz="2400" dirty="0">
                <a:sym typeface="Symbol" panose="05050102010706020507" pitchFamily="18" charset="2"/>
              </a:rPr>
              <a:t> + (2</a:t>
            </a:r>
            <a:r>
              <a:rPr lang="en-US" altLang="en-US" sz="2400" i="1" dirty="0">
                <a:sym typeface="Symbol" panose="05050102010706020507" pitchFamily="18" charset="2"/>
              </a:rPr>
              <a:t>q </a:t>
            </a:r>
            <a:r>
              <a:rPr lang="en-US" altLang="en-US" sz="2400" dirty="0">
                <a:sym typeface="Symbol" panose="05050102010706020507" pitchFamily="18" charset="2"/>
              </a:rPr>
              <a:t>+ 1) + 1 </a:t>
            </a:r>
          </a:p>
          <a:p>
            <a:pPr marL="0" indent="0">
              <a:lnSpc>
                <a:spcPct val="80000"/>
              </a:lnSpc>
              <a:buNone/>
            </a:pPr>
            <a:r>
              <a:rPr lang="en-US" altLang="en-US" sz="2400" dirty="0">
                <a:sym typeface="Symbol" panose="05050102010706020507" pitchFamily="18" charset="2"/>
              </a:rPr>
              <a:t>			= 4</a:t>
            </a:r>
            <a:r>
              <a:rPr lang="en-US" altLang="en-US" sz="2400" i="1" dirty="0">
                <a:sym typeface="Symbol" panose="05050102010706020507" pitchFamily="18" charset="2"/>
              </a:rPr>
              <a:t>q</a:t>
            </a:r>
            <a:r>
              <a:rPr lang="en-US" altLang="en-US" sz="2400" baseline="30000" dirty="0">
                <a:sym typeface="Symbol" panose="05050102010706020507" pitchFamily="18" charset="2"/>
              </a:rPr>
              <a:t>2</a:t>
            </a:r>
            <a:r>
              <a:rPr lang="en-US" altLang="en-US" sz="2400" dirty="0">
                <a:sym typeface="Symbol" panose="05050102010706020507" pitchFamily="18" charset="2"/>
              </a:rPr>
              <a:t> + 4</a:t>
            </a:r>
            <a:r>
              <a:rPr lang="en-US" altLang="en-US" sz="2400" i="1" dirty="0">
                <a:sym typeface="Symbol" panose="05050102010706020507" pitchFamily="18" charset="2"/>
              </a:rPr>
              <a:t>q</a:t>
            </a:r>
            <a:r>
              <a:rPr lang="en-US" altLang="en-US" sz="2400" dirty="0">
                <a:sym typeface="Symbol" panose="05050102010706020507" pitchFamily="18" charset="2"/>
              </a:rPr>
              <a:t> + 1 + (2</a:t>
            </a:r>
            <a:r>
              <a:rPr lang="en-US" altLang="en-US" sz="2400" i="1" dirty="0">
                <a:sym typeface="Symbol" panose="05050102010706020507" pitchFamily="18" charset="2"/>
              </a:rPr>
              <a:t>q </a:t>
            </a:r>
            <a:r>
              <a:rPr lang="en-US" altLang="en-US" sz="2400" dirty="0">
                <a:sym typeface="Symbol" panose="05050102010706020507" pitchFamily="18" charset="2"/>
              </a:rPr>
              <a:t>+ 1) + 1 </a:t>
            </a:r>
          </a:p>
          <a:p>
            <a:pPr marL="0" indent="0">
              <a:lnSpc>
                <a:spcPct val="80000"/>
              </a:lnSpc>
              <a:buNone/>
            </a:pPr>
            <a:r>
              <a:rPr lang="en-US" altLang="en-US" sz="2400" dirty="0">
                <a:sym typeface="Symbol" panose="05050102010706020507" pitchFamily="18" charset="2"/>
              </a:rPr>
              <a:t>			= 4</a:t>
            </a:r>
            <a:r>
              <a:rPr lang="en-US" altLang="en-US" sz="2400" i="1" dirty="0">
                <a:sym typeface="Symbol" panose="05050102010706020507" pitchFamily="18" charset="2"/>
              </a:rPr>
              <a:t>q</a:t>
            </a:r>
            <a:r>
              <a:rPr lang="en-US" altLang="en-US" sz="2400" baseline="30000" dirty="0">
                <a:sym typeface="Symbol" panose="05050102010706020507" pitchFamily="18" charset="2"/>
              </a:rPr>
              <a:t>2</a:t>
            </a:r>
            <a:r>
              <a:rPr lang="en-US" altLang="en-US" sz="2400" dirty="0">
                <a:sym typeface="Symbol" panose="05050102010706020507" pitchFamily="18" charset="2"/>
              </a:rPr>
              <a:t> + 6</a:t>
            </a:r>
            <a:r>
              <a:rPr lang="en-US" altLang="en-US" sz="2400" i="1" dirty="0">
                <a:sym typeface="Symbol" panose="05050102010706020507" pitchFamily="18" charset="2"/>
              </a:rPr>
              <a:t>q</a:t>
            </a:r>
            <a:r>
              <a:rPr lang="en-US" altLang="en-US" sz="2400" dirty="0">
                <a:sym typeface="Symbol" panose="05050102010706020507" pitchFamily="18" charset="2"/>
              </a:rPr>
              <a:t> +3 				</a:t>
            </a:r>
          </a:p>
          <a:p>
            <a:pPr marL="0" indent="0">
              <a:lnSpc>
                <a:spcPct val="80000"/>
              </a:lnSpc>
              <a:buNone/>
            </a:pPr>
            <a:r>
              <a:rPr lang="en-US" altLang="en-US" sz="2400" dirty="0">
                <a:sym typeface="Symbol" panose="05050102010706020507" pitchFamily="18" charset="2"/>
              </a:rPr>
              <a:t>			= 2(2</a:t>
            </a:r>
            <a:r>
              <a:rPr lang="en-US" altLang="en-US" sz="2400" i="1" dirty="0">
                <a:sym typeface="Symbol" panose="05050102010706020507" pitchFamily="18" charset="2"/>
              </a:rPr>
              <a:t>q</a:t>
            </a:r>
            <a:r>
              <a:rPr lang="en-US" altLang="en-US" sz="2400" baseline="30000" dirty="0">
                <a:sym typeface="Symbol" panose="05050102010706020507" pitchFamily="18" charset="2"/>
              </a:rPr>
              <a:t>2</a:t>
            </a:r>
            <a:r>
              <a:rPr lang="en-US" altLang="en-US" sz="2400" dirty="0">
                <a:sym typeface="Symbol" panose="05050102010706020507" pitchFamily="18" charset="2"/>
              </a:rPr>
              <a:t> +3</a:t>
            </a:r>
            <a:r>
              <a:rPr lang="en-US" altLang="en-US" sz="2400" i="1" dirty="0">
                <a:sym typeface="Symbol" panose="05050102010706020507" pitchFamily="18" charset="2"/>
              </a:rPr>
              <a:t>q </a:t>
            </a:r>
            <a:r>
              <a:rPr lang="en-US" altLang="en-US" sz="2400" dirty="0">
                <a:sym typeface="Symbol" panose="05050102010706020507" pitchFamily="18" charset="2"/>
              </a:rPr>
              <a:t>+ 1) + 1</a:t>
            </a:r>
          </a:p>
          <a:p>
            <a:pPr marL="0" indent="0">
              <a:lnSpc>
                <a:spcPct val="80000"/>
              </a:lnSpc>
              <a:buNone/>
            </a:pPr>
            <a:r>
              <a:rPr lang="en-US" altLang="en-US" sz="2400" dirty="0">
                <a:sym typeface="Symbol" panose="05050102010706020507" pitchFamily="18" charset="2"/>
              </a:rPr>
              <a:t>			= 2</a:t>
            </a:r>
            <a:r>
              <a:rPr lang="en-US" altLang="en-US" sz="2400" i="1" dirty="0">
                <a:sym typeface="Symbol" panose="05050102010706020507" pitchFamily="18" charset="2"/>
              </a:rPr>
              <a:t>l</a:t>
            </a:r>
            <a:r>
              <a:rPr lang="en-US" altLang="en-US" sz="2400" dirty="0">
                <a:sym typeface="Symbol" panose="05050102010706020507" pitchFamily="18" charset="2"/>
              </a:rPr>
              <a:t> + 1	</a:t>
            </a:r>
          </a:p>
          <a:p>
            <a:pPr marL="0" indent="0">
              <a:lnSpc>
                <a:spcPct val="80000"/>
              </a:lnSpc>
              <a:buNone/>
            </a:pPr>
            <a:r>
              <a:rPr lang="en-US" altLang="en-US" sz="2400" dirty="0">
                <a:sym typeface="Symbol" panose="05050102010706020507" pitchFamily="18" charset="2"/>
              </a:rPr>
              <a:t>where </a:t>
            </a:r>
            <a:r>
              <a:rPr lang="en-US" altLang="en-US" sz="2400" i="1" dirty="0">
                <a:sym typeface="Symbol" panose="05050102010706020507" pitchFamily="18" charset="2"/>
              </a:rPr>
              <a:t>l</a:t>
            </a:r>
            <a:r>
              <a:rPr lang="en-US" altLang="en-US" sz="2400" dirty="0">
                <a:sym typeface="Symbol" panose="05050102010706020507" pitchFamily="18" charset="2"/>
              </a:rPr>
              <a:t> = 2</a:t>
            </a:r>
            <a:r>
              <a:rPr lang="en-US" altLang="en-US" sz="2400" i="1" dirty="0">
                <a:sym typeface="Symbol" panose="05050102010706020507" pitchFamily="18" charset="2"/>
              </a:rPr>
              <a:t>q</a:t>
            </a:r>
            <a:r>
              <a:rPr lang="en-US" altLang="en-US" sz="2400" baseline="30000" dirty="0">
                <a:sym typeface="Symbol" panose="05050102010706020507" pitchFamily="18" charset="2"/>
              </a:rPr>
              <a:t>2</a:t>
            </a:r>
            <a:r>
              <a:rPr lang="en-US" altLang="en-US" sz="2400" dirty="0">
                <a:sym typeface="Symbol" panose="05050102010706020507" pitchFamily="18" charset="2"/>
              </a:rPr>
              <a:t> + 3</a:t>
            </a:r>
            <a:r>
              <a:rPr lang="en-US" altLang="en-US" sz="2400" i="1" dirty="0">
                <a:sym typeface="Symbol" panose="05050102010706020507" pitchFamily="18" charset="2"/>
              </a:rPr>
              <a:t>q </a:t>
            </a:r>
            <a:r>
              <a:rPr lang="en-US" altLang="en-US" sz="2400" dirty="0">
                <a:sym typeface="Symbol" panose="05050102010706020507" pitchFamily="18" charset="2"/>
              </a:rPr>
              <a:t>+ 1, </a:t>
            </a:r>
            <a:r>
              <a:rPr lang="en-US" altLang="en-US" sz="2400" i="1" dirty="0">
                <a:sym typeface="Symbol" panose="05050102010706020507" pitchFamily="18" charset="2"/>
              </a:rPr>
              <a:t>l</a:t>
            </a:r>
            <a:r>
              <a:rPr lang="en-US" altLang="en-US" sz="2400" dirty="0">
                <a:sym typeface="Symbol" panose="05050102010706020507" pitchFamily="18" charset="2"/>
              </a:rPr>
              <a:t>  ℕ.</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Therefore, when </a:t>
            </a:r>
            <a:r>
              <a:rPr lang="en-US" altLang="en-US" sz="2400" i="1" dirty="0">
                <a:sym typeface="Symbol" panose="05050102010706020507" pitchFamily="18" charset="2"/>
              </a:rPr>
              <a:t>m</a:t>
            </a:r>
            <a:r>
              <a:rPr lang="en-US" altLang="en-US" sz="2400" dirty="0">
                <a:sym typeface="Symbol" panose="05050102010706020507" pitchFamily="18" charset="2"/>
              </a:rPr>
              <a:t> is odd, </a:t>
            </a:r>
            <a:r>
              <a:rPr lang="en-US" altLang="en-US" sz="2400" i="1" dirty="0">
                <a:sym typeface="Symbol" panose="05050102010706020507" pitchFamily="18" charset="2"/>
              </a:rPr>
              <a:t>m</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m</a:t>
            </a:r>
            <a:r>
              <a:rPr lang="en-US" altLang="en-US" sz="2400" dirty="0">
                <a:sym typeface="Symbol" panose="05050102010706020507" pitchFamily="18" charset="2"/>
              </a:rPr>
              <a:t> + 1 is odd. 	 </a:t>
            </a:r>
          </a:p>
          <a:p>
            <a:pPr marL="0" indent="0">
              <a:lnSpc>
                <a:spcPct val="80000"/>
              </a:lnSpc>
              <a:buNone/>
            </a:pPr>
            <a:endParaRPr lang="en-US" altLang="en-US" sz="2400" dirty="0">
              <a:sym typeface="Symbol" panose="05050102010706020507" pitchFamily="18" charset="2"/>
            </a:endParaRPr>
          </a:p>
          <a:p>
            <a:pPr marL="0" indent="0">
              <a:lnSpc>
                <a:spcPct val="80000"/>
              </a:lnSpc>
              <a:buNone/>
            </a:pPr>
            <a:r>
              <a:rPr lang="en-US" altLang="en-US" sz="2400" dirty="0">
                <a:sym typeface="Symbol" panose="05050102010706020507" pitchFamily="18" charset="2"/>
              </a:rPr>
              <a:t>Thus, </a:t>
            </a:r>
            <a:r>
              <a:rPr lang="en-US" altLang="en-US" sz="2400" i="1" dirty="0">
                <a:sym typeface="Symbol" panose="05050102010706020507" pitchFamily="18" charset="2"/>
              </a:rPr>
              <a:t>m</a:t>
            </a:r>
            <a:r>
              <a:rPr lang="en-US" altLang="en-US" sz="2400" dirty="0">
                <a:sym typeface="Symbol" panose="05050102010706020507" pitchFamily="18" charset="2"/>
              </a:rPr>
              <a:t>  ℕ, </a:t>
            </a:r>
            <a:r>
              <a:rPr lang="en-US" altLang="en-US" sz="2400" i="1" dirty="0">
                <a:sym typeface="Symbol" panose="05050102010706020507" pitchFamily="18" charset="2"/>
              </a:rPr>
              <a:t>m</a:t>
            </a:r>
            <a:r>
              <a:rPr lang="en-US" altLang="en-US" sz="2400" baseline="30000" dirty="0">
                <a:sym typeface="Symbol" panose="05050102010706020507" pitchFamily="18" charset="2"/>
              </a:rPr>
              <a:t>2</a:t>
            </a:r>
            <a:r>
              <a:rPr lang="en-US" altLang="en-US" sz="2400" dirty="0">
                <a:sym typeface="Symbol" panose="05050102010706020507" pitchFamily="18" charset="2"/>
              </a:rPr>
              <a:t> + </a:t>
            </a:r>
            <a:r>
              <a:rPr lang="en-US" altLang="en-US" sz="2400" i="1" dirty="0">
                <a:sym typeface="Symbol" panose="05050102010706020507" pitchFamily="18" charset="2"/>
              </a:rPr>
              <a:t>m</a:t>
            </a:r>
            <a:r>
              <a:rPr lang="en-US" altLang="en-US" sz="2400" dirty="0">
                <a:sym typeface="Symbol" panose="05050102010706020507" pitchFamily="18" charset="2"/>
              </a:rPr>
              <a:t> + 1 is odd.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4723">
                                            <p:txEl>
                                              <p:pRg st="1" end="1"/>
                                            </p:txEl>
                                          </p:spTgt>
                                        </p:tgtEl>
                                        <p:attrNameLst>
                                          <p:attrName>style.visibility</p:attrName>
                                        </p:attrNameLst>
                                      </p:cBhvr>
                                      <p:to>
                                        <p:strVal val="visible"/>
                                      </p:to>
                                    </p:set>
                                    <p:animEffect transition="in" filter="box(in)">
                                      <p:cBhvr>
                                        <p:cTn id="7" dur="500"/>
                                        <p:tgtEl>
                                          <p:spTgt spid="4147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14723">
                                            <p:txEl>
                                              <p:pRg st="2" end="2"/>
                                            </p:txEl>
                                          </p:spTgt>
                                        </p:tgtEl>
                                        <p:attrNameLst>
                                          <p:attrName>style.visibility</p:attrName>
                                        </p:attrNameLst>
                                      </p:cBhvr>
                                      <p:to>
                                        <p:strVal val="visible"/>
                                      </p:to>
                                    </p:set>
                                    <p:animEffect transition="in" filter="box(in)">
                                      <p:cBhvr>
                                        <p:cTn id="12" dur="500"/>
                                        <p:tgtEl>
                                          <p:spTgt spid="4147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4723">
                                            <p:txEl>
                                              <p:pRg st="3" end="3"/>
                                            </p:txEl>
                                          </p:spTgt>
                                        </p:tgtEl>
                                        <p:attrNameLst>
                                          <p:attrName>style.visibility</p:attrName>
                                        </p:attrNameLst>
                                      </p:cBhvr>
                                      <p:to>
                                        <p:strVal val="visible"/>
                                      </p:to>
                                    </p:set>
                                    <p:animEffect transition="in" filter="box(in)">
                                      <p:cBhvr>
                                        <p:cTn id="17" dur="500"/>
                                        <p:tgtEl>
                                          <p:spTgt spid="41472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14723">
                                            <p:txEl>
                                              <p:pRg st="4" end="4"/>
                                            </p:txEl>
                                          </p:spTgt>
                                        </p:tgtEl>
                                        <p:attrNameLst>
                                          <p:attrName>style.visibility</p:attrName>
                                        </p:attrNameLst>
                                      </p:cBhvr>
                                      <p:to>
                                        <p:strVal val="visible"/>
                                      </p:to>
                                    </p:set>
                                    <p:animEffect transition="in" filter="box(in)">
                                      <p:cBhvr>
                                        <p:cTn id="22" dur="500"/>
                                        <p:tgtEl>
                                          <p:spTgt spid="41472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14723">
                                            <p:txEl>
                                              <p:pRg st="5" end="5"/>
                                            </p:txEl>
                                          </p:spTgt>
                                        </p:tgtEl>
                                        <p:attrNameLst>
                                          <p:attrName>style.visibility</p:attrName>
                                        </p:attrNameLst>
                                      </p:cBhvr>
                                      <p:to>
                                        <p:strVal val="visible"/>
                                      </p:to>
                                    </p:set>
                                    <p:animEffect transition="in" filter="box(in)">
                                      <p:cBhvr>
                                        <p:cTn id="27" dur="500"/>
                                        <p:tgtEl>
                                          <p:spTgt spid="41472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14723">
                                            <p:txEl>
                                              <p:pRg st="6" end="6"/>
                                            </p:txEl>
                                          </p:spTgt>
                                        </p:tgtEl>
                                        <p:attrNameLst>
                                          <p:attrName>style.visibility</p:attrName>
                                        </p:attrNameLst>
                                      </p:cBhvr>
                                      <p:to>
                                        <p:strVal val="visible"/>
                                      </p:to>
                                    </p:set>
                                    <p:animEffect transition="in" filter="box(in)">
                                      <p:cBhvr>
                                        <p:cTn id="32" dur="500"/>
                                        <p:tgtEl>
                                          <p:spTgt spid="41472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14723">
                                            <p:txEl>
                                              <p:pRg st="7" end="7"/>
                                            </p:txEl>
                                          </p:spTgt>
                                        </p:tgtEl>
                                        <p:attrNameLst>
                                          <p:attrName>style.visibility</p:attrName>
                                        </p:attrNameLst>
                                      </p:cBhvr>
                                      <p:to>
                                        <p:strVal val="visible"/>
                                      </p:to>
                                    </p:set>
                                    <p:animEffect transition="in" filter="box(in)">
                                      <p:cBhvr>
                                        <p:cTn id="37" dur="500"/>
                                        <p:tgtEl>
                                          <p:spTgt spid="414723">
                                            <p:txEl>
                                              <p:pRg st="7" end="7"/>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414723">
                                            <p:txEl>
                                              <p:pRg st="9" end="9"/>
                                            </p:txEl>
                                          </p:spTgt>
                                        </p:tgtEl>
                                        <p:attrNameLst>
                                          <p:attrName>style.visibility</p:attrName>
                                        </p:attrNameLst>
                                      </p:cBhvr>
                                      <p:to>
                                        <p:strVal val="visible"/>
                                      </p:to>
                                    </p:set>
                                    <p:animEffect transition="in" filter="box(in)">
                                      <p:cBhvr>
                                        <p:cTn id="40" dur="500"/>
                                        <p:tgtEl>
                                          <p:spTgt spid="414723">
                                            <p:txEl>
                                              <p:pRg st="9" end="9"/>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414723">
                                            <p:txEl>
                                              <p:pRg st="11" end="11"/>
                                            </p:txEl>
                                          </p:spTgt>
                                        </p:tgtEl>
                                        <p:attrNameLst>
                                          <p:attrName>style.visibility</p:attrName>
                                        </p:attrNameLst>
                                      </p:cBhvr>
                                      <p:to>
                                        <p:strVal val="visible"/>
                                      </p:to>
                                    </p:set>
                                    <p:animEffect transition="in" filter="box(in)">
                                      <p:cBhvr>
                                        <p:cTn id="45" dur="500"/>
                                        <p:tgtEl>
                                          <p:spTgt spid="41472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62AF7C30-6E68-4E65-94F1-0DF6AFBDD5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37353A5-69C7-4748-87DA-ED3DA5006547}" type="slidenum">
              <a:rPr lang="en-GB" altLang="en-US" sz="1400">
                <a:latin typeface="Arial" panose="020B0604020202020204" pitchFamily="34" charset="0"/>
                <a:cs typeface="Arial" panose="020B0604020202020204" pitchFamily="34" charset="0"/>
              </a:rPr>
              <a:pPr>
                <a:spcBef>
                  <a:spcPct val="0"/>
                </a:spcBef>
                <a:buFontTx/>
                <a:buNone/>
              </a:pPr>
              <a:t>53</a:t>
            </a:fld>
            <a:endParaRPr lang="en-GB" altLang="en-US" sz="1400">
              <a:latin typeface="Arial" panose="020B0604020202020204" pitchFamily="34" charset="0"/>
              <a:cs typeface="Arial" panose="020B0604020202020204" pitchFamily="34" charset="0"/>
            </a:endParaRPr>
          </a:p>
        </p:txBody>
      </p:sp>
      <p:sp>
        <p:nvSpPr>
          <p:cNvPr id="57347" name="Rectangle 2">
            <a:extLst>
              <a:ext uri="{FF2B5EF4-FFF2-40B4-BE49-F238E27FC236}">
                <a16:creationId xmlns:a16="http://schemas.microsoft.com/office/drawing/2014/main" id="{1AE1C3C5-B86F-42CA-83DD-8A2C9CDAEAF7}"/>
              </a:ext>
            </a:extLst>
          </p:cNvPr>
          <p:cNvSpPr>
            <a:spLocks noGrp="1" noChangeArrowheads="1"/>
          </p:cNvSpPr>
          <p:nvPr>
            <p:ph type="title"/>
          </p:nvPr>
        </p:nvSpPr>
        <p:spPr>
          <a:xfrm>
            <a:off x="1607128" y="136526"/>
            <a:ext cx="9025247" cy="682871"/>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Identifying Appropriate Methods of Proof</a:t>
            </a:r>
          </a:p>
        </p:txBody>
      </p:sp>
      <p:sp>
        <p:nvSpPr>
          <p:cNvPr id="417795" name="Rectangle 3">
            <a:extLst>
              <a:ext uri="{FF2B5EF4-FFF2-40B4-BE49-F238E27FC236}">
                <a16:creationId xmlns:a16="http://schemas.microsoft.com/office/drawing/2014/main" id="{3012D0BF-DE08-43A9-800A-7407BE47CD2D}"/>
              </a:ext>
            </a:extLst>
          </p:cNvPr>
          <p:cNvSpPr>
            <a:spLocks noGrp="1" noChangeArrowheads="1"/>
          </p:cNvSpPr>
          <p:nvPr>
            <p:ph type="body" idx="1"/>
          </p:nvPr>
        </p:nvSpPr>
        <p:spPr>
          <a:xfrm>
            <a:off x="1524001" y="997527"/>
            <a:ext cx="9025247" cy="5247698"/>
          </a:xfrm>
        </p:spPr>
        <p:txBody>
          <a:bodyPr/>
          <a:lstStyle/>
          <a:p>
            <a:pPr>
              <a:spcAft>
                <a:spcPts val="1800"/>
              </a:spcAft>
            </a:pPr>
            <a:r>
              <a:rPr lang="en-US" altLang="en-US" sz="2400" dirty="0">
                <a:sym typeface="Symbol" panose="05050102010706020507" pitchFamily="18" charset="2"/>
              </a:rPr>
              <a:t>First, always try Direct Proof. </a:t>
            </a:r>
          </a:p>
          <a:p>
            <a:pPr>
              <a:spcAft>
                <a:spcPts val="1800"/>
              </a:spcAft>
            </a:pPr>
            <a:r>
              <a:rPr lang="en-US" altLang="en-US" sz="2400" dirty="0">
                <a:sym typeface="Symbol" panose="05050102010706020507" pitchFamily="18" charset="2"/>
              </a:rPr>
              <a:t>If you get “stuck”, next, try Proof by Contradiction. Usually, after this, you should be able to identify the methods. However, if you are more comfortable with Proof by Contrapositive, before trying Proof by Contradiction, you can try Proof by Contrapositive first.</a:t>
            </a:r>
          </a:p>
          <a:p>
            <a:pPr>
              <a:spcAft>
                <a:spcPts val="1800"/>
              </a:spcAft>
            </a:pPr>
            <a:r>
              <a:rPr lang="en-US" altLang="en-US" sz="2400" dirty="0">
                <a:sym typeface="Symbol" panose="05050102010706020507" pitchFamily="18" charset="2"/>
              </a:rPr>
              <a:t>Note that Proof by Cases can be used in Direct Proof, Proof by Contradiction and Proof by Contrapositive.</a:t>
            </a:r>
          </a:p>
          <a:p>
            <a:pPr>
              <a:spcAft>
                <a:spcPts val="1800"/>
              </a:spcAft>
            </a:pPr>
            <a:r>
              <a:rPr lang="en-US" altLang="en-US" sz="2400" dirty="0">
                <a:sym typeface="Symbol" panose="05050102010706020507" pitchFamily="18" charset="2"/>
              </a:rPr>
              <a:t>Mathematical Induction is only suitable for proofing an infinite family of statements based on integers n. All the methods pf proof can be used within the structure of Mathematical Induction.</a:t>
            </a:r>
          </a:p>
          <a:p>
            <a:pPr eaLnBrk="1" hangingPunct="1">
              <a:buFont typeface="Arial" panose="020B0604020202020204" pitchFamily="34" charset="0"/>
              <a:buChar char="•"/>
            </a:pPr>
            <a:endParaRPr lang="en-US" altLang="en-US" sz="2400" dirty="0">
              <a:sym typeface="Symbol" panose="05050102010706020507" pitchFamily="18" charset="2"/>
            </a:endParaRPr>
          </a:p>
        </p:txBody>
      </p:sp>
    </p:spTree>
    <p:extLst>
      <p:ext uri="{BB962C8B-B14F-4D97-AF65-F5344CB8AC3E}">
        <p14:creationId xmlns:p14="http://schemas.microsoft.com/office/powerpoint/2010/main" val="10617451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7795">
                                            <p:txEl>
                                              <p:pRg st="1" end="1"/>
                                            </p:txEl>
                                          </p:spTgt>
                                        </p:tgtEl>
                                        <p:attrNameLst>
                                          <p:attrName>style.visibility</p:attrName>
                                        </p:attrNameLst>
                                      </p:cBhvr>
                                      <p:to>
                                        <p:strVal val="visible"/>
                                      </p:to>
                                    </p:set>
                                    <p:animEffect transition="in" filter="box(in)">
                                      <p:cBhvr>
                                        <p:cTn id="7" dur="500"/>
                                        <p:tgtEl>
                                          <p:spTgt spid="4177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17795">
                                            <p:txEl>
                                              <p:pRg st="2" end="2"/>
                                            </p:txEl>
                                          </p:spTgt>
                                        </p:tgtEl>
                                        <p:attrNameLst>
                                          <p:attrName>style.visibility</p:attrName>
                                        </p:attrNameLst>
                                      </p:cBhvr>
                                      <p:to>
                                        <p:strVal val="visible"/>
                                      </p:to>
                                    </p:set>
                                    <p:animEffect transition="in" filter="box(in)">
                                      <p:cBhvr>
                                        <p:cTn id="12" dur="500"/>
                                        <p:tgtEl>
                                          <p:spTgt spid="4177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17795">
                                            <p:txEl>
                                              <p:pRg st="3" end="3"/>
                                            </p:txEl>
                                          </p:spTgt>
                                        </p:tgtEl>
                                        <p:attrNameLst>
                                          <p:attrName>style.visibility</p:attrName>
                                        </p:attrNameLst>
                                      </p:cBhvr>
                                      <p:to>
                                        <p:strVal val="visible"/>
                                      </p:to>
                                    </p:set>
                                    <p:animEffect transition="in" filter="box(in)">
                                      <p:cBhvr>
                                        <p:cTn id="17" dur="500"/>
                                        <p:tgtEl>
                                          <p:spTgt spid="417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62AF7C30-6E68-4E65-94F1-0DF6AFBDD5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37353A5-69C7-4748-87DA-ED3DA5006547}" type="slidenum">
              <a:rPr lang="en-GB" altLang="en-US" sz="1400">
                <a:latin typeface="Arial" panose="020B0604020202020204" pitchFamily="34" charset="0"/>
                <a:cs typeface="Arial" panose="020B0604020202020204" pitchFamily="34" charset="0"/>
              </a:rPr>
              <a:pPr>
                <a:spcBef>
                  <a:spcPct val="0"/>
                </a:spcBef>
                <a:buFontTx/>
                <a:buNone/>
              </a:pPr>
              <a:t>54</a:t>
            </a:fld>
            <a:endParaRPr lang="en-GB" altLang="en-US" sz="1400">
              <a:latin typeface="Arial" panose="020B0604020202020204" pitchFamily="34" charset="0"/>
              <a:cs typeface="Arial" panose="020B0604020202020204" pitchFamily="34" charset="0"/>
            </a:endParaRPr>
          </a:p>
        </p:txBody>
      </p:sp>
      <p:sp>
        <p:nvSpPr>
          <p:cNvPr id="57347" name="Rectangle 2">
            <a:extLst>
              <a:ext uri="{FF2B5EF4-FFF2-40B4-BE49-F238E27FC236}">
                <a16:creationId xmlns:a16="http://schemas.microsoft.com/office/drawing/2014/main" id="{1AE1C3C5-B86F-42CA-83DD-8A2C9CDAEAF7}"/>
              </a:ext>
            </a:extLst>
          </p:cNvPr>
          <p:cNvSpPr>
            <a:spLocks noGrp="1" noChangeArrowheads="1"/>
          </p:cNvSpPr>
          <p:nvPr>
            <p:ph type="title"/>
          </p:nvPr>
        </p:nvSpPr>
        <p:spPr>
          <a:xfrm>
            <a:off x="1524000" y="136527"/>
            <a:ext cx="9144000" cy="682871"/>
          </a:xfrm>
        </p:spPr>
        <p:txBody>
          <a:bodyPr/>
          <a:lstStyle/>
          <a:p>
            <a:pPr eaLnBrk="1" hangingPunct="1"/>
            <a:r>
              <a:rPr lang="en-US" altLang="en-US" sz="3600" b="1" dirty="0">
                <a:solidFill>
                  <a:schemeClr val="folHlink"/>
                </a:solidFill>
                <a:latin typeface="Times New Roman" panose="02020603050405020304" pitchFamily="18" charset="0"/>
                <a:cs typeface="Times New Roman" panose="02020603050405020304" pitchFamily="18" charset="0"/>
                <a:sym typeface="Symbol" panose="05050102010706020507" pitchFamily="18" charset="2"/>
              </a:rPr>
              <a:t>Working on a Proof</a:t>
            </a:r>
          </a:p>
        </p:txBody>
      </p:sp>
      <p:sp>
        <p:nvSpPr>
          <p:cNvPr id="417795" name="Rectangle 3">
            <a:extLst>
              <a:ext uri="{FF2B5EF4-FFF2-40B4-BE49-F238E27FC236}">
                <a16:creationId xmlns:a16="http://schemas.microsoft.com/office/drawing/2014/main" id="{3012D0BF-DE08-43A9-800A-7407BE47CD2D}"/>
              </a:ext>
            </a:extLst>
          </p:cNvPr>
          <p:cNvSpPr>
            <a:spLocks noGrp="1" noChangeArrowheads="1"/>
          </p:cNvSpPr>
          <p:nvPr>
            <p:ph type="body" idx="1"/>
          </p:nvPr>
        </p:nvSpPr>
        <p:spPr>
          <a:xfrm>
            <a:off x="1524001" y="997527"/>
            <a:ext cx="9025247" cy="4536374"/>
          </a:xfrm>
        </p:spPr>
        <p:txBody>
          <a:bodyPr>
            <a:normAutofit lnSpcReduction="10000"/>
          </a:bodyPr>
          <a:lstStyle/>
          <a:p>
            <a:pPr>
              <a:spcAft>
                <a:spcPts val="1800"/>
              </a:spcAft>
            </a:pPr>
            <a:r>
              <a:rPr lang="en-US" altLang="en-US" sz="2400" dirty="0">
                <a:sym typeface="Symbol" panose="05050102010706020507" pitchFamily="18" charset="2"/>
              </a:rPr>
              <a:t>In general, proofing a statement is a creative task, and therefore, there is no fixed steps. However, the following guidelines are useful.</a:t>
            </a:r>
          </a:p>
          <a:p>
            <a:pPr>
              <a:spcAft>
                <a:spcPts val="1800"/>
              </a:spcAft>
            </a:pPr>
            <a:r>
              <a:rPr lang="en-US" altLang="en-US" sz="2400" dirty="0">
                <a:sym typeface="Symbol" panose="05050102010706020507" pitchFamily="18" charset="2"/>
              </a:rPr>
              <a:t>Always start from the assumption (either given assumption or assumptions from a selected method of proof). </a:t>
            </a:r>
          </a:p>
          <a:p>
            <a:pPr>
              <a:spcAft>
                <a:spcPts val="1800"/>
              </a:spcAft>
            </a:pPr>
            <a:r>
              <a:rPr lang="en-US" altLang="en-US" sz="2400" dirty="0">
                <a:sym typeface="Symbol" panose="05050102010706020507" pitchFamily="18" charset="2"/>
              </a:rPr>
              <a:t>Then, based on the assumption and/or well-known facts, draw statements from definition or theorem, again, based on the statements drawn, draw further statements from definition or theorem, and so on…, until a proof is formed.</a:t>
            </a:r>
          </a:p>
          <a:p>
            <a:pPr>
              <a:spcAft>
                <a:spcPts val="1800"/>
              </a:spcAft>
            </a:pPr>
            <a:r>
              <a:rPr lang="en-US" altLang="en-US" sz="2400" dirty="0">
                <a:sym typeface="Symbol" panose="05050102010706020507" pitchFamily="18" charset="2"/>
              </a:rPr>
              <a:t>During the previous step, always match what you need to prove with what you have currently to draw further statements for bridging the gap between them.</a:t>
            </a:r>
          </a:p>
        </p:txBody>
      </p:sp>
    </p:spTree>
    <p:extLst>
      <p:ext uri="{BB962C8B-B14F-4D97-AF65-F5344CB8AC3E}">
        <p14:creationId xmlns:p14="http://schemas.microsoft.com/office/powerpoint/2010/main" val="3213249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7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7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7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77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1553BD75-9A56-4553-BF0C-CDB96B538CF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FA152F4-B575-4963-BF4E-DFCB33C7553B}" type="slidenum">
              <a:rPr lang="en-GB" altLang="en-US" sz="1400">
                <a:latin typeface="Arial" panose="020B0604020202020204" pitchFamily="34" charset="0"/>
                <a:cs typeface="Arial" panose="020B0604020202020204" pitchFamily="34" charset="0"/>
              </a:rPr>
              <a:pPr>
                <a:spcBef>
                  <a:spcPct val="0"/>
                </a:spcBef>
                <a:buFontTx/>
                <a:buNone/>
              </a:pPr>
              <a:t>55</a:t>
            </a:fld>
            <a:endParaRPr lang="en-GB" altLang="en-US" sz="1400">
              <a:latin typeface="Arial" panose="020B0604020202020204" pitchFamily="34" charset="0"/>
              <a:cs typeface="Arial" panose="020B0604020202020204" pitchFamily="34" charset="0"/>
            </a:endParaRPr>
          </a:p>
        </p:txBody>
      </p:sp>
      <p:sp>
        <p:nvSpPr>
          <p:cNvPr id="62467" name="Rectangle 2">
            <a:extLst>
              <a:ext uri="{FF2B5EF4-FFF2-40B4-BE49-F238E27FC236}">
                <a16:creationId xmlns:a16="http://schemas.microsoft.com/office/drawing/2014/main" id="{A44271D7-4FCF-4519-98E5-E0E40F81B4F6}"/>
              </a:ext>
            </a:extLst>
          </p:cNvPr>
          <p:cNvSpPr>
            <a:spLocks noGrp="1" noChangeArrowheads="1"/>
          </p:cNvSpPr>
          <p:nvPr>
            <p:ph type="ctrTitle"/>
          </p:nvPr>
        </p:nvSpPr>
        <p:spPr>
          <a:xfrm>
            <a:off x="1543194" y="1712706"/>
            <a:ext cx="7772400" cy="1828800"/>
          </a:xfrm>
        </p:spPr>
        <p:txBody>
          <a:bodyPr/>
          <a:lstStyle/>
          <a:p>
            <a:pPr eaLnBrk="1" hangingPunct="1"/>
            <a:r>
              <a:rPr lang="en-GB" altLang="en-US" b="1" dirty="0">
                <a:solidFill>
                  <a:schemeClr val="folHlink"/>
                </a:solidFill>
                <a:latin typeface="Times New Roman" panose="02020603050405020304" pitchFamily="18" charset="0"/>
                <a:cs typeface="Times New Roman" panose="02020603050405020304" pitchFamily="18" charset="0"/>
              </a:rPr>
              <a:t>End of Unit 3</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592</TotalTime>
  <Words>4677</Words>
  <Application>Microsoft Office PowerPoint</Application>
  <PresentationFormat>Widescreen</PresentationFormat>
  <Paragraphs>535</Paragraphs>
  <Slides>55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Calibri</vt:lpstr>
      <vt:lpstr>Calibri Light</vt:lpstr>
      <vt:lpstr>Symbol</vt:lpstr>
      <vt:lpstr>Times New Roman</vt:lpstr>
      <vt:lpstr>Wingdings</vt:lpstr>
      <vt:lpstr>1_Office Theme</vt:lpstr>
      <vt:lpstr>MATH221 Mathematics for Computer Science</vt:lpstr>
      <vt:lpstr>OBJECTIVES</vt:lpstr>
      <vt:lpstr>What Is An Argument?</vt:lpstr>
      <vt:lpstr>Example: Testing the Validity of an Argument</vt:lpstr>
      <vt:lpstr>Example: Testing the Validity of an Argument</vt:lpstr>
      <vt:lpstr>What Is A Proof?</vt:lpstr>
      <vt:lpstr>Assumptions</vt:lpstr>
      <vt:lpstr>Assumptions: Examples</vt:lpstr>
      <vt:lpstr>Assumptions: Note</vt:lpstr>
      <vt:lpstr>Axioms</vt:lpstr>
      <vt:lpstr>Axioms: Examples</vt:lpstr>
      <vt:lpstr>Mathematical Rules</vt:lpstr>
      <vt:lpstr>Mathematical Rules: Examples</vt:lpstr>
      <vt:lpstr>Logical Rules</vt:lpstr>
      <vt:lpstr>Rule of Modus Ponens</vt:lpstr>
      <vt:lpstr>Discussion: the use of Modus Ponens </vt:lpstr>
      <vt:lpstr>Discussion: the use of Modus Ponens </vt:lpstr>
      <vt:lpstr>Law Of Syllogism</vt:lpstr>
      <vt:lpstr>Law Of Syllogism: Method</vt:lpstr>
      <vt:lpstr>Law Of Syllogism: Example</vt:lpstr>
      <vt:lpstr>Law Of Syllogism: Example</vt:lpstr>
      <vt:lpstr>Law Of Syllogism: Note</vt:lpstr>
      <vt:lpstr>Law Of Syllogism: Note</vt:lpstr>
      <vt:lpstr>Methods of Proof - Types</vt:lpstr>
      <vt:lpstr>Proving  Statements</vt:lpstr>
      <vt:lpstr>Proving  Statements: Example</vt:lpstr>
      <vt:lpstr>Example:</vt:lpstr>
      <vt:lpstr>Proving  Statements</vt:lpstr>
      <vt:lpstr>Proving  Statements: Example</vt:lpstr>
      <vt:lpstr>Disproving  Statements</vt:lpstr>
      <vt:lpstr>Disproving  Statements</vt:lpstr>
      <vt:lpstr>Example:</vt:lpstr>
      <vt:lpstr>Discussion:</vt:lpstr>
      <vt:lpstr>The Direct Proof</vt:lpstr>
      <vt:lpstr>Examples:</vt:lpstr>
      <vt:lpstr>Exercise:</vt:lpstr>
      <vt:lpstr>Handy Hint:</vt:lpstr>
      <vt:lpstr>Forwards And Backwards Process</vt:lpstr>
      <vt:lpstr>Forwards And Backwards Process: Example</vt:lpstr>
      <vt:lpstr>Forwards And Backwards Process: Example</vt:lpstr>
      <vt:lpstr>Forwards And Backwards Process: Note</vt:lpstr>
      <vt:lpstr>Proof By Contradiction: Method</vt:lpstr>
      <vt:lpstr>Proof By Contradiction: Example</vt:lpstr>
      <vt:lpstr>Proof By Contradiction: Example</vt:lpstr>
      <vt:lpstr>Example:</vt:lpstr>
      <vt:lpstr>Proof By Contrapositive: Method</vt:lpstr>
      <vt:lpstr>Proof By Contrapositive: Example</vt:lpstr>
      <vt:lpstr>When to use Proof By Contrapositive and Proof by Contradiction</vt:lpstr>
      <vt:lpstr>Discussion:</vt:lpstr>
      <vt:lpstr>Proof By Cases</vt:lpstr>
      <vt:lpstr>Proof By Cases: Example</vt:lpstr>
      <vt:lpstr>Proof By Cases: Example</vt:lpstr>
      <vt:lpstr>Identifying Appropriate Methods of Proof</vt:lpstr>
      <vt:lpstr>Working on a Proof</vt:lpstr>
      <vt:lpstr>End of Unit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Hee Beng Kuan Tan</dc:creator>
  <cp:lastModifiedBy>Hee Beng Kuan Tan</cp:lastModifiedBy>
  <cp:revision>52</cp:revision>
  <cp:lastPrinted>2021-01-05T04:40:25Z</cp:lastPrinted>
  <dcterms:created xsi:type="dcterms:W3CDTF">2020-10-03T10:39:56Z</dcterms:created>
  <dcterms:modified xsi:type="dcterms:W3CDTF">2021-01-05T04:40:29Z</dcterms:modified>
</cp:coreProperties>
</file>