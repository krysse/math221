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589" r:id="rId2"/>
    <p:sldId id="527" r:id="rId3"/>
    <p:sldId id="515" r:id="rId4"/>
    <p:sldId id="547" r:id="rId5"/>
    <p:sldId id="549" r:id="rId6"/>
    <p:sldId id="550" r:id="rId7"/>
    <p:sldId id="421" r:id="rId8"/>
    <p:sldId id="551" r:id="rId9"/>
    <p:sldId id="552" r:id="rId10"/>
    <p:sldId id="517" r:id="rId11"/>
    <p:sldId id="518" r:id="rId12"/>
    <p:sldId id="519" r:id="rId13"/>
    <p:sldId id="544" r:id="rId14"/>
    <p:sldId id="520" r:id="rId15"/>
    <p:sldId id="521" r:id="rId16"/>
    <p:sldId id="522" r:id="rId17"/>
    <p:sldId id="523" r:id="rId18"/>
    <p:sldId id="553" r:id="rId19"/>
    <p:sldId id="554" r:id="rId20"/>
    <p:sldId id="555" r:id="rId21"/>
    <p:sldId id="531" r:id="rId22"/>
    <p:sldId id="532" r:id="rId23"/>
    <p:sldId id="556" r:id="rId24"/>
    <p:sldId id="529" r:id="rId25"/>
    <p:sldId id="530" r:id="rId26"/>
    <p:sldId id="533" r:id="rId27"/>
    <p:sldId id="534" r:id="rId28"/>
    <p:sldId id="536" r:id="rId29"/>
    <p:sldId id="539" r:id="rId30"/>
    <p:sldId id="537" r:id="rId31"/>
    <p:sldId id="528" r:id="rId32"/>
    <p:sldId id="541" r:id="rId33"/>
    <p:sldId id="545" r:id="rId34"/>
    <p:sldId id="412" r:id="rId35"/>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95" d="100"/>
          <a:sy n="95" d="100"/>
        </p:scale>
        <p:origin x="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3E5EDE30-E61C-44D9-80B0-A27268B34339}" type="datetimeFigureOut">
              <a:rPr lang="en-SG" smtClean="0"/>
              <a:t>5/1/2021</a:t>
            </a:fld>
            <a:endParaRPr lang="en-SG"/>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AC283E2-B821-4922-8B09-1B555FFD542C}" type="slidenum">
              <a:rPr lang="en-SG" smtClean="0"/>
              <a:t>‹#›</a:t>
            </a:fld>
            <a:endParaRPr lang="en-SG"/>
          </a:p>
        </p:txBody>
      </p:sp>
    </p:spTree>
    <p:extLst>
      <p:ext uri="{BB962C8B-B14F-4D97-AF65-F5344CB8AC3E}">
        <p14:creationId xmlns:p14="http://schemas.microsoft.com/office/powerpoint/2010/main" val="3246938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EE07EB5D-16D0-49E4-B14A-B52E3A82EF86}"/>
              </a:ext>
            </a:extLst>
          </p:cNvPr>
          <p:cNvSpPr>
            <a:spLocks noGrp="1" noRot="1" noChangeAspect="1" noChangeArrowheads="1" noTextEdit="1"/>
          </p:cNvSpPr>
          <p:nvPr>
            <p:ph type="sldImg"/>
          </p:nvPr>
        </p:nvSpPr>
        <p:spPr>
          <a:ln/>
        </p:spPr>
      </p:sp>
      <p:sp>
        <p:nvSpPr>
          <p:cNvPr id="10243" name="Notes Placeholder 2">
            <a:extLst>
              <a:ext uri="{FF2B5EF4-FFF2-40B4-BE49-F238E27FC236}">
                <a16:creationId xmlns:a16="http://schemas.microsoft.com/office/drawing/2014/main" id="{F7F07350-135F-442B-80F5-63247E656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latin typeface="Arial" panose="020B0604020202020204" pitchFamily="34" charset="0"/>
              <a:cs typeface="Arial" panose="020B0604020202020204" pitchFamily="34" charset="0"/>
            </a:endParaRPr>
          </a:p>
        </p:txBody>
      </p:sp>
      <p:sp>
        <p:nvSpPr>
          <p:cNvPr id="10244" name="Slide Number Placeholder 3">
            <a:extLst>
              <a:ext uri="{FF2B5EF4-FFF2-40B4-BE49-F238E27FC236}">
                <a16:creationId xmlns:a16="http://schemas.microsoft.com/office/drawing/2014/main" id="{D5DB4071-BAB7-4EBC-A436-7D81454F35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62C96B-BEF4-45AB-9034-75BAB00DE271}" type="slidenum">
              <a:rPr lang="en-GB" altLang="en-US" smtClean="0"/>
              <a:pPr/>
              <a:t>5</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A6A7D1F-0C78-401C-88A5-31768B2079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23E9BDE-ABCC-4E97-A59F-AA1E9B89F87B}" type="slidenum">
              <a:rPr lang="en-GB" altLang="en-US" smtClean="0"/>
              <a:pPr>
                <a:spcBef>
                  <a:spcPct val="0"/>
                </a:spcBef>
              </a:pPr>
              <a:t>6</a:t>
            </a:fld>
            <a:endParaRPr lang="en-GB" altLang="en-US"/>
          </a:p>
        </p:txBody>
      </p:sp>
      <p:sp>
        <p:nvSpPr>
          <p:cNvPr id="12291" name="Rectangle 2">
            <a:extLst>
              <a:ext uri="{FF2B5EF4-FFF2-40B4-BE49-F238E27FC236}">
                <a16:creationId xmlns:a16="http://schemas.microsoft.com/office/drawing/2014/main" id="{69A792DA-0C24-4725-A174-B409946F73A3}"/>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4CAFBE17-85FC-4351-B990-75995EA9CB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sym typeface="Symbol" panose="05050102010706020507" pitchFamily="18" charset="2"/>
              </a:rPr>
              <a:t>It is best to avoid the word “any” since it is often ambiguous as to whether it means “every” or “some.”</a:t>
            </a:r>
          </a:p>
          <a:p>
            <a:pPr eaLnBrk="1" hangingPunct="1"/>
            <a:endParaRPr lang="en-US" altLang="en-US">
              <a:latin typeface="Arial" panose="020B0604020202020204" pitchFamily="34" charset="0"/>
              <a:cs typeface="Arial" panose="020B0604020202020204" pitchFamily="34" charset="0"/>
              <a:sym typeface="Symbol" panose="05050102010706020507" pitchFamily="18" charset="2"/>
            </a:endParaRPr>
          </a:p>
          <a:p>
            <a:pPr eaLnBrk="1" hangingPunct="1"/>
            <a:r>
              <a:rPr lang="en-US" altLang="en-US">
                <a:latin typeface="Arial" panose="020B0604020202020204" pitchFamily="34" charset="0"/>
                <a:cs typeface="Arial" panose="020B0604020202020204" pitchFamily="34" charset="0"/>
                <a:sym typeface="Symbol" panose="05050102010706020507" pitchFamily="18" charset="2"/>
              </a:rPr>
              <a:t>For </a:t>
            </a:r>
            <a:r>
              <a:rPr lang="en-US" altLang="en-US" i="1">
                <a:latin typeface="Arial" panose="020B0604020202020204" pitchFamily="34" charset="0"/>
                <a:cs typeface="Arial" panose="020B0604020202020204" pitchFamily="34" charset="0"/>
                <a:sym typeface="Symbol" panose="05050102010706020507" pitchFamily="18" charset="2"/>
              </a:rPr>
              <a:t>x</a:t>
            </a:r>
            <a:r>
              <a:rPr lang="en-US" altLang="en-US">
                <a:latin typeface="Arial" panose="020B0604020202020204" pitchFamily="34" charset="0"/>
                <a:cs typeface="Arial" panose="020B0604020202020204" pitchFamily="34" charset="0"/>
                <a:sym typeface="Symbol" panose="05050102010706020507" pitchFamily="18" charset="2"/>
              </a:rPr>
              <a:t> quantifier or there exist quantifier, we need to find what is the x that will satisfy the statement.</a:t>
            </a:r>
          </a:p>
          <a:p>
            <a:pPr eaLnBrk="1" hangingPunct="1"/>
            <a:endParaRPr lang="en-US" altLang="en-US">
              <a:latin typeface="Arial" panose="020B0604020202020204" pitchFamily="34" charset="0"/>
              <a:cs typeface="Arial" panose="020B0604020202020204" pitchFamily="34" charset="0"/>
              <a:sym typeface="Symbol" panose="05050102010706020507" pitchFamily="18" charset="2"/>
            </a:endParaRPr>
          </a:p>
          <a:p>
            <a:pPr eaLnBrk="1" hangingPunct="1"/>
            <a:r>
              <a:rPr lang="en-US" altLang="en-US">
                <a:latin typeface="Arial" panose="020B0604020202020204" pitchFamily="34" charset="0"/>
                <a:cs typeface="Arial" panose="020B0604020202020204" pitchFamily="34" charset="0"/>
                <a:sym typeface="Symbol" panose="05050102010706020507" pitchFamily="18" charset="2"/>
              </a:rPr>
              <a:t>For </a:t>
            </a:r>
            <a:r>
              <a:rPr lang="en-US" altLang="en-US" i="1">
                <a:latin typeface="Arial" panose="020B0604020202020204" pitchFamily="34" charset="0"/>
                <a:cs typeface="Arial" panose="020B0604020202020204" pitchFamily="34" charset="0"/>
                <a:sym typeface="Symbol" panose="05050102010706020507" pitchFamily="18" charset="2"/>
              </a:rPr>
              <a:t>x </a:t>
            </a:r>
            <a:r>
              <a:rPr lang="en-US" altLang="en-US">
                <a:latin typeface="Arial" panose="020B0604020202020204" pitchFamily="34" charset="0"/>
                <a:cs typeface="Arial" panose="020B0604020202020204" pitchFamily="34" charset="0"/>
                <a:sym typeface="Symbol" panose="05050102010706020507" pitchFamily="18" charset="2"/>
              </a:rPr>
              <a:t>quantifer or for all quantifier, the y is given and must satisfy all 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8FECE28-A652-4BA7-BBB9-0F0CA603B9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415E834-F2AD-42DA-BEBD-1E02F0F4FF5B}" type="slidenum">
              <a:rPr lang="en-GB" altLang="en-US" smtClean="0"/>
              <a:pPr>
                <a:spcBef>
                  <a:spcPct val="0"/>
                </a:spcBef>
              </a:pPr>
              <a:t>17</a:t>
            </a:fld>
            <a:endParaRPr lang="en-GB" altLang="en-US"/>
          </a:p>
        </p:txBody>
      </p:sp>
      <p:sp>
        <p:nvSpPr>
          <p:cNvPr id="26627" name="Rectangle 2">
            <a:extLst>
              <a:ext uri="{FF2B5EF4-FFF2-40B4-BE49-F238E27FC236}">
                <a16:creationId xmlns:a16="http://schemas.microsoft.com/office/drawing/2014/main" id="{64BB8C87-5883-456E-987A-8C8710AD8C55}"/>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5C9FFA49-70CC-44AF-A18B-84F05A1117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Distinguish this from not all real numbers have squares equal to -1.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092D-4212-41CF-BF58-D9DD36DA555E}"/>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D7C2C51A-A0A3-4FD3-8F46-E03A7F11F79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4B1172D8-D585-4692-9D91-2611A81231D5}"/>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7E792D4-042D-4750-B5E2-5B509CD172C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B864761-5428-44D3-9DE1-9809D14FFB8A}"/>
              </a:ext>
            </a:extLst>
          </p:cNvPr>
          <p:cNvSpPr>
            <a:spLocks noGrp="1"/>
          </p:cNvSpPr>
          <p:nvPr>
            <p:ph type="sldNum" sz="quarter" idx="12"/>
          </p:nvPr>
        </p:nvSpPr>
        <p:spPr/>
        <p:txBody>
          <a:bodyPr/>
          <a:lstStyle/>
          <a:p>
            <a:pPr>
              <a:defRPr/>
            </a:pPr>
            <a:fld id="{6D6C4D71-B334-403F-B5E1-784B25D8624C}" type="slidenum">
              <a:rPr lang="en-GB" altLang="en-US" smtClean="0"/>
              <a:pPr>
                <a:defRPr/>
              </a:pPr>
              <a:t>‹#›</a:t>
            </a:fld>
            <a:endParaRPr lang="en-GB" altLang="en-US"/>
          </a:p>
        </p:txBody>
      </p:sp>
    </p:spTree>
    <p:extLst>
      <p:ext uri="{BB962C8B-B14F-4D97-AF65-F5344CB8AC3E}">
        <p14:creationId xmlns:p14="http://schemas.microsoft.com/office/powerpoint/2010/main" val="425048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700C-F714-4CB9-A6DE-FAA2183FCE3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09C0618-233F-4B2C-A1A2-ECE9BE94D8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638E7D6-94D8-4184-BE5C-E4DB5077D72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27243B7-0D58-4351-A372-0F4C7638261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41C7699-4F3C-4117-85F4-C4207892AA6A}"/>
              </a:ext>
            </a:extLst>
          </p:cNvPr>
          <p:cNvSpPr>
            <a:spLocks noGrp="1"/>
          </p:cNvSpPr>
          <p:nvPr>
            <p:ph type="sldNum" sz="quarter" idx="12"/>
          </p:nvPr>
        </p:nvSpPr>
        <p:spPr/>
        <p:txBody>
          <a:bodyPr/>
          <a:lstStyle/>
          <a:p>
            <a:pPr>
              <a:defRPr/>
            </a:pPr>
            <a:fld id="{A411E565-5AAE-4302-9D71-D55C9A5ED4B5}" type="slidenum">
              <a:rPr lang="en-GB" altLang="en-US" smtClean="0"/>
              <a:pPr>
                <a:defRPr/>
              </a:pPr>
              <a:t>‹#›</a:t>
            </a:fld>
            <a:endParaRPr lang="en-GB" altLang="en-US"/>
          </a:p>
        </p:txBody>
      </p:sp>
    </p:spTree>
    <p:extLst>
      <p:ext uri="{BB962C8B-B14F-4D97-AF65-F5344CB8AC3E}">
        <p14:creationId xmlns:p14="http://schemas.microsoft.com/office/powerpoint/2010/main" val="261475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0F477-AFB0-4DE5-9B97-AB4AACC3ED89}"/>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41F83BD-BAF6-4477-B5D5-28CD1A7985EC}"/>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265DC7-745D-4A1A-8862-A0281CEAC96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02A01F5-1453-4310-A706-91F07CD2C69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4985D44-875F-4BE8-B893-12C1D9647668}"/>
              </a:ext>
            </a:extLst>
          </p:cNvPr>
          <p:cNvSpPr>
            <a:spLocks noGrp="1"/>
          </p:cNvSpPr>
          <p:nvPr>
            <p:ph type="sldNum" sz="quarter" idx="12"/>
          </p:nvPr>
        </p:nvSpPr>
        <p:spPr/>
        <p:txBody>
          <a:bodyPr/>
          <a:lstStyle/>
          <a:p>
            <a:pPr>
              <a:defRPr/>
            </a:pPr>
            <a:fld id="{6F9A738D-4EDA-4D70-99E5-9A08BD4183DE}" type="slidenum">
              <a:rPr lang="en-GB" altLang="en-US" smtClean="0"/>
              <a:pPr>
                <a:defRPr/>
              </a:pPr>
              <a:t>‹#›</a:t>
            </a:fld>
            <a:endParaRPr lang="en-GB" altLang="en-US"/>
          </a:p>
        </p:txBody>
      </p:sp>
    </p:spTree>
    <p:extLst>
      <p:ext uri="{BB962C8B-B14F-4D97-AF65-F5344CB8AC3E}">
        <p14:creationId xmlns:p14="http://schemas.microsoft.com/office/powerpoint/2010/main" val="257654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5DFB-A478-4FFD-BF7D-5260955DA49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3B3062F-1A40-45E0-ABDB-5EE1C9ADD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CF2E0206-64F0-4280-8310-265D514CD4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EB574C2-E648-49F7-8122-46DDA1647F17}"/>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F77D6C3-A20E-4A9F-BE71-4F798A3F506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E2BF6A-1001-4397-BF26-5B12A8AF1A7C}"/>
              </a:ext>
            </a:extLst>
          </p:cNvPr>
          <p:cNvSpPr>
            <a:spLocks noGrp="1"/>
          </p:cNvSpPr>
          <p:nvPr>
            <p:ph type="sldNum" sz="quarter" idx="12"/>
          </p:nvPr>
        </p:nvSpPr>
        <p:spPr/>
        <p:txBody>
          <a:bodyPr/>
          <a:lstStyle/>
          <a:p>
            <a:pPr>
              <a:defRPr/>
            </a:pPr>
            <a:fld id="{2FF4DE9E-8CB3-4855-93F4-6FA7E56E3938}" type="slidenum">
              <a:rPr lang="en-GB" altLang="en-US" smtClean="0"/>
              <a:pPr>
                <a:defRPr/>
              </a:pPr>
              <a:t>‹#›</a:t>
            </a:fld>
            <a:endParaRPr lang="en-GB" altLang="en-US"/>
          </a:p>
        </p:txBody>
      </p:sp>
    </p:spTree>
    <p:extLst>
      <p:ext uri="{BB962C8B-B14F-4D97-AF65-F5344CB8AC3E}">
        <p14:creationId xmlns:p14="http://schemas.microsoft.com/office/powerpoint/2010/main" val="3351971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C1B0-64FF-4FE5-BC51-9D08A0B4F60A}"/>
              </a:ext>
            </a:extLst>
          </p:cNvPr>
          <p:cNvSpPr>
            <a:spLocks noGrp="1"/>
          </p:cNvSpPr>
          <p:nvPr>
            <p:ph type="title"/>
          </p:nvPr>
        </p:nvSpPr>
        <p:spPr>
          <a:xfrm>
            <a:off x="839788" y="365127"/>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31E9A8D-8032-45BA-ADBC-C26CB8D9E2AB}"/>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A37F984-43E2-481C-911A-724E9B088802}"/>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DC9F5BD-2573-41D8-97C4-09499303EE78}"/>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5D28118-F8C2-4DA7-B2F9-E38D4A4F26AF}"/>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80D3BB3-4B72-4958-BF80-8C2CBB7B398B}"/>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8BE271BB-7CE0-47A6-9CB3-0B88610DB73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B67B3BB3-6B4F-4352-889B-265D07A15F14}"/>
              </a:ext>
            </a:extLst>
          </p:cNvPr>
          <p:cNvSpPr>
            <a:spLocks noGrp="1"/>
          </p:cNvSpPr>
          <p:nvPr>
            <p:ph type="sldNum" sz="quarter" idx="12"/>
          </p:nvPr>
        </p:nvSpPr>
        <p:spPr/>
        <p:txBody>
          <a:bodyPr/>
          <a:lstStyle/>
          <a:p>
            <a:pPr>
              <a:defRPr/>
            </a:pPr>
            <a:fld id="{3B3F6EF9-7981-486B-BC8C-C082F2CA500D}" type="slidenum">
              <a:rPr lang="en-GB" altLang="en-US" smtClean="0"/>
              <a:pPr>
                <a:defRPr/>
              </a:pPr>
              <a:t>‹#›</a:t>
            </a:fld>
            <a:endParaRPr lang="en-GB" altLang="en-US"/>
          </a:p>
        </p:txBody>
      </p:sp>
    </p:spTree>
    <p:extLst>
      <p:ext uri="{BB962C8B-B14F-4D97-AF65-F5344CB8AC3E}">
        <p14:creationId xmlns:p14="http://schemas.microsoft.com/office/powerpoint/2010/main" val="289002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4F70-B809-4C2A-AE89-BB4D9B050AE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F62E6DB-76B6-4498-8D71-E6272410852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B62BBF7-993F-4B93-95AA-3BA6F428618E}"/>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E50F5F1-1BC0-476E-A4EF-23F19F2EB33F}"/>
              </a:ext>
            </a:extLst>
          </p:cNvPr>
          <p:cNvSpPr>
            <a:spLocks noGrp="1"/>
          </p:cNvSpPr>
          <p:nvPr>
            <p:ph type="sldNum" sz="quarter" idx="12"/>
          </p:nvPr>
        </p:nvSpPr>
        <p:spPr/>
        <p:txBody>
          <a:bodyPr/>
          <a:lstStyle/>
          <a:p>
            <a:pPr>
              <a:defRPr/>
            </a:pPr>
            <a:fld id="{EA89950C-F960-494B-8332-BACE3F02B25A}" type="slidenum">
              <a:rPr lang="en-GB" altLang="en-US" smtClean="0"/>
              <a:pPr>
                <a:defRPr/>
              </a:pPr>
              <a:t>‹#›</a:t>
            </a:fld>
            <a:endParaRPr lang="en-GB" altLang="en-US"/>
          </a:p>
        </p:txBody>
      </p:sp>
    </p:spTree>
    <p:extLst>
      <p:ext uri="{BB962C8B-B14F-4D97-AF65-F5344CB8AC3E}">
        <p14:creationId xmlns:p14="http://schemas.microsoft.com/office/powerpoint/2010/main" val="152987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721A3-DE04-4B30-8C39-849471D97CAC}"/>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6E908AA2-753B-4744-9783-BBF538498AF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4AD0A969-F139-4CD5-862F-947ED9781FED}"/>
              </a:ext>
            </a:extLst>
          </p:cNvPr>
          <p:cNvSpPr>
            <a:spLocks noGrp="1"/>
          </p:cNvSpPr>
          <p:nvPr>
            <p:ph type="sldNum" sz="quarter" idx="12"/>
          </p:nvPr>
        </p:nvSpPr>
        <p:spPr/>
        <p:txBody>
          <a:bodyPr/>
          <a:lstStyle/>
          <a:p>
            <a:pPr>
              <a:defRPr/>
            </a:pPr>
            <a:fld id="{22FEA832-A6AE-4E78-BBE9-18366D9CFBC2}" type="slidenum">
              <a:rPr lang="en-GB" altLang="en-US" smtClean="0"/>
              <a:pPr>
                <a:defRPr/>
              </a:pPr>
              <a:t>‹#›</a:t>
            </a:fld>
            <a:endParaRPr lang="en-GB" altLang="en-US"/>
          </a:p>
        </p:txBody>
      </p:sp>
    </p:spTree>
    <p:extLst>
      <p:ext uri="{BB962C8B-B14F-4D97-AF65-F5344CB8AC3E}">
        <p14:creationId xmlns:p14="http://schemas.microsoft.com/office/powerpoint/2010/main" val="372314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E15D-2854-4C12-8F24-42FC98E76C8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8D6F1A4-6545-48F4-B4FE-67159C0E19C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26A9DA3A-931D-4C44-A363-880A26058EA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E8EE96C-9C19-4A39-A358-2C659C1D204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4B4BB42-803B-496C-A4EE-FB9AB303B4F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742F4BC-E10F-4E6A-AC39-937C255BF231}"/>
              </a:ext>
            </a:extLst>
          </p:cNvPr>
          <p:cNvSpPr>
            <a:spLocks noGrp="1"/>
          </p:cNvSpPr>
          <p:nvPr>
            <p:ph type="sldNum" sz="quarter" idx="12"/>
          </p:nvPr>
        </p:nvSpPr>
        <p:spPr/>
        <p:txBody>
          <a:bodyPr/>
          <a:lstStyle/>
          <a:p>
            <a:pPr>
              <a:defRPr/>
            </a:pPr>
            <a:fld id="{8747A975-8FA5-4E55-960C-663ABF069E4B}" type="slidenum">
              <a:rPr lang="en-GB" altLang="en-US" smtClean="0"/>
              <a:pPr>
                <a:defRPr/>
              </a:pPr>
              <a:t>‹#›</a:t>
            </a:fld>
            <a:endParaRPr lang="en-GB" altLang="en-US"/>
          </a:p>
        </p:txBody>
      </p:sp>
    </p:spTree>
    <p:extLst>
      <p:ext uri="{BB962C8B-B14F-4D97-AF65-F5344CB8AC3E}">
        <p14:creationId xmlns:p14="http://schemas.microsoft.com/office/powerpoint/2010/main" val="698568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B3B2-F5BE-4E8C-B534-BD05A90140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E76A587-BD4A-4D67-9383-22E61D3E0840}"/>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G"/>
          </a:p>
        </p:txBody>
      </p:sp>
      <p:sp>
        <p:nvSpPr>
          <p:cNvPr id="4" name="Text Placeholder 3">
            <a:extLst>
              <a:ext uri="{FF2B5EF4-FFF2-40B4-BE49-F238E27FC236}">
                <a16:creationId xmlns:a16="http://schemas.microsoft.com/office/drawing/2014/main" id="{EE05BF78-BBA5-482E-881C-2BEFCEFE82F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DED3DA-6328-42F7-9772-313E1945ECA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70EF7E6-8603-4D2C-BC4B-39764680F5E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7BDC209-97B1-4C28-A1B3-E345642DEC2C}"/>
              </a:ext>
            </a:extLst>
          </p:cNvPr>
          <p:cNvSpPr>
            <a:spLocks noGrp="1"/>
          </p:cNvSpPr>
          <p:nvPr>
            <p:ph type="sldNum" sz="quarter" idx="12"/>
          </p:nvPr>
        </p:nvSpPr>
        <p:spPr/>
        <p:txBody>
          <a:bodyPr/>
          <a:lstStyle/>
          <a:p>
            <a:pPr>
              <a:defRPr/>
            </a:pPr>
            <a:fld id="{E92F6AE3-965C-4549-B78A-B228D0AC5637}" type="slidenum">
              <a:rPr lang="en-GB" altLang="en-US" smtClean="0"/>
              <a:pPr>
                <a:defRPr/>
              </a:pPr>
              <a:t>‹#›</a:t>
            </a:fld>
            <a:endParaRPr lang="en-GB" altLang="en-US"/>
          </a:p>
        </p:txBody>
      </p:sp>
    </p:spTree>
    <p:extLst>
      <p:ext uri="{BB962C8B-B14F-4D97-AF65-F5344CB8AC3E}">
        <p14:creationId xmlns:p14="http://schemas.microsoft.com/office/powerpoint/2010/main" val="388530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9B95-54BB-4331-A774-CD8FC64650E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D128831-7175-4364-A195-76AB238C5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04FB213-8116-4139-8B50-4A670938EFF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1D4B3E-2958-4B36-84CE-BE7C429A840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FE40EC9-7377-4159-A79B-D9EAE3D8F137}"/>
              </a:ext>
            </a:extLst>
          </p:cNvPr>
          <p:cNvSpPr>
            <a:spLocks noGrp="1"/>
          </p:cNvSpPr>
          <p:nvPr>
            <p:ph type="sldNum" sz="quarter" idx="12"/>
          </p:nvPr>
        </p:nvSpPr>
        <p:spPr/>
        <p:txBody>
          <a:bodyPr/>
          <a:lstStyle/>
          <a:p>
            <a:pPr>
              <a:defRPr/>
            </a:pPr>
            <a:fld id="{4D7B34FA-59D9-4ACB-BD9D-0D523E70916B}" type="slidenum">
              <a:rPr lang="en-GB" altLang="en-US" smtClean="0"/>
              <a:pPr>
                <a:defRPr/>
              </a:pPr>
              <a:t>‹#›</a:t>
            </a:fld>
            <a:endParaRPr lang="en-GB" altLang="en-US"/>
          </a:p>
        </p:txBody>
      </p:sp>
    </p:spTree>
    <p:extLst>
      <p:ext uri="{BB962C8B-B14F-4D97-AF65-F5344CB8AC3E}">
        <p14:creationId xmlns:p14="http://schemas.microsoft.com/office/powerpoint/2010/main" val="318228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335B5-A253-40F7-86CA-16B24ADF530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88BFC03-01C4-415B-97CE-660BC35EF4B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3F2660B-5AAD-4620-85B5-5A444A1CFAD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66E3F84-40D0-4C09-9912-EA5E78DB33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24685B7-892C-432C-9751-CEAF3A553693}"/>
              </a:ext>
            </a:extLst>
          </p:cNvPr>
          <p:cNvSpPr>
            <a:spLocks noGrp="1"/>
          </p:cNvSpPr>
          <p:nvPr>
            <p:ph type="sldNum" sz="quarter" idx="12"/>
          </p:nvPr>
        </p:nvSpPr>
        <p:spPr/>
        <p:txBody>
          <a:bodyPr/>
          <a:lstStyle/>
          <a:p>
            <a:pPr>
              <a:defRPr/>
            </a:pPr>
            <a:fld id="{2B805C72-34DF-4ED0-B468-302846DA4E88}" type="slidenum">
              <a:rPr lang="en-GB" altLang="en-US" smtClean="0"/>
              <a:pPr>
                <a:defRPr/>
              </a:pPr>
              <a:t>‹#›</a:t>
            </a:fld>
            <a:endParaRPr lang="en-GB" altLang="en-US"/>
          </a:p>
        </p:txBody>
      </p:sp>
    </p:spTree>
    <p:extLst>
      <p:ext uri="{BB962C8B-B14F-4D97-AF65-F5344CB8AC3E}">
        <p14:creationId xmlns:p14="http://schemas.microsoft.com/office/powerpoint/2010/main" val="3032484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BA4BCC1-DE29-407C-8320-DD040E2CB12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E739040-170D-44DE-B93F-5EFB729C18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53AA558-EAF1-4980-A379-7D636A651A36}"/>
              </a:ext>
            </a:extLst>
          </p:cNvPr>
          <p:cNvSpPr>
            <a:spLocks noGrp="1" noChangeArrowheads="1"/>
          </p:cNvSpPr>
          <p:nvPr>
            <p:ph type="sldNum" sz="quarter" idx="12"/>
          </p:nvPr>
        </p:nvSpPr>
        <p:spPr>
          <a:ln/>
        </p:spPr>
        <p:txBody>
          <a:bodyPr/>
          <a:lstStyle>
            <a:lvl1pPr>
              <a:defRPr/>
            </a:lvl1pPr>
          </a:lstStyle>
          <a:p>
            <a:pPr>
              <a:defRPr/>
            </a:pPr>
            <a:fld id="{D518BB0F-D8D8-4BA2-B1CC-B33D5748695B}" type="slidenum">
              <a:rPr lang="en-GB" altLang="en-US"/>
              <a:pPr>
                <a:defRPr/>
              </a:pPr>
              <a:t>‹#›</a:t>
            </a:fld>
            <a:endParaRPr lang="en-GB" altLang="en-US"/>
          </a:p>
        </p:txBody>
      </p:sp>
    </p:spTree>
    <p:extLst>
      <p:ext uri="{BB962C8B-B14F-4D97-AF65-F5344CB8AC3E}">
        <p14:creationId xmlns:p14="http://schemas.microsoft.com/office/powerpoint/2010/main" val="2469512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062B0-CA3A-4DE4-BF60-A978F473424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D684E3D-0147-49FB-810C-58630EEAC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B51C0C-74FC-4C9B-83FC-B62973961A0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B22A19FD-2E16-43A8-B64C-C4F7B5010F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F0FD751-A9E0-47BE-89A1-15AA161B189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A8A0BD3-8906-4742-8599-DF7C93EAD45E}" type="slidenum">
              <a:rPr lang="en-GB" altLang="en-US" smtClean="0"/>
              <a:pPr>
                <a:defRPr/>
              </a:pPr>
              <a:t>‹#›</a:t>
            </a:fld>
            <a:endParaRPr lang="en-GB" altLang="en-US"/>
          </a:p>
        </p:txBody>
      </p:sp>
    </p:spTree>
    <p:extLst>
      <p:ext uri="{BB962C8B-B14F-4D97-AF65-F5344CB8AC3E}">
        <p14:creationId xmlns:p14="http://schemas.microsoft.com/office/powerpoint/2010/main" val="3447595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A7CFD8D2-76A8-4656-87F2-9BD95F4C4A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FDC763-F69E-47F2-9814-5F47EC779A96}" type="slidenum">
              <a:rPr lang="en-GB" altLang="en-US" sz="1400">
                <a:latin typeface="Arial" panose="020B0604020202020204" pitchFamily="34" charset="0"/>
                <a:cs typeface="Arial" panose="020B0604020202020204" pitchFamily="34" charset="0"/>
              </a:rPr>
              <a:pPr>
                <a:spcBef>
                  <a:spcPct val="0"/>
                </a:spcBef>
                <a:buFontTx/>
                <a:buNone/>
              </a:pPr>
              <a:t>1</a:t>
            </a:fld>
            <a:endParaRPr lang="en-GB" altLang="en-US" sz="1400">
              <a:latin typeface="Arial" panose="020B0604020202020204" pitchFamily="34" charset="0"/>
              <a:cs typeface="Arial" panose="020B0604020202020204" pitchFamily="34" charset="0"/>
            </a:endParaRPr>
          </a:p>
        </p:txBody>
      </p:sp>
      <p:sp>
        <p:nvSpPr>
          <p:cNvPr id="4099" name="Rectangle 2">
            <a:extLst>
              <a:ext uri="{FF2B5EF4-FFF2-40B4-BE49-F238E27FC236}">
                <a16:creationId xmlns:a16="http://schemas.microsoft.com/office/drawing/2014/main" id="{918E50E4-9026-4C74-B0AF-C14CB01461AF}"/>
              </a:ext>
            </a:extLst>
          </p:cNvPr>
          <p:cNvSpPr>
            <a:spLocks noGrp="1" noChangeArrowheads="1"/>
          </p:cNvSpPr>
          <p:nvPr>
            <p:ph type="ctrTitle"/>
          </p:nvPr>
        </p:nvSpPr>
        <p:spPr>
          <a:xfrm>
            <a:off x="1014620" y="136523"/>
            <a:ext cx="9650411" cy="1995488"/>
          </a:xfrm>
        </p:spPr>
        <p:txBody>
          <a:bodyPr/>
          <a:lstStyle/>
          <a:p>
            <a:pPr eaLnBrk="1" hangingPunct="1"/>
            <a:r>
              <a:rPr lang="en-US" altLang="en-US" b="1" u="sng" dirty="0">
                <a:solidFill>
                  <a:srgbClr val="171BAD"/>
                </a:solidFill>
                <a:latin typeface="Times New Roman" panose="02020603050405020304" pitchFamily="18" charset="0"/>
                <a:cs typeface="Times New Roman" panose="02020603050405020304" pitchFamily="18" charset="0"/>
              </a:rPr>
              <a:t>MATH221</a:t>
            </a:r>
            <a:br>
              <a:rPr lang="en-US" altLang="en-US" b="1" dirty="0">
                <a:solidFill>
                  <a:schemeClr val="folHlink"/>
                </a:solidFill>
                <a:latin typeface="Times New Roman" panose="02020603050405020304" pitchFamily="18" charset="0"/>
                <a:cs typeface="Times New Roman" panose="02020603050405020304" pitchFamily="18" charset="0"/>
              </a:rPr>
            </a:br>
            <a:r>
              <a:rPr lang="en-US" altLang="en-US" b="1" dirty="0">
                <a:solidFill>
                  <a:srgbClr val="171BAD"/>
                </a:solidFill>
                <a:latin typeface="Times New Roman" panose="02020603050405020304" pitchFamily="18" charset="0"/>
                <a:cs typeface="Times New Roman" panose="02020603050405020304" pitchFamily="18" charset="0"/>
              </a:rPr>
              <a:t>Mathematics for Computer Science</a:t>
            </a:r>
            <a:endParaRPr lang="en-GB" altLang="en-US" b="1" dirty="0">
              <a:solidFill>
                <a:srgbClr val="171BAD"/>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D39CEFFF-1C1A-4318-81FC-43EDFF82341B}"/>
              </a:ext>
            </a:extLst>
          </p:cNvPr>
          <p:cNvSpPr txBox="1">
            <a:spLocks noChangeArrowheads="1"/>
          </p:cNvSpPr>
          <p:nvPr/>
        </p:nvSpPr>
        <p:spPr bwMode="auto">
          <a:xfrm>
            <a:off x="1559626" y="3619976"/>
            <a:ext cx="8783638" cy="14700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Arial" pitchFamily="-109" charset="0"/>
                <a:cs typeface="+mj-cs"/>
              </a:defRPr>
            </a:lvl1pPr>
            <a:lvl2pPr algn="ctr" rtl="0" eaLnBrk="0" fontAlgn="base" hangingPunct="0">
              <a:spcBef>
                <a:spcPct val="0"/>
              </a:spcBef>
              <a:spcAft>
                <a:spcPct val="0"/>
              </a:spcAft>
              <a:defRPr sz="4400">
                <a:solidFill>
                  <a:schemeClr val="tx2"/>
                </a:solidFill>
                <a:latin typeface="Arial" charset="0"/>
                <a:ea typeface="Arial" pitchFamily="-109" charset="0"/>
                <a:cs typeface="Arial" charset="0"/>
              </a:defRPr>
            </a:lvl2pPr>
            <a:lvl3pPr algn="ctr" rtl="0" eaLnBrk="0" fontAlgn="base" hangingPunct="0">
              <a:spcBef>
                <a:spcPct val="0"/>
              </a:spcBef>
              <a:spcAft>
                <a:spcPct val="0"/>
              </a:spcAft>
              <a:defRPr sz="4400">
                <a:solidFill>
                  <a:schemeClr val="tx2"/>
                </a:solidFill>
                <a:latin typeface="Arial" charset="0"/>
                <a:ea typeface="Arial" pitchFamily="-109" charset="0"/>
                <a:cs typeface="Arial" charset="0"/>
              </a:defRPr>
            </a:lvl3pPr>
            <a:lvl4pPr algn="ctr" rtl="0" eaLnBrk="0" fontAlgn="base" hangingPunct="0">
              <a:spcBef>
                <a:spcPct val="0"/>
              </a:spcBef>
              <a:spcAft>
                <a:spcPct val="0"/>
              </a:spcAft>
              <a:defRPr sz="4400">
                <a:solidFill>
                  <a:schemeClr val="tx2"/>
                </a:solidFill>
                <a:latin typeface="Arial" charset="0"/>
                <a:ea typeface="Arial" pitchFamily="-109" charset="0"/>
                <a:cs typeface="Arial" charset="0"/>
              </a:defRPr>
            </a:lvl4pPr>
            <a:lvl5pPr algn="ctr" rtl="0" eaLnBrk="0" fontAlgn="base" hangingPunct="0">
              <a:spcBef>
                <a:spcPct val="0"/>
              </a:spcBef>
              <a:spcAft>
                <a:spcPct val="0"/>
              </a:spcAft>
              <a:defRPr sz="4400">
                <a:solidFill>
                  <a:schemeClr val="tx2"/>
                </a:solidFill>
                <a:latin typeface="Arial" charset="0"/>
                <a:ea typeface="Arial" pitchFamily="-109"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defRPr/>
            </a:pPr>
            <a:r>
              <a:rPr lang="en-US" altLang="en-US" b="1" kern="0" dirty="0">
                <a:solidFill>
                  <a:srgbClr val="0070C0"/>
                </a:solidFill>
                <a:latin typeface="Times New Roman" panose="02020603050405020304" pitchFamily="18" charset="0"/>
                <a:cs typeface="Times New Roman" panose="02020603050405020304" pitchFamily="18" charset="0"/>
              </a:rPr>
              <a:t>Unit 2</a:t>
            </a:r>
          </a:p>
          <a:p>
            <a:pPr eaLnBrk="1" hangingPunct="1">
              <a:defRPr/>
            </a:pPr>
            <a:r>
              <a:rPr lang="en-US" altLang="en-US" sz="6000" b="1" kern="0" dirty="0">
                <a:solidFill>
                  <a:srgbClr val="0070C0"/>
                </a:solidFill>
                <a:latin typeface="Times New Roman" panose="02020603050405020304" pitchFamily="18" charset="0"/>
                <a:cs typeface="Times New Roman" panose="02020603050405020304" pitchFamily="18" charset="0"/>
              </a:rPr>
              <a:t>Predicate Logic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AA6344C1-320E-478D-9DD2-D79C8E4C5C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F6EFE24-A4C5-4E74-A0D6-5AF219EBC6FD}" type="slidenum">
              <a:rPr lang="en-GB" altLang="en-US" sz="1400">
                <a:latin typeface="Arial" panose="020B0604020202020204" pitchFamily="34" charset="0"/>
                <a:cs typeface="Arial" panose="020B0604020202020204" pitchFamily="34" charset="0"/>
              </a:rPr>
              <a:pPr>
                <a:spcBef>
                  <a:spcPct val="0"/>
                </a:spcBef>
                <a:buFontTx/>
                <a:buNone/>
              </a:pPr>
              <a:t>2</a:t>
            </a:fld>
            <a:endParaRPr lang="en-GB" altLang="en-US" sz="1400">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EB462FB8-C58C-4260-8CBA-7CEB2E0658FC}"/>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OBJECTIVES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10243" name="Rectangle 3">
            <a:extLst>
              <a:ext uri="{FF2B5EF4-FFF2-40B4-BE49-F238E27FC236}">
                <a16:creationId xmlns:a16="http://schemas.microsoft.com/office/drawing/2014/main" id="{310667BC-253B-4D8E-B01E-812ACB2D27FD}"/>
              </a:ext>
            </a:extLst>
          </p:cNvPr>
          <p:cNvSpPr>
            <a:spLocks noGrp="1" noChangeArrowheads="1"/>
          </p:cNvSpPr>
          <p:nvPr>
            <p:ph type="body" idx="1"/>
          </p:nvPr>
        </p:nvSpPr>
        <p:spPr>
          <a:xfrm>
            <a:off x="1328057" y="1659458"/>
            <a:ext cx="8229600" cy="4525962"/>
          </a:xfrm>
        </p:spPr>
        <p:txBody>
          <a:bodyPr/>
          <a:lstStyle/>
          <a:p>
            <a:pPr eaLnBrk="1" hangingPunct="1"/>
            <a:r>
              <a:rPr lang="en-US" altLang="en-US" sz="2400" dirty="0"/>
              <a:t>Understand what is a predicate.</a:t>
            </a:r>
          </a:p>
          <a:p>
            <a:pPr eaLnBrk="1" hangingPunct="1"/>
            <a:r>
              <a:rPr lang="en-US" altLang="en-US" sz="2400" dirty="0"/>
              <a:t>Understand what are universal and existential quantifiers.</a:t>
            </a:r>
          </a:p>
          <a:p>
            <a:pPr eaLnBrk="1" hangingPunct="1"/>
            <a:r>
              <a:rPr lang="en-US" altLang="en-US" sz="2400" dirty="0"/>
              <a:t>Understand the use of universal and existential quantifiers to write statements.</a:t>
            </a:r>
          </a:p>
          <a:p>
            <a:pPr eaLnBrk="1" hangingPunct="1"/>
            <a:r>
              <a:rPr lang="en-US" altLang="en-US" sz="2400" dirty="0"/>
              <a:t>Apply the knowledge of universal and existential quantifiers to find the negation of statements that include quantifiers.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ox(in)">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ox(in)">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ox(in)">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ox(in)">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2D1A42F4-D949-4E7B-BCAC-22B81C462C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079DE03-8E66-4D02-B5D4-929F321603DB}" type="slidenum">
              <a:rPr lang="en-GB" altLang="en-US" sz="1400">
                <a:latin typeface="Arial" panose="020B0604020202020204" pitchFamily="34" charset="0"/>
                <a:cs typeface="Arial" panose="020B0604020202020204" pitchFamily="34" charset="0"/>
              </a:rPr>
              <a:pPr>
                <a:spcBef>
                  <a:spcPct val="0"/>
                </a:spcBef>
                <a:buFontTx/>
                <a:buNone/>
              </a:pPr>
              <a:t>3</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F581D4D7-9D88-4388-AF49-DF8BEE57D854}"/>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7172" name="Rectangle 3">
            <a:extLst>
              <a:ext uri="{FF2B5EF4-FFF2-40B4-BE49-F238E27FC236}">
                <a16:creationId xmlns:a16="http://schemas.microsoft.com/office/drawing/2014/main" id="{8F126BB0-9ACC-4919-A82A-79B0BC89CD29}"/>
              </a:ext>
            </a:extLst>
          </p:cNvPr>
          <p:cNvSpPr>
            <a:spLocks noGrp="1" noChangeArrowheads="1"/>
          </p:cNvSpPr>
          <p:nvPr>
            <p:ph type="body" idx="1"/>
          </p:nvPr>
        </p:nvSpPr>
        <p:spPr>
          <a:xfrm>
            <a:off x="1981200" y="1771651"/>
            <a:ext cx="8229600" cy="4530725"/>
          </a:xfrm>
        </p:spPr>
        <p:txBody>
          <a:bodyPr/>
          <a:lstStyle/>
          <a:p>
            <a:pPr marL="0" indent="0">
              <a:buNone/>
            </a:pPr>
            <a:r>
              <a:rPr lang="en-GB" altLang="en-US" sz="2400" dirty="0"/>
              <a:t>In Mathematics we use variables (usually ranging over numbers) in various ways. </a:t>
            </a:r>
          </a:p>
          <a:p>
            <a:pPr marL="0" indent="0">
              <a:buNone/>
            </a:pPr>
            <a:r>
              <a:rPr lang="en-GB" altLang="en-US" sz="2400" dirty="0"/>
              <a:t>How does </a:t>
            </a:r>
            <a:r>
              <a:rPr lang="en-GB" altLang="en-US" sz="2400" i="1" dirty="0"/>
              <a:t>x</a:t>
            </a:r>
            <a:r>
              <a:rPr lang="en-GB" altLang="en-US" sz="2400" dirty="0"/>
              <a:t> differ in what it represents in the following statements?</a:t>
            </a:r>
          </a:p>
          <a:p>
            <a:pPr marL="0" indent="0">
              <a:buNone/>
            </a:pPr>
            <a:r>
              <a:rPr lang="en-US" altLang="en-US" sz="2400" dirty="0"/>
              <a:t>(</a:t>
            </a:r>
            <a:r>
              <a:rPr lang="en-US" altLang="en-US" sz="2400" dirty="0" err="1"/>
              <a:t>i</a:t>
            </a:r>
            <a:r>
              <a:rPr lang="en-US" altLang="en-US" sz="2400" dirty="0"/>
              <a:t>)	</a:t>
            </a:r>
            <a:r>
              <a:rPr lang="en-US" altLang="en-US" sz="2400" i="1" dirty="0"/>
              <a:t>x</a:t>
            </a:r>
            <a:r>
              <a:rPr lang="en-US" altLang="en-US" sz="2400" baseline="30000" dirty="0"/>
              <a:t>2</a:t>
            </a:r>
            <a:r>
              <a:rPr lang="en-US" altLang="en-US" sz="2400" dirty="0"/>
              <a:t> = 0</a:t>
            </a:r>
          </a:p>
          <a:p>
            <a:pPr marL="0" indent="0">
              <a:buNone/>
            </a:pPr>
            <a:r>
              <a:rPr lang="en-US" altLang="en-US" sz="2400" dirty="0"/>
              <a:t>(ii)	</a:t>
            </a:r>
            <a:r>
              <a:rPr lang="en-US" altLang="en-US" sz="2400" i="1" dirty="0"/>
              <a:t>x</a:t>
            </a:r>
            <a:r>
              <a:rPr lang="en-US" altLang="en-US" sz="2400" dirty="0"/>
              <a:t> &gt; 2</a:t>
            </a:r>
          </a:p>
          <a:p>
            <a:pPr marL="0" indent="0">
              <a:buNone/>
            </a:pPr>
            <a:r>
              <a:rPr lang="en-US" altLang="en-US" sz="2400" dirty="0"/>
              <a:t>(iii)	</a:t>
            </a:r>
            <a:r>
              <a:rPr lang="en-US" altLang="en-US" sz="2400" i="1" dirty="0"/>
              <a:t>x</a:t>
            </a:r>
            <a:r>
              <a:rPr lang="en-US" altLang="en-US" sz="2400" dirty="0"/>
              <a:t> + 0 = </a:t>
            </a:r>
            <a:r>
              <a:rPr lang="en-US" altLang="en-US" sz="2400" i="1" dirty="0"/>
              <a:t>x</a:t>
            </a:r>
          </a:p>
          <a:p>
            <a:pPr marL="0" indent="0">
              <a:buNone/>
            </a:pPr>
            <a:r>
              <a:rPr lang="en-US" altLang="en-US" sz="2400" dirty="0"/>
              <a:t>(iv)	</a:t>
            </a:r>
            <a:r>
              <a:rPr lang="en-US" altLang="en-US" sz="2400" i="1" dirty="0"/>
              <a:t>x</a:t>
            </a:r>
            <a:r>
              <a:rPr lang="en-US" altLang="en-US" sz="2400" baseline="30000" dirty="0"/>
              <a:t>2</a:t>
            </a:r>
            <a:r>
              <a:rPr lang="en-US" altLang="en-US" sz="2400" dirty="0"/>
              <a:t> + 1 = 0</a:t>
            </a:r>
          </a:p>
          <a:p>
            <a:pPr marL="0" indent="0">
              <a:buNone/>
            </a:pP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1BF2DB1-F5AA-4BC1-9A5D-A38B04901A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5C4E607-7E4C-42A4-A45A-ED321DD5DD6C}" type="slidenum">
              <a:rPr lang="en-GB" altLang="en-US" sz="1400">
                <a:latin typeface="Arial" panose="020B0604020202020204" pitchFamily="34" charset="0"/>
                <a:cs typeface="Arial" panose="020B0604020202020204" pitchFamily="34" charset="0"/>
              </a:rPr>
              <a:pPr>
                <a:spcBef>
                  <a:spcPct val="0"/>
                </a:spcBef>
                <a:buFontTx/>
                <a:buNone/>
              </a:pPr>
              <a:t>4</a:t>
            </a:fld>
            <a:endParaRPr lang="en-GB" altLang="en-US" sz="1400">
              <a:latin typeface="Arial" panose="020B0604020202020204" pitchFamily="34" charset="0"/>
              <a:cs typeface="Arial" panose="020B0604020202020204" pitchFamily="34" charset="0"/>
            </a:endParaRPr>
          </a:p>
        </p:txBody>
      </p:sp>
      <p:sp>
        <p:nvSpPr>
          <p:cNvPr id="8195" name="Rectangle 2">
            <a:extLst>
              <a:ext uri="{FF2B5EF4-FFF2-40B4-BE49-F238E27FC236}">
                <a16:creationId xmlns:a16="http://schemas.microsoft.com/office/drawing/2014/main" id="{CCF0EA44-FCE6-4B59-8324-A66BC0B3681F}"/>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Predicate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9907" name="Rectangle 3">
            <a:extLst>
              <a:ext uri="{FF2B5EF4-FFF2-40B4-BE49-F238E27FC236}">
                <a16:creationId xmlns:a16="http://schemas.microsoft.com/office/drawing/2014/main" id="{D5117BF8-CC69-4CC2-B2F9-AB36D62D126F}"/>
              </a:ext>
            </a:extLst>
          </p:cNvPr>
          <p:cNvSpPr>
            <a:spLocks noGrp="1" noChangeArrowheads="1"/>
          </p:cNvSpPr>
          <p:nvPr>
            <p:ph type="body" idx="1"/>
          </p:nvPr>
        </p:nvSpPr>
        <p:spPr>
          <a:xfrm>
            <a:off x="858253" y="1771650"/>
            <a:ext cx="10074442" cy="3956050"/>
          </a:xfrm>
        </p:spPr>
        <p:txBody>
          <a:bodyPr/>
          <a:lstStyle/>
          <a:p>
            <a:pPr marL="0" indent="0">
              <a:buNone/>
              <a:defRPr/>
            </a:pPr>
            <a:r>
              <a:rPr lang="en-GB" altLang="en-US" sz="2400" dirty="0"/>
              <a:t>A </a:t>
            </a:r>
            <a:r>
              <a:rPr lang="en-GB" altLang="en-US" sz="2400" b="1" i="1" dirty="0">
                <a:solidFill>
                  <a:schemeClr val="hlink"/>
                </a:solidFill>
              </a:rPr>
              <a:t>predicate</a:t>
            </a:r>
            <a:r>
              <a:rPr lang="en-GB" altLang="en-US" sz="2400" dirty="0"/>
              <a:t> is a sentence that contains one or more variables and becomes a statement when specific values are substituted for the variables. </a:t>
            </a:r>
          </a:p>
          <a:p>
            <a:pPr marL="0" indent="0">
              <a:buNone/>
              <a:defRPr/>
            </a:pPr>
            <a:endParaRPr lang="en-GB" altLang="en-US" sz="2400" dirty="0"/>
          </a:p>
          <a:p>
            <a:pPr marL="0" indent="0">
              <a:buNone/>
              <a:defRPr/>
            </a:pPr>
            <a:r>
              <a:rPr lang="en-GB" altLang="en-US" sz="2400" dirty="0"/>
              <a:t>The </a:t>
            </a:r>
            <a:r>
              <a:rPr lang="en-GB" altLang="en-US" sz="2400" b="1" i="1" dirty="0">
                <a:solidFill>
                  <a:schemeClr val="hlink"/>
                </a:solidFill>
              </a:rPr>
              <a:t>domain</a:t>
            </a:r>
            <a:r>
              <a:rPr lang="en-GB" altLang="en-US" sz="2400" dirty="0"/>
              <a:t> of a predicate variable consists of all values that may be substituted in place of the variable.</a:t>
            </a:r>
          </a:p>
          <a:p>
            <a:pPr marL="0" indent="0">
              <a:buNone/>
              <a:defRPr/>
            </a:pPr>
            <a:endParaRPr lang="en-GB" altLang="en-US" sz="2400" dirty="0"/>
          </a:p>
          <a:p>
            <a:pPr marL="0" indent="0">
              <a:buNone/>
              <a:defRPr/>
            </a:pPr>
            <a:r>
              <a:rPr lang="en-GB" altLang="en-US" sz="2400" dirty="0"/>
              <a:t>The symbolic analysis of propositions is called </a:t>
            </a:r>
            <a:r>
              <a:rPr lang="en-GB" altLang="en-US" sz="2400" b="1" i="1" dirty="0">
                <a:solidFill>
                  <a:srgbClr val="0070C0"/>
                </a:solidFill>
              </a:rPr>
              <a:t>propositional calculus</a:t>
            </a:r>
            <a:r>
              <a:rPr lang="en-GB" altLang="en-US" sz="2400" dirty="0">
                <a:solidFill>
                  <a:srgbClr val="002060"/>
                </a:solidFill>
              </a:rPr>
              <a:t> </a:t>
            </a:r>
            <a:r>
              <a:rPr lang="en-GB" altLang="en-US" sz="2400" dirty="0"/>
              <a:t>and the symbolic analysis of predicates is called </a:t>
            </a:r>
            <a:r>
              <a:rPr lang="en-GB" altLang="en-US" sz="2400" b="1" i="1" dirty="0">
                <a:solidFill>
                  <a:srgbClr val="0070C0"/>
                </a:solidFill>
              </a:rPr>
              <a:t>predicate calculus</a:t>
            </a:r>
            <a:r>
              <a:rPr lang="en-GB" altLang="en-US" sz="2400" dirty="0"/>
              <a:t>.</a:t>
            </a:r>
            <a:endParaRPr lang="en-US" altLang="en-US" sz="2400" dirty="0"/>
          </a:p>
          <a:p>
            <a:pPr marL="0" indent="0">
              <a:buNone/>
              <a:defRPr/>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07">
                                            <p:txEl>
                                              <p:pRg st="2" end="2"/>
                                            </p:txEl>
                                          </p:spTgt>
                                        </p:tgtEl>
                                        <p:attrNameLst>
                                          <p:attrName>style.visibility</p:attrName>
                                        </p:attrNameLst>
                                      </p:cBhvr>
                                      <p:to>
                                        <p:strVal val="visible"/>
                                      </p:to>
                                    </p:set>
                                    <p:animEffect transition="in" filter="box(in)">
                                      <p:cBhvr>
                                        <p:cTn id="7" dur="500"/>
                                        <p:tgtEl>
                                          <p:spTgt spid="37990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9907">
                                            <p:txEl>
                                              <p:pRg st="4" end="4"/>
                                            </p:txEl>
                                          </p:spTgt>
                                        </p:tgtEl>
                                        <p:attrNameLst>
                                          <p:attrName>style.visibility</p:attrName>
                                        </p:attrNameLst>
                                      </p:cBhvr>
                                      <p:to>
                                        <p:strVal val="visible"/>
                                      </p:to>
                                    </p:set>
                                    <p:animEffect transition="in" filter="box(in)">
                                      <p:cBhvr>
                                        <p:cTn id="12" dur="500"/>
                                        <p:tgtEl>
                                          <p:spTgt spid="3799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1378224C-A332-485A-877F-A393D9207D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CC85C6D-C190-4CCF-87F6-05DDF2532B76}" type="slidenum">
              <a:rPr lang="en-GB" altLang="en-US" sz="1400">
                <a:latin typeface="Arial" panose="020B0604020202020204" pitchFamily="34" charset="0"/>
                <a:cs typeface="Arial" panose="020B0604020202020204" pitchFamily="34" charset="0"/>
              </a:rPr>
              <a:pPr>
                <a:spcBef>
                  <a:spcPct val="0"/>
                </a:spcBef>
                <a:buFontTx/>
                <a:buNone/>
              </a:pPr>
              <a:t>5</a:t>
            </a:fld>
            <a:endParaRPr lang="en-GB" altLang="en-US" sz="1400">
              <a:latin typeface="Arial" panose="020B0604020202020204" pitchFamily="34" charset="0"/>
              <a:cs typeface="Arial" panose="020B0604020202020204" pitchFamily="34" charset="0"/>
            </a:endParaRPr>
          </a:p>
        </p:txBody>
      </p:sp>
      <p:sp>
        <p:nvSpPr>
          <p:cNvPr id="9219" name="Rectangle 2">
            <a:extLst>
              <a:ext uri="{FF2B5EF4-FFF2-40B4-BE49-F238E27FC236}">
                <a16:creationId xmlns:a16="http://schemas.microsoft.com/office/drawing/2014/main" id="{02938E9C-701F-45F2-A2DB-5012EF1A3713}"/>
              </a:ext>
            </a:extLst>
          </p:cNvPr>
          <p:cNvSpPr>
            <a:spLocks noGrp="1" noChangeArrowheads="1"/>
          </p:cNvSpPr>
          <p:nvPr>
            <p:ph type="title"/>
          </p:nvPr>
        </p:nvSpPr>
        <p:spPr>
          <a:xfrm>
            <a:off x="1909011" y="13652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Predicate: Examples and Notation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197635" name="Rectangle 3">
            <a:extLst>
              <a:ext uri="{FF2B5EF4-FFF2-40B4-BE49-F238E27FC236}">
                <a16:creationId xmlns:a16="http://schemas.microsoft.com/office/drawing/2014/main" id="{1BB7448E-F27B-4E58-AF85-9DE44E6E6D7A}"/>
              </a:ext>
            </a:extLst>
          </p:cNvPr>
          <p:cNvSpPr>
            <a:spLocks noGrp="1" noChangeArrowheads="1"/>
          </p:cNvSpPr>
          <p:nvPr>
            <p:ph type="body" idx="1"/>
          </p:nvPr>
        </p:nvSpPr>
        <p:spPr>
          <a:xfrm>
            <a:off x="762000" y="1483895"/>
            <a:ext cx="10732168" cy="4818481"/>
          </a:xfrm>
        </p:spPr>
        <p:txBody>
          <a:bodyPr>
            <a:normAutofit/>
          </a:bodyPr>
          <a:lstStyle/>
          <a:p>
            <a:pPr marL="0" indent="0">
              <a:buNone/>
            </a:pPr>
            <a:r>
              <a:rPr lang="en-GB" altLang="en-US" sz="2400" dirty="0"/>
              <a:t>“</a:t>
            </a:r>
            <a:r>
              <a:rPr lang="en-GB" altLang="en-US" sz="2400" i="1" dirty="0">
                <a:solidFill>
                  <a:srgbClr val="0070C0"/>
                </a:solidFill>
              </a:rPr>
              <a:t>x</a:t>
            </a:r>
            <a:r>
              <a:rPr lang="en-GB" altLang="en-US" sz="2400" dirty="0">
                <a:solidFill>
                  <a:srgbClr val="0070C0"/>
                </a:solidFill>
              </a:rPr>
              <a:t> is a student at Bedford College</a:t>
            </a:r>
            <a:r>
              <a:rPr lang="en-GB" altLang="en-US" sz="2400" dirty="0"/>
              <a:t>” and “</a:t>
            </a:r>
            <a:r>
              <a:rPr lang="en-GB" altLang="en-US" sz="2400" i="1" dirty="0">
                <a:solidFill>
                  <a:srgbClr val="0070C0"/>
                </a:solidFill>
              </a:rPr>
              <a:t>x</a:t>
            </a:r>
            <a:r>
              <a:rPr lang="en-GB" altLang="en-US" sz="2400" dirty="0">
                <a:solidFill>
                  <a:srgbClr val="0070C0"/>
                </a:solidFill>
              </a:rPr>
              <a:t> is a student at </a:t>
            </a:r>
            <a:r>
              <a:rPr lang="en-GB" altLang="en-US" sz="2400" i="1" dirty="0">
                <a:solidFill>
                  <a:srgbClr val="0070C0"/>
                </a:solidFill>
              </a:rPr>
              <a:t>y</a:t>
            </a:r>
            <a:r>
              <a:rPr lang="en-GB" altLang="en-US" sz="2400" dirty="0"/>
              <a:t>” are both predicates, where </a:t>
            </a:r>
            <a:r>
              <a:rPr lang="en-GB" altLang="en-US" sz="2400" i="1" dirty="0"/>
              <a:t>x</a:t>
            </a:r>
            <a:r>
              <a:rPr lang="en-GB" altLang="en-US" sz="2400" dirty="0"/>
              <a:t> and </a:t>
            </a:r>
            <a:r>
              <a:rPr lang="en-GB" altLang="en-US" sz="2400" i="1" dirty="0"/>
              <a:t>y</a:t>
            </a:r>
            <a:r>
              <a:rPr lang="en-GB" altLang="en-US" sz="2400" dirty="0"/>
              <a:t> are predicate variables that take values in appropriate sets.</a:t>
            </a:r>
            <a:endParaRPr lang="en-US" altLang="en-US" sz="2400" dirty="0"/>
          </a:p>
          <a:p>
            <a:pPr marL="0" indent="0">
              <a:buNone/>
            </a:pPr>
            <a:endParaRPr lang="en-GB" altLang="en-US" sz="2400" dirty="0"/>
          </a:p>
          <a:p>
            <a:pPr marL="0" indent="0">
              <a:buNone/>
            </a:pPr>
            <a:r>
              <a:rPr lang="en-GB" altLang="en-US" sz="2400" dirty="0"/>
              <a:t>We can use symbols to represent predicates. For example:</a:t>
            </a:r>
          </a:p>
          <a:p>
            <a:pPr marL="714375" indent="-714375">
              <a:buNone/>
            </a:pPr>
            <a:r>
              <a:rPr lang="en-GB" altLang="en-US" sz="2400" i="1" dirty="0"/>
              <a:t>	We can use </a:t>
            </a:r>
            <a:r>
              <a:rPr lang="en-GB" altLang="en-US" sz="2400" i="1" dirty="0">
                <a:solidFill>
                  <a:srgbClr val="0070C0"/>
                </a:solidFill>
              </a:rPr>
              <a:t>P</a:t>
            </a:r>
            <a:r>
              <a:rPr lang="en-GB" altLang="en-US" sz="2400" dirty="0">
                <a:solidFill>
                  <a:srgbClr val="0070C0"/>
                </a:solidFill>
              </a:rPr>
              <a:t>(</a:t>
            </a:r>
            <a:r>
              <a:rPr lang="en-GB" altLang="en-US" sz="2400" i="1" dirty="0">
                <a:solidFill>
                  <a:srgbClr val="0070C0"/>
                </a:solidFill>
              </a:rPr>
              <a:t>x</a:t>
            </a:r>
            <a:r>
              <a:rPr lang="en-GB" altLang="en-US" sz="2400" dirty="0">
                <a:solidFill>
                  <a:srgbClr val="0070C0"/>
                </a:solidFill>
              </a:rPr>
              <a:t>)</a:t>
            </a:r>
            <a:r>
              <a:rPr lang="en-GB" altLang="en-US" sz="2400" dirty="0"/>
              <a:t> to represent the predicate “</a:t>
            </a:r>
            <a:r>
              <a:rPr lang="en-GB" altLang="en-US" sz="2400" i="1" dirty="0"/>
              <a:t>x</a:t>
            </a:r>
            <a:r>
              <a:rPr lang="en-GB" altLang="en-US" sz="2400" dirty="0"/>
              <a:t> is a student at Bedford College” and 	</a:t>
            </a:r>
            <a:r>
              <a:rPr lang="en-GB" altLang="en-US" sz="2400" i="1" dirty="0">
                <a:solidFill>
                  <a:srgbClr val="0070C0"/>
                </a:solidFill>
              </a:rPr>
              <a:t>Q</a:t>
            </a:r>
            <a:r>
              <a:rPr lang="en-GB" altLang="en-US" sz="2400" dirty="0">
                <a:solidFill>
                  <a:srgbClr val="0070C0"/>
                </a:solidFill>
              </a:rPr>
              <a:t>(</a:t>
            </a:r>
            <a:r>
              <a:rPr lang="en-GB" altLang="en-US" sz="2400" i="1" dirty="0">
                <a:solidFill>
                  <a:srgbClr val="0070C0"/>
                </a:solidFill>
              </a:rPr>
              <a:t>x</a:t>
            </a:r>
            <a:r>
              <a:rPr lang="en-GB" altLang="en-US" sz="2400" dirty="0">
                <a:solidFill>
                  <a:srgbClr val="0070C0"/>
                </a:solidFill>
              </a:rPr>
              <a:t>, </a:t>
            </a:r>
            <a:r>
              <a:rPr lang="en-GB" altLang="en-US" sz="2400" i="1" dirty="0">
                <a:solidFill>
                  <a:srgbClr val="0070C0"/>
                </a:solidFill>
              </a:rPr>
              <a:t>y</a:t>
            </a:r>
            <a:r>
              <a:rPr lang="en-GB" altLang="en-US" sz="2400" dirty="0">
                <a:solidFill>
                  <a:srgbClr val="0070C0"/>
                </a:solidFill>
              </a:rPr>
              <a:t>) </a:t>
            </a:r>
            <a:r>
              <a:rPr lang="en-GB" altLang="en-US" sz="2400" dirty="0"/>
              <a:t>to represent the predicate “</a:t>
            </a:r>
            <a:r>
              <a:rPr lang="en-GB" altLang="en-US" sz="2400" i="1" dirty="0"/>
              <a:t>x</a:t>
            </a:r>
            <a:r>
              <a:rPr lang="en-GB" altLang="en-US" sz="2400" dirty="0"/>
              <a:t> is a student at </a:t>
            </a:r>
            <a:r>
              <a:rPr lang="en-GB" altLang="en-US" sz="2400" i="1" dirty="0"/>
              <a:t>y</a:t>
            </a:r>
            <a:r>
              <a:rPr lang="en-GB" altLang="en-US" sz="2400" dirty="0"/>
              <a:t>”</a:t>
            </a:r>
          </a:p>
          <a:p>
            <a:pPr marL="0" indent="0">
              <a:buNone/>
            </a:pPr>
            <a:r>
              <a:rPr lang="en-GB" altLang="en-US" sz="2400" dirty="0"/>
              <a:t>where </a:t>
            </a:r>
            <a:r>
              <a:rPr lang="en-GB" altLang="en-US" sz="2400" i="1" dirty="0"/>
              <a:t>x</a:t>
            </a:r>
            <a:r>
              <a:rPr lang="en-GB" altLang="en-US" sz="2400" dirty="0"/>
              <a:t> and </a:t>
            </a:r>
            <a:r>
              <a:rPr lang="en-GB" altLang="en-US" sz="2400" i="1" dirty="0"/>
              <a:t>y</a:t>
            </a:r>
            <a:r>
              <a:rPr lang="en-GB" altLang="en-US" sz="2400" dirty="0"/>
              <a:t> are predicate variables that take values in appropriate sets.</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197635">
                                            <p:txEl>
                                              <p:pRg st="3" end="3"/>
                                            </p:txEl>
                                          </p:spTgt>
                                        </p:tgtEl>
                                        <p:attrNameLst>
                                          <p:attrName>style.visibility</p:attrName>
                                        </p:attrNameLst>
                                      </p:cBhvr>
                                      <p:to>
                                        <p:strVal val="visible"/>
                                      </p:to>
                                    </p:set>
                                    <p:animEffect transition="in" filter="box(in)">
                                      <p:cBhvr>
                                        <p:cTn id="7" dur="500"/>
                                        <p:tgtEl>
                                          <p:spTgt spid="19763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97635">
                                            <p:txEl>
                                              <p:pRg st="2" end="2"/>
                                            </p:txEl>
                                          </p:spTgt>
                                        </p:tgtEl>
                                        <p:attrNameLst>
                                          <p:attrName>style.visibility</p:attrName>
                                        </p:attrNameLst>
                                      </p:cBhvr>
                                      <p:to>
                                        <p:strVal val="visible"/>
                                      </p:to>
                                    </p:set>
                                    <p:animEffect transition="in" filter="box(in)">
                                      <p:cBhvr>
                                        <p:cTn id="10" dur="500"/>
                                        <p:tgtEl>
                                          <p:spTgt spid="19763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97635">
                                            <p:txEl>
                                              <p:pRg st="0" end="0"/>
                                            </p:txEl>
                                          </p:spTgt>
                                        </p:tgtEl>
                                        <p:attrNameLst>
                                          <p:attrName>style.visibility</p:attrName>
                                        </p:attrNameLst>
                                      </p:cBhvr>
                                      <p:to>
                                        <p:strVal val="visible"/>
                                      </p:to>
                                    </p:set>
                                    <p:animEffect transition="in" filter="box(in)">
                                      <p:cBhvr>
                                        <p:cTn id="13" dur="500"/>
                                        <p:tgtEl>
                                          <p:spTgt spid="197635">
                                            <p:txEl>
                                              <p:pRg st="0" end="0"/>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97635">
                                            <p:txEl>
                                              <p:pRg st="4" end="4"/>
                                            </p:txEl>
                                          </p:spTgt>
                                        </p:tgtEl>
                                        <p:attrNameLst>
                                          <p:attrName>style.visibility</p:attrName>
                                        </p:attrNameLst>
                                      </p:cBhvr>
                                      <p:to>
                                        <p:strVal val="visible"/>
                                      </p:to>
                                    </p:set>
                                    <p:animEffect transition="in" filter="box(in)">
                                      <p:cBhvr>
                                        <p:cTn id="16" dur="500"/>
                                        <p:tgtEl>
                                          <p:spTgt spid="197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a:extLst>
              <a:ext uri="{FF2B5EF4-FFF2-40B4-BE49-F238E27FC236}">
                <a16:creationId xmlns:a16="http://schemas.microsoft.com/office/drawing/2014/main" id="{7DB5CD7D-4E4A-4AF8-8B43-940B654F9D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5858D24-0535-4228-B8B5-BA8966C71050}" type="slidenum">
              <a:rPr lang="en-GB" altLang="en-US" sz="1400">
                <a:latin typeface="Arial" panose="020B0604020202020204" pitchFamily="34" charset="0"/>
                <a:cs typeface="Arial" panose="020B0604020202020204" pitchFamily="34" charset="0"/>
              </a:rPr>
              <a:pPr>
                <a:spcBef>
                  <a:spcPct val="0"/>
                </a:spcBef>
                <a:buFontTx/>
                <a:buNone/>
              </a:pPr>
              <a:t>6</a:t>
            </a:fld>
            <a:endParaRPr lang="en-GB" altLang="en-US" sz="1400">
              <a:latin typeface="Arial" panose="020B0604020202020204" pitchFamily="34" charset="0"/>
              <a:cs typeface="Arial" panose="020B0604020202020204" pitchFamily="34" charset="0"/>
            </a:endParaRPr>
          </a:p>
        </p:txBody>
      </p:sp>
      <p:sp>
        <p:nvSpPr>
          <p:cNvPr id="11267" name="Rectangle 2">
            <a:extLst>
              <a:ext uri="{FF2B5EF4-FFF2-40B4-BE49-F238E27FC236}">
                <a16:creationId xmlns:a16="http://schemas.microsoft.com/office/drawing/2014/main" id="{ECCA6F58-DF84-404D-A8E8-0CF9CC0B3BA4}"/>
              </a:ext>
            </a:extLst>
          </p:cNvPr>
          <p:cNvSpPr>
            <a:spLocks noGrp="1" noChangeArrowheads="1"/>
          </p:cNvSpPr>
          <p:nvPr>
            <p:ph type="title"/>
          </p:nvPr>
        </p:nvSpPr>
        <p:spPr>
          <a:xfrm>
            <a:off x="1981200" y="168275"/>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Quantifiers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11268" name="Rectangle 3">
            <a:extLst>
              <a:ext uri="{FF2B5EF4-FFF2-40B4-BE49-F238E27FC236}">
                <a16:creationId xmlns:a16="http://schemas.microsoft.com/office/drawing/2014/main" id="{D1E121B5-BE29-4668-8B63-4D999F218885}"/>
              </a:ext>
            </a:extLst>
          </p:cNvPr>
          <p:cNvSpPr>
            <a:spLocks noGrp="1" noChangeArrowheads="1"/>
          </p:cNvSpPr>
          <p:nvPr>
            <p:ph type="body" sz="half" idx="1"/>
          </p:nvPr>
        </p:nvSpPr>
        <p:spPr>
          <a:xfrm>
            <a:off x="1962150" y="1512889"/>
            <a:ext cx="8248650" cy="4530725"/>
          </a:xfrm>
        </p:spPr>
        <p:txBody>
          <a:bodyPr/>
          <a:lstStyle/>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read	“for all </a:t>
            </a:r>
            <a:r>
              <a:rPr lang="en-US" altLang="en-US" sz="2400" i="1" dirty="0">
                <a:sym typeface="Symbol" panose="05050102010706020507" pitchFamily="18" charset="2"/>
              </a:rPr>
              <a:t>x</a:t>
            </a:r>
            <a:r>
              <a:rPr lang="en-US" altLang="en-US" sz="2400" dirty="0">
                <a:sym typeface="Symbol" panose="05050102010706020507" pitchFamily="18" charset="2"/>
              </a:rPr>
              <a:t>”	or “for each </a:t>
            </a:r>
            <a:r>
              <a:rPr lang="en-US" altLang="en-US" sz="2400" i="1" dirty="0">
                <a:sym typeface="Symbol" panose="05050102010706020507" pitchFamily="18" charset="2"/>
              </a:rPr>
              <a:t>x</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read	“there exists an </a:t>
            </a:r>
            <a:r>
              <a:rPr lang="en-US" altLang="en-US" sz="2400" i="1" dirty="0">
                <a:sym typeface="Symbol" panose="05050102010706020507" pitchFamily="18" charset="2"/>
              </a:rPr>
              <a:t>x</a:t>
            </a:r>
            <a:r>
              <a:rPr lang="en-US" altLang="en-US" sz="2400" dirty="0">
                <a:sym typeface="Symbol" panose="05050102010706020507" pitchFamily="18" charset="2"/>
              </a:rPr>
              <a:t>” or “for some </a:t>
            </a:r>
            <a:r>
              <a:rPr lang="en-US" altLang="en-US" sz="2400" i="1" dirty="0">
                <a:sym typeface="Symbol" panose="05050102010706020507" pitchFamily="18" charset="2"/>
              </a:rPr>
              <a:t>x</a:t>
            </a:r>
          </a:p>
          <a:p>
            <a:pPr marL="0" indent="0">
              <a:buNone/>
            </a:pPr>
            <a:endParaRPr lang="en-US" altLang="en-US" sz="2400" dirty="0">
              <a:sym typeface="Symbol" panose="05050102010706020507" pitchFamily="18" charset="2"/>
            </a:endParaRPr>
          </a:p>
          <a:p>
            <a:pPr marL="0" indent="0">
              <a:buNone/>
            </a:pPr>
            <a:r>
              <a:rPr lang="en-US" altLang="en-US" sz="2400" b="1" dirty="0">
                <a:solidFill>
                  <a:schemeClr val="hlink"/>
                </a:solidFill>
                <a:sym typeface="Symbol" panose="05050102010706020507" pitchFamily="18" charset="2"/>
              </a:rPr>
              <a:t></a:t>
            </a:r>
            <a:r>
              <a:rPr lang="en-US" altLang="en-US" sz="2400" dirty="0">
                <a:sym typeface="Symbol" panose="05050102010706020507" pitchFamily="18" charset="2"/>
              </a:rPr>
              <a:t> is called the </a:t>
            </a:r>
            <a:r>
              <a:rPr lang="en-US" altLang="en-US" sz="2400" b="1" i="1" dirty="0">
                <a:solidFill>
                  <a:schemeClr val="hlink"/>
                </a:solidFill>
                <a:sym typeface="Symbol" panose="05050102010706020507" pitchFamily="18" charset="2"/>
              </a:rPr>
              <a:t>Universal</a:t>
            </a:r>
            <a:r>
              <a:rPr lang="en-US" altLang="en-US" sz="2400" dirty="0">
                <a:sym typeface="Symbol" panose="05050102010706020507" pitchFamily="18" charset="2"/>
              </a:rPr>
              <a:t> quantifier.</a:t>
            </a:r>
          </a:p>
          <a:p>
            <a:pPr marL="0" indent="0">
              <a:buNone/>
            </a:pPr>
            <a:r>
              <a:rPr lang="en-US" altLang="en-US" sz="2400" b="1" dirty="0">
                <a:solidFill>
                  <a:srgbClr val="002060"/>
                </a:solidFill>
                <a:sym typeface="Symbol" panose="05050102010706020507" pitchFamily="18" charset="2"/>
              </a:rPr>
              <a:t></a:t>
            </a:r>
            <a:r>
              <a:rPr lang="en-US" altLang="en-US" sz="2400" dirty="0">
                <a:sym typeface="Symbol" panose="05050102010706020507" pitchFamily="18" charset="2"/>
              </a:rPr>
              <a:t> is called the </a:t>
            </a:r>
            <a:r>
              <a:rPr lang="en-US" altLang="en-US" sz="2400" b="1" i="1" dirty="0">
                <a:solidFill>
                  <a:srgbClr val="002060"/>
                </a:solidFill>
                <a:sym typeface="Symbol" panose="05050102010706020507" pitchFamily="18" charset="2"/>
              </a:rPr>
              <a:t>Existential</a:t>
            </a:r>
            <a:r>
              <a:rPr lang="en-US" altLang="en-US" sz="2400" dirty="0">
                <a:solidFill>
                  <a:srgbClr val="CCCC00"/>
                </a:solidFill>
                <a:sym typeface="Symbol" panose="05050102010706020507" pitchFamily="18" charset="2"/>
              </a:rPr>
              <a:t> </a:t>
            </a:r>
            <a:r>
              <a:rPr lang="en-US" altLang="en-US" sz="2400" dirty="0">
                <a:sym typeface="Symbol" panose="05050102010706020507" pitchFamily="18" charset="2"/>
              </a:rPr>
              <a:t>quantifier.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7B93ED41-D160-4C04-AC15-B65B4E833B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6DB9896-4308-452F-A110-053AC0FBB66D}" type="slidenum">
              <a:rPr lang="en-GB" altLang="en-US" sz="1400">
                <a:latin typeface="Arial" panose="020B0604020202020204" pitchFamily="34" charset="0"/>
                <a:cs typeface="Arial" panose="020B0604020202020204" pitchFamily="34" charset="0"/>
              </a:rPr>
              <a:pPr>
                <a:spcBef>
                  <a:spcPct val="0"/>
                </a:spcBef>
                <a:buFontTx/>
                <a:buNone/>
              </a:pPr>
              <a:t>7</a:t>
            </a:fld>
            <a:endParaRPr lang="en-GB" altLang="en-US" sz="1400">
              <a:latin typeface="Arial" panose="020B0604020202020204" pitchFamily="34" charset="0"/>
              <a:cs typeface="Arial" panose="020B0604020202020204" pitchFamily="34" charset="0"/>
            </a:endParaRPr>
          </a:p>
        </p:txBody>
      </p:sp>
      <p:sp>
        <p:nvSpPr>
          <p:cNvPr id="18435" name="Rectangle 2">
            <a:extLst>
              <a:ext uri="{FF2B5EF4-FFF2-40B4-BE49-F238E27FC236}">
                <a16:creationId xmlns:a16="http://schemas.microsoft.com/office/drawing/2014/main" id="{B1BD9BA4-D323-48A9-9A3C-779701B7D0D0}"/>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Universal And Existential Statements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25283" name="Rectangle 3">
            <a:extLst>
              <a:ext uri="{FF2B5EF4-FFF2-40B4-BE49-F238E27FC236}">
                <a16:creationId xmlns:a16="http://schemas.microsoft.com/office/drawing/2014/main" id="{9512FE37-EC0F-41C4-8E33-D516C0FA34AB}"/>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Let </a:t>
            </a:r>
            <a:r>
              <a:rPr lang="en-US" altLang="en-US" sz="2400" i="1" dirty="0"/>
              <a:t>Q</a:t>
            </a:r>
            <a:r>
              <a:rPr lang="en-US" altLang="en-US" sz="2400" dirty="0"/>
              <a:t>(</a:t>
            </a:r>
            <a:r>
              <a:rPr lang="en-US" altLang="en-US" sz="2400" i="1" dirty="0"/>
              <a:t>x</a:t>
            </a:r>
            <a:r>
              <a:rPr lang="en-US" altLang="en-US" sz="2400" dirty="0"/>
              <a:t>) be a predicate and </a:t>
            </a:r>
            <a:r>
              <a:rPr lang="en-US" altLang="en-US" sz="2400" i="1" dirty="0"/>
              <a:t>D</a:t>
            </a:r>
            <a:r>
              <a:rPr lang="en-US" altLang="en-US" sz="2400" dirty="0"/>
              <a:t> be the domain of </a:t>
            </a:r>
            <a:r>
              <a:rPr lang="en-US" altLang="en-US" sz="2400" i="1" dirty="0"/>
              <a:t>x</a:t>
            </a:r>
            <a:r>
              <a:rPr lang="en-US" altLang="en-US" sz="2400" dirty="0"/>
              <a:t>. </a:t>
            </a:r>
          </a:p>
          <a:p>
            <a:pPr marL="0" indent="0">
              <a:buNone/>
            </a:pPr>
            <a:endParaRPr lang="en-US" altLang="en-US" sz="2400" dirty="0"/>
          </a:p>
          <a:p>
            <a:pPr marL="0" indent="0">
              <a:buNone/>
            </a:pPr>
            <a:r>
              <a:rPr lang="en-US" altLang="en-US" sz="2400" dirty="0"/>
              <a:t>A </a:t>
            </a:r>
            <a:r>
              <a:rPr lang="en-US" altLang="en-US" sz="2400" b="1" i="1" dirty="0">
                <a:solidFill>
                  <a:schemeClr val="hlink"/>
                </a:solidFill>
              </a:rPr>
              <a:t>universal statement</a:t>
            </a:r>
            <a:r>
              <a:rPr lang="en-US" altLang="en-US" sz="2400" dirty="0"/>
              <a:t> is a statement of the form “</a:t>
            </a:r>
            <a:r>
              <a:rPr lang="en-US" altLang="en-US" sz="2400" dirty="0">
                <a:solidFill>
                  <a:schemeClr val="hlink"/>
                </a:solidFill>
                <a:sym typeface="Symbol" panose="05050102010706020507" pitchFamily="18" charset="2"/>
              </a:rPr>
              <a:t></a:t>
            </a:r>
            <a:r>
              <a:rPr lang="en-US" altLang="en-US" sz="2400" i="1" dirty="0">
                <a:solidFill>
                  <a:schemeClr val="hlink"/>
                </a:solidFill>
                <a:sym typeface="Symbol" panose="05050102010706020507" pitchFamily="18" charset="2"/>
              </a:rPr>
              <a:t>x</a:t>
            </a:r>
            <a:r>
              <a:rPr lang="en-US" altLang="en-US" sz="2400" dirty="0">
                <a:solidFill>
                  <a:schemeClr val="hlink"/>
                </a:solidFill>
              </a:rPr>
              <a:t> </a:t>
            </a:r>
            <a:r>
              <a:rPr lang="en-US" altLang="en-US" sz="2400" dirty="0">
                <a:solidFill>
                  <a:schemeClr val="hlink"/>
                </a:solidFill>
                <a:sym typeface="Symbol" panose="05050102010706020507" pitchFamily="18" charset="2"/>
              </a:rPr>
              <a:t> </a:t>
            </a:r>
            <a:r>
              <a:rPr lang="en-US" altLang="zh-CN" sz="2400" i="1" dirty="0">
                <a:solidFill>
                  <a:schemeClr val="hlink"/>
                </a:solidFill>
                <a:ea typeface="宋体" panose="02010600030101010101" pitchFamily="2" charset="-122"/>
                <a:sym typeface="Symbol" panose="05050102010706020507" pitchFamily="18" charset="2"/>
              </a:rPr>
              <a:t>D</a:t>
            </a:r>
            <a:r>
              <a:rPr lang="en-US" altLang="zh-CN" sz="2400" dirty="0">
                <a:solidFill>
                  <a:schemeClr val="hlink"/>
                </a:solidFill>
                <a:ea typeface="宋体" panose="02010600030101010101" pitchFamily="2" charset="-122"/>
                <a:sym typeface="Symbol" panose="05050102010706020507" pitchFamily="18" charset="2"/>
              </a:rPr>
              <a:t>, </a:t>
            </a:r>
            <a:r>
              <a:rPr lang="en-US" altLang="zh-CN" sz="2400" i="1" dirty="0">
                <a:solidFill>
                  <a:schemeClr val="hlink"/>
                </a:solidFill>
                <a:ea typeface="宋体" panose="02010600030101010101" pitchFamily="2" charset="-122"/>
                <a:sym typeface="Symbol" panose="05050102010706020507" pitchFamily="18" charset="2"/>
              </a:rPr>
              <a:t>Q</a:t>
            </a:r>
            <a:r>
              <a:rPr lang="en-US" altLang="zh-CN" sz="2400" dirty="0">
                <a:solidFill>
                  <a:schemeClr val="hlink"/>
                </a:solidFill>
                <a:ea typeface="宋体" panose="02010600030101010101" pitchFamily="2" charset="-122"/>
                <a:sym typeface="Symbol" panose="05050102010706020507" pitchFamily="18" charset="2"/>
              </a:rPr>
              <a:t>(</a:t>
            </a:r>
            <a:r>
              <a:rPr lang="en-US" altLang="zh-CN" sz="2400" i="1" dirty="0">
                <a:solidFill>
                  <a:schemeClr val="hlink"/>
                </a:solidFill>
                <a:ea typeface="宋体" panose="02010600030101010101" pitchFamily="2" charset="-122"/>
                <a:sym typeface="Symbol" panose="05050102010706020507" pitchFamily="18" charset="2"/>
              </a:rPr>
              <a:t>x</a:t>
            </a:r>
            <a:r>
              <a:rPr lang="en-US" altLang="zh-CN" sz="2400" dirty="0">
                <a:solidFill>
                  <a:schemeClr val="hlink"/>
                </a:solidFill>
                <a:ea typeface="宋体" panose="02010600030101010101" pitchFamily="2" charset="-122"/>
                <a:sym typeface="Symbol" panose="05050102010706020507" pitchFamily="18" charset="2"/>
              </a:rPr>
              <a:t>)</a:t>
            </a:r>
            <a:r>
              <a:rPr lang="en-US" altLang="zh-CN" sz="2400" dirty="0">
                <a:ea typeface="宋体" panose="02010600030101010101" pitchFamily="2" charset="-122"/>
                <a:sym typeface="Symbol" panose="05050102010706020507" pitchFamily="18" charset="2"/>
              </a:rPr>
              <a:t>”. </a:t>
            </a:r>
            <a:endParaRPr lang="en-US" altLang="en-US" sz="2400" i="1" dirty="0"/>
          </a:p>
          <a:p>
            <a:pPr marL="0" indent="0">
              <a:buNone/>
            </a:pPr>
            <a:endParaRPr lang="en-US" altLang="en-US" sz="2400" dirty="0">
              <a:solidFill>
                <a:srgbClr val="002060"/>
              </a:solidFill>
            </a:endParaRPr>
          </a:p>
          <a:p>
            <a:pPr marL="0" indent="0">
              <a:buNone/>
            </a:pPr>
            <a:r>
              <a:rPr lang="en-US" altLang="en-US" sz="2400" dirty="0"/>
              <a:t>A</a:t>
            </a:r>
            <a:r>
              <a:rPr lang="en-US" altLang="en-US" sz="2400" dirty="0">
                <a:solidFill>
                  <a:srgbClr val="002060"/>
                </a:solidFill>
              </a:rPr>
              <a:t> </a:t>
            </a:r>
            <a:r>
              <a:rPr lang="en-US" altLang="en-US" sz="2400" b="1" i="1" dirty="0">
                <a:solidFill>
                  <a:srgbClr val="002060"/>
                </a:solidFill>
              </a:rPr>
              <a:t>existential statement</a:t>
            </a:r>
            <a:r>
              <a:rPr lang="en-US" altLang="en-US" sz="2400" dirty="0">
                <a:solidFill>
                  <a:srgbClr val="002060"/>
                </a:solidFill>
              </a:rPr>
              <a:t> </a:t>
            </a:r>
            <a:r>
              <a:rPr lang="en-US" altLang="en-US" sz="2400" dirty="0"/>
              <a:t>is a statement of the form “</a:t>
            </a:r>
            <a:r>
              <a:rPr lang="en-US" altLang="en-US" sz="2400" b="1" dirty="0">
                <a:solidFill>
                  <a:srgbClr val="002060"/>
                </a:solidFill>
                <a:sym typeface="Symbol" panose="05050102010706020507" pitchFamily="18" charset="2"/>
              </a:rPr>
              <a:t></a:t>
            </a:r>
            <a:r>
              <a:rPr lang="en-US" altLang="en-US" sz="2400" b="1" i="1" dirty="0">
                <a:solidFill>
                  <a:srgbClr val="002060"/>
                </a:solidFill>
                <a:sym typeface="Symbol" panose="05050102010706020507" pitchFamily="18" charset="2"/>
              </a:rPr>
              <a:t>x</a:t>
            </a:r>
            <a:r>
              <a:rPr lang="en-US" altLang="en-US" sz="2400" b="1" dirty="0">
                <a:solidFill>
                  <a:srgbClr val="002060"/>
                </a:solidFill>
              </a:rPr>
              <a:t> </a:t>
            </a:r>
            <a:r>
              <a:rPr lang="en-US" altLang="en-US" sz="2400" b="1" dirty="0">
                <a:solidFill>
                  <a:srgbClr val="002060"/>
                </a:solidFill>
                <a:sym typeface="Symbol" panose="05050102010706020507" pitchFamily="18" charset="2"/>
              </a:rPr>
              <a:t> </a:t>
            </a:r>
            <a:r>
              <a:rPr lang="en-US" altLang="zh-CN" sz="2400" b="1" i="1" dirty="0">
                <a:solidFill>
                  <a:srgbClr val="002060"/>
                </a:solidFill>
                <a:ea typeface="宋体" panose="02010600030101010101" pitchFamily="2" charset="-122"/>
                <a:sym typeface="Symbol" panose="05050102010706020507" pitchFamily="18" charset="2"/>
              </a:rPr>
              <a:t>D</a:t>
            </a:r>
            <a:r>
              <a:rPr lang="en-US" altLang="zh-CN" sz="2400" b="1" dirty="0">
                <a:solidFill>
                  <a:srgbClr val="002060"/>
                </a:solidFill>
                <a:ea typeface="宋体" panose="02010600030101010101" pitchFamily="2" charset="-122"/>
                <a:sym typeface="Symbol" panose="05050102010706020507" pitchFamily="18" charset="2"/>
              </a:rPr>
              <a:t>, </a:t>
            </a:r>
            <a:r>
              <a:rPr lang="en-US" altLang="zh-CN" sz="2400" b="1" i="1" dirty="0">
                <a:solidFill>
                  <a:srgbClr val="002060"/>
                </a:solidFill>
                <a:ea typeface="宋体" panose="02010600030101010101" pitchFamily="2" charset="-122"/>
                <a:sym typeface="Symbol" panose="05050102010706020507" pitchFamily="18" charset="2"/>
              </a:rPr>
              <a:t>Q</a:t>
            </a:r>
            <a:r>
              <a:rPr lang="en-US" altLang="zh-CN" sz="2400" b="1" dirty="0">
                <a:solidFill>
                  <a:srgbClr val="002060"/>
                </a:solidFill>
                <a:ea typeface="宋体" panose="02010600030101010101" pitchFamily="2" charset="-122"/>
                <a:sym typeface="Symbol" panose="05050102010706020507" pitchFamily="18" charset="2"/>
              </a:rPr>
              <a:t>(</a:t>
            </a:r>
            <a:r>
              <a:rPr lang="en-US" altLang="zh-CN" sz="2400" b="1" i="1" dirty="0">
                <a:solidFill>
                  <a:srgbClr val="002060"/>
                </a:solidFill>
                <a:ea typeface="宋体" panose="02010600030101010101" pitchFamily="2" charset="-122"/>
                <a:sym typeface="Symbol" panose="05050102010706020507" pitchFamily="18" charset="2"/>
              </a:rPr>
              <a:t>x</a:t>
            </a:r>
            <a:r>
              <a:rPr lang="en-US" altLang="zh-CN" sz="2400" b="1" dirty="0">
                <a:solidFill>
                  <a:srgbClr val="002060"/>
                </a:solidFill>
                <a:ea typeface="宋体" panose="02010600030101010101" pitchFamily="2" charset="-122"/>
                <a:sym typeface="Symbol" panose="05050102010706020507" pitchFamily="18" charset="2"/>
              </a:rPr>
              <a:t>)</a:t>
            </a:r>
            <a:r>
              <a:rPr lang="en-US" altLang="zh-CN" sz="2400" dirty="0">
                <a:ea typeface="宋体" panose="02010600030101010101" pitchFamily="2" charset="-122"/>
                <a:sym typeface="Symbol" panose="05050102010706020507" pitchFamily="18" charset="2"/>
              </a:rPr>
              <a:t>”.</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Note that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is the predicate variable.</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283">
                                            <p:txEl>
                                              <p:pRg st="2" end="2"/>
                                            </p:txEl>
                                          </p:spTgt>
                                        </p:tgtEl>
                                        <p:attrNameLst>
                                          <p:attrName>style.visibility</p:attrName>
                                        </p:attrNameLst>
                                      </p:cBhvr>
                                      <p:to>
                                        <p:strVal val="visible"/>
                                      </p:to>
                                    </p:set>
                                    <p:animEffect transition="in" filter="box(in)">
                                      <p:cBhvr>
                                        <p:cTn id="7" dur="500"/>
                                        <p:tgtEl>
                                          <p:spTgt spid="22528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5283">
                                            <p:txEl>
                                              <p:pRg st="4" end="4"/>
                                            </p:txEl>
                                          </p:spTgt>
                                        </p:tgtEl>
                                        <p:attrNameLst>
                                          <p:attrName>style.visibility</p:attrName>
                                        </p:attrNameLst>
                                      </p:cBhvr>
                                      <p:to>
                                        <p:strVal val="visible"/>
                                      </p:to>
                                    </p:set>
                                    <p:animEffect transition="in" filter="box(in)">
                                      <p:cBhvr>
                                        <p:cTn id="12" dur="500"/>
                                        <p:tgtEl>
                                          <p:spTgt spid="22528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25283">
                                            <p:txEl>
                                              <p:pRg st="6" end="6"/>
                                            </p:txEl>
                                          </p:spTgt>
                                        </p:tgtEl>
                                        <p:attrNameLst>
                                          <p:attrName>style.visibility</p:attrName>
                                        </p:attrNameLst>
                                      </p:cBhvr>
                                      <p:to>
                                        <p:strVal val="visible"/>
                                      </p:to>
                                    </p:set>
                                    <p:animEffect transition="in" filter="box(in)">
                                      <p:cBhvr>
                                        <p:cTn id="17" dur="500"/>
                                        <p:tgtEl>
                                          <p:spTgt spid="2252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286707D4-35D7-44A9-9B4D-89EB98D254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97E3BE8-7FC8-403B-BADB-CE1ACDD434B1}" type="slidenum">
              <a:rPr lang="en-GB" altLang="en-US" sz="1400">
                <a:latin typeface="Arial" panose="020B0604020202020204" pitchFamily="34" charset="0"/>
                <a:cs typeface="Arial" panose="020B0604020202020204" pitchFamily="34" charset="0"/>
              </a:rPr>
              <a:pPr>
                <a:spcBef>
                  <a:spcPct val="0"/>
                </a:spcBef>
                <a:buFontTx/>
                <a:buNone/>
              </a:pPr>
              <a:t>8</a:t>
            </a:fld>
            <a:endParaRPr lang="en-GB" altLang="en-US" sz="1400">
              <a:latin typeface="Arial" panose="020B0604020202020204" pitchFamily="34" charset="0"/>
              <a:cs typeface="Arial" panose="020B0604020202020204" pitchFamily="34" charset="0"/>
            </a:endParaRPr>
          </a:p>
        </p:txBody>
      </p:sp>
      <p:sp>
        <p:nvSpPr>
          <p:cNvPr id="14339" name="Rectangle 2">
            <a:extLst>
              <a:ext uri="{FF2B5EF4-FFF2-40B4-BE49-F238E27FC236}">
                <a16:creationId xmlns:a16="http://schemas.microsoft.com/office/drawing/2014/main" id="{AE0CB2B7-759C-4436-8859-CB84389C2EE9}"/>
              </a:ext>
            </a:extLst>
          </p:cNvPr>
          <p:cNvSpPr>
            <a:spLocks noGrp="1" noChangeArrowheads="1"/>
          </p:cNvSpPr>
          <p:nvPr>
            <p:ph type="title"/>
          </p:nvPr>
        </p:nvSpPr>
        <p:spPr>
          <a:xfrm>
            <a:off x="1752600" y="30163"/>
            <a:ext cx="8229600" cy="752687"/>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Discussion: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70339" name="Rectangle 3">
            <a:extLst>
              <a:ext uri="{FF2B5EF4-FFF2-40B4-BE49-F238E27FC236}">
                <a16:creationId xmlns:a16="http://schemas.microsoft.com/office/drawing/2014/main" id="{17DE941F-5C26-481E-9FD4-0DAD1E3D6327}"/>
              </a:ext>
            </a:extLst>
          </p:cNvPr>
          <p:cNvSpPr>
            <a:spLocks noGrp="1" noChangeArrowheads="1"/>
          </p:cNvSpPr>
          <p:nvPr>
            <p:ph type="body" idx="1"/>
          </p:nvPr>
        </p:nvSpPr>
        <p:spPr>
          <a:xfrm>
            <a:off x="264261" y="782850"/>
            <a:ext cx="11871591" cy="4530725"/>
          </a:xfrm>
        </p:spPr>
        <p:txBody>
          <a:bodyPr/>
          <a:lstStyle/>
          <a:p>
            <a:pPr marL="0" indent="0">
              <a:buNone/>
            </a:pPr>
            <a:r>
              <a:rPr lang="en-US" altLang="en-US" sz="2400" dirty="0"/>
              <a:t>Returning to the statements in the Discussion, we can use the quantifier notation to restate them clearly:</a:t>
            </a:r>
          </a:p>
          <a:p>
            <a:pPr marL="0" indent="0">
              <a:buNone/>
            </a:pPr>
            <a:r>
              <a:rPr lang="en-US" altLang="en-US" sz="2400" dirty="0"/>
              <a:t>(</a:t>
            </a:r>
            <a:r>
              <a:rPr lang="en-US" altLang="en-US" sz="2400" dirty="0" err="1"/>
              <a:t>i</a:t>
            </a:r>
            <a:r>
              <a:rPr lang="en-US" altLang="en-US" sz="2400" dirty="0"/>
              <a:t>)	</a:t>
            </a:r>
            <a:r>
              <a:rPr lang="en-US" altLang="en-US" sz="2400" i="1" dirty="0"/>
              <a:t>x</a:t>
            </a:r>
            <a:r>
              <a:rPr lang="en-US" altLang="en-US" sz="2400" baseline="30000" dirty="0"/>
              <a:t>2</a:t>
            </a:r>
            <a:r>
              <a:rPr lang="en-US" altLang="en-US" sz="2400" dirty="0"/>
              <a:t> = 0</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a:t>
            </a:r>
            <a:r>
              <a:rPr lang="en-US" altLang="en-US" sz="2400" dirty="0">
                <a:sym typeface="Symbol" panose="05050102010706020507" pitchFamily="18" charset="2"/>
              </a:rPr>
              <a:t>, </a:t>
            </a:r>
            <a:r>
              <a:rPr lang="en-US" altLang="en-US" sz="2400" i="1" dirty="0"/>
              <a:t>x</a:t>
            </a:r>
            <a:r>
              <a:rPr lang="en-US" altLang="en-US" sz="2400" baseline="30000" dirty="0"/>
              <a:t>2</a:t>
            </a:r>
            <a:r>
              <a:rPr lang="en-US" altLang="en-US" sz="2400" dirty="0"/>
              <a:t> = 0</a:t>
            </a:r>
          </a:p>
          <a:p>
            <a:pPr marL="0" indent="0">
              <a:buNone/>
            </a:pPr>
            <a:r>
              <a:rPr lang="en-US" altLang="en-US" sz="2400" dirty="0"/>
              <a:t>(ii)	</a:t>
            </a:r>
            <a:r>
              <a:rPr lang="en-US" altLang="en-US" sz="2400" i="1" dirty="0"/>
              <a:t>x</a:t>
            </a:r>
            <a:r>
              <a:rPr lang="en-US" altLang="en-US" sz="2400" dirty="0"/>
              <a:t> &gt; 2</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a:t>
            </a:r>
            <a:r>
              <a:rPr lang="en-US" altLang="en-US" sz="2400" dirty="0">
                <a:sym typeface="Symbol" panose="05050102010706020507" pitchFamily="18" charset="2"/>
              </a:rPr>
              <a:t>, </a:t>
            </a:r>
            <a:r>
              <a:rPr lang="en-US" altLang="en-US" sz="2400" i="1" dirty="0"/>
              <a:t>x</a:t>
            </a:r>
            <a:r>
              <a:rPr lang="en-US" altLang="en-US" sz="2400" dirty="0"/>
              <a:t> &gt; 2</a:t>
            </a:r>
          </a:p>
          <a:p>
            <a:pPr marL="0" indent="0">
              <a:buNone/>
            </a:pPr>
            <a:r>
              <a:rPr lang="en-US" altLang="en-US" sz="2400" dirty="0"/>
              <a:t>(iii)	</a:t>
            </a:r>
            <a:r>
              <a:rPr lang="en-US" altLang="en-US" sz="2400" i="1" dirty="0"/>
              <a:t>x</a:t>
            </a:r>
            <a:r>
              <a:rPr lang="en-US" altLang="en-US" sz="2400" dirty="0"/>
              <a:t> + 0 = </a:t>
            </a:r>
            <a:r>
              <a:rPr lang="en-US" altLang="en-US" sz="2400" i="1" dirty="0"/>
              <a:t>x</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a:t>
            </a:r>
            <a:r>
              <a:rPr lang="en-US" altLang="en-US" sz="2400" dirty="0">
                <a:sym typeface="Symbol" panose="05050102010706020507" pitchFamily="18" charset="2"/>
              </a:rPr>
              <a:t>, </a:t>
            </a:r>
            <a:r>
              <a:rPr lang="en-US" altLang="en-US" sz="2400" i="1" dirty="0"/>
              <a:t>x</a:t>
            </a:r>
            <a:r>
              <a:rPr lang="en-US" altLang="en-US" sz="2400" dirty="0"/>
              <a:t> + 0 = </a:t>
            </a:r>
            <a:r>
              <a:rPr lang="en-US" altLang="en-US" sz="2400" i="1" dirty="0"/>
              <a:t>x</a:t>
            </a:r>
            <a:endParaRPr lang="en-US" altLang="en-US" sz="2400" dirty="0"/>
          </a:p>
          <a:p>
            <a:pPr marL="0" indent="0">
              <a:buNone/>
            </a:pPr>
            <a:r>
              <a:rPr lang="en-US" altLang="en-US" sz="2400" dirty="0"/>
              <a:t>(iv)	</a:t>
            </a:r>
            <a:r>
              <a:rPr lang="en-US" altLang="en-US" sz="2400" i="1" dirty="0"/>
              <a:t>x</a:t>
            </a:r>
            <a:r>
              <a:rPr lang="en-US" altLang="en-US" sz="2400" baseline="30000" dirty="0"/>
              <a:t>2</a:t>
            </a:r>
            <a:r>
              <a:rPr lang="en-US" altLang="en-US" sz="2400" dirty="0"/>
              <a:t> + 1 = 0</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a:t>
            </a:r>
            <a:r>
              <a:rPr lang="en-US" altLang="en-US" sz="2400" dirty="0">
                <a:sym typeface="Symbol" panose="05050102010706020507" pitchFamily="18" charset="2"/>
              </a:rPr>
              <a:t>, ~ (</a:t>
            </a:r>
            <a:r>
              <a:rPr lang="en-US" altLang="en-US" sz="2400" i="1" dirty="0"/>
              <a:t>x</a:t>
            </a:r>
            <a:r>
              <a:rPr lang="en-US" altLang="en-US" sz="2400" baseline="30000" dirty="0"/>
              <a:t>2</a:t>
            </a:r>
            <a:r>
              <a:rPr lang="en-US" altLang="en-US" sz="2400" dirty="0"/>
              <a:t> + 1 = 0)</a:t>
            </a:r>
          </a:p>
          <a:p>
            <a:pPr marL="0" indent="0">
              <a:buNone/>
            </a:pPr>
            <a:endParaRPr lang="en-GB" altLang="en-US" sz="2400" dirty="0">
              <a:sym typeface="Symbol" panose="05050102010706020507" pitchFamily="18" charset="2"/>
            </a:endParaRPr>
          </a:p>
        </p:txBody>
      </p:sp>
      <p:sp>
        <p:nvSpPr>
          <p:cNvPr id="5" name="Rectangle 3">
            <a:extLst>
              <a:ext uri="{FF2B5EF4-FFF2-40B4-BE49-F238E27FC236}">
                <a16:creationId xmlns:a16="http://schemas.microsoft.com/office/drawing/2014/main" id="{2836F4E5-9A69-4F5B-9AB9-9FFD2EF80F63}"/>
              </a:ext>
            </a:extLst>
          </p:cNvPr>
          <p:cNvSpPr txBox="1">
            <a:spLocks noChangeArrowheads="1"/>
          </p:cNvSpPr>
          <p:nvPr/>
        </p:nvSpPr>
        <p:spPr>
          <a:xfrm>
            <a:off x="690813" y="5313575"/>
            <a:ext cx="8248650" cy="1155080"/>
          </a:xfrm>
          <a:prstGeom prst="rect">
            <a:avLst/>
          </a:prstGeom>
        </p:spPr>
        <p:txBody>
          <a:bodyPr vert="horz" lIns="91440" tIns="45720" rIns="91440" bIns="45720" rtlCol="0">
            <a:normAutofit fontScale="850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900113" indent="-900113">
              <a:buFont typeface="Arial" panose="020B0604020202020204" pitchFamily="34" charset="0"/>
              <a:buNone/>
            </a:pPr>
            <a:r>
              <a:rPr lang="en-US" altLang="en-US" sz="2400" dirty="0">
                <a:sym typeface="Symbol" panose="05050102010706020507" pitchFamily="18" charset="2"/>
              </a:rPr>
              <a:t>Note:</a:t>
            </a:r>
          </a:p>
          <a:p>
            <a:pPr marL="900113" indent="-900113">
              <a:buFont typeface="Arial" panose="020B0604020202020204" pitchFamily="34" charset="0"/>
              <a:buNone/>
            </a:pPr>
            <a:r>
              <a:rPr lang="en-US" altLang="en-US" sz="2400" dirty="0">
                <a:sym typeface="Symbol" panose="05050102010706020507" pitchFamily="18" charset="2"/>
              </a:rPr>
              <a:t>1.	The symbol  means “belongs to”.</a:t>
            </a:r>
          </a:p>
          <a:p>
            <a:pPr marL="900113" indent="-900113">
              <a:buFont typeface="Arial" panose="020B0604020202020204" pitchFamily="34" charset="0"/>
              <a:buNone/>
            </a:pPr>
            <a:r>
              <a:rPr lang="en-US" altLang="en-US" sz="2400" dirty="0">
                <a:sym typeface="Symbol" panose="05050102010706020507" pitchFamily="18" charset="2"/>
              </a:rPr>
              <a:t>2.	The domain of all predicate variables in the above statements is </a:t>
            </a:r>
            <a:r>
              <a:rPr lang="en-US" altLang="zh-CN" sz="2400" dirty="0">
                <a:ea typeface="宋体" panose="02010600030101010101" pitchFamily="2" charset="-122"/>
                <a:sym typeface="Symbol" panose="05050102010706020507" pitchFamily="18" charset="2"/>
              </a:rPr>
              <a:t>ℝ.</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70339">
                                            <p:txEl>
                                              <p:pRg st="2" end="2"/>
                                            </p:txEl>
                                          </p:spTgt>
                                        </p:tgtEl>
                                        <p:attrNameLst>
                                          <p:attrName>style.visibility</p:attrName>
                                        </p:attrNameLst>
                                      </p:cBhvr>
                                      <p:to>
                                        <p:strVal val="visible"/>
                                      </p:to>
                                    </p:set>
                                    <p:animEffect transition="in" filter="box(in)">
                                      <p:cBhvr>
                                        <p:cTn id="7" dur="500"/>
                                        <p:tgtEl>
                                          <p:spTgt spid="27033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70339">
                                            <p:txEl>
                                              <p:pRg st="3" end="3"/>
                                            </p:txEl>
                                          </p:spTgt>
                                        </p:tgtEl>
                                        <p:attrNameLst>
                                          <p:attrName>style.visibility</p:attrName>
                                        </p:attrNameLst>
                                      </p:cBhvr>
                                      <p:to>
                                        <p:strVal val="visible"/>
                                      </p:to>
                                    </p:set>
                                    <p:animEffect transition="in" filter="box(in)">
                                      <p:cBhvr>
                                        <p:cTn id="12" dur="500"/>
                                        <p:tgtEl>
                                          <p:spTgt spid="27033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70339">
                                            <p:txEl>
                                              <p:pRg st="4" end="4"/>
                                            </p:txEl>
                                          </p:spTgt>
                                        </p:tgtEl>
                                        <p:attrNameLst>
                                          <p:attrName>style.visibility</p:attrName>
                                        </p:attrNameLst>
                                      </p:cBhvr>
                                      <p:to>
                                        <p:strVal val="visible"/>
                                      </p:to>
                                    </p:set>
                                    <p:animEffect transition="in" filter="box(in)">
                                      <p:cBhvr>
                                        <p:cTn id="17" dur="500"/>
                                        <p:tgtEl>
                                          <p:spTgt spid="27033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70339">
                                            <p:txEl>
                                              <p:pRg st="5" end="5"/>
                                            </p:txEl>
                                          </p:spTgt>
                                        </p:tgtEl>
                                        <p:attrNameLst>
                                          <p:attrName>style.visibility</p:attrName>
                                        </p:attrNameLst>
                                      </p:cBhvr>
                                      <p:to>
                                        <p:strVal val="visible"/>
                                      </p:to>
                                    </p:set>
                                    <p:animEffect transition="in" filter="box(in)">
                                      <p:cBhvr>
                                        <p:cTn id="22" dur="500"/>
                                        <p:tgtEl>
                                          <p:spTgt spid="27033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70339">
                                            <p:txEl>
                                              <p:pRg st="6" end="6"/>
                                            </p:txEl>
                                          </p:spTgt>
                                        </p:tgtEl>
                                        <p:attrNameLst>
                                          <p:attrName>style.visibility</p:attrName>
                                        </p:attrNameLst>
                                      </p:cBhvr>
                                      <p:to>
                                        <p:strVal val="visible"/>
                                      </p:to>
                                    </p:set>
                                    <p:animEffect transition="in" filter="box(in)">
                                      <p:cBhvr>
                                        <p:cTn id="27" dur="500"/>
                                        <p:tgtEl>
                                          <p:spTgt spid="27033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70339">
                                            <p:txEl>
                                              <p:pRg st="7" end="7"/>
                                            </p:txEl>
                                          </p:spTgt>
                                        </p:tgtEl>
                                        <p:attrNameLst>
                                          <p:attrName>style.visibility</p:attrName>
                                        </p:attrNameLst>
                                      </p:cBhvr>
                                      <p:to>
                                        <p:strVal val="visible"/>
                                      </p:to>
                                    </p:set>
                                    <p:animEffect transition="in" filter="box(in)">
                                      <p:cBhvr>
                                        <p:cTn id="32" dur="500"/>
                                        <p:tgtEl>
                                          <p:spTgt spid="27033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70339">
                                            <p:txEl>
                                              <p:pRg st="8" end="8"/>
                                            </p:txEl>
                                          </p:spTgt>
                                        </p:tgtEl>
                                        <p:attrNameLst>
                                          <p:attrName>style.visibility</p:attrName>
                                        </p:attrNameLst>
                                      </p:cBhvr>
                                      <p:to>
                                        <p:strVal val="visible"/>
                                      </p:to>
                                    </p:set>
                                    <p:animEffect transition="in" filter="box(in)">
                                      <p:cBhvr>
                                        <p:cTn id="37" dur="500"/>
                                        <p:tgtEl>
                                          <p:spTgt spid="27033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box(in)">
                                      <p:cBhvr>
                                        <p:cTn id="4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211CA957-3A34-4396-974E-DBA3F8BE79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1653921-0878-4F42-822B-77ED6C8A6BE5}" type="slidenum">
              <a:rPr lang="en-GB" altLang="en-US" sz="1400">
                <a:latin typeface="Arial" panose="020B0604020202020204" pitchFamily="34" charset="0"/>
                <a:cs typeface="Arial" panose="020B0604020202020204" pitchFamily="34" charset="0"/>
              </a:rPr>
              <a:pPr>
                <a:spcBef>
                  <a:spcPct val="0"/>
                </a:spcBef>
                <a:buFontTx/>
                <a:buNone/>
              </a:pPr>
              <a:t>9</a:t>
            </a:fld>
            <a:endParaRPr lang="en-GB" altLang="en-US" sz="1400">
              <a:latin typeface="Arial" panose="020B0604020202020204" pitchFamily="34" charset="0"/>
              <a:cs typeface="Arial" panose="020B0604020202020204" pitchFamily="34" charset="0"/>
            </a:endParaRPr>
          </a:p>
        </p:txBody>
      </p:sp>
      <p:sp>
        <p:nvSpPr>
          <p:cNvPr id="16387" name="Rectangle 2">
            <a:extLst>
              <a:ext uri="{FF2B5EF4-FFF2-40B4-BE49-F238E27FC236}">
                <a16:creationId xmlns:a16="http://schemas.microsoft.com/office/drawing/2014/main" id="{78E00DBC-AB50-4957-BD78-CB40A0F148EB}"/>
              </a:ext>
            </a:extLst>
          </p:cNvPr>
          <p:cNvSpPr>
            <a:spLocks noGrp="1" noChangeArrowheads="1"/>
          </p:cNvSpPr>
          <p:nvPr>
            <p:ph type="title"/>
          </p:nvPr>
        </p:nvSpPr>
        <p:spPr>
          <a:xfrm>
            <a:off x="2159000" y="255588"/>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24259" name="Rectangle 3">
            <a:extLst>
              <a:ext uri="{FF2B5EF4-FFF2-40B4-BE49-F238E27FC236}">
                <a16:creationId xmlns:a16="http://schemas.microsoft.com/office/drawing/2014/main" id="{0B849E04-2151-458F-8579-D61D84867715}"/>
              </a:ext>
            </a:extLst>
          </p:cNvPr>
          <p:cNvSpPr>
            <a:spLocks noGrp="1" noChangeArrowheads="1"/>
          </p:cNvSpPr>
          <p:nvPr>
            <p:ph type="body" idx="1"/>
          </p:nvPr>
        </p:nvSpPr>
        <p:spPr>
          <a:xfrm>
            <a:off x="1981200" y="1771651"/>
            <a:ext cx="8229600" cy="4530725"/>
          </a:xfrm>
        </p:spPr>
        <p:txBody>
          <a:bodyPr/>
          <a:lstStyle/>
          <a:p>
            <a:pPr marL="900113" indent="-900113">
              <a:buNone/>
            </a:pPr>
            <a:r>
              <a:rPr lang="en-US" altLang="en-US" sz="2400" dirty="0"/>
              <a:t>1.	Write each of the following statements using the universal quantifier.</a:t>
            </a:r>
          </a:p>
          <a:p>
            <a:pPr marL="900113" indent="-900113">
              <a:buNone/>
            </a:pPr>
            <a:r>
              <a:rPr lang="en-US" altLang="en-US" sz="2400" dirty="0"/>
              <a:t>	(</a:t>
            </a:r>
            <a:r>
              <a:rPr lang="en-US" altLang="en-US" sz="2400" dirty="0" err="1"/>
              <a:t>i</a:t>
            </a:r>
            <a:r>
              <a:rPr lang="en-US" altLang="en-US" sz="2400" dirty="0"/>
              <a:t>)	All dogs are animals.</a:t>
            </a:r>
          </a:p>
          <a:p>
            <a:pPr marL="900113" indent="-900113">
              <a:buNone/>
            </a:pPr>
            <a:r>
              <a:rPr lang="en-US" altLang="en-US" sz="2400" dirty="0"/>
              <a:t>			</a:t>
            </a:r>
            <a:r>
              <a:rPr lang="en-US" altLang="en-US" sz="2400" dirty="0">
                <a:sym typeface="Symbol" panose="05050102010706020507" pitchFamily="18" charset="2"/>
              </a:rPr>
              <a:t> dog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t> is an animal.</a:t>
            </a:r>
          </a:p>
          <a:p>
            <a:pPr marL="900113" indent="-900113">
              <a:buNone/>
            </a:pPr>
            <a:endParaRPr lang="en-US" altLang="en-US" sz="2400" dirty="0"/>
          </a:p>
          <a:p>
            <a:pPr marL="900113" indent="-900113">
              <a:buNone/>
            </a:pPr>
            <a:r>
              <a:rPr lang="en-US" altLang="en-US" sz="2400" dirty="0"/>
              <a:t>	(ii)	The square of any real number is positive or zero.</a:t>
            </a:r>
          </a:p>
          <a:p>
            <a:pPr marL="900113" indent="-900113">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0.</a:t>
            </a:r>
            <a:endParaRPr lang="en-US" altLang="en-US" sz="2400" dirty="0">
              <a:sym typeface="Symbol" panose="05050102010706020507" pitchFamily="18" charset="2"/>
            </a:endParaRPr>
          </a:p>
          <a:p>
            <a:pPr marL="900113" indent="-900113">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4259">
                                            <p:txEl>
                                              <p:pRg st="2" end="2"/>
                                            </p:txEl>
                                          </p:spTgt>
                                        </p:tgtEl>
                                        <p:attrNameLst>
                                          <p:attrName>style.visibility</p:attrName>
                                        </p:attrNameLst>
                                      </p:cBhvr>
                                      <p:to>
                                        <p:strVal val="visible"/>
                                      </p:to>
                                    </p:set>
                                    <p:animEffect transition="in" filter="box(in)">
                                      <p:cBhvr>
                                        <p:cTn id="7" dur="500"/>
                                        <p:tgtEl>
                                          <p:spTgt spid="22425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4259">
                                            <p:txEl>
                                              <p:pRg st="4" end="4"/>
                                            </p:txEl>
                                          </p:spTgt>
                                        </p:tgtEl>
                                        <p:attrNameLst>
                                          <p:attrName>style.visibility</p:attrName>
                                        </p:attrNameLst>
                                      </p:cBhvr>
                                      <p:to>
                                        <p:strVal val="visible"/>
                                      </p:to>
                                    </p:set>
                                    <p:animEffect transition="in" filter="box(in)">
                                      <p:cBhvr>
                                        <p:cTn id="12" dur="500"/>
                                        <p:tgtEl>
                                          <p:spTgt spid="224259">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24259">
                                            <p:txEl>
                                              <p:pRg st="5" end="5"/>
                                            </p:txEl>
                                          </p:spTgt>
                                        </p:tgtEl>
                                        <p:attrNameLst>
                                          <p:attrName>style.visibility</p:attrName>
                                        </p:attrNameLst>
                                      </p:cBhvr>
                                      <p:to>
                                        <p:strVal val="visible"/>
                                      </p:to>
                                    </p:set>
                                    <p:animEffect transition="in" filter="box(in)">
                                      <p:cBhvr>
                                        <p:cTn id="17" dur="500"/>
                                        <p:tgtEl>
                                          <p:spTgt spid="224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B35E1728-A989-44CB-B5A4-103481F608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1B83003-553F-4F70-90E8-4E5F236F9E4E}" type="slidenum">
              <a:rPr lang="en-GB" altLang="en-US" sz="1400">
                <a:latin typeface="Arial" panose="020B0604020202020204" pitchFamily="34" charset="0"/>
                <a:cs typeface="Arial" panose="020B0604020202020204" pitchFamily="34" charset="0"/>
              </a:rPr>
              <a:pPr>
                <a:spcBef>
                  <a:spcPct val="0"/>
                </a:spcBef>
                <a:buFontTx/>
                <a:buNone/>
              </a:pPr>
              <a:t>10</a:t>
            </a:fld>
            <a:endParaRPr lang="en-GB" altLang="en-US" sz="1400">
              <a:latin typeface="Arial" panose="020B0604020202020204" pitchFamily="34" charset="0"/>
              <a:cs typeface="Arial" panose="020B0604020202020204" pitchFamily="34" charset="0"/>
            </a:endParaRPr>
          </a:p>
        </p:txBody>
      </p:sp>
      <p:sp>
        <p:nvSpPr>
          <p:cNvPr id="17411" name="Rectangle 2">
            <a:extLst>
              <a:ext uri="{FF2B5EF4-FFF2-40B4-BE49-F238E27FC236}">
                <a16:creationId xmlns:a16="http://schemas.microsoft.com/office/drawing/2014/main" id="{0679FEAA-17F8-4C5D-9541-D78EE511639A}"/>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43043" name="Rectangle 3">
            <a:extLst>
              <a:ext uri="{FF2B5EF4-FFF2-40B4-BE49-F238E27FC236}">
                <a16:creationId xmlns:a16="http://schemas.microsoft.com/office/drawing/2014/main" id="{8A5FDCAB-2C75-496F-85AF-2E300CF51DB2}"/>
              </a:ext>
            </a:extLst>
          </p:cNvPr>
          <p:cNvSpPr>
            <a:spLocks noGrp="1" noChangeArrowheads="1"/>
          </p:cNvSpPr>
          <p:nvPr>
            <p:ph type="body" idx="1"/>
          </p:nvPr>
        </p:nvSpPr>
        <p:spPr>
          <a:xfrm>
            <a:off x="1981200" y="1771651"/>
            <a:ext cx="8229600" cy="4530725"/>
          </a:xfrm>
        </p:spPr>
        <p:txBody>
          <a:bodyPr/>
          <a:lstStyle/>
          <a:p>
            <a:pPr marL="900113" indent="-900113">
              <a:buNone/>
            </a:pPr>
            <a:r>
              <a:rPr lang="en-US" altLang="en-US" sz="2400"/>
              <a:t>2.	Write each of the following statements using the existential quantifier.</a:t>
            </a:r>
          </a:p>
          <a:p>
            <a:pPr marL="900113" indent="-900113">
              <a:buNone/>
            </a:pPr>
            <a:r>
              <a:rPr lang="en-US" altLang="en-US" sz="2400"/>
              <a:t>	(i)	There exists a real number whose square is 			negative.</a:t>
            </a:r>
          </a:p>
          <a:p>
            <a:pPr marL="900113" indent="-900113">
              <a:buNone/>
            </a:pPr>
            <a:r>
              <a:rPr lang="en-US" altLang="en-US" sz="2400"/>
              <a:t>			</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t> </a:t>
            </a:r>
            <a:r>
              <a:rPr lang="en-US" altLang="en-US" sz="2400">
                <a:sym typeface="Symbol" panose="05050102010706020507" pitchFamily="18" charset="2"/>
              </a:rPr>
              <a:t> </a:t>
            </a:r>
            <a:r>
              <a:rPr lang="en-US" altLang="zh-CN" sz="2400">
                <a:ea typeface="宋体" panose="02010600030101010101" pitchFamily="2" charset="-122"/>
                <a:sym typeface="Symbol" panose="05050102010706020507" pitchFamily="18" charset="2"/>
              </a:rPr>
              <a:t>ℝ, </a:t>
            </a:r>
            <a:r>
              <a:rPr lang="en-US" altLang="zh-CN" sz="2400" i="1">
                <a:ea typeface="宋体" panose="02010600030101010101" pitchFamily="2" charset="-122"/>
                <a:sym typeface="Symbol" panose="05050102010706020507" pitchFamily="18" charset="2"/>
              </a:rPr>
              <a:t>x</a:t>
            </a:r>
            <a:r>
              <a:rPr lang="en-US" altLang="zh-CN" sz="2400" baseline="30000">
                <a:ea typeface="宋体" panose="02010600030101010101" pitchFamily="2" charset="-122"/>
                <a:sym typeface="Symbol" panose="05050102010706020507" pitchFamily="18" charset="2"/>
              </a:rPr>
              <a:t>2</a:t>
            </a:r>
            <a:r>
              <a:rPr lang="en-US" altLang="zh-CN" sz="2400">
                <a:ea typeface="宋体" panose="02010600030101010101" pitchFamily="2" charset="-122"/>
                <a:sym typeface="Symbol" panose="05050102010706020507" pitchFamily="18" charset="2"/>
              </a:rPr>
              <a:t> &lt; 0</a:t>
            </a:r>
            <a:r>
              <a:rPr lang="en-US" altLang="en-US" sz="2400"/>
              <a:t>.</a:t>
            </a:r>
          </a:p>
          <a:p>
            <a:pPr marL="900113" indent="-900113">
              <a:buNone/>
            </a:pPr>
            <a:endParaRPr lang="en-US" altLang="en-US" sz="2400"/>
          </a:p>
          <a:p>
            <a:pPr marL="900113" indent="-900113">
              <a:buNone/>
            </a:pPr>
            <a:r>
              <a:rPr lang="en-US" altLang="en-US" sz="2400"/>
              <a:t>	(ii)	Some dogs are vegetarians.</a:t>
            </a:r>
          </a:p>
          <a:p>
            <a:pPr marL="900113" indent="-900113">
              <a:buNone/>
            </a:pPr>
            <a:r>
              <a:rPr lang="en-US" altLang="en-US" sz="2400"/>
              <a:t>			</a:t>
            </a:r>
            <a:r>
              <a:rPr lang="en-US" altLang="en-US" sz="2400">
                <a:sym typeface="Symbol" panose="05050102010706020507" pitchFamily="18" charset="2"/>
              </a:rPr>
              <a:t> dog </a:t>
            </a:r>
            <a:r>
              <a:rPr lang="en-US" altLang="en-US" sz="2400" i="1">
                <a:sym typeface="Symbol" panose="05050102010706020507" pitchFamily="18" charset="2"/>
              </a:rPr>
              <a:t>x</a:t>
            </a:r>
            <a:r>
              <a:rPr lang="en-US" altLang="en-US" sz="2400"/>
              <a:t>,</a:t>
            </a:r>
            <a:r>
              <a:rPr lang="en-US" altLang="zh-CN" sz="2400">
                <a:ea typeface="宋体" panose="02010600030101010101" pitchFamily="2" charset="-122"/>
                <a:sym typeface="Symbol" panose="05050102010706020507" pitchFamily="18" charset="2"/>
              </a:rPr>
              <a:t> </a:t>
            </a:r>
            <a:r>
              <a:rPr lang="en-US" altLang="zh-CN" sz="2400" i="1">
                <a:ea typeface="宋体" panose="02010600030101010101" pitchFamily="2" charset="-122"/>
                <a:sym typeface="Symbol" panose="05050102010706020507" pitchFamily="18" charset="2"/>
              </a:rPr>
              <a:t>x</a:t>
            </a:r>
            <a:r>
              <a:rPr lang="en-US" altLang="zh-CN" sz="2400">
                <a:ea typeface="宋体" panose="02010600030101010101" pitchFamily="2" charset="-122"/>
                <a:sym typeface="Symbol" panose="05050102010706020507" pitchFamily="18" charset="2"/>
              </a:rPr>
              <a:t> is vegetarian.</a:t>
            </a:r>
            <a:endParaRPr lang="en-US" altLang="en-US" sz="2400">
              <a:sym typeface="Symbol" panose="05050102010706020507" pitchFamily="18" charset="2"/>
            </a:endParaRPr>
          </a:p>
          <a:p>
            <a:pPr marL="900113" indent="-900113">
              <a:buNone/>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3043">
                                            <p:txEl>
                                              <p:pRg st="2" end="2"/>
                                            </p:txEl>
                                          </p:spTgt>
                                        </p:tgtEl>
                                        <p:attrNameLst>
                                          <p:attrName>style.visibility</p:attrName>
                                        </p:attrNameLst>
                                      </p:cBhvr>
                                      <p:to>
                                        <p:strVal val="visible"/>
                                      </p:to>
                                    </p:set>
                                    <p:animEffect transition="in" filter="box(in)">
                                      <p:cBhvr>
                                        <p:cTn id="7" dur="500"/>
                                        <p:tgtEl>
                                          <p:spTgt spid="3430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3043">
                                            <p:txEl>
                                              <p:pRg st="4" end="4"/>
                                            </p:txEl>
                                          </p:spTgt>
                                        </p:tgtEl>
                                        <p:attrNameLst>
                                          <p:attrName>style.visibility</p:attrName>
                                        </p:attrNameLst>
                                      </p:cBhvr>
                                      <p:to>
                                        <p:strVal val="visible"/>
                                      </p:to>
                                    </p:set>
                                    <p:animEffect transition="in" filter="box(in)">
                                      <p:cBhvr>
                                        <p:cTn id="12" dur="500"/>
                                        <p:tgtEl>
                                          <p:spTgt spid="34304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3043">
                                            <p:txEl>
                                              <p:pRg st="5" end="5"/>
                                            </p:txEl>
                                          </p:spTgt>
                                        </p:tgtEl>
                                        <p:attrNameLst>
                                          <p:attrName>style.visibility</p:attrName>
                                        </p:attrNameLst>
                                      </p:cBhvr>
                                      <p:to>
                                        <p:strVal val="visible"/>
                                      </p:to>
                                    </p:set>
                                    <p:animEffect transition="in" filter="box(in)">
                                      <p:cBhvr>
                                        <p:cTn id="17" dur="500"/>
                                        <p:tgtEl>
                                          <p:spTgt spid="3430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FF1DC4D2-91FF-4F0F-930C-26D0781DD2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9C40435-AACD-4057-9B0D-4F6EE3D78159}" type="slidenum">
              <a:rPr lang="en-GB" altLang="en-US" sz="1400">
                <a:latin typeface="Arial" panose="020B0604020202020204" pitchFamily="34" charset="0"/>
                <a:cs typeface="Arial" panose="020B0604020202020204" pitchFamily="34" charset="0"/>
              </a:rPr>
              <a:pPr>
                <a:spcBef>
                  <a:spcPct val="0"/>
                </a:spcBef>
                <a:buFontTx/>
                <a:buNone/>
              </a:pPr>
              <a:t>11</a:t>
            </a:fld>
            <a:endParaRPr lang="en-GB" altLang="en-US" sz="1400">
              <a:latin typeface="Arial" panose="020B0604020202020204" pitchFamily="34" charset="0"/>
              <a:cs typeface="Arial" panose="020B0604020202020204" pitchFamily="34" charset="0"/>
            </a:endParaRPr>
          </a:p>
        </p:txBody>
      </p:sp>
      <p:sp>
        <p:nvSpPr>
          <p:cNvPr id="19459" name="Rectangle 2">
            <a:extLst>
              <a:ext uri="{FF2B5EF4-FFF2-40B4-BE49-F238E27FC236}">
                <a16:creationId xmlns:a16="http://schemas.microsoft.com/office/drawing/2014/main" id="{9D1CE147-C8B8-43C3-AC57-E1E70EAA3C53}"/>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Universal Statements: Important</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44067" name="Rectangle 3">
            <a:extLst>
              <a:ext uri="{FF2B5EF4-FFF2-40B4-BE49-F238E27FC236}">
                <a16:creationId xmlns:a16="http://schemas.microsoft.com/office/drawing/2014/main" id="{14DB1039-8C05-462F-8B20-7BDB7236B0CC}"/>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A </a:t>
            </a:r>
            <a:r>
              <a:rPr lang="en-US" altLang="en-US" sz="2400" b="1" i="1" dirty="0">
                <a:sym typeface="Symbol" panose="05050102010706020507" pitchFamily="18" charset="2"/>
              </a:rPr>
              <a:t>universal</a:t>
            </a:r>
            <a:r>
              <a:rPr lang="en-US" altLang="en-US" sz="2400" dirty="0">
                <a:sym typeface="Symbol" panose="05050102010706020507" pitchFamily="18" charset="2"/>
              </a:rPr>
              <a:t> statement is defined to be true if and only if </a:t>
            </a:r>
            <a:r>
              <a:rPr lang="en-US" altLang="en-US" sz="2400" i="1" dirty="0"/>
              <a:t>Q</a:t>
            </a:r>
            <a:r>
              <a:rPr lang="en-US" altLang="en-US" sz="2400" dirty="0"/>
              <a:t>(</a:t>
            </a:r>
            <a:r>
              <a:rPr lang="en-US" altLang="en-US" sz="2400" i="1" dirty="0"/>
              <a:t>x</a:t>
            </a:r>
            <a:r>
              <a:rPr lang="en-US" altLang="en-US" sz="2400" dirty="0"/>
              <a:t>) is true for </a:t>
            </a:r>
            <a:r>
              <a:rPr lang="en-US" altLang="en-US" sz="2400" b="1" i="1" dirty="0">
                <a:solidFill>
                  <a:schemeClr val="hlink"/>
                </a:solidFill>
              </a:rPr>
              <a:t>every</a:t>
            </a:r>
            <a:r>
              <a:rPr lang="en-US" altLang="en-US" sz="2400" dirty="0"/>
              <a:t> </a:t>
            </a:r>
            <a:r>
              <a:rPr lang="en-US" altLang="en-US" sz="2400" i="1" dirty="0"/>
              <a:t>x</a:t>
            </a:r>
            <a:r>
              <a:rPr lang="en-US" altLang="en-US" sz="2400" dirty="0"/>
              <a:t> in </a:t>
            </a:r>
            <a:r>
              <a:rPr lang="en-US" altLang="en-US" sz="2400" i="1" dirty="0"/>
              <a:t>D</a:t>
            </a:r>
            <a:r>
              <a:rPr lang="en-US" altLang="en-US" sz="2400" dirty="0"/>
              <a:t>. </a:t>
            </a:r>
          </a:p>
          <a:p>
            <a:pPr marL="0" indent="0">
              <a:buNone/>
            </a:pPr>
            <a:r>
              <a:rPr lang="en-US" altLang="en-US" sz="2400" dirty="0"/>
              <a:t>	</a:t>
            </a:r>
          </a:p>
          <a:p>
            <a:pPr marL="0" indent="0">
              <a:buNone/>
            </a:pPr>
            <a:r>
              <a:rPr lang="en-US" altLang="en-US" sz="2400" dirty="0">
                <a:sym typeface="Symbol" panose="05050102010706020507" pitchFamily="18" charset="2"/>
              </a:rPr>
              <a:t>A </a:t>
            </a:r>
            <a:r>
              <a:rPr lang="en-US" altLang="en-US" sz="2400" b="1" dirty="0">
                <a:sym typeface="Symbol" panose="05050102010706020507" pitchFamily="18" charset="2"/>
              </a:rPr>
              <a:t>universal</a:t>
            </a:r>
            <a:r>
              <a:rPr lang="en-US" altLang="en-US" sz="2400" dirty="0">
                <a:sym typeface="Symbol" panose="05050102010706020507" pitchFamily="18" charset="2"/>
              </a:rPr>
              <a:t> statement is defined to be false if and only if </a:t>
            </a:r>
            <a:r>
              <a:rPr lang="en-US" altLang="en-US" sz="2400" i="1" dirty="0"/>
              <a:t>Q</a:t>
            </a:r>
            <a:r>
              <a:rPr lang="en-US" altLang="en-US" sz="2400" dirty="0"/>
              <a:t>(</a:t>
            </a:r>
            <a:r>
              <a:rPr lang="en-US" altLang="en-US" sz="2400" i="1" dirty="0"/>
              <a:t>x</a:t>
            </a:r>
            <a:r>
              <a:rPr lang="en-US" altLang="en-US" sz="2400" dirty="0"/>
              <a:t>) is false for </a:t>
            </a:r>
            <a:r>
              <a:rPr lang="en-US" altLang="en-US" sz="2400" b="1" i="1" dirty="0">
                <a:solidFill>
                  <a:schemeClr val="hlink"/>
                </a:solidFill>
              </a:rPr>
              <a:t>at least one</a:t>
            </a:r>
            <a:r>
              <a:rPr lang="en-US" altLang="en-US" sz="2400" b="1" dirty="0"/>
              <a:t> </a:t>
            </a:r>
            <a:r>
              <a:rPr lang="en-US" altLang="en-US" sz="2400" i="1" dirty="0"/>
              <a:t>x</a:t>
            </a:r>
            <a:r>
              <a:rPr lang="en-US" altLang="en-US" sz="2400" dirty="0"/>
              <a:t> in </a:t>
            </a:r>
            <a:r>
              <a:rPr lang="en-US" altLang="en-US" sz="2400" i="1" dirty="0"/>
              <a:t>D</a:t>
            </a:r>
            <a:r>
              <a:rPr lang="en-US" altLang="en-US" sz="2400" dirty="0"/>
              <a:t>. </a:t>
            </a:r>
          </a:p>
          <a:p>
            <a:pPr marL="0" indent="0">
              <a:buNone/>
            </a:pPr>
            <a:endParaRPr lang="en-US" altLang="en-US" sz="2400" dirty="0"/>
          </a:p>
          <a:p>
            <a:pPr marL="0" indent="0">
              <a:buNone/>
            </a:pPr>
            <a:r>
              <a:rPr lang="en-US" altLang="en-US" sz="2400" dirty="0"/>
              <a:t>A value of </a:t>
            </a:r>
            <a:r>
              <a:rPr lang="en-US" altLang="en-US" sz="2400" i="1" dirty="0">
                <a:sym typeface="Symbol" panose="05050102010706020507" pitchFamily="18" charset="2"/>
              </a:rPr>
              <a:t>x</a:t>
            </a:r>
            <a:r>
              <a:rPr lang="en-US" altLang="en-US" sz="2400" dirty="0"/>
              <a:t> for which</a:t>
            </a: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Q</a:t>
            </a:r>
            <a:r>
              <a:rPr lang="en-US" altLang="zh-CN" sz="2400" dirty="0">
                <a:ea typeface="宋体" panose="02010600030101010101" pitchFamily="2" charset="-122"/>
                <a:sym typeface="Symbol" panose="05050102010706020507" pitchFamily="18" charset="2"/>
              </a:rPr>
              <a:t>(</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is false is called a </a:t>
            </a:r>
            <a:r>
              <a:rPr lang="en-US" altLang="zh-CN" sz="2400" b="1" i="1" dirty="0">
                <a:solidFill>
                  <a:schemeClr val="hlink"/>
                </a:solidFill>
                <a:ea typeface="宋体" panose="02010600030101010101" pitchFamily="2" charset="-122"/>
                <a:sym typeface="Symbol" panose="05050102010706020507" pitchFamily="18" charset="2"/>
              </a:rPr>
              <a:t>counterexample</a:t>
            </a:r>
            <a:r>
              <a:rPr lang="en-US" altLang="zh-CN" sz="2400" dirty="0">
                <a:ea typeface="宋体" panose="02010600030101010101" pitchFamily="2" charset="-122"/>
                <a:sym typeface="Symbol" panose="05050102010706020507" pitchFamily="18" charset="2"/>
              </a:rPr>
              <a:t> to the universal statement. </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4067">
                                            <p:txEl>
                                              <p:pRg st="2" end="2"/>
                                            </p:txEl>
                                          </p:spTgt>
                                        </p:tgtEl>
                                        <p:attrNameLst>
                                          <p:attrName>style.visibility</p:attrName>
                                        </p:attrNameLst>
                                      </p:cBhvr>
                                      <p:to>
                                        <p:strVal val="visible"/>
                                      </p:to>
                                    </p:set>
                                    <p:animEffect transition="in" filter="box(in)">
                                      <p:cBhvr>
                                        <p:cTn id="7" dur="500"/>
                                        <p:tgtEl>
                                          <p:spTgt spid="3440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4067">
                                            <p:txEl>
                                              <p:pRg st="4" end="4"/>
                                            </p:txEl>
                                          </p:spTgt>
                                        </p:tgtEl>
                                        <p:attrNameLst>
                                          <p:attrName>style.visibility</p:attrName>
                                        </p:attrNameLst>
                                      </p:cBhvr>
                                      <p:to>
                                        <p:strVal val="visible"/>
                                      </p:to>
                                    </p:set>
                                    <p:animEffect transition="in" filter="box(in)">
                                      <p:cBhvr>
                                        <p:cTn id="12" dur="500"/>
                                        <p:tgtEl>
                                          <p:spTgt spid="3440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5841E4E-5A49-4DCE-9628-5A09E506E5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2B2E07D-E72A-4768-AD63-CAD7FCDB655B}" type="slidenum">
              <a:rPr lang="en-GB" altLang="en-US" sz="1400">
                <a:latin typeface="Arial" panose="020B0604020202020204" pitchFamily="34" charset="0"/>
                <a:cs typeface="Arial" panose="020B0604020202020204" pitchFamily="34" charset="0"/>
              </a:rPr>
              <a:pPr>
                <a:spcBef>
                  <a:spcPct val="0"/>
                </a:spcBef>
                <a:buFontTx/>
                <a:buNone/>
              </a:pPr>
              <a:t>12</a:t>
            </a:fld>
            <a:endParaRPr lang="en-GB" altLang="en-US" sz="1400">
              <a:latin typeface="Arial" panose="020B0604020202020204" pitchFamily="34" charset="0"/>
              <a:cs typeface="Arial" panose="020B0604020202020204" pitchFamily="34" charset="0"/>
            </a:endParaRPr>
          </a:p>
        </p:txBody>
      </p:sp>
      <p:sp>
        <p:nvSpPr>
          <p:cNvPr id="20483" name="Rectangle 2">
            <a:extLst>
              <a:ext uri="{FF2B5EF4-FFF2-40B4-BE49-F238E27FC236}">
                <a16:creationId xmlns:a16="http://schemas.microsoft.com/office/drawing/2014/main" id="{7CF3A810-5B2E-422E-958B-B4685647A82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Existential Statements: Important</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0484" name="Rectangle 3">
            <a:extLst>
              <a:ext uri="{FF2B5EF4-FFF2-40B4-BE49-F238E27FC236}">
                <a16:creationId xmlns:a16="http://schemas.microsoft.com/office/drawing/2014/main" id="{E9BFC3D4-6835-48D5-8A62-57812356FFEC}"/>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An </a:t>
            </a:r>
            <a:r>
              <a:rPr lang="en-US" altLang="en-US" sz="2400" b="1" i="1" dirty="0">
                <a:sym typeface="Symbol" panose="05050102010706020507" pitchFamily="18" charset="2"/>
              </a:rPr>
              <a:t>existential</a:t>
            </a:r>
            <a:r>
              <a:rPr lang="en-US" altLang="en-US" sz="2400" dirty="0">
                <a:sym typeface="Symbol" panose="05050102010706020507" pitchFamily="18" charset="2"/>
              </a:rPr>
              <a:t> statement is defined to be true if and only if </a:t>
            </a:r>
            <a:r>
              <a:rPr lang="en-US" altLang="en-US" sz="2400" i="1" dirty="0"/>
              <a:t>Q</a:t>
            </a:r>
            <a:r>
              <a:rPr lang="en-US" altLang="en-US" sz="2400" dirty="0"/>
              <a:t>(</a:t>
            </a:r>
            <a:r>
              <a:rPr lang="en-US" altLang="en-US" sz="2400" i="1" dirty="0"/>
              <a:t>x</a:t>
            </a:r>
            <a:r>
              <a:rPr lang="en-US" altLang="en-US" sz="2400" dirty="0"/>
              <a:t>) is true for </a:t>
            </a:r>
            <a:r>
              <a:rPr lang="en-US" altLang="en-US" sz="2400" b="1" i="1" dirty="0">
                <a:solidFill>
                  <a:schemeClr val="hlink"/>
                </a:solidFill>
              </a:rPr>
              <a:t>at least one</a:t>
            </a:r>
            <a:r>
              <a:rPr lang="en-US" altLang="en-US" sz="2400" b="1" dirty="0"/>
              <a:t> </a:t>
            </a:r>
            <a:r>
              <a:rPr lang="en-US" altLang="en-US" sz="2400" i="1" dirty="0"/>
              <a:t>x</a:t>
            </a:r>
            <a:r>
              <a:rPr lang="en-US" altLang="en-US" sz="2400" dirty="0"/>
              <a:t> in </a:t>
            </a:r>
            <a:r>
              <a:rPr lang="en-US" altLang="en-US" sz="2400" i="1" dirty="0"/>
              <a:t>D</a:t>
            </a:r>
            <a:r>
              <a:rPr lang="en-US" altLang="en-US" sz="2400" dirty="0"/>
              <a:t>. </a:t>
            </a:r>
          </a:p>
          <a:p>
            <a:pPr marL="0" indent="0">
              <a:buNone/>
            </a:pPr>
            <a:r>
              <a:rPr lang="en-US" altLang="en-US" sz="2400" dirty="0"/>
              <a:t>	</a:t>
            </a:r>
          </a:p>
          <a:p>
            <a:pPr marL="0" indent="0">
              <a:buNone/>
            </a:pPr>
            <a:r>
              <a:rPr lang="en-US" altLang="en-US" sz="2400" dirty="0">
                <a:sym typeface="Symbol" panose="05050102010706020507" pitchFamily="18" charset="2"/>
              </a:rPr>
              <a:t>An e</a:t>
            </a:r>
            <a:r>
              <a:rPr lang="en-US" altLang="en-US" sz="2400" b="1" i="1" dirty="0">
                <a:sym typeface="Symbol" panose="05050102010706020507" pitchFamily="18" charset="2"/>
              </a:rPr>
              <a:t>xistential</a:t>
            </a:r>
            <a:r>
              <a:rPr lang="en-US" altLang="en-US" sz="2400" dirty="0">
                <a:sym typeface="Symbol" panose="05050102010706020507" pitchFamily="18" charset="2"/>
              </a:rPr>
              <a:t> statement is defined to be false if and only if </a:t>
            </a:r>
            <a:r>
              <a:rPr lang="en-US" altLang="en-US" sz="2400" i="1" dirty="0"/>
              <a:t>Q</a:t>
            </a:r>
            <a:r>
              <a:rPr lang="en-US" altLang="en-US" sz="2400" dirty="0"/>
              <a:t>(</a:t>
            </a:r>
            <a:r>
              <a:rPr lang="en-US" altLang="en-US" sz="2400" i="1" dirty="0"/>
              <a:t>x</a:t>
            </a:r>
            <a:r>
              <a:rPr lang="en-US" altLang="en-US" sz="2400" dirty="0"/>
              <a:t>) is false for </a:t>
            </a:r>
            <a:r>
              <a:rPr lang="en-US" altLang="en-US" sz="2400" b="1" i="1" dirty="0">
                <a:solidFill>
                  <a:schemeClr val="hlink"/>
                </a:solidFill>
              </a:rPr>
              <a:t>every</a:t>
            </a:r>
            <a:r>
              <a:rPr lang="en-US" altLang="en-US" sz="2400" dirty="0"/>
              <a:t> </a:t>
            </a:r>
            <a:r>
              <a:rPr lang="en-US" altLang="en-US" sz="2400" i="1" dirty="0"/>
              <a:t>x</a:t>
            </a:r>
            <a:r>
              <a:rPr lang="en-US" altLang="en-US" sz="2400" dirty="0"/>
              <a:t> in </a:t>
            </a:r>
            <a:r>
              <a:rPr lang="en-US" altLang="en-US" sz="2400" i="1" dirty="0"/>
              <a:t>D</a:t>
            </a:r>
            <a:r>
              <a:rPr lang="en-US" altLang="en-US" sz="24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538A821B-47A9-43C6-8DB8-E0C7EA9D84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93F4A87-76C3-472F-B41A-CDA2FACC081E}" type="slidenum">
              <a:rPr lang="en-GB" altLang="en-US" sz="1400">
                <a:latin typeface="Arial" panose="020B0604020202020204" pitchFamily="34" charset="0"/>
                <a:cs typeface="Arial" panose="020B0604020202020204" pitchFamily="34" charset="0"/>
              </a:rPr>
              <a:pPr>
                <a:spcBef>
                  <a:spcPct val="0"/>
                </a:spcBef>
                <a:buFontTx/>
                <a:buNone/>
              </a:pPr>
              <a:t>13</a:t>
            </a:fld>
            <a:endParaRPr lang="en-GB" altLang="en-US" sz="1400">
              <a:latin typeface="Arial" panose="020B0604020202020204" pitchFamily="34" charset="0"/>
              <a:cs typeface="Arial" panose="020B0604020202020204" pitchFamily="34" charset="0"/>
            </a:endParaRPr>
          </a:p>
        </p:txBody>
      </p:sp>
      <p:sp>
        <p:nvSpPr>
          <p:cNvPr id="21507" name="Rectangle 2">
            <a:extLst>
              <a:ext uri="{FF2B5EF4-FFF2-40B4-BE49-F238E27FC236}">
                <a16:creationId xmlns:a16="http://schemas.microsoft.com/office/drawing/2014/main" id="{15E896D4-2A7B-491A-A2EC-3408FD625085}"/>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Truth Set of a Predicate</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76835" name="Rectangle 3">
            <a:extLst>
              <a:ext uri="{FF2B5EF4-FFF2-40B4-BE49-F238E27FC236}">
                <a16:creationId xmlns:a16="http://schemas.microsoft.com/office/drawing/2014/main" id="{BD7D22E8-949F-4530-86A3-6F3A15BDCB59}"/>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The </a:t>
            </a:r>
            <a:r>
              <a:rPr lang="en-US" altLang="en-US" sz="2400" b="1" i="1" dirty="0"/>
              <a:t>truth set of a predicate</a:t>
            </a:r>
            <a:r>
              <a:rPr lang="en-US" altLang="en-US" sz="2400" dirty="0"/>
              <a:t> is the set of elements in the domain that make the predicate a true statement.</a:t>
            </a:r>
          </a:p>
          <a:p>
            <a:pPr marL="0" indent="0">
              <a:buNone/>
            </a:pPr>
            <a:endParaRPr lang="en-US" altLang="en-US" sz="2400" dirty="0"/>
          </a:p>
          <a:p>
            <a:pPr marL="0" indent="0">
              <a:buNone/>
            </a:pPr>
            <a:endParaRPr lang="en-US" altLang="en-US" sz="2400" dirty="0"/>
          </a:p>
          <a:p>
            <a:pPr marL="0" indent="0">
              <a:buNone/>
            </a:pPr>
            <a:r>
              <a:rPr lang="en-US" altLang="en-US" sz="2400" dirty="0"/>
              <a:t>Now try if you can determine whether the universal and existential statements in the previous discussion and examples are true or false.</a:t>
            </a:r>
          </a:p>
          <a:p>
            <a:pPr marL="0" indent="0">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6835">
                                            <p:txEl>
                                              <p:pRg st="3" end="3"/>
                                            </p:txEl>
                                          </p:spTgt>
                                        </p:tgtEl>
                                        <p:attrNameLst>
                                          <p:attrName>style.visibility</p:attrName>
                                        </p:attrNameLst>
                                      </p:cBhvr>
                                      <p:to>
                                        <p:strVal val="visible"/>
                                      </p:to>
                                    </p:set>
                                    <p:animEffect transition="in" filter="box(in)">
                                      <p:cBhvr>
                                        <p:cTn id="7" dur="500"/>
                                        <p:tgtEl>
                                          <p:spTgt spid="3768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0765C147-CE0F-4575-BFC5-36EFF639B0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D59157A-D805-44ED-87B5-95113459AE53}" type="slidenum">
              <a:rPr lang="en-GB" altLang="en-US" sz="1400">
                <a:latin typeface="Arial" panose="020B0604020202020204" pitchFamily="34" charset="0"/>
                <a:cs typeface="Arial" panose="020B0604020202020204" pitchFamily="34" charset="0"/>
              </a:rPr>
              <a:pPr>
                <a:spcBef>
                  <a:spcPct val="0"/>
                </a:spcBef>
                <a:buFontTx/>
                <a:buNone/>
              </a:pPr>
              <a:t>14</a:t>
            </a:fld>
            <a:endParaRPr lang="en-GB" altLang="en-US" sz="1400">
              <a:latin typeface="Arial" panose="020B0604020202020204" pitchFamily="34" charset="0"/>
              <a:cs typeface="Arial" panose="020B0604020202020204" pitchFamily="34" charset="0"/>
            </a:endParaRPr>
          </a:p>
        </p:txBody>
      </p:sp>
      <p:sp>
        <p:nvSpPr>
          <p:cNvPr id="22531" name="Rectangle 2">
            <a:extLst>
              <a:ext uri="{FF2B5EF4-FFF2-40B4-BE49-F238E27FC236}">
                <a16:creationId xmlns:a16="http://schemas.microsoft.com/office/drawing/2014/main" id="{C8ECC231-17BE-4ECA-8B5E-6AD39FCA5DD3}"/>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Aside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46115" name="Rectangle 3">
            <a:extLst>
              <a:ext uri="{FF2B5EF4-FFF2-40B4-BE49-F238E27FC236}">
                <a16:creationId xmlns:a16="http://schemas.microsoft.com/office/drawing/2014/main" id="{89B9052C-BBF2-494A-81F4-E88E2CA4BA2F}"/>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Real numbers are further classified as natural numbers, integers, rational numbers, irrational numbers. These sets of numbers are often used as the domain of the variable. The “standard” notation for these categories of numbers are as follows:</a:t>
            </a:r>
          </a:p>
          <a:p>
            <a:pPr marL="0" indent="0">
              <a:buNone/>
            </a:pPr>
            <a:r>
              <a:rPr lang="en-US" altLang="en-US" sz="2400" dirty="0">
                <a:sym typeface="Symbol" panose="05050102010706020507" pitchFamily="18" charset="2"/>
              </a:rPr>
              <a:t>1.	</a:t>
            </a:r>
            <a:r>
              <a:rPr lang="en-US" altLang="en-US" sz="2400" b="1" dirty="0">
                <a:sym typeface="Symbol" panose="05050102010706020507" pitchFamily="18" charset="2"/>
              </a:rPr>
              <a:t>ℕ</a:t>
            </a:r>
            <a:r>
              <a:rPr lang="en-US" altLang="en-US" sz="2400" dirty="0">
                <a:sym typeface="Symbol" panose="05050102010706020507" pitchFamily="18" charset="2"/>
              </a:rPr>
              <a:t> represents the set of all natural numbers, or positive 	whole numbers. </a:t>
            </a:r>
          </a:p>
          <a:p>
            <a:pPr marL="0" indent="0">
              <a:buNone/>
            </a:pPr>
            <a:r>
              <a:rPr lang="en-US" altLang="en-US" sz="2400" dirty="0">
                <a:sym typeface="Symbol" panose="05050102010706020507" pitchFamily="18" charset="2"/>
              </a:rPr>
              <a:t>		ℕ = {1, 2, 3, 4, …}.</a:t>
            </a:r>
          </a:p>
          <a:p>
            <a:pPr marL="0" indent="0">
              <a:buNone/>
            </a:pPr>
            <a:r>
              <a:rPr lang="en-US" altLang="en-US" sz="2400" dirty="0">
                <a:sym typeface="Symbol" panose="05050102010706020507" pitchFamily="18" charset="2"/>
              </a:rPr>
              <a:t>2.	</a:t>
            </a:r>
            <a:r>
              <a:rPr lang="en-US" altLang="en-US" sz="2400" b="1" dirty="0">
                <a:sym typeface="Symbol" panose="05050102010706020507" pitchFamily="18" charset="2"/>
              </a:rPr>
              <a:t>ℤ</a:t>
            </a:r>
            <a:r>
              <a:rPr lang="en-US" altLang="en-US" sz="2400" dirty="0">
                <a:sym typeface="Symbol" panose="05050102010706020507" pitchFamily="18" charset="2"/>
              </a:rPr>
              <a:t> represents the set of all integers or whole number 	(positive, negative and zero).</a:t>
            </a:r>
            <a:r>
              <a:rPr lang="en-US" altLang="en-US" sz="2400" dirty="0"/>
              <a:t> </a:t>
            </a:r>
          </a:p>
          <a:p>
            <a:pPr marL="0" indent="0">
              <a:buNone/>
            </a:pPr>
            <a:r>
              <a:rPr lang="en-US" altLang="en-US" sz="2400" dirty="0"/>
              <a:t>		</a:t>
            </a:r>
            <a:r>
              <a:rPr lang="en-US" altLang="en-US" sz="2400" dirty="0">
                <a:sym typeface="Symbol" panose="05050102010706020507" pitchFamily="18" charset="2"/>
              </a:rPr>
              <a:t>ℤ = {…, -2, -1, 0, 1, 2,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6115">
                                            <p:txEl>
                                              <p:pRg st="1" end="1"/>
                                            </p:txEl>
                                          </p:spTgt>
                                        </p:tgtEl>
                                        <p:attrNameLst>
                                          <p:attrName>style.visibility</p:attrName>
                                        </p:attrNameLst>
                                      </p:cBhvr>
                                      <p:to>
                                        <p:strVal val="visible"/>
                                      </p:to>
                                    </p:set>
                                    <p:animEffect transition="in" filter="box(in)">
                                      <p:cBhvr>
                                        <p:cTn id="7" dur="500"/>
                                        <p:tgtEl>
                                          <p:spTgt spid="346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6115">
                                            <p:txEl>
                                              <p:pRg st="2" end="2"/>
                                            </p:txEl>
                                          </p:spTgt>
                                        </p:tgtEl>
                                        <p:attrNameLst>
                                          <p:attrName>style.visibility</p:attrName>
                                        </p:attrNameLst>
                                      </p:cBhvr>
                                      <p:to>
                                        <p:strVal val="visible"/>
                                      </p:to>
                                    </p:set>
                                    <p:animEffect transition="in" filter="box(in)">
                                      <p:cBhvr>
                                        <p:cTn id="12" dur="500"/>
                                        <p:tgtEl>
                                          <p:spTgt spid="3461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6115">
                                            <p:txEl>
                                              <p:pRg st="3" end="3"/>
                                            </p:txEl>
                                          </p:spTgt>
                                        </p:tgtEl>
                                        <p:attrNameLst>
                                          <p:attrName>style.visibility</p:attrName>
                                        </p:attrNameLst>
                                      </p:cBhvr>
                                      <p:to>
                                        <p:strVal val="visible"/>
                                      </p:to>
                                    </p:set>
                                    <p:animEffect transition="in" filter="box(in)">
                                      <p:cBhvr>
                                        <p:cTn id="17" dur="500"/>
                                        <p:tgtEl>
                                          <p:spTgt spid="3461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46115">
                                            <p:txEl>
                                              <p:pRg st="4" end="4"/>
                                            </p:txEl>
                                          </p:spTgt>
                                        </p:tgtEl>
                                        <p:attrNameLst>
                                          <p:attrName>style.visibility</p:attrName>
                                        </p:attrNameLst>
                                      </p:cBhvr>
                                      <p:to>
                                        <p:strVal val="visible"/>
                                      </p:to>
                                    </p:set>
                                    <p:animEffect transition="in" filter="box(in)">
                                      <p:cBhvr>
                                        <p:cTn id="22" dur="500"/>
                                        <p:tgtEl>
                                          <p:spTgt spid="346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166C578E-A3A1-4617-9321-25AA9C3EC5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4130AA6-45C2-42F3-9DE7-F06455DC127C}" type="slidenum">
              <a:rPr lang="en-GB" altLang="en-US" sz="1400">
                <a:latin typeface="Arial" panose="020B0604020202020204" pitchFamily="34" charset="0"/>
                <a:cs typeface="Arial" panose="020B0604020202020204" pitchFamily="34" charset="0"/>
              </a:rPr>
              <a:pPr>
                <a:spcBef>
                  <a:spcPct val="0"/>
                </a:spcBef>
                <a:buFontTx/>
                <a:buNone/>
              </a:pPr>
              <a:t>15</a:t>
            </a:fld>
            <a:endParaRPr lang="en-GB" altLang="en-US" sz="1400">
              <a:latin typeface="Arial" panose="020B0604020202020204" pitchFamily="34" charset="0"/>
              <a:cs typeface="Arial" panose="020B0604020202020204" pitchFamily="34" charset="0"/>
            </a:endParaRPr>
          </a:p>
        </p:txBody>
      </p:sp>
      <p:sp>
        <p:nvSpPr>
          <p:cNvPr id="23555" name="Rectangle 2">
            <a:extLst>
              <a:ext uri="{FF2B5EF4-FFF2-40B4-BE49-F238E27FC236}">
                <a16:creationId xmlns:a16="http://schemas.microsoft.com/office/drawing/2014/main" id="{BA808DB7-7E34-4CE6-9106-D9ED136D8832}"/>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Aside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47139" name="Rectangle 3">
            <a:extLst>
              <a:ext uri="{FF2B5EF4-FFF2-40B4-BE49-F238E27FC236}">
                <a16:creationId xmlns:a16="http://schemas.microsoft.com/office/drawing/2014/main" id="{25E8D68D-1DD4-4EC9-AE83-B1BF1DEE8695}"/>
              </a:ext>
            </a:extLst>
          </p:cNvPr>
          <p:cNvSpPr>
            <a:spLocks noGrp="1" noChangeArrowheads="1"/>
          </p:cNvSpPr>
          <p:nvPr>
            <p:ph type="body" idx="1"/>
          </p:nvPr>
        </p:nvSpPr>
        <p:spPr>
          <a:xfrm>
            <a:off x="1981200" y="1771651"/>
            <a:ext cx="8229600" cy="4530725"/>
          </a:xfrm>
        </p:spPr>
        <p:txBody>
          <a:bodyPr/>
          <a:lstStyle/>
          <a:p>
            <a:pPr marL="0" indent="0">
              <a:lnSpc>
                <a:spcPct val="80000"/>
              </a:lnSpc>
              <a:buNone/>
            </a:pPr>
            <a:r>
              <a:rPr lang="en-US" altLang="en-US" sz="2400" dirty="0">
                <a:sym typeface="Symbol" panose="05050102010706020507" pitchFamily="18" charset="2"/>
              </a:rPr>
              <a:t>3.	</a:t>
            </a:r>
            <a:r>
              <a:rPr lang="en-US" altLang="en-US" sz="2400" b="1" dirty="0">
                <a:sym typeface="Symbol" panose="05050102010706020507" pitchFamily="18" charset="2"/>
              </a:rPr>
              <a:t>ℚ</a:t>
            </a:r>
            <a:r>
              <a:rPr lang="en-US" altLang="en-US" sz="2400" dirty="0">
                <a:sym typeface="Symbol" panose="05050102010706020507" pitchFamily="18" charset="2"/>
              </a:rPr>
              <a:t> represents the set of all rational number. A rational 	number is one that can be written as a fraction. </a:t>
            </a:r>
          </a:p>
          <a:p>
            <a:pPr marL="0" indent="0">
              <a:lnSpc>
                <a:spcPct val="80000"/>
              </a:lnSpc>
              <a:buNone/>
            </a:pPr>
            <a:r>
              <a:rPr lang="en-US" altLang="en-US" sz="2400" dirty="0">
                <a:sym typeface="Symbol" panose="05050102010706020507" pitchFamily="18" charset="2"/>
              </a:rPr>
              <a:t>		Examples</a:t>
            </a:r>
            <a:r>
              <a:rPr lang="en-US" altLang="zh-CN" sz="2400" dirty="0">
                <a:ea typeface="宋体" panose="02010600030101010101" pitchFamily="2" charset="-122"/>
                <a:sym typeface="Symbol" panose="05050102010706020507" pitchFamily="18" charset="2"/>
              </a:rPr>
              <a:t>:</a:t>
            </a:r>
            <a:r>
              <a:rPr lang="en-US" altLang="en-US" sz="2400" dirty="0">
                <a:sym typeface="Symbol" panose="05050102010706020507" pitchFamily="18" charset="2"/>
              </a:rPr>
              <a:t> 	2 = 2/1;	0.3 = 0.333…= 1/3  </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	An irrational number is one that cannot be written as a 	fraction, usually has a non-repeating, infinite decimal 	expansion.</a:t>
            </a:r>
          </a:p>
          <a:p>
            <a:pPr marL="0" indent="0">
              <a:lnSpc>
                <a:spcPct val="80000"/>
              </a:lnSpc>
              <a:buNone/>
            </a:pPr>
            <a:r>
              <a:rPr lang="en-US" altLang="en-US" sz="2400" dirty="0">
                <a:sym typeface="Symbol" panose="05050102010706020507" pitchFamily="18" charset="2"/>
              </a:rPr>
              <a:t>		Examples:	;	</a:t>
            </a:r>
            <a:r>
              <a:rPr lang="en-US" altLang="en-US" sz="2400" i="1" dirty="0">
                <a:sym typeface="Symbol" panose="05050102010706020507" pitchFamily="18" charset="2"/>
              </a:rPr>
              <a:t>e</a:t>
            </a:r>
          </a:p>
          <a:p>
            <a:pPr marL="0" indent="0">
              <a:lnSpc>
                <a:spcPct val="80000"/>
              </a:lnSpc>
              <a:buNone/>
            </a:pPr>
            <a:endParaRPr lang="en-US" altLang="en-US" sz="2400" i="1" dirty="0">
              <a:sym typeface="Symbol" panose="05050102010706020507" pitchFamily="18" charset="2"/>
            </a:endParaRPr>
          </a:p>
          <a:p>
            <a:pPr marL="0" indent="0">
              <a:lnSpc>
                <a:spcPct val="80000"/>
              </a:lnSpc>
              <a:buNone/>
            </a:pPr>
            <a:r>
              <a:rPr lang="en-US" altLang="en-US" sz="2400" dirty="0">
                <a:sym typeface="Symbol" panose="05050102010706020507" pitchFamily="18" charset="2"/>
              </a:rPr>
              <a:t>4.	</a:t>
            </a:r>
            <a:r>
              <a:rPr lang="en-US" altLang="en-US" sz="2400" b="1" dirty="0">
                <a:sym typeface="Symbol" panose="05050102010706020507" pitchFamily="18" charset="2"/>
              </a:rPr>
              <a:t>ℝ</a:t>
            </a:r>
            <a:r>
              <a:rPr lang="en-US" altLang="en-US" sz="2400" dirty="0">
                <a:sym typeface="Symbol" panose="05050102010706020507" pitchFamily="18" charset="2"/>
              </a:rPr>
              <a:t> represents the set of all real number.</a:t>
            </a:r>
          </a:p>
          <a:p>
            <a:pPr marL="0" indent="0">
              <a:lnSpc>
                <a:spcPct val="80000"/>
              </a:lnSpc>
              <a:buNone/>
            </a:pPr>
            <a:r>
              <a:rPr lang="en-US" altLang="en-US" sz="2400" dirty="0">
                <a:sym typeface="Symbol" panose="05050102010706020507" pitchFamily="18" charset="2"/>
              </a:rPr>
              <a:t>	Note that ℝ is formed by ℚ and the set of irrational 	numbers. </a:t>
            </a:r>
          </a:p>
        </p:txBody>
      </p:sp>
      <p:sp>
        <p:nvSpPr>
          <p:cNvPr id="347140" name="Text Box 4">
            <a:extLst>
              <a:ext uri="{FF2B5EF4-FFF2-40B4-BE49-F238E27FC236}">
                <a16:creationId xmlns:a16="http://schemas.microsoft.com/office/drawing/2014/main" id="{ED6BF87B-E125-4565-8F9B-8AA06BE43B3D}"/>
              </a:ext>
            </a:extLst>
          </p:cNvPr>
          <p:cNvSpPr txBox="1">
            <a:spLocks noChangeArrowheads="1"/>
          </p:cNvSpPr>
          <p:nvPr/>
        </p:nvSpPr>
        <p:spPr bwMode="auto">
          <a:xfrm>
            <a:off x="7732714" y="2119313"/>
            <a:ext cx="93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cs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7139">
                                            <p:txEl>
                                              <p:pRg st="1" end="1"/>
                                            </p:txEl>
                                          </p:spTgt>
                                        </p:tgtEl>
                                        <p:attrNameLst>
                                          <p:attrName>style.visibility</p:attrName>
                                        </p:attrNameLst>
                                      </p:cBhvr>
                                      <p:to>
                                        <p:strVal val="visible"/>
                                      </p:to>
                                    </p:set>
                                    <p:animEffect transition="in" filter="box(in)">
                                      <p:cBhvr>
                                        <p:cTn id="7" dur="500"/>
                                        <p:tgtEl>
                                          <p:spTgt spid="347139">
                                            <p:txEl>
                                              <p:pRg st="1" end="1"/>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47140"/>
                                        </p:tgtEl>
                                        <p:attrNameLst>
                                          <p:attrName>style.visibility</p:attrName>
                                        </p:attrNameLst>
                                      </p:cBhvr>
                                      <p:to>
                                        <p:strVal val="visible"/>
                                      </p:to>
                                    </p:set>
                                    <p:animEffect transition="in" filter="box(in)">
                                      <p:cBhvr>
                                        <p:cTn id="10" dur="500"/>
                                        <p:tgtEl>
                                          <p:spTgt spid="34714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47139">
                                            <p:txEl>
                                              <p:pRg st="3" end="3"/>
                                            </p:txEl>
                                          </p:spTgt>
                                        </p:tgtEl>
                                        <p:attrNameLst>
                                          <p:attrName>style.visibility</p:attrName>
                                        </p:attrNameLst>
                                      </p:cBhvr>
                                      <p:to>
                                        <p:strVal val="visible"/>
                                      </p:to>
                                    </p:set>
                                    <p:animEffect transition="in" filter="box(in)">
                                      <p:cBhvr>
                                        <p:cTn id="15" dur="500"/>
                                        <p:tgtEl>
                                          <p:spTgt spid="347139">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347139">
                                            <p:txEl>
                                              <p:pRg st="4" end="4"/>
                                            </p:txEl>
                                          </p:spTgt>
                                        </p:tgtEl>
                                        <p:attrNameLst>
                                          <p:attrName>style.visibility</p:attrName>
                                        </p:attrNameLst>
                                      </p:cBhvr>
                                      <p:to>
                                        <p:strVal val="visible"/>
                                      </p:to>
                                    </p:set>
                                    <p:animEffect transition="in" filter="box(in)">
                                      <p:cBhvr>
                                        <p:cTn id="20" dur="500"/>
                                        <p:tgtEl>
                                          <p:spTgt spid="347139">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347139">
                                            <p:txEl>
                                              <p:pRg st="6" end="6"/>
                                            </p:txEl>
                                          </p:spTgt>
                                        </p:tgtEl>
                                        <p:attrNameLst>
                                          <p:attrName>style.visibility</p:attrName>
                                        </p:attrNameLst>
                                      </p:cBhvr>
                                      <p:to>
                                        <p:strVal val="visible"/>
                                      </p:to>
                                    </p:set>
                                    <p:animEffect transition="in" filter="box(in)">
                                      <p:cBhvr>
                                        <p:cTn id="25" dur="500"/>
                                        <p:tgtEl>
                                          <p:spTgt spid="347139">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47139">
                                            <p:txEl>
                                              <p:pRg st="7" end="7"/>
                                            </p:txEl>
                                          </p:spTgt>
                                        </p:tgtEl>
                                        <p:attrNameLst>
                                          <p:attrName>style.visibility</p:attrName>
                                        </p:attrNameLst>
                                      </p:cBhvr>
                                      <p:to>
                                        <p:strVal val="visible"/>
                                      </p:to>
                                    </p:set>
                                    <p:animEffect transition="in" filter="box(in)">
                                      <p:cBhvr>
                                        <p:cTn id="30" dur="500"/>
                                        <p:tgtEl>
                                          <p:spTgt spid="3471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320B2AD5-C895-448F-951B-48ACD7CEBD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9FF1AAE-CB14-4FE6-A34E-AAB941CCCFFC}" type="slidenum">
              <a:rPr lang="en-GB" altLang="en-US" sz="1400">
                <a:latin typeface="Arial" panose="020B0604020202020204" pitchFamily="34" charset="0"/>
                <a:cs typeface="Arial" panose="020B0604020202020204" pitchFamily="34" charset="0"/>
              </a:rPr>
              <a:pPr>
                <a:spcBef>
                  <a:spcPct val="0"/>
                </a:spcBef>
                <a:buFontTx/>
                <a:buNone/>
              </a:pPr>
              <a:t>16</a:t>
            </a:fld>
            <a:endParaRPr lang="en-GB" altLang="en-US" sz="1400">
              <a:latin typeface="Arial" panose="020B0604020202020204" pitchFamily="34" charset="0"/>
              <a:cs typeface="Arial" panose="020B0604020202020204" pitchFamily="34" charset="0"/>
            </a:endParaRPr>
          </a:p>
        </p:txBody>
      </p:sp>
      <p:sp>
        <p:nvSpPr>
          <p:cNvPr id="24579" name="Rectangle 2">
            <a:extLst>
              <a:ext uri="{FF2B5EF4-FFF2-40B4-BE49-F238E27FC236}">
                <a16:creationId xmlns:a16="http://schemas.microsoft.com/office/drawing/2014/main" id="{8B271B07-FDCE-479F-8131-C99C0FFB0D81}"/>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48163" name="Rectangle 3">
            <a:extLst>
              <a:ext uri="{FF2B5EF4-FFF2-40B4-BE49-F238E27FC236}">
                <a16:creationId xmlns:a16="http://schemas.microsoft.com/office/drawing/2014/main" id="{08FA9FE4-EEAD-4A30-B5DE-CF6CF581C9EF}"/>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1.	Write the following statements using quantifiers. 	Determine whether each statement is true or false.</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i</a:t>
            </a:r>
            <a:r>
              <a:rPr lang="en-US" altLang="en-US" sz="2400" dirty="0">
                <a:sym typeface="Symbol" panose="05050102010706020507" pitchFamily="18" charset="2"/>
              </a:rPr>
              <a:t>)	Every integer is a rational number.</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ℤ</a:t>
            </a: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x </a:t>
            </a:r>
            <a:r>
              <a:rPr lang="en-US" altLang="en-US" sz="2400" dirty="0">
                <a:sym typeface="Symbol" panose="05050102010706020507" pitchFamily="18" charset="2"/>
              </a:rPr>
              <a:t> ℚ</a:t>
            </a:r>
            <a:r>
              <a:rPr lang="en-US" altLang="zh-CN" sz="2400" dirty="0">
                <a:ea typeface="宋体" panose="02010600030101010101" pitchFamily="2" charset="-122"/>
                <a:sym typeface="Symbol" panose="05050102010706020507" pitchFamily="18" charset="2"/>
              </a:rPr>
              <a:t>.</a:t>
            </a:r>
          </a:p>
          <a:p>
            <a:pPr marL="0" indent="0">
              <a:buNone/>
            </a:pPr>
            <a:r>
              <a:rPr lang="en-US" altLang="zh-CN" sz="2400" dirty="0">
                <a:ea typeface="宋体" panose="02010600030101010101" pitchFamily="2" charset="-122"/>
                <a:sym typeface="Symbol" panose="05050102010706020507" pitchFamily="18" charset="2"/>
              </a:rPr>
              <a:t>		True</a:t>
            </a:r>
            <a:endParaRPr lang="en-US" altLang="en-US" sz="2400" dirty="0"/>
          </a:p>
          <a:p>
            <a:pPr marL="0" indent="0">
              <a:buNone/>
            </a:pPr>
            <a:endParaRPr lang="en-US" altLang="en-US" sz="2400" dirty="0"/>
          </a:p>
          <a:p>
            <a:pPr marL="0" indent="0">
              <a:buNone/>
            </a:pPr>
            <a:r>
              <a:rPr lang="en-US" altLang="en-US" sz="2400" dirty="0"/>
              <a:t>	(ii)	Some real number is rational.</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ℝ</a:t>
            </a: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x </a:t>
            </a:r>
            <a:r>
              <a:rPr lang="en-US" altLang="en-US" sz="2400" dirty="0">
                <a:sym typeface="Symbol" panose="05050102010706020507" pitchFamily="18" charset="2"/>
              </a:rPr>
              <a:t> ℚ</a:t>
            </a:r>
            <a:r>
              <a:rPr lang="en-US" altLang="zh-CN" sz="2400" dirty="0">
                <a:ea typeface="宋体" panose="02010600030101010101" pitchFamily="2" charset="-122"/>
                <a:sym typeface="Symbol" panose="05050102010706020507" pitchFamily="18" charset="2"/>
              </a:rPr>
              <a:t>.</a:t>
            </a:r>
          </a:p>
          <a:p>
            <a:pPr marL="0" indent="0">
              <a:buNone/>
            </a:pPr>
            <a:r>
              <a:rPr lang="en-US" altLang="zh-CN" sz="2400" dirty="0">
                <a:ea typeface="宋体" panose="02010600030101010101" pitchFamily="2" charset="-122"/>
                <a:sym typeface="Symbol" panose="05050102010706020507" pitchFamily="18" charset="2"/>
              </a:rPr>
              <a:t>		True</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163">
                                            <p:txEl>
                                              <p:pRg st="2" end="2"/>
                                            </p:txEl>
                                          </p:spTgt>
                                        </p:tgtEl>
                                        <p:attrNameLst>
                                          <p:attrName>style.visibility</p:attrName>
                                        </p:attrNameLst>
                                      </p:cBhvr>
                                      <p:to>
                                        <p:strVal val="visible"/>
                                      </p:to>
                                    </p:set>
                                    <p:animEffect transition="in" filter="box(in)">
                                      <p:cBhvr>
                                        <p:cTn id="7" dur="500"/>
                                        <p:tgtEl>
                                          <p:spTgt spid="3481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163">
                                            <p:txEl>
                                              <p:pRg st="3" end="3"/>
                                            </p:txEl>
                                          </p:spTgt>
                                        </p:tgtEl>
                                        <p:attrNameLst>
                                          <p:attrName>style.visibility</p:attrName>
                                        </p:attrNameLst>
                                      </p:cBhvr>
                                      <p:to>
                                        <p:strVal val="visible"/>
                                      </p:to>
                                    </p:set>
                                    <p:animEffect transition="in" filter="box(in)">
                                      <p:cBhvr>
                                        <p:cTn id="12" dur="500"/>
                                        <p:tgtEl>
                                          <p:spTgt spid="34816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8163">
                                            <p:txEl>
                                              <p:pRg st="5" end="5"/>
                                            </p:txEl>
                                          </p:spTgt>
                                        </p:tgtEl>
                                        <p:attrNameLst>
                                          <p:attrName>style.visibility</p:attrName>
                                        </p:attrNameLst>
                                      </p:cBhvr>
                                      <p:to>
                                        <p:strVal val="visible"/>
                                      </p:to>
                                    </p:set>
                                    <p:animEffect transition="in" filter="box(in)">
                                      <p:cBhvr>
                                        <p:cTn id="17" dur="500"/>
                                        <p:tgtEl>
                                          <p:spTgt spid="34816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48163">
                                            <p:txEl>
                                              <p:pRg st="6" end="6"/>
                                            </p:txEl>
                                          </p:spTgt>
                                        </p:tgtEl>
                                        <p:attrNameLst>
                                          <p:attrName>style.visibility</p:attrName>
                                        </p:attrNameLst>
                                      </p:cBhvr>
                                      <p:to>
                                        <p:strVal val="visible"/>
                                      </p:to>
                                    </p:set>
                                    <p:animEffect transition="in" filter="box(in)">
                                      <p:cBhvr>
                                        <p:cTn id="22" dur="500"/>
                                        <p:tgtEl>
                                          <p:spTgt spid="34816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48163">
                                            <p:txEl>
                                              <p:pRg st="7" end="7"/>
                                            </p:txEl>
                                          </p:spTgt>
                                        </p:tgtEl>
                                        <p:attrNameLst>
                                          <p:attrName>style.visibility</p:attrName>
                                        </p:attrNameLst>
                                      </p:cBhvr>
                                      <p:to>
                                        <p:strVal val="visible"/>
                                      </p:to>
                                    </p:set>
                                    <p:animEffect transition="in" filter="box(in)">
                                      <p:cBhvr>
                                        <p:cTn id="27" dur="500"/>
                                        <p:tgtEl>
                                          <p:spTgt spid="3481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FD587CB3-8712-4E95-B523-3955D9D6B8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847BBEF-A0D5-43FD-A59A-73BCB78F1C1D}" type="slidenum">
              <a:rPr lang="en-GB" altLang="en-US" sz="1400">
                <a:latin typeface="Arial" panose="020B0604020202020204" pitchFamily="34" charset="0"/>
                <a:cs typeface="Arial" panose="020B0604020202020204" pitchFamily="34" charset="0"/>
              </a:rPr>
              <a:pPr>
                <a:spcBef>
                  <a:spcPct val="0"/>
                </a:spcBef>
                <a:buFontTx/>
                <a:buNone/>
              </a:pPr>
              <a:t>17</a:t>
            </a:fld>
            <a:endParaRPr lang="en-GB" altLang="en-US" sz="1400">
              <a:latin typeface="Arial" panose="020B0604020202020204" pitchFamily="34" charset="0"/>
              <a:cs typeface="Arial" panose="020B0604020202020204" pitchFamily="34" charset="0"/>
            </a:endParaRPr>
          </a:p>
        </p:txBody>
      </p:sp>
      <p:sp>
        <p:nvSpPr>
          <p:cNvPr id="25603" name="Rectangle 2">
            <a:extLst>
              <a:ext uri="{FF2B5EF4-FFF2-40B4-BE49-F238E27FC236}">
                <a16:creationId xmlns:a16="http://schemas.microsoft.com/office/drawing/2014/main" id="{0D6215C1-F5D9-4E3B-A21E-FBA5F563A841}"/>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49187" name="Rectangle 3">
            <a:extLst>
              <a:ext uri="{FF2B5EF4-FFF2-40B4-BE49-F238E27FC236}">
                <a16:creationId xmlns:a16="http://schemas.microsoft.com/office/drawing/2014/main" id="{1BFDA542-17AE-4752-BEF8-98E87A06CF13}"/>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1.	(iii)	No real numbers have squares equal to -1.</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ℝ</a:t>
            </a:r>
            <a:r>
              <a:rPr lang="en-US" altLang="zh-CN" sz="2400" dirty="0">
                <a:ea typeface="宋体" panose="02010600030101010101" pitchFamily="2" charset="-122"/>
                <a:sym typeface="Symbol" panose="05050102010706020507" pitchFamily="18" charset="2"/>
              </a:rPr>
              <a:t>, ~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-1).</a:t>
            </a:r>
          </a:p>
          <a:p>
            <a:pPr marL="0" indent="0">
              <a:buNone/>
            </a:pPr>
            <a:r>
              <a:rPr lang="en-US" altLang="zh-CN" sz="2400" dirty="0">
                <a:ea typeface="宋体" panose="02010600030101010101" pitchFamily="2" charset="-122"/>
                <a:sym typeface="Symbol" panose="05050102010706020507" pitchFamily="18" charset="2"/>
              </a:rPr>
              <a:t>		True</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9187">
                                            <p:txEl>
                                              <p:pRg st="1" end="1"/>
                                            </p:txEl>
                                          </p:spTgt>
                                        </p:tgtEl>
                                        <p:attrNameLst>
                                          <p:attrName>style.visibility</p:attrName>
                                        </p:attrNameLst>
                                      </p:cBhvr>
                                      <p:to>
                                        <p:strVal val="visible"/>
                                      </p:to>
                                    </p:set>
                                    <p:animEffect transition="in" filter="box(in)">
                                      <p:cBhvr>
                                        <p:cTn id="7" dur="500"/>
                                        <p:tgtEl>
                                          <p:spTgt spid="3491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9187">
                                            <p:txEl>
                                              <p:pRg st="2" end="2"/>
                                            </p:txEl>
                                          </p:spTgt>
                                        </p:tgtEl>
                                        <p:attrNameLst>
                                          <p:attrName>style.visibility</p:attrName>
                                        </p:attrNameLst>
                                      </p:cBhvr>
                                      <p:to>
                                        <p:strVal val="visible"/>
                                      </p:to>
                                    </p:set>
                                    <p:animEffect transition="in" filter="box(in)">
                                      <p:cBhvr>
                                        <p:cTn id="12" dur="500"/>
                                        <p:tgtEl>
                                          <p:spTgt spid="3491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40627F5F-053B-4AC0-8C47-CA50C9599E48}"/>
              </a:ext>
            </a:extLst>
          </p:cNvPr>
          <p:cNvSpPr>
            <a:spLocks noGrp="1"/>
          </p:cNvSpPr>
          <p:nvPr>
            <p:ph type="sldNum" sz="quarter" idx="12"/>
          </p:nvPr>
        </p:nvSpPr>
        <p:spPr>
          <a:xfrm>
            <a:off x="8077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4532D8C-C957-4714-AF26-807AF7AEDDC0}" type="slidenum">
              <a:rPr lang="en-GB" altLang="en-US" sz="1400">
                <a:latin typeface="Arial" panose="020B0604020202020204" pitchFamily="34" charset="0"/>
                <a:cs typeface="Arial" panose="020B0604020202020204" pitchFamily="34" charset="0"/>
              </a:rPr>
              <a:pPr>
                <a:spcBef>
                  <a:spcPct val="0"/>
                </a:spcBef>
                <a:buFontTx/>
                <a:buNone/>
              </a:pPr>
              <a:t>18</a:t>
            </a:fld>
            <a:endParaRPr lang="en-GB" altLang="en-US" sz="1400">
              <a:latin typeface="Arial" panose="020B0604020202020204" pitchFamily="34" charset="0"/>
              <a:cs typeface="Arial" panose="020B0604020202020204" pitchFamily="34" charset="0"/>
            </a:endParaRPr>
          </a:p>
        </p:txBody>
      </p:sp>
      <p:sp>
        <p:nvSpPr>
          <p:cNvPr id="27651" name="Rectangle 2">
            <a:extLst>
              <a:ext uri="{FF2B5EF4-FFF2-40B4-BE49-F238E27FC236}">
                <a16:creationId xmlns:a16="http://schemas.microsoft.com/office/drawing/2014/main" id="{0BE11AEE-43A4-41E1-A31D-955ADD447191}"/>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50211" name="Rectangle 3">
                <a:extLst>
                  <a:ext uri="{FF2B5EF4-FFF2-40B4-BE49-F238E27FC236}">
                    <a16:creationId xmlns:a16="http://schemas.microsoft.com/office/drawing/2014/main" id="{E866A32D-264E-489F-A77A-A80B7126AD0E}"/>
                  </a:ext>
                </a:extLst>
              </p:cNvPr>
              <p:cNvSpPr>
                <a:spLocks noGrp="1" noChangeArrowheads="1"/>
              </p:cNvSpPr>
              <p:nvPr>
                <p:ph type="body" idx="1"/>
              </p:nvPr>
            </p:nvSpPr>
            <p:spPr>
              <a:xfrm>
                <a:off x="1981200" y="1771651"/>
                <a:ext cx="8229600" cy="4530725"/>
              </a:xfrm>
            </p:spPr>
            <p:txBody>
              <a:bodyPr>
                <a:normAutofit fontScale="92500" lnSpcReduction="20000"/>
              </a:bodyPr>
              <a:lstStyle/>
              <a:p>
                <a:pPr marL="0" indent="0">
                  <a:buNone/>
                </a:pPr>
                <a:r>
                  <a:rPr lang="en-US" altLang="en-US" sz="2400" dirty="0">
                    <a:sym typeface="Symbol" panose="05050102010706020507" pitchFamily="18" charset="2"/>
                  </a:rPr>
                  <a:t>2.	Write the following statements in words.</a:t>
                </a:r>
              </a:p>
              <a:p>
                <a:pPr marL="0" indent="0">
                  <a:buNone/>
                </a:pPr>
                <a:r>
                  <a:rPr lang="en-US" altLang="en-US" sz="2400" dirty="0">
                    <a:sym typeface="Symbol" panose="05050102010706020507" pitchFamily="18" charset="2"/>
                  </a:rPr>
                  <a:t>	(</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ℕ, </a:t>
                </a:r>
                <a:r>
                  <a:rPr lang="en-US" altLang="en-US" sz="2400" dirty="0">
                    <a:solidFill>
                      <a:schemeClr val="tx1">
                        <a:lumMod val="95000"/>
                        <a:lumOff val="5000"/>
                      </a:schemeClr>
                    </a:solidFill>
                    <a:sym typeface="Symbol" panose="05050102010706020507" pitchFamily="18" charset="2"/>
                  </a:rPr>
                  <a:t>      </a:t>
                </a:r>
                <a14:m>
                  <m:oMath xmlns:m="http://schemas.openxmlformats.org/officeDocument/2006/math">
                    <m:rad>
                      <m:radPr>
                        <m:degHide m:val="on"/>
                        <m:ctrlPr>
                          <a:rPr lang="en-SG" altLang="en-US" sz="2600" b="0" i="1" smtClean="0">
                            <a:solidFill>
                              <a:schemeClr val="tx1">
                                <a:lumMod val="95000"/>
                                <a:lumOff val="5000"/>
                              </a:schemeClr>
                            </a:solidFill>
                            <a:latin typeface="Cambria Math" panose="02040503050406030204" pitchFamily="18" charset="0"/>
                            <a:ea typeface="Cambria Math" panose="02040503050406030204" pitchFamily="18" charset="0"/>
                            <a:sym typeface="Symbol" panose="05050102010706020507" pitchFamily="18" charset="2"/>
                          </a:rPr>
                        </m:ctrlPr>
                      </m:radPr>
                      <m:deg/>
                      <m:e>
                        <m:r>
                          <a:rPr lang="en-SG" altLang="en-US" sz="2600" b="0" i="1" smtClean="0">
                            <a:solidFill>
                              <a:schemeClr val="tx1">
                                <a:lumMod val="95000"/>
                                <a:lumOff val="5000"/>
                              </a:schemeClr>
                            </a:solidFill>
                            <a:latin typeface="Cambria Math" panose="02040503050406030204" pitchFamily="18" charset="0"/>
                            <a:ea typeface="Cambria Math" panose="02040503050406030204" pitchFamily="18" charset="0"/>
                            <a:sym typeface="Symbol" panose="05050102010706020507" pitchFamily="18" charset="2"/>
                          </a:rPr>
                          <m:t>𝑥</m:t>
                        </m:r>
                      </m:e>
                    </m:rad>
                  </m:oMath>
                </a14:m>
                <a:r>
                  <a:rPr lang="en-US" altLang="en-US" sz="2400" dirty="0">
                    <a:solidFill>
                      <a:schemeClr val="tx1">
                        <a:lumMod val="95000"/>
                        <a:lumOff val="5000"/>
                      </a:schemeClr>
                    </a:solidFill>
                    <a:sym typeface="Symbol" panose="05050102010706020507" pitchFamily="18" charset="2"/>
                  </a:rPr>
                  <a:t>   </a:t>
                </a:r>
                <a:r>
                  <a:rPr lang="en-US" altLang="en-US" sz="2400" dirty="0">
                    <a:sym typeface="Symbol" panose="05050102010706020507" pitchFamily="18" charset="2"/>
                  </a:rPr>
                  <a:t> ℕ. </a:t>
                </a:r>
              </a:p>
              <a:p>
                <a:pPr marL="0" indent="0" defTabSz="671513">
                  <a:buNone/>
                  <a:tabLst>
                    <a:tab pos="1341438" algn="l"/>
                  </a:tabLst>
                </a:pPr>
                <a:r>
                  <a:rPr lang="en-US" altLang="en-US" sz="2400" dirty="0">
                    <a:sym typeface="Symbol" panose="05050102010706020507" pitchFamily="18" charset="2"/>
                  </a:rPr>
                  <a:t>		The square root of every natural number is a 		natural number.</a:t>
                </a:r>
              </a:p>
              <a:p>
                <a:pPr marL="0" indent="0">
                  <a:buNone/>
                </a:pPr>
                <a:endParaRPr lang="en-US" altLang="en-US" sz="2400" dirty="0"/>
              </a:p>
              <a:p>
                <a:pPr marL="0" indent="0">
                  <a:buNone/>
                </a:pPr>
                <a:r>
                  <a:rPr lang="en-US" altLang="en-US" sz="2400" dirty="0"/>
                  <a:t>	(ii)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t> </a:t>
                </a:r>
                <a:r>
                  <a:rPr lang="en-US" altLang="en-US" sz="2400" dirty="0">
                    <a:sym typeface="Symbol" panose="05050102010706020507" pitchFamily="18" charset="2"/>
                  </a:rPr>
                  <a:t> ℤ</a:t>
                </a:r>
                <a:r>
                  <a:rPr lang="en-US" altLang="zh-CN" sz="2400" dirty="0">
                    <a:ea typeface="宋体" panose="02010600030101010101" pitchFamily="2" charset="-122"/>
                    <a:sym typeface="Symbol" panose="05050102010706020507" pitchFamily="18" charset="2"/>
                  </a:rPr>
                  <a:t>,  </a:t>
                </a:r>
                <a14:m>
                  <m:oMath xmlns:m="http://schemas.openxmlformats.org/officeDocument/2006/math">
                    <m:f>
                      <m:fPr>
                        <m:ctrlPr>
                          <a:rPr lang="en-US" altLang="zh-CN" sz="3500" i="1" smtClean="0">
                            <a:latin typeface="Cambria Math" panose="02040503050406030204" pitchFamily="18" charset="0"/>
                            <a:ea typeface="宋体" panose="02010600030101010101" pitchFamily="2" charset="-122"/>
                            <a:sym typeface="Symbol" panose="05050102010706020507" pitchFamily="18" charset="2"/>
                          </a:rPr>
                        </m:ctrlPr>
                      </m:fPr>
                      <m:num>
                        <m:r>
                          <a:rPr lang="en-SG" altLang="zh-CN" sz="3500" b="0" i="1" smtClean="0">
                            <a:latin typeface="Cambria Math" panose="02040503050406030204" pitchFamily="18" charset="0"/>
                            <a:ea typeface="宋体" panose="02010600030101010101" pitchFamily="2" charset="-122"/>
                            <a:sym typeface="Symbol" panose="05050102010706020507" pitchFamily="18" charset="2"/>
                          </a:rPr>
                          <m:t>1</m:t>
                        </m:r>
                      </m:num>
                      <m:den>
                        <m:r>
                          <a:rPr lang="en-SG" altLang="zh-CN" sz="3500" b="0" i="1" smtClean="0">
                            <a:latin typeface="Cambria Math" panose="02040503050406030204" pitchFamily="18" charset="0"/>
                            <a:ea typeface="宋体" panose="02010600030101010101" pitchFamily="2" charset="-122"/>
                            <a:sym typeface="Symbol" panose="05050102010706020507" pitchFamily="18" charset="2"/>
                          </a:rPr>
                          <m:t>𝑥</m:t>
                        </m:r>
                      </m:den>
                    </m:f>
                  </m:oMath>
                </a14:m>
                <a:r>
                  <a:rPr lang="en-US" altLang="en-US" sz="2400" dirty="0">
                    <a:sym typeface="Symbol" panose="05050102010706020507" pitchFamily="18" charset="2"/>
                  </a:rPr>
                  <a:t>  ℚ</a:t>
                </a:r>
                <a:r>
                  <a:rPr lang="en-US" altLang="zh-CN" sz="2400" dirty="0">
                    <a:ea typeface="宋体" panose="02010600030101010101" pitchFamily="2" charset="-122"/>
                    <a:sym typeface="Symbol" panose="05050102010706020507" pitchFamily="18" charset="2"/>
                  </a:rPr>
                  <a:t>.</a:t>
                </a:r>
              </a:p>
              <a:p>
                <a:pPr marL="0" indent="0">
                  <a:buNone/>
                </a:pPr>
                <a:endParaRPr lang="en-US" altLang="en-US" sz="2400" dirty="0"/>
              </a:p>
              <a:p>
                <a:pPr marL="0" indent="0">
                  <a:buNone/>
                </a:pPr>
                <a:r>
                  <a:rPr lang="en-US" altLang="zh-CN" sz="2400" dirty="0">
                    <a:ea typeface="宋体" panose="02010600030101010101" pitchFamily="2" charset="-122"/>
                    <a:sym typeface="Symbol" panose="05050102010706020507" pitchFamily="18" charset="2"/>
                  </a:rPr>
                  <a:t>		The reciprocal of some integers are not rational.</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	(iii)	</a:t>
                </a:r>
                <a:r>
                  <a:rPr lang="en-US" altLang="en-US" sz="2400" dirty="0">
                    <a:sym typeface="Symbol" panose="05050102010706020507" pitchFamily="18" charset="2"/>
                  </a:rPr>
                  <a:t> person </a:t>
                </a:r>
                <a:r>
                  <a:rPr lang="en-US" altLang="en-US" sz="2400" i="1" dirty="0">
                    <a:sym typeface="Symbol" panose="05050102010706020507" pitchFamily="18" charset="2"/>
                  </a:rPr>
                  <a:t>x</a:t>
                </a:r>
                <a:r>
                  <a:rPr lang="en-US" altLang="en-US" sz="2400" dirty="0">
                    <a:sym typeface="Symbol" panose="05050102010706020507" pitchFamily="18" charset="2"/>
                  </a:rPr>
                  <a:t>,  person </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was the mother of </a:t>
                </a:r>
                <a:r>
                  <a:rPr lang="en-US" altLang="en-US" sz="2400" i="1" dirty="0">
                    <a:sym typeface="Symbol" panose="05050102010706020507" pitchFamily="18" charset="2"/>
                  </a:rPr>
                  <a:t>x</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For every person, there was a mother of that 			person.</a:t>
                </a:r>
                <a:r>
                  <a:rPr lang="en-US" altLang="en-US" sz="2400" dirty="0"/>
                  <a:t> </a:t>
                </a:r>
              </a:p>
            </p:txBody>
          </p:sp>
        </mc:Choice>
        <mc:Fallback xmlns="">
          <p:sp>
            <p:nvSpPr>
              <p:cNvPr id="350211" name="Rectangle 3">
                <a:extLst>
                  <a:ext uri="{FF2B5EF4-FFF2-40B4-BE49-F238E27FC236}">
                    <a16:creationId xmlns:a16="http://schemas.microsoft.com/office/drawing/2014/main" id="{E866A32D-264E-489F-A77A-A80B7126AD0E}"/>
                  </a:ext>
                </a:extLst>
              </p:cNvPr>
              <p:cNvSpPr>
                <a:spLocks noGrp="1" noRot="1" noChangeAspect="1" noMove="1" noResize="1" noEditPoints="1" noAdjustHandles="1" noChangeArrowheads="1" noChangeShapeType="1" noTextEdit="1"/>
              </p:cNvSpPr>
              <p:nvPr>
                <p:ph type="body" idx="1"/>
              </p:nvPr>
            </p:nvSpPr>
            <p:spPr>
              <a:xfrm>
                <a:off x="1981200" y="1771651"/>
                <a:ext cx="8229600" cy="4530725"/>
              </a:xfrm>
              <a:blipFill>
                <a:blip r:embed="rId3"/>
                <a:stretch>
                  <a:fillRect l="-963" t="-2826"/>
                </a:stretch>
              </a:blipFill>
            </p:spPr>
            <p:txBody>
              <a:bodyPr/>
              <a:lstStyle/>
              <a:p>
                <a:r>
                  <a:rPr lang="en-SG">
                    <a:noFill/>
                  </a:rPr>
                  <a:t> </a:t>
                </a:r>
              </a:p>
            </p:txBody>
          </p:sp>
        </mc:Fallback>
      </mc:AlternateContent>
      <p:graphicFrame>
        <p:nvGraphicFramePr>
          <p:cNvPr id="350214" name="Object 6">
            <a:extLst>
              <a:ext uri="{FF2B5EF4-FFF2-40B4-BE49-F238E27FC236}">
                <a16:creationId xmlns:a16="http://schemas.microsoft.com/office/drawing/2014/main" id="{9805D8A2-ECC4-480C-B10F-9378BB31FEBE}"/>
              </a:ext>
            </a:extLst>
          </p:cNvPr>
          <p:cNvGraphicFramePr>
            <a:graphicFrameLocks noChangeAspect="1"/>
          </p:cNvGraphicFramePr>
          <p:nvPr/>
        </p:nvGraphicFramePr>
        <p:xfrm>
          <a:off x="4938713" y="3533776"/>
          <a:ext cx="309562" cy="792163"/>
        </p:xfrm>
        <a:graphic>
          <a:graphicData uri="http://schemas.openxmlformats.org/presentationml/2006/ole">
            <mc:AlternateContent xmlns:mc="http://schemas.openxmlformats.org/markup-compatibility/2006">
              <mc:Choice xmlns:v="urn:schemas-microsoft-com:vml" Requires="v">
                <p:oleObj name="Equation" r:id="rId4" imgW="85899" imgH="323898" progId="Equation.3">
                  <p:embed/>
                </p:oleObj>
              </mc:Choice>
              <mc:Fallback>
                <p:oleObj name="Equation" r:id="rId4" imgW="85899" imgH="323898" progId="Equation.3">
                  <p:embed/>
                  <p:pic>
                    <p:nvPicPr>
                      <p:cNvPr id="350214" name="Object 6">
                        <a:extLst>
                          <a:ext uri="{FF2B5EF4-FFF2-40B4-BE49-F238E27FC236}">
                            <a16:creationId xmlns:a16="http://schemas.microsoft.com/office/drawing/2014/main" id="{9805D8A2-ECC4-480C-B10F-9378BB31F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8713" y="3533776"/>
                        <a:ext cx="30956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350214"/>
                                        </p:tgtEl>
                                        <p:attrNameLst>
                                          <p:attrName>style.visibility</p:attrName>
                                        </p:attrNameLst>
                                      </p:cBhvr>
                                      <p:to>
                                        <p:strVal val="visible"/>
                                      </p:to>
                                    </p:set>
                                    <p:animEffect transition="in" filter="box(in)">
                                      <p:cBhvr>
                                        <p:cTn id="7" dur="500"/>
                                        <p:tgtEl>
                                          <p:spTgt spid="3502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0211">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50211">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0211">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50211">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50211">
                                            <p:txEl>
                                              <p:pRg st="6" end="6"/>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50211">
                                            <p:txEl>
                                              <p:pRg st="8" end="8"/>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502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42F3D709-11B7-4881-8E10-DFFE6C2F84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B95572A-67DB-4ECD-AB69-406698F3A2D6}" type="slidenum">
              <a:rPr lang="en-GB" altLang="en-US" sz="1400">
                <a:latin typeface="Arial" panose="020B0604020202020204" pitchFamily="34" charset="0"/>
                <a:cs typeface="Arial" panose="020B0604020202020204" pitchFamily="34" charset="0"/>
              </a:rPr>
              <a:pPr>
                <a:spcBef>
                  <a:spcPct val="0"/>
                </a:spcBef>
                <a:buFontTx/>
                <a:buNone/>
              </a:pPr>
              <a:t>19</a:t>
            </a:fld>
            <a:endParaRPr lang="en-GB" altLang="en-US" sz="1400">
              <a:latin typeface="Arial" panose="020B0604020202020204" pitchFamily="34" charset="0"/>
              <a:cs typeface="Arial" panose="020B0604020202020204" pitchFamily="34" charset="0"/>
            </a:endParaRPr>
          </a:p>
        </p:txBody>
      </p:sp>
      <p:sp>
        <p:nvSpPr>
          <p:cNvPr id="28675" name="Rectangle 2">
            <a:extLst>
              <a:ext uri="{FF2B5EF4-FFF2-40B4-BE49-F238E27FC236}">
                <a16:creationId xmlns:a16="http://schemas.microsoft.com/office/drawing/2014/main" id="{F9458A0D-5633-45E9-8869-5CEDC9DB64A5}"/>
              </a:ext>
            </a:extLst>
          </p:cNvPr>
          <p:cNvSpPr>
            <a:spLocks noGrp="1" noChangeArrowheads="1"/>
          </p:cNvSpPr>
          <p:nvPr>
            <p:ph type="title"/>
          </p:nvPr>
        </p:nvSpPr>
        <p:spPr>
          <a:xfrm>
            <a:off x="2070100" y="136525"/>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Quantified Statements: Examples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51235" name="Rectangle 3">
            <a:extLst>
              <a:ext uri="{FF2B5EF4-FFF2-40B4-BE49-F238E27FC236}">
                <a16:creationId xmlns:a16="http://schemas.microsoft.com/office/drawing/2014/main" id="{36FE48B9-039E-40DA-83F1-B4B287A96457}"/>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1.	Every student likes at least one mathematics subject.</a:t>
            </a:r>
          </a:p>
          <a:p>
            <a:pPr marL="0" indent="0">
              <a:buNone/>
            </a:pPr>
            <a:r>
              <a:rPr lang="en-US" altLang="en-US" sz="2400" dirty="0">
                <a:sym typeface="Symbol" panose="05050102010706020507" pitchFamily="18" charset="2"/>
              </a:rPr>
              <a:t>		 student </a:t>
            </a:r>
            <a:r>
              <a:rPr lang="en-US" altLang="en-US" sz="2400" i="1" dirty="0">
                <a:sym typeface="Symbol" panose="05050102010706020507" pitchFamily="18" charset="2"/>
              </a:rPr>
              <a:t>S</a:t>
            </a:r>
            <a:r>
              <a:rPr lang="en-US" altLang="en-US" sz="2400" dirty="0">
                <a:sym typeface="Symbol" panose="05050102010706020507" pitchFamily="18" charset="2"/>
              </a:rPr>
              <a:t>, </a:t>
            </a:r>
            <a:r>
              <a:rPr lang="en-US" altLang="en-US" sz="2400" dirty="0"/>
              <a:t> mathematics subject </a:t>
            </a:r>
            <a:r>
              <a:rPr lang="en-US" altLang="en-US" sz="2400" i="1" dirty="0"/>
              <a:t>y</a:t>
            </a:r>
            <a:r>
              <a:rPr lang="en-US" altLang="en-US" sz="2400" dirty="0"/>
              <a:t>, </a:t>
            </a:r>
            <a:r>
              <a:rPr lang="en-US" altLang="en-US" sz="2400" i="1" dirty="0"/>
              <a:t>S</a:t>
            </a:r>
            <a:r>
              <a:rPr lang="en-US" altLang="en-US" sz="2400" dirty="0"/>
              <a:t> likes </a:t>
            </a:r>
            <a:r>
              <a:rPr lang="en-US" altLang="en-US" sz="2400" i="1" dirty="0"/>
              <a:t>y</a:t>
            </a:r>
            <a:r>
              <a:rPr lang="en-US" altLang="en-US" sz="2400" dirty="0"/>
              <a:t>.</a:t>
            </a:r>
            <a:r>
              <a:rPr lang="en-US" altLang="en-US" sz="2400" dirty="0">
                <a:sym typeface="Symbol" panose="05050102010706020507" pitchFamily="18" charset="2"/>
              </a:rPr>
              <a:t> </a:t>
            </a:r>
          </a:p>
          <a:p>
            <a:pPr marL="0" indent="0">
              <a:buNone/>
            </a:pPr>
            <a:r>
              <a:rPr lang="en-US" altLang="en-US" sz="2400" dirty="0">
                <a:sym typeface="Symbol" panose="05050102010706020507" pitchFamily="18" charset="2"/>
              </a:rPr>
              <a:t>		</a:t>
            </a:r>
            <a:endParaRPr lang="en-US" altLang="en-US" sz="2400" dirty="0"/>
          </a:p>
          <a:p>
            <a:pPr marL="0" indent="0">
              <a:buNone/>
            </a:pPr>
            <a:r>
              <a:rPr lang="en-US" altLang="en-US" sz="2400" dirty="0"/>
              <a:t>2.	All persons are equal.</a:t>
            </a:r>
          </a:p>
          <a:p>
            <a:pPr marL="0" indent="0">
              <a:buNone/>
            </a:pP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 person </a:t>
            </a:r>
            <a:r>
              <a:rPr lang="en-US" altLang="en-US" sz="2400" i="1" dirty="0">
                <a:sym typeface="Symbol" panose="05050102010706020507" pitchFamily="18" charset="2"/>
              </a:rPr>
              <a:t>a</a:t>
            </a:r>
            <a:r>
              <a:rPr lang="en-US" altLang="en-US" sz="2400" dirty="0">
                <a:sym typeface="Symbol" panose="05050102010706020507" pitchFamily="18" charset="2"/>
              </a:rPr>
              <a:t>,  person </a:t>
            </a:r>
            <a:r>
              <a:rPr lang="en-US" altLang="en-US" sz="2400" i="1" dirty="0">
                <a:sym typeface="Symbol" panose="05050102010706020507" pitchFamily="18" charset="2"/>
              </a:rPr>
              <a:t>b</a:t>
            </a:r>
            <a:r>
              <a:rPr lang="en-US" altLang="en-US" sz="2400" dirty="0">
                <a:sym typeface="Symbol" panose="05050102010706020507" pitchFamily="18" charset="2"/>
              </a:rPr>
              <a:t>,  </a:t>
            </a:r>
            <a:r>
              <a:rPr lang="en-US" altLang="en-US" sz="2400" i="1" dirty="0">
                <a:sym typeface="Symbol" panose="05050102010706020507" pitchFamily="18" charset="2"/>
              </a:rPr>
              <a:t>a</a:t>
            </a:r>
            <a:r>
              <a:rPr lang="en-US" altLang="en-US" sz="2400" dirty="0">
                <a:sym typeface="Symbol" panose="05050102010706020507" pitchFamily="18" charset="2"/>
              </a:rPr>
              <a:t> is equal to </a:t>
            </a:r>
            <a:r>
              <a:rPr lang="en-US" altLang="en-US" sz="2400" i="1" dirty="0">
                <a:sym typeface="Symbol" panose="05050102010706020507" pitchFamily="18" charset="2"/>
              </a:rPr>
              <a:t>b</a:t>
            </a:r>
            <a:r>
              <a:rPr lang="en-US" altLang="zh-CN" sz="2400" dirty="0">
                <a:ea typeface="宋体" panose="02010600030101010101" pitchFamily="2" charset="-122"/>
                <a:sym typeface="Symbol" panose="05050102010706020507" pitchFamily="18" charset="2"/>
              </a:rPr>
              <a:t>.</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3.	Not all natural numbers are even.</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is even)</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1235">
                                            <p:txEl>
                                              <p:pRg st="1" end="1"/>
                                            </p:txEl>
                                          </p:spTgt>
                                        </p:tgtEl>
                                        <p:attrNameLst>
                                          <p:attrName>style.visibility</p:attrName>
                                        </p:attrNameLst>
                                      </p:cBhvr>
                                      <p:to>
                                        <p:strVal val="visible"/>
                                      </p:to>
                                    </p:set>
                                    <p:animEffect transition="in" filter="box(in)">
                                      <p:cBhvr>
                                        <p:cTn id="7" dur="500"/>
                                        <p:tgtEl>
                                          <p:spTgt spid="3512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1235">
                                            <p:txEl>
                                              <p:pRg st="3" end="3"/>
                                            </p:txEl>
                                          </p:spTgt>
                                        </p:tgtEl>
                                        <p:attrNameLst>
                                          <p:attrName>style.visibility</p:attrName>
                                        </p:attrNameLst>
                                      </p:cBhvr>
                                      <p:to>
                                        <p:strVal val="visible"/>
                                      </p:to>
                                    </p:set>
                                    <p:animEffect transition="in" filter="box(in)">
                                      <p:cBhvr>
                                        <p:cTn id="12" dur="500"/>
                                        <p:tgtEl>
                                          <p:spTgt spid="35123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1235">
                                            <p:txEl>
                                              <p:pRg st="4" end="4"/>
                                            </p:txEl>
                                          </p:spTgt>
                                        </p:tgtEl>
                                        <p:attrNameLst>
                                          <p:attrName>style.visibility</p:attrName>
                                        </p:attrNameLst>
                                      </p:cBhvr>
                                      <p:to>
                                        <p:strVal val="visible"/>
                                      </p:to>
                                    </p:set>
                                    <p:animEffect transition="in" filter="box(in)">
                                      <p:cBhvr>
                                        <p:cTn id="17" dur="500"/>
                                        <p:tgtEl>
                                          <p:spTgt spid="35123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1235">
                                            <p:txEl>
                                              <p:pRg st="6" end="6"/>
                                            </p:txEl>
                                          </p:spTgt>
                                        </p:tgtEl>
                                        <p:attrNameLst>
                                          <p:attrName>style.visibility</p:attrName>
                                        </p:attrNameLst>
                                      </p:cBhvr>
                                      <p:to>
                                        <p:strVal val="visible"/>
                                      </p:to>
                                    </p:set>
                                    <p:animEffect transition="in" filter="box(in)">
                                      <p:cBhvr>
                                        <p:cTn id="22" dur="500"/>
                                        <p:tgtEl>
                                          <p:spTgt spid="351235">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1235">
                                            <p:txEl>
                                              <p:pRg st="7" end="7"/>
                                            </p:txEl>
                                          </p:spTgt>
                                        </p:tgtEl>
                                        <p:attrNameLst>
                                          <p:attrName>style.visibility</p:attrName>
                                        </p:attrNameLst>
                                      </p:cBhvr>
                                      <p:to>
                                        <p:strVal val="visible"/>
                                      </p:to>
                                    </p:set>
                                    <p:animEffect transition="in" filter="box(in)">
                                      <p:cBhvr>
                                        <p:cTn id="27" dur="500"/>
                                        <p:tgtEl>
                                          <p:spTgt spid="3512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337C6812-4D71-40D8-81A5-54126704BF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E2F811A-D38A-4E61-873B-2434D1A1059B}" type="slidenum">
              <a:rPr lang="en-GB" altLang="en-US" sz="1400">
                <a:latin typeface="Arial" panose="020B0604020202020204" pitchFamily="34" charset="0"/>
                <a:cs typeface="Arial" panose="020B0604020202020204" pitchFamily="34" charset="0"/>
              </a:rPr>
              <a:pPr>
                <a:spcBef>
                  <a:spcPct val="0"/>
                </a:spcBef>
                <a:buFontTx/>
                <a:buNone/>
              </a:pPr>
              <a:t>20</a:t>
            </a:fld>
            <a:endParaRPr lang="en-GB" altLang="en-US" sz="1400">
              <a:latin typeface="Arial" panose="020B0604020202020204" pitchFamily="34" charset="0"/>
              <a:cs typeface="Arial" panose="020B0604020202020204" pitchFamily="34" charset="0"/>
            </a:endParaRPr>
          </a:p>
        </p:txBody>
      </p:sp>
      <p:sp>
        <p:nvSpPr>
          <p:cNvPr id="29699" name="Rectangle 2">
            <a:extLst>
              <a:ext uri="{FF2B5EF4-FFF2-40B4-BE49-F238E27FC236}">
                <a16:creationId xmlns:a16="http://schemas.microsoft.com/office/drawing/2014/main" id="{C74EB18C-3567-4E5D-A805-6C6AFF5EDC32}"/>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Discussion:</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2259" name="Rectangle 3">
            <a:extLst>
              <a:ext uri="{FF2B5EF4-FFF2-40B4-BE49-F238E27FC236}">
                <a16:creationId xmlns:a16="http://schemas.microsoft.com/office/drawing/2014/main" id="{41AF97DC-33DB-49B5-AB0E-A4E7BD8960D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What is the definition of an even number?</a:t>
            </a:r>
          </a:p>
          <a:p>
            <a:pPr marL="0" indent="0">
              <a:buNone/>
            </a:pPr>
            <a:r>
              <a:rPr lang="en-US" altLang="en-US" sz="2400" dirty="0">
                <a:sym typeface="Symbol" panose="05050102010706020507" pitchFamily="18" charset="2"/>
              </a:rPr>
              <a:t>An integer </a:t>
            </a:r>
            <a:r>
              <a:rPr lang="en-US" altLang="en-US" sz="2400" i="1" dirty="0">
                <a:sym typeface="Symbol" panose="05050102010706020507" pitchFamily="18" charset="2"/>
              </a:rPr>
              <a:t>n</a:t>
            </a:r>
            <a:r>
              <a:rPr lang="en-US" altLang="en-US" sz="2400" dirty="0">
                <a:sym typeface="Symbol" panose="05050102010706020507" pitchFamily="18" charset="2"/>
              </a:rPr>
              <a:t> is even if, and only if, </a:t>
            </a:r>
            <a:r>
              <a:rPr lang="en-US" altLang="en-US" sz="2400" i="1" dirty="0">
                <a:sym typeface="Symbol" panose="05050102010706020507" pitchFamily="18" charset="2"/>
              </a:rPr>
              <a:t>n</a:t>
            </a:r>
            <a:r>
              <a:rPr lang="en-US" altLang="en-US" sz="2400" dirty="0">
                <a:sym typeface="Symbol" panose="05050102010706020507" pitchFamily="18" charset="2"/>
              </a:rPr>
              <a:t> equals twice some integer.</a:t>
            </a:r>
          </a:p>
          <a:p>
            <a:pPr marL="0" indent="0">
              <a:buNone/>
            </a:pPr>
            <a:r>
              <a:rPr lang="en-US" altLang="en-US" sz="2400" dirty="0">
                <a:sym typeface="Symbol" panose="05050102010706020507" pitchFamily="18" charset="2"/>
              </a:rPr>
              <a:t>Symbolically, if </a:t>
            </a:r>
            <a:r>
              <a:rPr lang="en-US" altLang="en-US" sz="2400" i="1" dirty="0">
                <a:sym typeface="Symbol" panose="05050102010706020507" pitchFamily="18" charset="2"/>
              </a:rPr>
              <a:t>n</a:t>
            </a:r>
            <a:r>
              <a:rPr lang="en-US" altLang="en-US" sz="2400" dirty="0">
                <a:sym typeface="Symbol" panose="05050102010706020507" pitchFamily="18" charset="2"/>
              </a:rPr>
              <a:t> is an integer, then</a:t>
            </a:r>
          </a:p>
          <a:p>
            <a:pPr marL="0" indent="0">
              <a:buNone/>
            </a:pPr>
            <a:r>
              <a:rPr lang="en-US" altLang="en-US" sz="2400" i="1" dirty="0">
                <a:sym typeface="Symbol" panose="05050102010706020507" pitchFamily="18" charset="2"/>
              </a:rPr>
              <a:t>		n</a:t>
            </a:r>
            <a:r>
              <a:rPr lang="en-US" altLang="en-US" sz="2400" dirty="0">
                <a:sym typeface="Symbol" panose="05050102010706020507" pitchFamily="18" charset="2"/>
              </a:rPr>
              <a:t> is even  </a:t>
            </a:r>
            <a:r>
              <a:rPr lang="en-US" altLang="en-US" sz="2400" i="1" dirty="0">
                <a:sym typeface="Symbol" panose="05050102010706020507" pitchFamily="18" charset="2"/>
              </a:rPr>
              <a:t>p</a:t>
            </a:r>
            <a:r>
              <a:rPr lang="en-US" altLang="en-US" sz="2400" dirty="0">
                <a:sym typeface="Symbol" panose="05050102010706020507" pitchFamily="18" charset="2"/>
              </a:rPr>
              <a:t>  ℤ,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Hence, the sentence “Not all natural numbers are even.” can be expressed in one of the following two ways symbolically:</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dirty="0">
                <a:sym typeface="Symbol" panose="05050102010706020507" pitchFamily="18" charset="2"/>
              </a:rPr>
              <a:t>  ℕ, n is even) 	</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dirty="0">
                <a:sym typeface="Symbol" panose="05050102010706020507" pitchFamily="18" charset="2"/>
              </a:rPr>
              <a:t>  ℕ,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2259">
                                            <p:txEl>
                                              <p:pRg st="1" end="1"/>
                                            </p:txEl>
                                          </p:spTgt>
                                        </p:tgtEl>
                                        <p:attrNameLst>
                                          <p:attrName>style.visibility</p:attrName>
                                        </p:attrNameLst>
                                      </p:cBhvr>
                                      <p:to>
                                        <p:strVal val="visible"/>
                                      </p:to>
                                    </p:set>
                                    <p:animEffect transition="in" filter="box(in)">
                                      <p:cBhvr>
                                        <p:cTn id="7" dur="500"/>
                                        <p:tgtEl>
                                          <p:spTgt spid="3522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2259">
                                            <p:txEl>
                                              <p:pRg st="2" end="2"/>
                                            </p:txEl>
                                          </p:spTgt>
                                        </p:tgtEl>
                                        <p:attrNameLst>
                                          <p:attrName>style.visibility</p:attrName>
                                        </p:attrNameLst>
                                      </p:cBhvr>
                                      <p:to>
                                        <p:strVal val="visible"/>
                                      </p:to>
                                    </p:set>
                                    <p:animEffect transition="in" filter="box(in)">
                                      <p:cBhvr>
                                        <p:cTn id="12" dur="500"/>
                                        <p:tgtEl>
                                          <p:spTgt spid="3522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2259">
                                            <p:txEl>
                                              <p:pRg st="3" end="3"/>
                                            </p:txEl>
                                          </p:spTgt>
                                        </p:tgtEl>
                                        <p:attrNameLst>
                                          <p:attrName>style.visibility</p:attrName>
                                        </p:attrNameLst>
                                      </p:cBhvr>
                                      <p:to>
                                        <p:strVal val="visible"/>
                                      </p:to>
                                    </p:set>
                                    <p:animEffect transition="in" filter="box(in)">
                                      <p:cBhvr>
                                        <p:cTn id="17" dur="500"/>
                                        <p:tgtEl>
                                          <p:spTgt spid="352259">
                                            <p:txEl>
                                              <p:pRg st="3" end="3"/>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352259">
                                            <p:txEl>
                                              <p:pRg st="5" end="5"/>
                                            </p:txEl>
                                          </p:spTgt>
                                        </p:tgtEl>
                                        <p:attrNameLst>
                                          <p:attrName>style.visibility</p:attrName>
                                        </p:attrNameLst>
                                      </p:cBhvr>
                                      <p:to>
                                        <p:strVal val="visible"/>
                                      </p:to>
                                    </p:set>
                                    <p:animEffect transition="in" filter="box(in)">
                                      <p:cBhvr>
                                        <p:cTn id="20" dur="500"/>
                                        <p:tgtEl>
                                          <p:spTgt spid="352259">
                                            <p:txEl>
                                              <p:pRg st="5" end="5"/>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352259">
                                            <p:txEl>
                                              <p:pRg st="6" end="6"/>
                                            </p:txEl>
                                          </p:spTgt>
                                        </p:tgtEl>
                                        <p:attrNameLst>
                                          <p:attrName>style.visibility</p:attrName>
                                        </p:attrNameLst>
                                      </p:cBhvr>
                                      <p:to>
                                        <p:strVal val="visible"/>
                                      </p:to>
                                    </p:set>
                                    <p:animEffect transition="in" filter="box(in)">
                                      <p:cBhvr>
                                        <p:cTn id="23" dur="500"/>
                                        <p:tgtEl>
                                          <p:spTgt spid="352259">
                                            <p:txEl>
                                              <p:pRg st="6" end="6"/>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352259">
                                            <p:txEl>
                                              <p:pRg st="7" end="7"/>
                                            </p:txEl>
                                          </p:spTgt>
                                        </p:tgtEl>
                                        <p:attrNameLst>
                                          <p:attrName>style.visibility</p:attrName>
                                        </p:attrNameLst>
                                      </p:cBhvr>
                                      <p:to>
                                        <p:strVal val="visible"/>
                                      </p:to>
                                    </p:set>
                                    <p:animEffect transition="in" filter="box(in)">
                                      <p:cBhvr>
                                        <p:cTn id="26" dur="500"/>
                                        <p:tgtEl>
                                          <p:spTgt spid="3522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9B58E1F8-44F4-4EAA-A9A1-8D0056141C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F030A66-25FD-4395-881B-5373810E2D47}" type="slidenum">
              <a:rPr lang="en-GB" altLang="en-US" sz="1400">
                <a:latin typeface="Arial" panose="020B0604020202020204" pitchFamily="34" charset="0"/>
                <a:cs typeface="Arial" panose="020B0604020202020204" pitchFamily="34" charset="0"/>
              </a:rPr>
              <a:pPr>
                <a:spcBef>
                  <a:spcPct val="0"/>
                </a:spcBef>
                <a:buFontTx/>
                <a:buNone/>
              </a:pPr>
              <a:t>21</a:t>
            </a:fld>
            <a:endParaRPr lang="en-GB" altLang="en-US" sz="1400">
              <a:latin typeface="Arial" panose="020B0604020202020204" pitchFamily="34" charset="0"/>
              <a:cs typeface="Arial" panose="020B0604020202020204" pitchFamily="34" charset="0"/>
            </a:endParaRPr>
          </a:p>
        </p:txBody>
      </p:sp>
      <p:sp>
        <p:nvSpPr>
          <p:cNvPr id="30723" name="Rectangle 2">
            <a:extLst>
              <a:ext uri="{FF2B5EF4-FFF2-40B4-BE49-F238E27FC236}">
                <a16:creationId xmlns:a16="http://schemas.microsoft.com/office/drawing/2014/main" id="{65C2C488-D855-45FA-A692-490E304FCB61}"/>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Equivalent Forms of Universal Statements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8403" name="Rectangle 3">
            <a:extLst>
              <a:ext uri="{FF2B5EF4-FFF2-40B4-BE49-F238E27FC236}">
                <a16:creationId xmlns:a16="http://schemas.microsoft.com/office/drawing/2014/main" id="{5BA23F58-F4B7-42F8-9802-FCC7678F3B6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A statement of the form</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U</a:t>
            </a:r>
            <a:r>
              <a:rPr lang="en-US" altLang="en-US" sz="2400" dirty="0">
                <a:sym typeface="Symbol" panose="05050102010706020507" pitchFamily="18" charset="2"/>
              </a:rPr>
              <a:t>, if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then </a:t>
            </a:r>
            <a:r>
              <a:rPr lang="en-US" altLang="en-US" sz="2400" i="1" dirty="0">
                <a:sym typeface="Symbol" panose="05050102010706020507" pitchFamily="18" charset="2"/>
              </a:rPr>
              <a:t>Q</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can be rewritten in the form</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Note: </a:t>
            </a:r>
            <a:r>
              <a:rPr lang="en-US" altLang="en-US" sz="2400" i="1" dirty="0">
                <a:sym typeface="Symbol" panose="05050102010706020507" pitchFamily="18" charset="2"/>
              </a:rPr>
              <a:t>D</a:t>
            </a:r>
            <a:r>
              <a:rPr lang="en-US" altLang="en-US" sz="2400" dirty="0">
                <a:sym typeface="Symbol" panose="05050102010706020507" pitchFamily="18" charset="2"/>
              </a:rPr>
              <a:t>  </a:t>
            </a:r>
            <a:r>
              <a:rPr lang="en-US" altLang="en-US" sz="2400" i="1" dirty="0">
                <a:sym typeface="Symbol" panose="05050102010706020507" pitchFamily="18" charset="2"/>
              </a:rPr>
              <a:t>U </a:t>
            </a:r>
            <a:r>
              <a:rPr lang="en-US" altLang="en-US" sz="2400" dirty="0">
                <a:sym typeface="Symbol" panose="05050102010706020507" pitchFamily="18" charset="2"/>
              </a:rPr>
              <a:t>and </a:t>
            </a:r>
            <a:r>
              <a:rPr lang="en-US" altLang="en-US" sz="2400" i="1" dirty="0">
                <a:sym typeface="Symbol" panose="05050102010706020507" pitchFamily="18" charset="2"/>
              </a:rPr>
              <a:t>D</a:t>
            </a:r>
            <a:r>
              <a:rPr lang="en-US" altLang="en-US" sz="2400" dirty="0">
                <a:sym typeface="Symbol" panose="05050102010706020507" pitchFamily="18" charset="2"/>
              </a:rPr>
              <a:t> is the truth set of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03">
                                            <p:txEl>
                                              <p:pRg st="2" end="2"/>
                                            </p:txEl>
                                          </p:spTgt>
                                        </p:tgtEl>
                                        <p:attrNameLst>
                                          <p:attrName>style.visibility</p:attrName>
                                        </p:attrNameLst>
                                      </p:cBhvr>
                                      <p:to>
                                        <p:strVal val="visible"/>
                                      </p:to>
                                    </p:set>
                                    <p:animEffect transition="in" filter="box(in)">
                                      <p:cBhvr>
                                        <p:cTn id="7" dur="500"/>
                                        <p:tgtEl>
                                          <p:spTgt spid="35840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03">
                                            <p:txEl>
                                              <p:pRg st="3" end="3"/>
                                            </p:txEl>
                                          </p:spTgt>
                                        </p:tgtEl>
                                        <p:attrNameLst>
                                          <p:attrName>style.visibility</p:attrName>
                                        </p:attrNameLst>
                                      </p:cBhvr>
                                      <p:to>
                                        <p:strVal val="visible"/>
                                      </p:to>
                                    </p:set>
                                    <p:animEffect transition="in" filter="box(in)">
                                      <p:cBhvr>
                                        <p:cTn id="12" dur="500"/>
                                        <p:tgtEl>
                                          <p:spTgt spid="35840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8403">
                                            <p:txEl>
                                              <p:pRg st="5" end="5"/>
                                            </p:txEl>
                                          </p:spTgt>
                                        </p:tgtEl>
                                        <p:attrNameLst>
                                          <p:attrName>style.visibility</p:attrName>
                                        </p:attrNameLst>
                                      </p:cBhvr>
                                      <p:to>
                                        <p:strVal val="visible"/>
                                      </p:to>
                                    </p:set>
                                    <p:animEffect transition="in" filter="box(in)">
                                      <p:cBhvr>
                                        <p:cTn id="17" dur="500"/>
                                        <p:tgtEl>
                                          <p:spTgt spid="3584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773F8D24-372C-4633-B1BF-609CF16310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F11CED5-5F39-4610-AF2C-DE43EFEC324A}" type="slidenum">
              <a:rPr lang="en-GB" altLang="en-US" sz="1400">
                <a:latin typeface="Arial" panose="020B0604020202020204" pitchFamily="34" charset="0"/>
                <a:cs typeface="Arial" panose="020B0604020202020204" pitchFamily="34" charset="0"/>
              </a:rPr>
              <a:pPr>
                <a:spcBef>
                  <a:spcPct val="0"/>
                </a:spcBef>
                <a:buFontTx/>
                <a:buNone/>
              </a:pPr>
              <a:t>22</a:t>
            </a:fld>
            <a:endParaRPr lang="en-GB" altLang="en-US" sz="1400">
              <a:latin typeface="Arial" panose="020B0604020202020204" pitchFamily="34" charset="0"/>
              <a:cs typeface="Arial" panose="020B0604020202020204" pitchFamily="34" charset="0"/>
            </a:endParaRPr>
          </a:p>
        </p:txBody>
      </p:sp>
      <p:sp>
        <p:nvSpPr>
          <p:cNvPr id="31747" name="Rectangle 2">
            <a:extLst>
              <a:ext uri="{FF2B5EF4-FFF2-40B4-BE49-F238E27FC236}">
                <a16:creationId xmlns:a16="http://schemas.microsoft.com/office/drawing/2014/main" id="{7486F4FA-4D06-4948-87BC-4E96D346C625}"/>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Equivalent Forms of Universal Statements: Example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59427" name="Rectangle 3">
            <a:extLst>
              <a:ext uri="{FF2B5EF4-FFF2-40B4-BE49-F238E27FC236}">
                <a16:creationId xmlns:a16="http://schemas.microsoft.com/office/drawing/2014/main" id="{105E82EB-40A1-42EE-ADEF-562A498C15BA}"/>
              </a:ext>
            </a:extLst>
          </p:cNvPr>
          <p:cNvSpPr>
            <a:spLocks noGrp="1" noChangeArrowheads="1"/>
          </p:cNvSpPr>
          <p:nvPr>
            <p:ph type="body" idx="1"/>
          </p:nvPr>
        </p:nvSpPr>
        <p:spPr>
          <a:xfrm>
            <a:off x="1981200" y="1771652"/>
            <a:ext cx="8229600" cy="1980952"/>
          </a:xfrm>
        </p:spPr>
        <p:txBody>
          <a:bodyPr/>
          <a:lstStyle/>
          <a:p>
            <a:pPr marL="0" indent="0">
              <a:buNone/>
            </a:pPr>
            <a:r>
              <a:rPr lang="en-US" altLang="en-US" sz="2400" dirty="0">
                <a:sym typeface="Symbol" panose="05050102010706020507" pitchFamily="18" charset="2"/>
              </a:rPr>
              <a:t>A statement of the form</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ℝ, if </a:t>
            </a:r>
            <a:r>
              <a:rPr lang="en-US" altLang="en-US" sz="2400" i="1" dirty="0">
                <a:sym typeface="Symbol" panose="05050102010706020507" pitchFamily="18" charset="2"/>
              </a:rPr>
              <a:t>x</a:t>
            </a:r>
            <a:r>
              <a:rPr lang="en-US" altLang="en-US" sz="2400" dirty="0">
                <a:sym typeface="Symbol" panose="05050102010706020507" pitchFamily="18" charset="2"/>
              </a:rPr>
              <a:t>  ℤ then </a:t>
            </a:r>
            <a:r>
              <a:rPr lang="en-US" altLang="en-US" sz="2400" i="1" dirty="0">
                <a:sym typeface="Symbol" panose="05050102010706020507" pitchFamily="18" charset="2"/>
              </a:rPr>
              <a:t>x</a:t>
            </a:r>
            <a:r>
              <a:rPr lang="en-US" altLang="en-US" sz="2400" dirty="0">
                <a:sym typeface="Symbol" panose="05050102010706020507" pitchFamily="18" charset="2"/>
              </a:rPr>
              <a:t>  ℚ.</a:t>
            </a:r>
          </a:p>
          <a:p>
            <a:pPr marL="0" indent="0">
              <a:buNone/>
            </a:pPr>
            <a:r>
              <a:rPr lang="en-US" altLang="en-US" sz="2400" dirty="0">
                <a:sym typeface="Symbol" panose="05050102010706020507" pitchFamily="18" charset="2"/>
              </a:rPr>
              <a:t>can be rewritten in the form</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ℤ, </a:t>
            </a:r>
            <a:r>
              <a:rPr lang="en-US" altLang="en-US" sz="2400" i="1" dirty="0">
                <a:sym typeface="Symbol" panose="05050102010706020507" pitchFamily="18" charset="2"/>
              </a:rPr>
              <a:t>x</a:t>
            </a:r>
            <a:r>
              <a:rPr lang="en-US" altLang="en-US" sz="2400" dirty="0">
                <a:sym typeface="Symbol" panose="05050102010706020507" pitchFamily="18" charset="2"/>
              </a:rPr>
              <a:t>  ℚ.		(Note: ℤ  ℝ)</a:t>
            </a:r>
          </a:p>
          <a:p>
            <a:pPr marL="0" indent="0">
              <a:buNone/>
            </a:pP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27">
                                            <p:txEl>
                                              <p:pRg st="2" end="2"/>
                                            </p:txEl>
                                          </p:spTgt>
                                        </p:tgtEl>
                                        <p:attrNameLst>
                                          <p:attrName>style.visibility</p:attrName>
                                        </p:attrNameLst>
                                      </p:cBhvr>
                                      <p:to>
                                        <p:strVal val="visible"/>
                                      </p:to>
                                    </p:set>
                                    <p:animEffect transition="in" filter="box(in)">
                                      <p:cBhvr>
                                        <p:cTn id="7" dur="500"/>
                                        <p:tgtEl>
                                          <p:spTgt spid="35942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27">
                                            <p:txEl>
                                              <p:pRg st="3" end="3"/>
                                            </p:txEl>
                                          </p:spTgt>
                                        </p:tgtEl>
                                        <p:attrNameLst>
                                          <p:attrName>style.visibility</p:attrName>
                                        </p:attrNameLst>
                                      </p:cBhvr>
                                      <p:to>
                                        <p:strVal val="visible"/>
                                      </p:to>
                                    </p:set>
                                    <p:animEffect transition="in" filter="box(in)">
                                      <p:cBhvr>
                                        <p:cTn id="12" dur="500"/>
                                        <p:tgtEl>
                                          <p:spTgt spid="359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2BD3E8CC-0B99-44AC-A286-33248C0470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7AED2F7-A9C3-421E-9CE7-54E5661A219C}" type="slidenum">
              <a:rPr lang="en-GB" altLang="en-US" sz="1400">
                <a:latin typeface="Arial" panose="020B0604020202020204" pitchFamily="34" charset="0"/>
                <a:cs typeface="Arial" panose="020B0604020202020204" pitchFamily="34" charset="0"/>
              </a:rPr>
              <a:pPr>
                <a:spcBef>
                  <a:spcPct val="0"/>
                </a:spcBef>
                <a:buFontTx/>
                <a:buNone/>
              </a:pPr>
              <a:t>23</a:t>
            </a:fld>
            <a:endParaRPr lang="en-GB" altLang="en-US" sz="1400">
              <a:latin typeface="Arial" panose="020B0604020202020204" pitchFamily="34" charset="0"/>
              <a:cs typeface="Arial" panose="020B0604020202020204" pitchFamily="34" charset="0"/>
            </a:endParaRPr>
          </a:p>
        </p:txBody>
      </p:sp>
      <p:sp>
        <p:nvSpPr>
          <p:cNvPr id="32771" name="Rectangle 2">
            <a:extLst>
              <a:ext uri="{FF2B5EF4-FFF2-40B4-BE49-F238E27FC236}">
                <a16:creationId xmlns:a16="http://schemas.microsoft.com/office/drawing/2014/main" id="{4945107E-FFB3-4ED8-8141-E8ACC6523672}"/>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3283" name="Rectangle 3">
            <a:extLst>
              <a:ext uri="{FF2B5EF4-FFF2-40B4-BE49-F238E27FC236}">
                <a16:creationId xmlns:a16="http://schemas.microsoft.com/office/drawing/2014/main" id="{47D5A4C7-4D1A-467D-A0F4-EA9D348FF55E}"/>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Express the following laws of arithmetic using quantifiers.</a:t>
            </a:r>
          </a:p>
          <a:p>
            <a:pPr marL="0" indent="0">
              <a:buNone/>
            </a:pPr>
            <a:r>
              <a:rPr lang="en-US" altLang="en-US" sz="2400">
                <a:sym typeface="Symbol" panose="05050102010706020507" pitchFamily="18" charset="2"/>
              </a:rPr>
              <a:t>(i)	Commutative law for +:</a:t>
            </a:r>
          </a:p>
          <a:p>
            <a:pPr marL="0" indent="0">
              <a:buNone/>
            </a:pPr>
            <a:r>
              <a:rPr lang="en-US" altLang="en-US" sz="2400">
                <a:sym typeface="Symbol" panose="05050102010706020507" pitchFamily="18" charset="2"/>
              </a:rPr>
              <a:t>	If </a:t>
            </a:r>
            <a:r>
              <a:rPr lang="en-US" altLang="en-US" sz="2400" i="1">
                <a:sym typeface="Symbol" panose="05050102010706020507" pitchFamily="18" charset="2"/>
              </a:rPr>
              <a:t>x</a:t>
            </a:r>
            <a:r>
              <a:rPr lang="en-US" altLang="en-US" sz="2400">
                <a:sym typeface="Symbol" panose="05050102010706020507" pitchFamily="18" charset="2"/>
              </a:rPr>
              <a:t> and </a:t>
            </a:r>
            <a:r>
              <a:rPr lang="en-US" altLang="en-US" sz="2400" i="1">
                <a:sym typeface="Symbol" panose="05050102010706020507" pitchFamily="18" charset="2"/>
              </a:rPr>
              <a:t>y</a:t>
            </a:r>
            <a:r>
              <a:rPr lang="en-US" altLang="en-US" sz="2400">
                <a:sym typeface="Symbol" panose="05050102010706020507" pitchFamily="18" charset="2"/>
              </a:rPr>
              <a:t> are real numbers, then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ℝ, </a:t>
            </a:r>
            <a:r>
              <a:rPr lang="en-US" altLang="en-US" sz="2400" i="1">
                <a:sym typeface="Symbol" panose="05050102010706020507" pitchFamily="18" charset="2"/>
              </a:rPr>
              <a:t>y</a:t>
            </a:r>
            <a:r>
              <a:rPr lang="en-US" altLang="en-US" sz="2400">
                <a:sym typeface="Symbol" panose="05050102010706020507" pitchFamily="18" charset="2"/>
              </a:rPr>
              <a:t>  ℝ,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x.</a:t>
            </a:r>
            <a:endParaRPr lang="en-US" altLang="en-US" sz="2400">
              <a:sym typeface="Symbol" panose="05050102010706020507" pitchFamily="18" charset="2"/>
            </a:endParaRP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(ii)	Distributive law for  over +:</a:t>
            </a:r>
          </a:p>
          <a:p>
            <a:pPr marL="0" indent="0">
              <a:buNone/>
            </a:pPr>
            <a:r>
              <a:rPr lang="en-US" altLang="en-US" sz="2400">
                <a:sym typeface="Symbol" panose="05050102010706020507" pitchFamily="18" charset="2"/>
              </a:rPr>
              <a:t>	If </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and </a:t>
            </a:r>
            <a:r>
              <a:rPr lang="en-US" altLang="en-US" sz="2400" i="1">
                <a:sym typeface="Symbol" panose="05050102010706020507" pitchFamily="18" charset="2"/>
              </a:rPr>
              <a:t>z</a:t>
            </a:r>
            <a:r>
              <a:rPr lang="en-US" altLang="en-US" sz="2400">
                <a:sym typeface="Symbol" panose="05050102010706020507" pitchFamily="18" charset="2"/>
              </a:rPr>
              <a:t> are real numbers, then </a:t>
            </a:r>
            <a:r>
              <a:rPr lang="en-US" altLang="en-US" sz="2400" i="1">
                <a:sym typeface="Symbol" panose="05050102010706020507" pitchFamily="18" charset="2"/>
              </a:rPr>
              <a:t>x</a:t>
            </a:r>
            <a:r>
              <a:rPr lang="en-US" altLang="en-US" sz="2400">
                <a:sym typeface="Symbol" panose="05050102010706020507" pitchFamily="18" charset="2"/>
              </a:rPr>
              <a:t>(</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z</a:t>
            </a:r>
            <a:r>
              <a:rPr lang="en-US" altLang="en-US" sz="2400">
                <a:sym typeface="Symbol" panose="05050102010706020507" pitchFamily="18" charset="2"/>
              </a:rPr>
              <a:t>) = </a:t>
            </a:r>
            <a:r>
              <a:rPr lang="en-US" altLang="en-US" sz="2400" i="1">
                <a:sym typeface="Symbol" panose="05050102010706020507" pitchFamily="18" charset="2"/>
              </a:rPr>
              <a:t>xy</a:t>
            </a:r>
            <a:r>
              <a:rPr lang="en-US" altLang="en-US" sz="2400">
                <a:sym typeface="Symbol" panose="05050102010706020507" pitchFamily="18" charset="2"/>
              </a:rPr>
              <a:t> + </a:t>
            </a:r>
            <a:r>
              <a:rPr lang="en-US" altLang="en-US" sz="2400" i="1">
                <a:sym typeface="Symbol" panose="05050102010706020507" pitchFamily="18" charset="2"/>
              </a:rPr>
              <a:t>xz</a:t>
            </a:r>
            <a:r>
              <a:rPr lang="en-US" altLang="en-US" sz="2400">
                <a:sym typeface="Symbol" panose="05050102010706020507" pitchFamily="18" charset="2"/>
              </a:rPr>
              <a:t>.</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ℝ, </a:t>
            </a:r>
            <a:r>
              <a:rPr lang="en-US" altLang="en-US" sz="2400" i="1">
                <a:sym typeface="Symbol" panose="05050102010706020507" pitchFamily="18" charset="2"/>
              </a:rPr>
              <a:t>y</a:t>
            </a:r>
            <a:r>
              <a:rPr lang="en-US" altLang="en-US" sz="2400">
                <a:sym typeface="Symbol" panose="05050102010706020507" pitchFamily="18" charset="2"/>
              </a:rPr>
              <a:t>  ℝ, </a:t>
            </a:r>
            <a:r>
              <a:rPr lang="en-US" altLang="en-US" sz="2400" i="1">
                <a:sym typeface="Symbol" panose="05050102010706020507" pitchFamily="18" charset="2"/>
              </a:rPr>
              <a:t>z</a:t>
            </a:r>
            <a:r>
              <a:rPr lang="en-US" altLang="en-US" sz="2400">
                <a:sym typeface="Symbol" panose="05050102010706020507" pitchFamily="18" charset="2"/>
              </a:rPr>
              <a:t>  ℝ, </a:t>
            </a:r>
            <a:r>
              <a:rPr lang="en-US" altLang="en-US" sz="2400" i="1">
                <a:sym typeface="Symbol" panose="05050102010706020507" pitchFamily="18" charset="2"/>
              </a:rPr>
              <a:t>x</a:t>
            </a:r>
            <a:r>
              <a:rPr lang="en-US" altLang="en-US" sz="2400">
                <a:sym typeface="Symbol" panose="05050102010706020507" pitchFamily="18" charset="2"/>
              </a:rPr>
              <a:t>(</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z</a:t>
            </a:r>
            <a:r>
              <a:rPr lang="en-US" altLang="en-US" sz="2400">
                <a:sym typeface="Symbol" panose="05050102010706020507" pitchFamily="18" charset="2"/>
              </a:rPr>
              <a:t>) = </a:t>
            </a:r>
            <a:r>
              <a:rPr lang="en-US" altLang="en-US" sz="2400" i="1">
                <a:sym typeface="Symbol" panose="05050102010706020507" pitchFamily="18" charset="2"/>
              </a:rPr>
              <a:t>xy</a:t>
            </a:r>
            <a:r>
              <a:rPr lang="en-US" altLang="en-US" sz="2400">
                <a:sym typeface="Symbol" panose="05050102010706020507" pitchFamily="18" charset="2"/>
              </a:rPr>
              <a:t> + </a:t>
            </a:r>
            <a:r>
              <a:rPr lang="en-US" altLang="en-US" sz="2400" i="1">
                <a:sym typeface="Symbol" panose="05050102010706020507" pitchFamily="18" charset="2"/>
              </a:rPr>
              <a:t>xz.</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3283">
                                            <p:txEl>
                                              <p:pRg st="3" end="3"/>
                                            </p:txEl>
                                          </p:spTgt>
                                        </p:tgtEl>
                                        <p:attrNameLst>
                                          <p:attrName>style.visibility</p:attrName>
                                        </p:attrNameLst>
                                      </p:cBhvr>
                                      <p:to>
                                        <p:strVal val="visible"/>
                                      </p:to>
                                    </p:set>
                                    <p:animEffect transition="in" filter="box(in)">
                                      <p:cBhvr>
                                        <p:cTn id="7" dur="500"/>
                                        <p:tgtEl>
                                          <p:spTgt spid="35328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3283">
                                            <p:txEl>
                                              <p:pRg st="5" end="5"/>
                                            </p:txEl>
                                          </p:spTgt>
                                        </p:tgtEl>
                                        <p:attrNameLst>
                                          <p:attrName>style.visibility</p:attrName>
                                        </p:attrNameLst>
                                      </p:cBhvr>
                                      <p:to>
                                        <p:strVal val="visible"/>
                                      </p:to>
                                    </p:set>
                                    <p:animEffect transition="in" filter="box(in)">
                                      <p:cBhvr>
                                        <p:cTn id="12" dur="500"/>
                                        <p:tgtEl>
                                          <p:spTgt spid="353283">
                                            <p:txEl>
                                              <p:pRg st="5" end="5"/>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53283">
                                            <p:txEl>
                                              <p:pRg st="6" end="6"/>
                                            </p:txEl>
                                          </p:spTgt>
                                        </p:tgtEl>
                                        <p:attrNameLst>
                                          <p:attrName>style.visibility</p:attrName>
                                        </p:attrNameLst>
                                      </p:cBhvr>
                                      <p:to>
                                        <p:strVal val="visible"/>
                                      </p:to>
                                    </p:set>
                                    <p:animEffect transition="in" filter="box(in)">
                                      <p:cBhvr>
                                        <p:cTn id="15" dur="500"/>
                                        <p:tgtEl>
                                          <p:spTgt spid="353283">
                                            <p:txEl>
                                              <p:pRg st="6" end="6"/>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353283">
                                            <p:txEl>
                                              <p:pRg st="7" end="7"/>
                                            </p:txEl>
                                          </p:spTgt>
                                        </p:tgtEl>
                                        <p:attrNameLst>
                                          <p:attrName>style.visibility</p:attrName>
                                        </p:attrNameLst>
                                      </p:cBhvr>
                                      <p:to>
                                        <p:strVal val="visible"/>
                                      </p:to>
                                    </p:set>
                                    <p:animEffect transition="in" filter="box(in)">
                                      <p:cBhvr>
                                        <p:cTn id="20" dur="500"/>
                                        <p:tgtEl>
                                          <p:spTgt spid="3532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A36FA3BE-E927-4934-A8F0-F85683173A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A0A65E8-0A3B-4D2F-802F-32463529C19C}" type="slidenum">
              <a:rPr lang="en-GB" altLang="en-US" sz="1400">
                <a:latin typeface="Arial" panose="020B0604020202020204" pitchFamily="34" charset="0"/>
                <a:cs typeface="Arial" panose="020B0604020202020204" pitchFamily="34" charset="0"/>
              </a:rPr>
              <a:pPr>
                <a:spcBef>
                  <a:spcPct val="0"/>
                </a:spcBef>
                <a:buFontTx/>
                <a:buNone/>
              </a:pPr>
              <a:t>24</a:t>
            </a:fld>
            <a:endParaRPr lang="en-GB" altLang="en-US" sz="1400">
              <a:latin typeface="Arial" panose="020B0604020202020204" pitchFamily="34" charset="0"/>
              <a:cs typeface="Arial" panose="020B0604020202020204" pitchFamily="34" charset="0"/>
            </a:endParaRPr>
          </a:p>
        </p:txBody>
      </p:sp>
      <p:sp>
        <p:nvSpPr>
          <p:cNvPr id="33795" name="Rectangle 2">
            <a:extLst>
              <a:ext uri="{FF2B5EF4-FFF2-40B4-BE49-F238E27FC236}">
                <a16:creationId xmlns:a16="http://schemas.microsoft.com/office/drawing/2014/main" id="{09F1BC59-C6E5-4062-8FA9-7021F14863AB}"/>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Quantifications Of Two Variables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5331" name="Rectangle 3">
            <a:extLst>
              <a:ext uri="{FF2B5EF4-FFF2-40B4-BE49-F238E27FC236}">
                <a16:creationId xmlns:a16="http://schemas.microsoft.com/office/drawing/2014/main" id="{75946835-0FA0-4263-B25A-760423573D71}"/>
              </a:ext>
            </a:extLst>
          </p:cNvPr>
          <p:cNvSpPr>
            <a:spLocks noGrp="1" noChangeArrowheads="1"/>
          </p:cNvSpPr>
          <p:nvPr>
            <p:ph type="body" idx="1"/>
          </p:nvPr>
        </p:nvSpPr>
        <p:spPr>
          <a:xfrm>
            <a:off x="1080655" y="1771651"/>
            <a:ext cx="10189027" cy="4530725"/>
          </a:xfrm>
        </p:spPr>
        <p:txBody>
          <a:bodyPr/>
          <a:lstStyle/>
          <a:p>
            <a:pPr marL="0" indent="0">
              <a:buNone/>
              <a:tabLst>
                <a:tab pos="2147888" algn="l"/>
              </a:tabLst>
            </a:pPr>
            <a:r>
              <a:rPr lang="en-US" altLang="en-US" sz="2400" b="1" u="sng" dirty="0">
                <a:sym typeface="Symbol" panose="05050102010706020507" pitchFamily="18" charset="2"/>
              </a:rPr>
              <a:t>Statement</a:t>
            </a:r>
            <a:r>
              <a:rPr lang="en-US" altLang="en-US" sz="2400" b="1" dirty="0">
                <a:sym typeface="Symbol" panose="05050102010706020507" pitchFamily="18" charset="2"/>
              </a:rPr>
              <a:t>	</a:t>
            </a:r>
            <a:r>
              <a:rPr lang="en-US" altLang="en-US" sz="2400" b="1" u="sng" dirty="0">
                <a:sym typeface="Symbol" panose="05050102010706020507" pitchFamily="18" charset="2"/>
              </a:rPr>
              <a:t>When True?</a:t>
            </a:r>
            <a:r>
              <a:rPr lang="en-US" altLang="en-US" sz="2400" b="1" dirty="0">
                <a:sym typeface="Symbol" panose="05050102010706020507" pitchFamily="18" charset="2"/>
              </a:rPr>
              <a:t>		</a:t>
            </a:r>
            <a:r>
              <a:rPr lang="en-US" altLang="en-US" sz="2400" b="1" u="sng" dirty="0">
                <a:sym typeface="Symbol" panose="05050102010706020507" pitchFamily="18" charset="2"/>
              </a:rPr>
              <a:t>When False?</a:t>
            </a: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true for	There is a pair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x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every pair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for which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false. </a:t>
            </a:r>
          </a:p>
          <a:p>
            <a:pPr marL="0" indent="0">
              <a:buNone/>
              <a:tabLst>
                <a:tab pos="2147888" algn="l"/>
              </a:tabLst>
            </a:pPr>
            <a:endParaRPr lang="en-US" altLang="en-US" sz="2400" dirty="0">
              <a:sym typeface="Symbol" panose="05050102010706020507" pitchFamily="18" charset="2"/>
            </a:endParaRP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For every </a:t>
            </a:r>
            <a:r>
              <a:rPr lang="en-US" altLang="en-US" sz="2400" i="1" dirty="0">
                <a:sym typeface="Symbol" panose="05050102010706020507" pitchFamily="18" charset="2"/>
              </a:rPr>
              <a:t>x</a:t>
            </a:r>
            <a:r>
              <a:rPr lang="en-US" altLang="en-US" sz="2400" dirty="0">
                <a:sym typeface="Symbol" panose="05050102010706020507" pitchFamily="18" charset="2"/>
              </a:rPr>
              <a:t> there 	There is an </a:t>
            </a:r>
            <a:r>
              <a:rPr lang="en-US" altLang="en-US" sz="2400" i="1" dirty="0">
                <a:sym typeface="Symbol" panose="05050102010706020507" pitchFamily="18" charset="2"/>
              </a:rPr>
              <a:t>x</a:t>
            </a:r>
            <a:r>
              <a:rPr lang="en-US" altLang="en-US" sz="2400" dirty="0">
                <a:sym typeface="Symbol" panose="05050102010706020507" pitchFamily="18" charset="2"/>
              </a:rPr>
              <a:t> such that</a:t>
            </a:r>
          </a:p>
          <a:p>
            <a:pPr marL="0" indent="0">
              <a:buNone/>
              <a:tabLst>
                <a:tab pos="2147888" algn="l"/>
              </a:tabLst>
            </a:pPr>
            <a:r>
              <a:rPr lang="en-US" altLang="en-US" sz="2400" dirty="0">
                <a:sym typeface="Symbol" panose="05050102010706020507" pitchFamily="18" charset="2"/>
              </a:rPr>
              <a:t>	is a </a:t>
            </a:r>
            <a:r>
              <a:rPr lang="en-US" altLang="en-US" sz="2400" i="1" dirty="0">
                <a:sym typeface="Symbol" panose="05050102010706020507" pitchFamily="18" charset="2"/>
              </a:rPr>
              <a:t>y</a:t>
            </a:r>
            <a:r>
              <a:rPr lang="en-US" altLang="en-US" sz="2400" dirty="0">
                <a:sym typeface="Symbol" panose="05050102010706020507" pitchFamily="18" charset="2"/>
              </a:rPr>
              <a:t> for which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false for every </a:t>
            </a:r>
            <a:r>
              <a:rPr lang="en-US" altLang="en-US" sz="2400" i="1" dirty="0">
                <a:sym typeface="Symbol" panose="05050102010706020507" pitchFamily="18" charset="2"/>
              </a:rPr>
              <a:t>y</a:t>
            </a:r>
            <a:r>
              <a:rPr lang="en-US" altLang="en-US" sz="2400" dirty="0">
                <a:sym typeface="Symbol" panose="05050102010706020507" pitchFamily="18" charset="2"/>
              </a:rPr>
              <a:t>. </a:t>
            </a:r>
          </a:p>
          <a:p>
            <a:pPr marL="0" indent="0">
              <a:buNone/>
              <a:tabLst>
                <a:tab pos="214788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true. </a:t>
            </a:r>
          </a:p>
          <a:p>
            <a:pPr marL="0" indent="0">
              <a:buNone/>
              <a:tabLst>
                <a:tab pos="2147888" algn="l"/>
              </a:tabLst>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5331">
                                            <p:txEl>
                                              <p:pRg st="4" end="4"/>
                                            </p:txEl>
                                          </p:spTgt>
                                        </p:tgtEl>
                                        <p:attrNameLst>
                                          <p:attrName>style.visibility</p:attrName>
                                        </p:attrNameLst>
                                      </p:cBhvr>
                                      <p:to>
                                        <p:strVal val="visible"/>
                                      </p:to>
                                    </p:set>
                                    <p:animEffect transition="in" filter="box(in)">
                                      <p:cBhvr>
                                        <p:cTn id="7" dur="500"/>
                                        <p:tgtEl>
                                          <p:spTgt spid="355331">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5331">
                                            <p:txEl>
                                              <p:pRg st="5" end="5"/>
                                            </p:txEl>
                                          </p:spTgt>
                                        </p:tgtEl>
                                        <p:attrNameLst>
                                          <p:attrName>style.visibility</p:attrName>
                                        </p:attrNameLst>
                                      </p:cBhvr>
                                      <p:to>
                                        <p:strVal val="visible"/>
                                      </p:to>
                                    </p:set>
                                    <p:animEffect transition="in" filter="box(in)">
                                      <p:cBhvr>
                                        <p:cTn id="10" dur="500"/>
                                        <p:tgtEl>
                                          <p:spTgt spid="355331">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5331">
                                            <p:txEl>
                                              <p:pRg st="6" end="6"/>
                                            </p:txEl>
                                          </p:spTgt>
                                        </p:tgtEl>
                                        <p:attrNameLst>
                                          <p:attrName>style.visibility</p:attrName>
                                        </p:attrNameLst>
                                      </p:cBhvr>
                                      <p:to>
                                        <p:strVal val="visible"/>
                                      </p:to>
                                    </p:set>
                                    <p:animEffect transition="in" filter="box(in)">
                                      <p:cBhvr>
                                        <p:cTn id="13" dur="500"/>
                                        <p:tgtEl>
                                          <p:spTgt spid="3553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444093AD-2F62-48D3-821A-A277240611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D3DCF5-8858-4BB9-A8AB-DFA27844A582}" type="slidenum">
              <a:rPr lang="en-GB" altLang="en-US" sz="1400">
                <a:latin typeface="Arial" panose="020B0604020202020204" pitchFamily="34" charset="0"/>
                <a:cs typeface="Arial" panose="020B0604020202020204" pitchFamily="34" charset="0"/>
              </a:rPr>
              <a:pPr>
                <a:spcBef>
                  <a:spcPct val="0"/>
                </a:spcBef>
                <a:buFontTx/>
                <a:buNone/>
              </a:pPr>
              <a:t>25</a:t>
            </a:fld>
            <a:endParaRPr lang="en-GB" altLang="en-US" sz="1400">
              <a:latin typeface="Arial" panose="020B0604020202020204" pitchFamily="34" charset="0"/>
              <a:cs typeface="Arial" panose="020B0604020202020204" pitchFamily="34" charset="0"/>
            </a:endParaRPr>
          </a:p>
        </p:txBody>
      </p:sp>
      <p:sp>
        <p:nvSpPr>
          <p:cNvPr id="34819" name="Rectangle 2">
            <a:extLst>
              <a:ext uri="{FF2B5EF4-FFF2-40B4-BE49-F238E27FC236}">
                <a16:creationId xmlns:a16="http://schemas.microsoft.com/office/drawing/2014/main" id="{FBD97C73-3AA7-45DF-91CF-89FB93A3F7B6}"/>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Quantifications of Two Variables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6355" name="Rectangle 3">
            <a:extLst>
              <a:ext uri="{FF2B5EF4-FFF2-40B4-BE49-F238E27FC236}">
                <a16:creationId xmlns:a16="http://schemas.microsoft.com/office/drawing/2014/main" id="{69F2AB5E-6737-41E0-A689-0199166320E1}"/>
              </a:ext>
            </a:extLst>
          </p:cNvPr>
          <p:cNvSpPr>
            <a:spLocks noGrp="1" noChangeArrowheads="1"/>
          </p:cNvSpPr>
          <p:nvPr>
            <p:ph type="body" idx="1"/>
          </p:nvPr>
        </p:nvSpPr>
        <p:spPr>
          <a:xfrm>
            <a:off x="1981199" y="1771651"/>
            <a:ext cx="9015351" cy="4530725"/>
          </a:xfrm>
        </p:spPr>
        <p:txBody>
          <a:bodyPr/>
          <a:lstStyle/>
          <a:p>
            <a:pPr marL="0" indent="0">
              <a:buNone/>
              <a:tabLst>
                <a:tab pos="2147888" algn="l"/>
              </a:tabLst>
            </a:pPr>
            <a:r>
              <a:rPr lang="en-US" altLang="en-US" sz="2400" b="1" u="sng" dirty="0">
                <a:sym typeface="Symbol" panose="05050102010706020507" pitchFamily="18" charset="2"/>
              </a:rPr>
              <a:t>Statement</a:t>
            </a:r>
            <a:r>
              <a:rPr lang="en-US" altLang="en-US" sz="2400" b="1" dirty="0">
                <a:sym typeface="Symbol" panose="05050102010706020507" pitchFamily="18" charset="2"/>
              </a:rPr>
              <a:t>	</a:t>
            </a:r>
            <a:r>
              <a:rPr lang="en-US" altLang="en-US" sz="2400" b="1" u="sng" dirty="0">
                <a:sym typeface="Symbol" panose="05050102010706020507" pitchFamily="18" charset="2"/>
              </a:rPr>
              <a:t>When True?</a:t>
            </a:r>
            <a:r>
              <a:rPr lang="en-US" altLang="en-US" sz="2400" b="1" dirty="0">
                <a:sym typeface="Symbol" panose="05050102010706020507" pitchFamily="18" charset="2"/>
              </a:rPr>
              <a:t>		</a:t>
            </a:r>
            <a:r>
              <a:rPr lang="en-US" altLang="en-US" sz="2400" b="1" u="sng" dirty="0">
                <a:sym typeface="Symbol" panose="05050102010706020507" pitchFamily="18" charset="2"/>
              </a:rPr>
              <a:t>When False?</a:t>
            </a: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There is an </a:t>
            </a:r>
            <a:r>
              <a:rPr lang="en-US" altLang="en-US" sz="2400" i="1" dirty="0">
                <a:sym typeface="Symbol" panose="05050102010706020507" pitchFamily="18" charset="2"/>
              </a:rPr>
              <a:t>x</a:t>
            </a:r>
            <a:r>
              <a:rPr lang="en-US" altLang="en-US" sz="2400" dirty="0">
                <a:sym typeface="Symbol" panose="05050102010706020507" pitchFamily="18" charset="2"/>
              </a:rPr>
              <a:t> for 	For every </a:t>
            </a:r>
            <a:r>
              <a:rPr lang="en-US" altLang="en-US" sz="2400" i="1" dirty="0">
                <a:sym typeface="Symbol" panose="05050102010706020507" pitchFamily="18" charset="2"/>
              </a:rPr>
              <a:t>x</a:t>
            </a:r>
            <a:r>
              <a:rPr lang="en-US" altLang="en-US" sz="2400" dirty="0">
                <a:sym typeface="Symbol" panose="05050102010706020507" pitchFamily="18" charset="2"/>
              </a:rPr>
              <a:t> there is a </a:t>
            </a:r>
            <a:r>
              <a:rPr lang="en-US" altLang="en-US" sz="2400" i="1" dirty="0">
                <a:sym typeface="Symbol" panose="05050102010706020507" pitchFamily="18" charset="2"/>
              </a:rPr>
              <a:t>y</a:t>
            </a:r>
          </a:p>
          <a:p>
            <a:pPr marL="0" indent="0">
              <a:buNone/>
              <a:tabLst>
                <a:tab pos="2147888" algn="l"/>
              </a:tabLst>
            </a:pPr>
            <a:r>
              <a:rPr lang="en-US" altLang="en-US" sz="2400" dirty="0">
                <a:sym typeface="Symbol" panose="05050102010706020507" pitchFamily="18" charset="2"/>
              </a:rPr>
              <a:t>	which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for which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false.</a:t>
            </a:r>
          </a:p>
          <a:p>
            <a:pPr marL="0" indent="0">
              <a:buNone/>
              <a:tabLst>
                <a:tab pos="2147888" algn="l"/>
              </a:tabLst>
            </a:pPr>
            <a:r>
              <a:rPr lang="en-US" altLang="en-US" sz="2400" dirty="0">
                <a:sym typeface="Symbol" panose="05050102010706020507" pitchFamily="18" charset="2"/>
              </a:rPr>
              <a:t>	true for every </a:t>
            </a:r>
            <a:r>
              <a:rPr lang="en-US" altLang="en-US" sz="2400" i="1" dirty="0">
                <a:sym typeface="Symbol" panose="05050102010706020507" pitchFamily="18" charset="2"/>
              </a:rPr>
              <a:t>y</a:t>
            </a:r>
            <a:r>
              <a:rPr lang="en-US" altLang="en-US" sz="2400" dirty="0">
                <a:sym typeface="Symbol" panose="05050102010706020507" pitchFamily="18" charset="2"/>
              </a:rPr>
              <a:t>.</a:t>
            </a:r>
          </a:p>
          <a:p>
            <a:pPr marL="0" indent="0">
              <a:buNone/>
              <a:tabLst>
                <a:tab pos="2147888" algn="l"/>
              </a:tabLst>
            </a:pPr>
            <a:endParaRPr lang="en-US" altLang="en-US" sz="2400" dirty="0">
              <a:sym typeface="Symbol" panose="05050102010706020507" pitchFamily="18" charset="2"/>
            </a:endParaRP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There is a pair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false for every</a:t>
            </a:r>
          </a:p>
          <a:p>
            <a:pPr marL="0" indent="0">
              <a:buNone/>
              <a:tabLst>
                <a:tab pos="2147888" algn="l"/>
              </a:tabLst>
            </a:pP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x 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for which 		pair </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a:t>
            </a:r>
          </a:p>
          <a:p>
            <a:pPr marL="0" indent="0">
              <a:buNone/>
              <a:tabLst>
                <a:tab pos="2147888" algn="l"/>
              </a:tabLst>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is true.</a:t>
            </a:r>
          </a:p>
          <a:p>
            <a:pPr marL="0" indent="0">
              <a:buNone/>
              <a:tabLst>
                <a:tab pos="2147888" algn="l"/>
              </a:tabLst>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6355">
                                            <p:txEl>
                                              <p:pRg st="5" end="5"/>
                                            </p:txEl>
                                          </p:spTgt>
                                        </p:tgtEl>
                                        <p:attrNameLst>
                                          <p:attrName>style.visibility</p:attrName>
                                        </p:attrNameLst>
                                      </p:cBhvr>
                                      <p:to>
                                        <p:strVal val="visible"/>
                                      </p:to>
                                    </p:set>
                                    <p:animEffect transition="in" filter="box(in)">
                                      <p:cBhvr>
                                        <p:cTn id="7" dur="500"/>
                                        <p:tgtEl>
                                          <p:spTgt spid="356355">
                                            <p:txEl>
                                              <p:pRg st="5"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6355">
                                            <p:txEl>
                                              <p:pRg st="6" end="6"/>
                                            </p:txEl>
                                          </p:spTgt>
                                        </p:tgtEl>
                                        <p:attrNameLst>
                                          <p:attrName>style.visibility</p:attrName>
                                        </p:attrNameLst>
                                      </p:cBhvr>
                                      <p:to>
                                        <p:strVal val="visible"/>
                                      </p:to>
                                    </p:set>
                                    <p:animEffect transition="in" filter="box(in)">
                                      <p:cBhvr>
                                        <p:cTn id="10" dur="500"/>
                                        <p:tgtEl>
                                          <p:spTgt spid="356355">
                                            <p:txEl>
                                              <p:pRg st="6" end="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6355">
                                            <p:txEl>
                                              <p:pRg st="7" end="7"/>
                                            </p:txEl>
                                          </p:spTgt>
                                        </p:tgtEl>
                                        <p:attrNameLst>
                                          <p:attrName>style.visibility</p:attrName>
                                        </p:attrNameLst>
                                      </p:cBhvr>
                                      <p:to>
                                        <p:strVal val="visible"/>
                                      </p:to>
                                    </p:set>
                                    <p:animEffect transition="in" filter="box(in)">
                                      <p:cBhvr>
                                        <p:cTn id="13" dur="500"/>
                                        <p:tgtEl>
                                          <p:spTgt spid="3563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CA72C043-C358-4DB5-8769-BBA4712249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BDE4FF3-3C17-40C5-9EF8-26B3A7B0A4C2}" type="slidenum">
              <a:rPr lang="en-GB" altLang="en-US" sz="1400">
                <a:latin typeface="Arial" panose="020B0604020202020204" pitchFamily="34" charset="0"/>
                <a:cs typeface="Arial" panose="020B0604020202020204" pitchFamily="34" charset="0"/>
              </a:rPr>
              <a:pPr>
                <a:spcBef>
                  <a:spcPct val="0"/>
                </a:spcBef>
                <a:buFontTx/>
                <a:buNone/>
              </a:pPr>
              <a:t>26</a:t>
            </a:fld>
            <a:endParaRPr lang="en-GB" altLang="en-US" sz="1400">
              <a:latin typeface="Arial" panose="020B0604020202020204" pitchFamily="34" charset="0"/>
              <a:cs typeface="Arial" panose="020B0604020202020204" pitchFamily="34" charset="0"/>
            </a:endParaRPr>
          </a:p>
        </p:txBody>
      </p:sp>
      <p:sp>
        <p:nvSpPr>
          <p:cNvPr id="35843" name="Rectangle 2">
            <a:extLst>
              <a:ext uri="{FF2B5EF4-FFF2-40B4-BE49-F238E27FC236}">
                <a16:creationId xmlns:a16="http://schemas.microsoft.com/office/drawing/2014/main" id="{5BA08B1B-39E7-4009-AACC-429E2954658C}"/>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60451" name="Rectangle 3">
            <a:extLst>
              <a:ext uri="{FF2B5EF4-FFF2-40B4-BE49-F238E27FC236}">
                <a16:creationId xmlns:a16="http://schemas.microsoft.com/office/drawing/2014/main" id="{72B2C74D-2B04-48F8-AA60-72A1C5A51380}"/>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Consider the following statements.</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ℝ, </a:t>
            </a:r>
            <a:r>
              <a:rPr lang="en-US" altLang="en-US" sz="2400" i="1" dirty="0">
                <a:sym typeface="Symbol" panose="05050102010706020507" pitchFamily="18" charset="2"/>
              </a:rPr>
              <a:t>y</a:t>
            </a:r>
            <a:r>
              <a:rPr lang="en-US" altLang="en-US" sz="2400" dirty="0">
                <a:sym typeface="Symbol" panose="05050102010706020507" pitchFamily="18" charset="2"/>
              </a:rPr>
              <a:t>  ℝ,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dirty="0">
                <a:sym typeface="Symbol" panose="05050102010706020507" pitchFamily="18" charset="2"/>
              </a:rPr>
              <a:t> = 0</a:t>
            </a:r>
            <a:r>
              <a:rPr lang="en-US" altLang="en-US" sz="2400" i="1" dirty="0">
                <a:sym typeface="Symbol" panose="05050102010706020507" pitchFamily="18" charset="2"/>
              </a:rPr>
              <a:t>.		</a:t>
            </a:r>
            <a:r>
              <a:rPr lang="en-US" altLang="en-US" sz="2400" dirty="0">
                <a:sym typeface="Symbol" panose="05050102010706020507" pitchFamily="18" charset="2"/>
              </a:rPr>
              <a:t>(1)</a:t>
            </a:r>
          </a:p>
          <a:p>
            <a:pPr marL="0" indent="0">
              <a:buNone/>
            </a:pPr>
            <a:r>
              <a:rPr lang="en-US" altLang="en-US" sz="2400" i="1" dirty="0">
                <a:sym typeface="Symbol" panose="05050102010706020507" pitchFamily="18" charset="2"/>
              </a:rPr>
              <a:t>		 </a:t>
            </a:r>
            <a:r>
              <a:rPr lang="en-US" altLang="en-US" sz="2400" dirty="0">
                <a:sym typeface="Symbol" panose="05050102010706020507" pitchFamily="18" charset="2"/>
              </a:rPr>
              <a:t></a:t>
            </a:r>
            <a:r>
              <a:rPr lang="en-US" altLang="en-US" sz="2400" i="1" dirty="0">
                <a:sym typeface="Symbol" panose="05050102010706020507" pitchFamily="18" charset="2"/>
              </a:rPr>
              <a:t>y</a:t>
            </a:r>
            <a:r>
              <a:rPr lang="en-US" altLang="en-US" sz="2400" dirty="0">
                <a:sym typeface="Symbol" panose="05050102010706020507" pitchFamily="18" charset="2"/>
              </a:rPr>
              <a:t>  ℝ, </a:t>
            </a:r>
            <a:r>
              <a:rPr lang="en-US" altLang="en-US" sz="2400" i="1" dirty="0">
                <a:sym typeface="Symbol" panose="05050102010706020507" pitchFamily="18" charset="2"/>
              </a:rPr>
              <a:t>x</a:t>
            </a:r>
            <a:r>
              <a:rPr lang="en-US" altLang="en-US" sz="2400" dirty="0">
                <a:sym typeface="Symbol" panose="05050102010706020507" pitchFamily="18" charset="2"/>
              </a:rPr>
              <a:t>  ℝ,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dirty="0">
                <a:sym typeface="Symbol" panose="05050102010706020507" pitchFamily="18" charset="2"/>
              </a:rPr>
              <a:t> = 0</a:t>
            </a:r>
            <a:r>
              <a:rPr lang="en-US" altLang="en-US" sz="2400" i="1" dirty="0">
                <a:sym typeface="Symbol" panose="05050102010706020507" pitchFamily="18" charset="2"/>
              </a:rPr>
              <a:t>.		</a:t>
            </a:r>
            <a:r>
              <a:rPr lang="en-US" altLang="en-US" sz="2400" dirty="0">
                <a:sym typeface="Symbol" panose="05050102010706020507" pitchFamily="18" charset="2"/>
              </a:rPr>
              <a:t>(2)</a:t>
            </a:r>
          </a:p>
          <a:p>
            <a:pPr marL="0" indent="0">
              <a:buNone/>
            </a:pPr>
            <a:r>
              <a:rPr lang="en-US" altLang="en-US" sz="2400" dirty="0">
                <a:sym typeface="Symbol" panose="05050102010706020507" pitchFamily="18" charset="2"/>
              </a:rPr>
              <a:t>(</a:t>
            </a:r>
            <a:r>
              <a:rPr lang="en-US" altLang="en-US" sz="2400" dirty="0" err="1">
                <a:sym typeface="Symbol" panose="05050102010706020507" pitchFamily="18" charset="2"/>
              </a:rPr>
              <a:t>i</a:t>
            </a:r>
            <a:r>
              <a:rPr lang="en-US" altLang="en-US" sz="2400" dirty="0">
                <a:sym typeface="Symbol" panose="05050102010706020507" pitchFamily="18" charset="2"/>
              </a:rPr>
              <a:t>)	Are the statements the same?</a:t>
            </a:r>
          </a:p>
          <a:p>
            <a:pPr marL="0" indent="0">
              <a:buNone/>
            </a:pPr>
            <a:r>
              <a:rPr lang="en-US" altLang="en-US" sz="2400" dirty="0">
                <a:sym typeface="Symbol" panose="05050102010706020507" pitchFamily="18" charset="2"/>
              </a:rPr>
              <a:t>	No.</a:t>
            </a:r>
          </a:p>
          <a:p>
            <a:pPr marL="0" indent="0">
              <a:buNone/>
            </a:pPr>
            <a:r>
              <a:rPr lang="en-US" altLang="en-US" sz="2400" dirty="0">
                <a:sym typeface="Symbol" panose="05050102010706020507" pitchFamily="18" charset="2"/>
              </a:rPr>
              <a:t>(ii)	Determine whether each statement is true or false?</a:t>
            </a:r>
          </a:p>
          <a:p>
            <a:pPr marL="0" indent="0">
              <a:buNone/>
            </a:pPr>
            <a:r>
              <a:rPr lang="en-US" altLang="en-US" sz="2400" dirty="0">
                <a:sym typeface="Symbol" panose="05050102010706020507" pitchFamily="18" charset="2"/>
              </a:rPr>
              <a:t>	(1) is true.</a:t>
            </a:r>
          </a:p>
          <a:p>
            <a:pPr marL="0" indent="0">
              <a:buNone/>
            </a:pPr>
            <a:r>
              <a:rPr lang="en-US" altLang="en-US" sz="2400" dirty="0">
                <a:sym typeface="Symbol" panose="05050102010706020507" pitchFamily="18" charset="2"/>
              </a:rPr>
              <a:t>	(2) is false.</a:t>
            </a:r>
          </a:p>
          <a:p>
            <a:pPr marL="0" indent="0">
              <a:buNone/>
            </a:pPr>
            <a:r>
              <a:rPr lang="en-US" altLang="en-US" sz="2400" dirty="0">
                <a:sym typeface="Symbol" panose="05050102010706020507" pitchFamily="18" charset="2"/>
              </a:rPr>
              <a:t>(iii)	Is the order in which  and  appear important?</a:t>
            </a:r>
          </a:p>
          <a:p>
            <a:pPr marL="0" indent="0">
              <a:buNone/>
            </a:pPr>
            <a:r>
              <a:rPr lang="en-US" altLang="en-US" sz="2400" dirty="0">
                <a:sym typeface="Symbol" panose="05050102010706020507" pitchFamily="18" charset="2"/>
              </a:rPr>
              <a:t>	Yes.</a:t>
            </a: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0451">
                                            <p:txEl>
                                              <p:pRg st="4" end="4"/>
                                            </p:txEl>
                                          </p:spTgt>
                                        </p:tgtEl>
                                        <p:attrNameLst>
                                          <p:attrName>style.visibility</p:attrName>
                                        </p:attrNameLst>
                                      </p:cBhvr>
                                      <p:to>
                                        <p:strVal val="visible"/>
                                      </p:to>
                                    </p:set>
                                    <p:animEffect transition="in" filter="box(in)">
                                      <p:cBhvr>
                                        <p:cTn id="7" dur="500"/>
                                        <p:tgtEl>
                                          <p:spTgt spid="360451">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0451">
                                            <p:txEl>
                                              <p:pRg st="5" end="5"/>
                                            </p:txEl>
                                          </p:spTgt>
                                        </p:tgtEl>
                                        <p:attrNameLst>
                                          <p:attrName>style.visibility</p:attrName>
                                        </p:attrNameLst>
                                      </p:cBhvr>
                                      <p:to>
                                        <p:strVal val="visible"/>
                                      </p:to>
                                    </p:set>
                                    <p:animEffect transition="in" filter="box(in)">
                                      <p:cBhvr>
                                        <p:cTn id="12" dur="500"/>
                                        <p:tgtEl>
                                          <p:spTgt spid="360451">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0451">
                                            <p:txEl>
                                              <p:pRg st="6" end="6"/>
                                            </p:txEl>
                                          </p:spTgt>
                                        </p:tgtEl>
                                        <p:attrNameLst>
                                          <p:attrName>style.visibility</p:attrName>
                                        </p:attrNameLst>
                                      </p:cBhvr>
                                      <p:to>
                                        <p:strVal val="visible"/>
                                      </p:to>
                                    </p:set>
                                    <p:animEffect transition="in" filter="box(in)">
                                      <p:cBhvr>
                                        <p:cTn id="17" dur="500"/>
                                        <p:tgtEl>
                                          <p:spTgt spid="360451">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0451">
                                            <p:txEl>
                                              <p:pRg st="7" end="7"/>
                                            </p:txEl>
                                          </p:spTgt>
                                        </p:tgtEl>
                                        <p:attrNameLst>
                                          <p:attrName>style.visibility</p:attrName>
                                        </p:attrNameLst>
                                      </p:cBhvr>
                                      <p:to>
                                        <p:strVal val="visible"/>
                                      </p:to>
                                    </p:set>
                                    <p:animEffect transition="in" filter="box(in)">
                                      <p:cBhvr>
                                        <p:cTn id="22" dur="500"/>
                                        <p:tgtEl>
                                          <p:spTgt spid="360451">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0451">
                                            <p:txEl>
                                              <p:pRg st="8" end="8"/>
                                            </p:txEl>
                                          </p:spTgt>
                                        </p:tgtEl>
                                        <p:attrNameLst>
                                          <p:attrName>style.visibility</p:attrName>
                                        </p:attrNameLst>
                                      </p:cBhvr>
                                      <p:to>
                                        <p:strVal val="visible"/>
                                      </p:to>
                                    </p:set>
                                    <p:animEffect transition="in" filter="box(in)">
                                      <p:cBhvr>
                                        <p:cTn id="27" dur="500"/>
                                        <p:tgtEl>
                                          <p:spTgt spid="360451">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60451">
                                            <p:txEl>
                                              <p:pRg st="9" end="9"/>
                                            </p:txEl>
                                          </p:spTgt>
                                        </p:tgtEl>
                                        <p:attrNameLst>
                                          <p:attrName>style.visibility</p:attrName>
                                        </p:attrNameLst>
                                      </p:cBhvr>
                                      <p:to>
                                        <p:strVal val="visible"/>
                                      </p:to>
                                    </p:set>
                                    <p:animEffect transition="in" filter="box(in)">
                                      <p:cBhvr>
                                        <p:cTn id="32" dur="500"/>
                                        <p:tgtEl>
                                          <p:spTgt spid="3604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1AC48606-D8A9-465B-8023-638894F483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16FF907-3D7D-4A44-8484-3F3A62B62F86}" type="slidenum">
              <a:rPr lang="en-GB" altLang="en-US" sz="1400">
                <a:latin typeface="Arial" panose="020B0604020202020204" pitchFamily="34" charset="0"/>
                <a:cs typeface="Arial" panose="020B0604020202020204" pitchFamily="34" charset="0"/>
              </a:rPr>
              <a:pPr>
                <a:spcBef>
                  <a:spcPct val="0"/>
                </a:spcBef>
                <a:buFontTx/>
                <a:buNone/>
              </a:pPr>
              <a:t>27</a:t>
            </a:fld>
            <a:endParaRPr lang="en-GB" altLang="en-US" sz="1400">
              <a:latin typeface="Arial" panose="020B0604020202020204" pitchFamily="34" charset="0"/>
              <a:cs typeface="Arial" panose="020B0604020202020204" pitchFamily="34" charset="0"/>
            </a:endParaRPr>
          </a:p>
        </p:txBody>
      </p:sp>
      <p:sp>
        <p:nvSpPr>
          <p:cNvPr id="36867" name="Rectangle 2">
            <a:extLst>
              <a:ext uri="{FF2B5EF4-FFF2-40B4-BE49-F238E27FC236}">
                <a16:creationId xmlns:a16="http://schemas.microsoft.com/office/drawing/2014/main" id="{20D36569-4F37-44D5-8A30-67AB9F031B82}"/>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Negations Of Universal Statements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6868" name="Rectangle 3">
            <a:extLst>
              <a:ext uri="{FF2B5EF4-FFF2-40B4-BE49-F238E27FC236}">
                <a16:creationId xmlns:a16="http://schemas.microsoft.com/office/drawing/2014/main" id="{C1A6D576-8A90-470B-A46B-BDAEB6A9ED2B}"/>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The negation of a statement of the form</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r>
              <a:rPr lang="en-US" altLang="en-US" sz="2400">
                <a:sym typeface="Symbol" panose="05050102010706020507" pitchFamily="18" charset="2"/>
              </a:rPr>
              <a:t>is logically equivalent to a statement of the form</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r>
              <a:rPr lang="en-US" altLang="en-US" sz="2400" i="1">
                <a:sym typeface="Symbol" panose="05050102010706020507" pitchFamily="18" charset="2"/>
              </a:rPr>
              <a:t>.</a:t>
            </a:r>
          </a:p>
          <a:p>
            <a:pPr marL="0" indent="0">
              <a:buNone/>
            </a:pPr>
            <a:r>
              <a:rPr lang="en-US" altLang="en-US" sz="2400">
                <a:sym typeface="Symbol" panose="05050102010706020507" pitchFamily="18" charset="2"/>
              </a:rPr>
              <a:t>Symbolically,</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endParaRPr lang="en-US" altLang="en-US" sz="2400">
              <a:sym typeface="Symbol" panose="05050102010706020507" pitchFamily="18" charset="2"/>
            </a:endParaRPr>
          </a:p>
          <a:p>
            <a:pPr marL="0" indent="0">
              <a:buNone/>
            </a:pPr>
            <a:endParaRPr lang="en-US" altLang="en-US" sz="2400">
              <a:sym typeface="Symbol" panose="05050102010706020507" pitchFamily="18" charset="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CCA5C25F-196E-4C23-8394-300B6380E1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FCA27F1-6ACE-4F7F-AC2C-837B1DBA3D97}" type="slidenum">
              <a:rPr lang="en-GB" altLang="en-US" sz="1400">
                <a:latin typeface="Arial" panose="020B0604020202020204" pitchFamily="34" charset="0"/>
                <a:cs typeface="Arial" panose="020B0604020202020204" pitchFamily="34" charset="0"/>
              </a:rPr>
              <a:pPr>
                <a:spcBef>
                  <a:spcPct val="0"/>
                </a:spcBef>
                <a:buFontTx/>
                <a:buNone/>
              </a:pPr>
              <a:t>28</a:t>
            </a:fld>
            <a:endParaRPr lang="en-GB" altLang="en-US" sz="1400">
              <a:latin typeface="Arial" panose="020B0604020202020204" pitchFamily="34" charset="0"/>
              <a:cs typeface="Arial" panose="020B0604020202020204" pitchFamily="34" charset="0"/>
            </a:endParaRPr>
          </a:p>
        </p:txBody>
      </p:sp>
      <p:sp>
        <p:nvSpPr>
          <p:cNvPr id="37891" name="Rectangle 2">
            <a:extLst>
              <a:ext uri="{FF2B5EF4-FFF2-40B4-BE49-F238E27FC236}">
                <a16:creationId xmlns:a16="http://schemas.microsoft.com/office/drawing/2014/main" id="{A92E50DD-134E-4D2F-A6AE-73E3DBD28A4A}"/>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Negations Of Existential Statements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892" name="Rectangle 3">
            <a:extLst>
              <a:ext uri="{FF2B5EF4-FFF2-40B4-BE49-F238E27FC236}">
                <a16:creationId xmlns:a16="http://schemas.microsoft.com/office/drawing/2014/main" id="{BAD87862-C6AE-4F0D-898C-734790983A87}"/>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The negation of a statement of the form</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r>
              <a:rPr lang="en-US" altLang="en-US" sz="2400">
                <a:sym typeface="Symbol" panose="05050102010706020507" pitchFamily="18" charset="2"/>
              </a:rPr>
              <a:t>is logically equivalent to a statement of the form</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r>
              <a:rPr lang="en-US" altLang="en-US" sz="2400" i="1">
                <a:sym typeface="Symbol" panose="05050102010706020507" pitchFamily="18" charset="2"/>
              </a:rPr>
              <a:t>.</a:t>
            </a:r>
          </a:p>
          <a:p>
            <a:pPr marL="0" indent="0">
              <a:buNone/>
            </a:pPr>
            <a:r>
              <a:rPr lang="en-US" altLang="en-US" sz="2400">
                <a:sym typeface="Symbol" panose="05050102010706020507" pitchFamily="18" charset="2"/>
              </a:rPr>
              <a:t>Symbolically,</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 </a:t>
            </a:r>
            <a:r>
              <a:rPr lang="en-US" altLang="en-US" sz="2400" i="1">
                <a:sym typeface="Symbol" panose="05050102010706020507" pitchFamily="18" charset="2"/>
              </a:rPr>
              <a:t>x </a:t>
            </a:r>
            <a:r>
              <a:rPr lang="en-US" altLang="en-US" sz="2400">
                <a:sym typeface="Symbol" panose="05050102010706020507" pitchFamily="18" charset="2"/>
              </a:rPr>
              <a:t> </a:t>
            </a:r>
            <a:r>
              <a:rPr lang="en-US" altLang="en-US" sz="2400" i="1">
                <a:sym typeface="Symbol" panose="05050102010706020507" pitchFamily="18" charset="2"/>
              </a:rPr>
              <a:t>D</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endParaRPr lang="en-US" altLang="en-US" sz="2400">
              <a:sym typeface="Symbol" panose="05050102010706020507" pitchFamily="18" charset="2"/>
            </a:endParaRPr>
          </a:p>
          <a:p>
            <a:pPr marL="0" indent="0">
              <a:buNone/>
            </a:pPr>
            <a:endParaRPr lang="en-US" altLang="en-US" sz="2400">
              <a:sym typeface="Symbol" panose="05050102010706020507" pitchFamily="18"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ECD88871-554F-4618-B5D6-1BAD2EF184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1FD0E6B-9048-43D2-9CC6-B6F2EBDFAF12}" type="slidenum">
              <a:rPr lang="en-GB" altLang="en-US" sz="1400">
                <a:latin typeface="Arial" panose="020B0604020202020204" pitchFamily="34" charset="0"/>
                <a:cs typeface="Arial" panose="020B0604020202020204" pitchFamily="34" charset="0"/>
              </a:rPr>
              <a:pPr>
                <a:spcBef>
                  <a:spcPct val="0"/>
                </a:spcBef>
                <a:buFontTx/>
                <a:buNone/>
              </a:pPr>
              <a:t>29</a:t>
            </a:fld>
            <a:endParaRPr lang="en-GB" altLang="en-US" sz="1400">
              <a:latin typeface="Arial" panose="020B0604020202020204" pitchFamily="34" charset="0"/>
              <a:cs typeface="Arial" panose="020B0604020202020204" pitchFamily="34" charset="0"/>
            </a:endParaRPr>
          </a:p>
        </p:txBody>
      </p:sp>
      <p:sp>
        <p:nvSpPr>
          <p:cNvPr id="38915" name="Rectangle 2">
            <a:extLst>
              <a:ext uri="{FF2B5EF4-FFF2-40B4-BE49-F238E27FC236}">
                <a16:creationId xmlns:a16="http://schemas.microsoft.com/office/drawing/2014/main" id="{C9A72569-3FB4-4921-A309-B17C3BFC0865}"/>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Negations Of Universal and Existential Statements: Example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66595" name="Rectangle 3">
            <a:extLst>
              <a:ext uri="{FF2B5EF4-FFF2-40B4-BE49-F238E27FC236}">
                <a16:creationId xmlns:a16="http://schemas.microsoft.com/office/drawing/2014/main" id="{F7A16C71-847F-416B-9D30-7909E6D1A790}"/>
              </a:ext>
            </a:extLst>
          </p:cNvPr>
          <p:cNvSpPr>
            <a:spLocks noGrp="1" noChangeArrowheads="1"/>
          </p:cNvSpPr>
          <p:nvPr>
            <p:ph type="body" idx="1"/>
          </p:nvPr>
        </p:nvSpPr>
        <p:spPr>
          <a:xfrm>
            <a:off x="1981200" y="1771651"/>
            <a:ext cx="8229600" cy="4530725"/>
          </a:xfrm>
        </p:spPr>
        <p:txBody>
          <a:bodyPr/>
          <a:lstStyle/>
          <a:p>
            <a:pPr marL="0" indent="0">
              <a:lnSpc>
                <a:spcPct val="80000"/>
              </a:lnSpc>
              <a:buNone/>
            </a:pPr>
            <a:r>
              <a:rPr lang="en-US" altLang="en-US" sz="2400">
                <a:sym typeface="Symbol" panose="05050102010706020507" pitchFamily="18" charset="2"/>
              </a:rPr>
              <a:t>Write formal negations for the following statements:</a:t>
            </a:r>
          </a:p>
          <a:p>
            <a:pPr marL="0" indent="0">
              <a:lnSpc>
                <a:spcPct val="80000"/>
              </a:lnSpc>
              <a:buNone/>
            </a:pPr>
            <a:r>
              <a:rPr lang="en-US" altLang="en-US" sz="2400">
                <a:sym typeface="Symbol" panose="05050102010706020507" pitchFamily="18" charset="2"/>
              </a:rPr>
              <a:t>a.	 primes </a:t>
            </a:r>
            <a:r>
              <a:rPr lang="en-US" altLang="en-US" sz="2400" i="1">
                <a:sym typeface="Symbol" panose="05050102010706020507" pitchFamily="18" charset="2"/>
              </a:rPr>
              <a:t>p</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 is odd.		 </a:t>
            </a:r>
          </a:p>
          <a:p>
            <a:pPr marL="0" indent="0">
              <a:lnSpc>
                <a:spcPct val="80000"/>
              </a:lnSpc>
              <a:buNone/>
            </a:pPr>
            <a:r>
              <a:rPr lang="en-US" altLang="en-US" sz="2400">
                <a:sym typeface="Symbol" panose="05050102010706020507" pitchFamily="18" charset="2"/>
              </a:rPr>
              <a:t>	 	~ ( primes </a:t>
            </a:r>
            <a:r>
              <a:rPr lang="en-US" altLang="en-US" sz="2400" i="1">
                <a:sym typeface="Symbol" panose="05050102010706020507" pitchFamily="18" charset="2"/>
              </a:rPr>
              <a:t>p</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 is odd)</a:t>
            </a:r>
          </a:p>
          <a:p>
            <a:pPr marL="0" indent="0">
              <a:lnSpc>
                <a:spcPct val="80000"/>
              </a:lnSpc>
              <a:buNone/>
            </a:pPr>
            <a:r>
              <a:rPr lang="en-US" altLang="en-US" sz="2400">
                <a:sym typeface="Symbol" panose="05050102010706020507" pitchFamily="18" charset="2"/>
              </a:rPr>
              <a:t>	 	  a prime </a:t>
            </a:r>
            <a:r>
              <a:rPr lang="en-US" altLang="en-US" sz="2400" i="1">
                <a:sym typeface="Symbol" panose="05050102010706020507" pitchFamily="18" charset="2"/>
              </a:rPr>
              <a:t>p</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 is not odd.</a:t>
            </a:r>
          </a:p>
          <a:p>
            <a:pPr marL="0" indent="0">
              <a:lnSpc>
                <a:spcPct val="80000"/>
              </a:lnSpc>
              <a:buNone/>
            </a:pPr>
            <a:endParaRPr lang="en-US" altLang="en-US" sz="2400">
              <a:sym typeface="Symbol" panose="05050102010706020507" pitchFamily="18" charset="2"/>
            </a:endParaRPr>
          </a:p>
          <a:p>
            <a:pPr marL="0" indent="0">
              <a:lnSpc>
                <a:spcPct val="80000"/>
              </a:lnSpc>
              <a:buNone/>
            </a:pPr>
            <a:r>
              <a:rPr lang="en-US" altLang="en-US" sz="2400">
                <a:sym typeface="Symbol" panose="05050102010706020507" pitchFamily="18" charset="2"/>
              </a:rPr>
              <a:t>b.	 a triangle </a:t>
            </a:r>
            <a:r>
              <a:rPr lang="en-US" altLang="en-US" sz="2400" i="1">
                <a:sym typeface="Symbol" panose="05050102010706020507" pitchFamily="18" charset="2"/>
              </a:rPr>
              <a:t>T</a:t>
            </a:r>
            <a:r>
              <a:rPr lang="en-US" altLang="en-US" sz="2400">
                <a:sym typeface="Symbol" panose="05050102010706020507" pitchFamily="18" charset="2"/>
              </a:rPr>
              <a:t>, the sum of the angles of </a:t>
            </a:r>
            <a:r>
              <a:rPr lang="en-US" altLang="en-US" sz="2400" i="1">
                <a:sym typeface="Symbol" panose="05050102010706020507" pitchFamily="18" charset="2"/>
              </a:rPr>
              <a:t>T</a:t>
            </a:r>
            <a:r>
              <a:rPr lang="en-US" altLang="en-US" sz="2400">
                <a:sym typeface="Symbol" panose="05050102010706020507" pitchFamily="18" charset="2"/>
              </a:rPr>
              <a:t> equals 200.</a:t>
            </a:r>
          </a:p>
          <a:p>
            <a:pPr marL="0" indent="0">
              <a:lnSpc>
                <a:spcPct val="80000"/>
              </a:lnSpc>
              <a:buNone/>
            </a:pPr>
            <a:r>
              <a:rPr lang="en-US" altLang="en-US" sz="2400">
                <a:sym typeface="Symbol" panose="05050102010706020507" pitchFamily="18" charset="2"/>
              </a:rPr>
              <a:t>		~ ( a triangle </a:t>
            </a:r>
            <a:r>
              <a:rPr lang="en-US" altLang="en-US" sz="2400" i="1">
                <a:sym typeface="Symbol" panose="05050102010706020507" pitchFamily="18" charset="2"/>
              </a:rPr>
              <a:t>T</a:t>
            </a:r>
            <a:r>
              <a:rPr lang="en-US" altLang="en-US" sz="2400">
                <a:sym typeface="Symbol" panose="05050102010706020507" pitchFamily="18" charset="2"/>
              </a:rPr>
              <a:t>, the sum of the angles of </a:t>
            </a:r>
          </a:p>
          <a:p>
            <a:pPr marL="0" indent="0">
              <a:lnSpc>
                <a:spcPct val="80000"/>
              </a:lnSpc>
              <a:buNone/>
            </a:pPr>
            <a:r>
              <a:rPr lang="en-US" altLang="en-US" sz="2400" i="1">
                <a:sym typeface="Symbol" panose="05050102010706020507" pitchFamily="18" charset="2"/>
              </a:rPr>
              <a:t>			T</a:t>
            </a:r>
            <a:r>
              <a:rPr lang="en-US" altLang="en-US" sz="2400">
                <a:sym typeface="Symbol" panose="05050102010706020507" pitchFamily="18" charset="2"/>
              </a:rPr>
              <a:t> equals 200) </a:t>
            </a:r>
          </a:p>
          <a:p>
            <a:pPr marL="0" indent="0">
              <a:lnSpc>
                <a:spcPct val="80000"/>
              </a:lnSpc>
              <a:buNone/>
            </a:pPr>
            <a:r>
              <a:rPr lang="en-US" altLang="en-US" sz="2400">
                <a:sym typeface="Symbol" panose="05050102010706020507" pitchFamily="18" charset="2"/>
              </a:rPr>
              <a:t>		   triangles </a:t>
            </a:r>
            <a:r>
              <a:rPr lang="en-US" altLang="en-US" sz="2400" i="1">
                <a:sym typeface="Symbol" panose="05050102010706020507" pitchFamily="18" charset="2"/>
              </a:rPr>
              <a:t>T</a:t>
            </a:r>
            <a:r>
              <a:rPr lang="en-US" altLang="en-US" sz="2400">
                <a:sym typeface="Symbol" panose="05050102010706020507" pitchFamily="18" charset="2"/>
              </a:rPr>
              <a:t>, the sum of the angles of </a:t>
            </a:r>
            <a:r>
              <a:rPr lang="en-US" altLang="en-US" sz="2400" i="1">
                <a:sym typeface="Symbol" panose="05050102010706020507" pitchFamily="18" charset="2"/>
              </a:rPr>
              <a:t>T</a:t>
            </a:r>
            <a:r>
              <a:rPr lang="en-US" altLang="en-US" sz="2400">
                <a:sym typeface="Symbol" panose="05050102010706020507" pitchFamily="18" charset="2"/>
              </a:rPr>
              <a:t> does 			not equals 200.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6595">
                                            <p:txEl>
                                              <p:pRg st="2" end="2"/>
                                            </p:txEl>
                                          </p:spTgt>
                                        </p:tgtEl>
                                        <p:attrNameLst>
                                          <p:attrName>style.visibility</p:attrName>
                                        </p:attrNameLst>
                                      </p:cBhvr>
                                      <p:to>
                                        <p:strVal val="visible"/>
                                      </p:to>
                                    </p:set>
                                    <p:animEffect transition="in" filter="box(in)">
                                      <p:cBhvr>
                                        <p:cTn id="7" dur="500"/>
                                        <p:tgtEl>
                                          <p:spTgt spid="36659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6595">
                                            <p:txEl>
                                              <p:pRg st="3" end="3"/>
                                            </p:txEl>
                                          </p:spTgt>
                                        </p:tgtEl>
                                        <p:attrNameLst>
                                          <p:attrName>style.visibility</p:attrName>
                                        </p:attrNameLst>
                                      </p:cBhvr>
                                      <p:to>
                                        <p:strVal val="visible"/>
                                      </p:to>
                                    </p:set>
                                    <p:animEffect transition="in" filter="box(in)">
                                      <p:cBhvr>
                                        <p:cTn id="12" dur="500"/>
                                        <p:tgtEl>
                                          <p:spTgt spid="36659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6595">
                                            <p:txEl>
                                              <p:pRg st="5" end="5"/>
                                            </p:txEl>
                                          </p:spTgt>
                                        </p:tgtEl>
                                        <p:attrNameLst>
                                          <p:attrName>style.visibility</p:attrName>
                                        </p:attrNameLst>
                                      </p:cBhvr>
                                      <p:to>
                                        <p:strVal val="visible"/>
                                      </p:to>
                                    </p:set>
                                    <p:animEffect transition="in" filter="box(in)">
                                      <p:cBhvr>
                                        <p:cTn id="17" dur="500"/>
                                        <p:tgtEl>
                                          <p:spTgt spid="366595">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6595">
                                            <p:txEl>
                                              <p:pRg st="6" end="6"/>
                                            </p:txEl>
                                          </p:spTgt>
                                        </p:tgtEl>
                                        <p:attrNameLst>
                                          <p:attrName>style.visibility</p:attrName>
                                        </p:attrNameLst>
                                      </p:cBhvr>
                                      <p:to>
                                        <p:strVal val="visible"/>
                                      </p:to>
                                    </p:set>
                                    <p:animEffect transition="in" filter="box(in)">
                                      <p:cBhvr>
                                        <p:cTn id="22" dur="500"/>
                                        <p:tgtEl>
                                          <p:spTgt spid="366595">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66595">
                                            <p:txEl>
                                              <p:pRg st="7" end="7"/>
                                            </p:txEl>
                                          </p:spTgt>
                                        </p:tgtEl>
                                        <p:attrNameLst>
                                          <p:attrName>style.visibility</p:attrName>
                                        </p:attrNameLst>
                                      </p:cBhvr>
                                      <p:to>
                                        <p:strVal val="visible"/>
                                      </p:to>
                                    </p:set>
                                    <p:animEffect transition="in" filter="box(in)">
                                      <p:cBhvr>
                                        <p:cTn id="25" dur="500"/>
                                        <p:tgtEl>
                                          <p:spTgt spid="366595">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66595">
                                            <p:txEl>
                                              <p:pRg st="8" end="8"/>
                                            </p:txEl>
                                          </p:spTgt>
                                        </p:tgtEl>
                                        <p:attrNameLst>
                                          <p:attrName>style.visibility</p:attrName>
                                        </p:attrNameLst>
                                      </p:cBhvr>
                                      <p:to>
                                        <p:strVal val="visible"/>
                                      </p:to>
                                    </p:set>
                                    <p:animEffect transition="in" filter="box(in)">
                                      <p:cBhvr>
                                        <p:cTn id="30" dur="500"/>
                                        <p:tgtEl>
                                          <p:spTgt spid="3665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B2855E5C-2DA3-4A15-8233-F58A2BF1BD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5F8DD5F-3856-4321-8F82-F2910FD512B8}" type="slidenum">
              <a:rPr lang="en-GB" altLang="en-US" sz="1400">
                <a:latin typeface="Arial" panose="020B0604020202020204" pitchFamily="34" charset="0"/>
                <a:cs typeface="Arial" panose="020B0604020202020204" pitchFamily="34" charset="0"/>
              </a:rPr>
              <a:pPr>
                <a:spcBef>
                  <a:spcPct val="0"/>
                </a:spcBef>
                <a:buFontTx/>
                <a:buNone/>
              </a:pPr>
              <a:t>30</a:t>
            </a:fld>
            <a:endParaRPr lang="en-GB" altLang="en-US" sz="1400">
              <a:latin typeface="Arial" panose="020B0604020202020204" pitchFamily="34" charset="0"/>
              <a:cs typeface="Arial" panose="020B0604020202020204" pitchFamily="34" charset="0"/>
            </a:endParaRPr>
          </a:p>
        </p:txBody>
      </p:sp>
      <p:sp>
        <p:nvSpPr>
          <p:cNvPr id="39939" name="Rectangle 2">
            <a:extLst>
              <a:ext uri="{FF2B5EF4-FFF2-40B4-BE49-F238E27FC236}">
                <a16:creationId xmlns:a16="http://schemas.microsoft.com/office/drawing/2014/main" id="{99DF9209-721E-4A8C-AFBA-D224B7F00DBF}"/>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Negations Of Universal Conditional Statements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64547" name="Rectangle 3">
            <a:extLst>
              <a:ext uri="{FF2B5EF4-FFF2-40B4-BE49-F238E27FC236}">
                <a16:creationId xmlns:a16="http://schemas.microsoft.com/office/drawing/2014/main" id="{29663550-CCC8-448A-961E-517C1D023B18}"/>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By definition of the negation of a </a:t>
            </a:r>
            <a:r>
              <a:rPr lang="en-US" altLang="en-US" sz="2400" i="1">
                <a:sym typeface="Symbol" panose="05050102010706020507" pitchFamily="18" charset="2"/>
              </a:rPr>
              <a:t>for</a:t>
            </a:r>
            <a:r>
              <a:rPr lang="en-US" altLang="en-US" sz="2400">
                <a:sym typeface="Symbol" panose="05050102010706020507" pitchFamily="18" charset="2"/>
              </a:rPr>
              <a:t> all statement,</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 </a:t>
            </a:r>
            <a:r>
              <a:rPr lang="en-US" altLang="en-US" sz="2400">
                <a:sym typeface="Symbol" panose="05050102010706020507" pitchFamily="18" charset="2"/>
              </a:rPr>
              <a:t> </a:t>
            </a:r>
            <a:r>
              <a:rPr lang="en-US" altLang="en-US" sz="2400" i="1">
                <a:sym typeface="Symbol" panose="05050102010706020507" pitchFamily="18" charset="2"/>
              </a:rPr>
              <a:t>U</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U</a:t>
            </a:r>
            <a:r>
              <a:rPr lang="en-US" altLang="en-US" sz="2400">
                <a:sym typeface="Symbol" panose="05050102010706020507" pitchFamily="18" charset="2"/>
              </a:rPr>
              <a:t>,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r>
              <a:rPr lang="en-US" altLang="en-US" sz="2400">
                <a:sym typeface="Symbol" panose="05050102010706020507" pitchFamily="18" charset="2"/>
              </a:rPr>
              <a:t>But negation of an if-then statement is logically equivalent to an </a:t>
            </a:r>
            <a:r>
              <a:rPr lang="en-US" altLang="en-US" sz="2400" i="1">
                <a:sym typeface="Symbol" panose="05050102010706020507" pitchFamily="18" charset="2"/>
              </a:rPr>
              <a:t>and</a:t>
            </a:r>
            <a:r>
              <a:rPr lang="en-US" altLang="en-US" sz="2400">
                <a:sym typeface="Symbol" panose="05050102010706020507" pitchFamily="18" charset="2"/>
              </a:rPr>
              <a:t> statement. More precisely,</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r>
              <a:rPr lang="en-US" altLang="en-US" sz="2400">
                <a:sym typeface="Symbol" panose="05050102010706020507" pitchFamily="18" charset="2"/>
              </a:rPr>
              <a:t>Therefore,</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 </a:t>
            </a:r>
            <a:r>
              <a:rPr lang="en-US" altLang="en-US" sz="2400">
                <a:sym typeface="Symbol" panose="05050102010706020507" pitchFamily="18" charset="2"/>
              </a:rPr>
              <a:t> </a:t>
            </a:r>
            <a:r>
              <a:rPr lang="en-US" altLang="en-US" sz="2400" i="1">
                <a:sym typeface="Symbol" panose="05050102010706020507" pitchFamily="18" charset="2"/>
              </a:rPr>
              <a:t>U</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U</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 </a:t>
            </a:r>
            <a:r>
              <a:rPr lang="en-US" altLang="en-US" sz="2400" i="1">
                <a:sym typeface="Symbol" panose="05050102010706020507" pitchFamily="18" charset="2"/>
              </a:rPr>
              <a:t>Q</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a:t>
            </a:r>
          </a:p>
          <a:p>
            <a:pPr marL="0" indent="0">
              <a:buNone/>
            </a:pPr>
            <a:endParaRPr lang="en-US"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4547">
                                            <p:txEl>
                                              <p:pRg st="2" end="2"/>
                                            </p:txEl>
                                          </p:spTgt>
                                        </p:tgtEl>
                                        <p:attrNameLst>
                                          <p:attrName>style.visibility</p:attrName>
                                        </p:attrNameLst>
                                      </p:cBhvr>
                                      <p:to>
                                        <p:strVal val="visible"/>
                                      </p:to>
                                    </p:set>
                                    <p:animEffect transition="in" filter="box(in)">
                                      <p:cBhvr>
                                        <p:cTn id="7" dur="500"/>
                                        <p:tgtEl>
                                          <p:spTgt spid="36454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4547">
                                            <p:txEl>
                                              <p:pRg st="3" end="3"/>
                                            </p:txEl>
                                          </p:spTgt>
                                        </p:tgtEl>
                                        <p:attrNameLst>
                                          <p:attrName>style.visibility</p:attrName>
                                        </p:attrNameLst>
                                      </p:cBhvr>
                                      <p:to>
                                        <p:strVal val="visible"/>
                                      </p:to>
                                    </p:set>
                                    <p:animEffect transition="in" filter="box(in)">
                                      <p:cBhvr>
                                        <p:cTn id="12" dur="500"/>
                                        <p:tgtEl>
                                          <p:spTgt spid="36454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4547">
                                            <p:txEl>
                                              <p:pRg st="4" end="4"/>
                                            </p:txEl>
                                          </p:spTgt>
                                        </p:tgtEl>
                                        <p:attrNameLst>
                                          <p:attrName>style.visibility</p:attrName>
                                        </p:attrNameLst>
                                      </p:cBhvr>
                                      <p:to>
                                        <p:strVal val="visible"/>
                                      </p:to>
                                    </p:set>
                                    <p:animEffect transition="in" filter="box(in)">
                                      <p:cBhvr>
                                        <p:cTn id="17" dur="500"/>
                                        <p:tgtEl>
                                          <p:spTgt spid="3645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4547">
                                            <p:txEl>
                                              <p:pRg st="5" end="5"/>
                                            </p:txEl>
                                          </p:spTgt>
                                        </p:tgtEl>
                                        <p:attrNameLst>
                                          <p:attrName>style.visibility</p:attrName>
                                        </p:attrNameLst>
                                      </p:cBhvr>
                                      <p:to>
                                        <p:strVal val="visible"/>
                                      </p:to>
                                    </p:set>
                                    <p:animEffect transition="in" filter="box(in)">
                                      <p:cBhvr>
                                        <p:cTn id="22" dur="500"/>
                                        <p:tgtEl>
                                          <p:spTgt spid="364547">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64547">
                                            <p:txEl>
                                              <p:pRg st="6" end="6"/>
                                            </p:txEl>
                                          </p:spTgt>
                                        </p:tgtEl>
                                        <p:attrNameLst>
                                          <p:attrName>style.visibility</p:attrName>
                                        </p:attrNameLst>
                                      </p:cBhvr>
                                      <p:to>
                                        <p:strVal val="visible"/>
                                      </p:to>
                                    </p:set>
                                    <p:animEffect transition="in" filter="box(in)">
                                      <p:cBhvr>
                                        <p:cTn id="25" dur="500"/>
                                        <p:tgtEl>
                                          <p:spTgt spid="364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74ADC110-B68D-4D9E-92D4-FF816F9898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D8429A2-14DE-4895-A48D-49854EE464C6}" type="slidenum">
              <a:rPr lang="en-GB" altLang="en-US" sz="1400">
                <a:latin typeface="Arial" panose="020B0604020202020204" pitchFamily="34" charset="0"/>
                <a:cs typeface="Arial" panose="020B0604020202020204" pitchFamily="34" charset="0"/>
              </a:rPr>
              <a:pPr>
                <a:spcBef>
                  <a:spcPct val="0"/>
                </a:spcBef>
                <a:buFontTx/>
                <a:buNone/>
              </a:pPr>
              <a:t>31</a:t>
            </a:fld>
            <a:endParaRPr lang="en-GB" altLang="en-US" sz="1400">
              <a:latin typeface="Arial" panose="020B0604020202020204" pitchFamily="34" charset="0"/>
              <a:cs typeface="Arial" panose="020B0604020202020204" pitchFamily="34" charset="0"/>
            </a:endParaRPr>
          </a:p>
        </p:txBody>
      </p:sp>
      <p:sp>
        <p:nvSpPr>
          <p:cNvPr id="41987" name="Rectangle 2">
            <a:extLst>
              <a:ext uri="{FF2B5EF4-FFF2-40B4-BE49-F238E27FC236}">
                <a16:creationId xmlns:a16="http://schemas.microsoft.com/office/drawing/2014/main" id="{7039DCBF-CA38-4AE4-ADAE-26FB655CB77C}"/>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Negations Of Quantified Statements (with two Quantifiers)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54307" name="Rectangle 3">
            <a:extLst>
              <a:ext uri="{FF2B5EF4-FFF2-40B4-BE49-F238E27FC236}">
                <a16:creationId xmlns:a16="http://schemas.microsoft.com/office/drawing/2014/main" id="{8CA15CDD-ABB0-4B42-8FBD-A489ED272277}"/>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E</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E</a:t>
            </a:r>
            <a:r>
              <a:rPr lang="en-US" altLang="en-US" sz="2400">
                <a:sym typeface="Symbol" panose="05050102010706020507" pitchFamily="18" charset="2"/>
              </a:rPr>
              <a:t>,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a:t>
            </a:r>
            <a:r>
              <a:rPr lang="en-US" altLang="en-US" sz="2400" i="1">
                <a:sym typeface="Symbol" panose="05050102010706020507" pitchFamily="18" charset="2"/>
              </a:rPr>
              <a:t>.</a:t>
            </a:r>
          </a:p>
          <a:p>
            <a:pPr marL="0" indent="0">
              <a:buNone/>
            </a:pPr>
            <a:endParaRPr lang="en-US" altLang="en-US" sz="2400" i="1">
              <a:sym typeface="Symbol" panose="05050102010706020507" pitchFamily="18" charset="2"/>
            </a:endParaRPr>
          </a:p>
          <a:p>
            <a:pPr marL="0" indent="0">
              <a:buNone/>
            </a:pP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E</a:t>
            </a:r>
            <a:r>
              <a:rPr lang="en-US" altLang="en-US" sz="2400">
                <a:sym typeface="Symbol" panose="05050102010706020507" pitchFamily="18" charset="2"/>
              </a:rPr>
              <a:t>,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 </a:t>
            </a:r>
          </a:p>
          <a:p>
            <a:pPr marL="0" indent="0">
              <a:buNone/>
            </a:pPr>
            <a:r>
              <a:rPr lang="en-US" altLang="en-US" sz="2400">
                <a:sym typeface="Symbol" panose="05050102010706020507" pitchFamily="18" charset="2"/>
              </a:rPr>
              <a:t>			 </a:t>
            </a:r>
            <a:r>
              <a:rPr lang="en-US" altLang="en-US" sz="2400" i="1">
                <a:sym typeface="Symbol" panose="05050102010706020507" pitchFamily="18" charset="2"/>
              </a:rPr>
              <a:t>x</a:t>
            </a:r>
            <a:r>
              <a:rPr lang="en-US" altLang="en-US" sz="2400">
                <a:sym typeface="Symbol" panose="05050102010706020507" pitchFamily="18" charset="2"/>
              </a:rPr>
              <a:t>  </a:t>
            </a:r>
            <a:r>
              <a:rPr lang="en-US" altLang="en-US" sz="2400" i="1">
                <a:sym typeface="Symbol" panose="05050102010706020507" pitchFamily="18" charset="2"/>
              </a:rPr>
              <a:t>D</a:t>
            </a:r>
            <a:r>
              <a:rPr lang="en-US" altLang="en-US" sz="2400">
                <a:sym typeface="Symbol" panose="05050102010706020507" pitchFamily="18" charset="2"/>
              </a:rPr>
              <a:t>,  </a:t>
            </a:r>
            <a:r>
              <a:rPr lang="en-US" altLang="en-US" sz="2400" i="1">
                <a:sym typeface="Symbol" panose="05050102010706020507" pitchFamily="18" charset="2"/>
              </a:rPr>
              <a:t>y</a:t>
            </a:r>
            <a:r>
              <a:rPr lang="en-US" altLang="en-US" sz="2400">
                <a:sym typeface="Symbol" panose="05050102010706020507" pitchFamily="18" charset="2"/>
              </a:rPr>
              <a:t>  </a:t>
            </a:r>
            <a:r>
              <a:rPr lang="en-US" altLang="en-US" sz="2400" i="1">
                <a:sym typeface="Symbol" panose="05050102010706020507" pitchFamily="18" charset="2"/>
              </a:rPr>
              <a:t>E</a:t>
            </a:r>
            <a:r>
              <a:rPr lang="en-US" altLang="en-US" sz="2400">
                <a:sym typeface="Symbol" panose="05050102010706020507" pitchFamily="18" charset="2"/>
              </a:rPr>
              <a:t>, ~ </a:t>
            </a:r>
            <a:r>
              <a:rPr lang="en-US" altLang="en-US" sz="2400" i="1">
                <a:sym typeface="Symbol" panose="05050102010706020507" pitchFamily="18" charset="2"/>
              </a:rPr>
              <a:t>P</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y</a:t>
            </a:r>
            <a:r>
              <a:rPr lang="en-US" altLang="en-US" sz="2400">
                <a:sym typeface="Symbol" panose="05050102010706020507" pitchFamily="18" charset="2"/>
              </a:rPr>
              <a:t>)</a:t>
            </a:r>
            <a:r>
              <a:rPr lang="en-US" altLang="en-US" sz="2400" i="1">
                <a:sym typeface="Symbol" panose="05050102010706020507" pitchFamily="18" charset="2"/>
              </a:rPr>
              <a:t>.</a:t>
            </a:r>
          </a:p>
          <a:p>
            <a:pPr marL="0" indent="0">
              <a:buNone/>
            </a:pPr>
            <a:endParaRPr lang="en-US" altLang="en-US" sz="2400" i="1">
              <a:sym typeface="Symbol" panose="05050102010706020507" pitchFamily="18" charset="2"/>
            </a:endParaRPr>
          </a:p>
          <a:p>
            <a:pPr marL="0" indent="0">
              <a:buNone/>
            </a:pPr>
            <a:r>
              <a:rPr lang="en-US" altLang="en-US" sz="2400" i="1">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4307">
                                            <p:txEl>
                                              <p:pRg st="3" end="3"/>
                                            </p:txEl>
                                          </p:spTgt>
                                        </p:tgtEl>
                                        <p:attrNameLst>
                                          <p:attrName>style.visibility</p:attrName>
                                        </p:attrNameLst>
                                      </p:cBhvr>
                                      <p:to>
                                        <p:strVal val="visible"/>
                                      </p:to>
                                    </p:set>
                                    <p:animEffect transition="in" filter="box(in)">
                                      <p:cBhvr>
                                        <p:cTn id="7" dur="500"/>
                                        <p:tgtEl>
                                          <p:spTgt spid="354307">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4307">
                                            <p:txEl>
                                              <p:pRg st="4" end="4"/>
                                            </p:txEl>
                                          </p:spTgt>
                                        </p:tgtEl>
                                        <p:attrNameLst>
                                          <p:attrName>style.visibility</p:attrName>
                                        </p:attrNameLst>
                                      </p:cBhvr>
                                      <p:to>
                                        <p:strVal val="visible"/>
                                      </p:to>
                                    </p:set>
                                    <p:animEffect transition="in" filter="box(in)">
                                      <p:cBhvr>
                                        <p:cTn id="10" dur="500"/>
                                        <p:tgtEl>
                                          <p:spTgt spid="3543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CF50DE7A-15C8-442F-B529-7B32D05775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9C450F6-0B43-49A4-929F-41A56125AEBD}" type="slidenum">
              <a:rPr lang="en-GB" altLang="en-US" sz="1400">
                <a:latin typeface="Arial" panose="020B0604020202020204" pitchFamily="34" charset="0"/>
                <a:cs typeface="Arial" panose="020B0604020202020204" pitchFamily="34" charset="0"/>
              </a:rPr>
              <a:pPr>
                <a:spcBef>
                  <a:spcPct val="0"/>
                </a:spcBef>
                <a:buFontTx/>
                <a:buNone/>
              </a:pPr>
              <a:t>32</a:t>
            </a:fld>
            <a:endParaRPr lang="en-GB" altLang="en-US" sz="1400">
              <a:latin typeface="Arial" panose="020B0604020202020204" pitchFamily="34" charset="0"/>
              <a:cs typeface="Arial" panose="020B0604020202020204" pitchFamily="34" charset="0"/>
            </a:endParaRPr>
          </a:p>
        </p:txBody>
      </p:sp>
      <p:sp>
        <p:nvSpPr>
          <p:cNvPr id="43011" name="Rectangle 2">
            <a:extLst>
              <a:ext uri="{FF2B5EF4-FFF2-40B4-BE49-F238E27FC236}">
                <a16:creationId xmlns:a16="http://schemas.microsoft.com/office/drawing/2014/main" id="{E8F5D44B-BCBF-4F2C-BC91-7352C5049958}"/>
              </a:ext>
            </a:extLst>
          </p:cNvPr>
          <p:cNvSpPr>
            <a:spLocks noGrp="1" noChangeArrowheads="1"/>
          </p:cNvSpPr>
          <p:nvPr>
            <p:ph type="title"/>
          </p:nvPr>
        </p:nvSpPr>
        <p:spPr>
          <a:xfrm>
            <a:off x="629391" y="449263"/>
            <a:ext cx="11162805"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Negations Of Quantified Statements (with two Quantifiers): Example</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68643" name="Rectangle 3">
            <a:extLst>
              <a:ext uri="{FF2B5EF4-FFF2-40B4-BE49-F238E27FC236}">
                <a16:creationId xmlns:a16="http://schemas.microsoft.com/office/drawing/2014/main" id="{D555775E-FFB9-4FB4-8D35-CDFBD7164043}"/>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Write a formal negation for the following statement:</a:t>
            </a:r>
          </a:p>
          <a:p>
            <a:pPr marL="0" indent="0">
              <a:buNone/>
            </a:pPr>
            <a:r>
              <a:rPr lang="en-US" altLang="en-US" sz="2400">
                <a:sym typeface="Symbol" panose="05050102010706020507" pitchFamily="18" charset="2"/>
              </a:rPr>
              <a:t>a.	For all square </a:t>
            </a:r>
            <a:r>
              <a:rPr lang="en-US" altLang="en-US" sz="2400" i="1">
                <a:sym typeface="Symbol" panose="05050102010706020507" pitchFamily="18" charset="2"/>
              </a:rPr>
              <a:t>x</a:t>
            </a:r>
            <a:r>
              <a:rPr lang="en-US" altLang="en-US" sz="2400">
                <a:sym typeface="Symbol" panose="05050102010706020507" pitchFamily="18" charset="2"/>
              </a:rPr>
              <a:t>, there is a circle </a:t>
            </a:r>
            <a:r>
              <a:rPr lang="en-US" altLang="en-US" sz="2400" i="1">
                <a:sym typeface="Symbol" panose="05050102010706020507" pitchFamily="18" charset="2"/>
              </a:rPr>
              <a:t>y </a:t>
            </a:r>
            <a:r>
              <a:rPr lang="en-US" altLang="en-US" sz="2400">
                <a:sym typeface="Symbol" panose="05050102010706020507" pitchFamily="18" charset="2"/>
              </a:rPr>
              <a:t>such that </a:t>
            </a:r>
            <a:r>
              <a:rPr lang="en-US" altLang="en-US" sz="2400" i="1">
                <a:sym typeface="Symbol" panose="05050102010706020507" pitchFamily="18" charset="2"/>
              </a:rPr>
              <a:t>x</a:t>
            </a:r>
            <a:r>
              <a:rPr lang="en-US" altLang="en-US" sz="2400">
                <a:sym typeface="Symbol" panose="05050102010706020507" pitchFamily="18" charset="2"/>
              </a:rPr>
              <a:t> and </a:t>
            </a:r>
            <a:r>
              <a:rPr lang="en-US" altLang="en-US" sz="2400" i="1">
                <a:sym typeface="Symbol" panose="05050102010706020507" pitchFamily="18" charset="2"/>
              </a:rPr>
              <a:t>y </a:t>
            </a:r>
            <a:r>
              <a:rPr lang="en-US" altLang="en-US" sz="2400">
                <a:sym typeface="Symbol" panose="05050102010706020507" pitchFamily="18" charset="2"/>
              </a:rPr>
              <a:t>have 	the same colour. </a:t>
            </a:r>
          </a:p>
          <a:p>
            <a:pPr marL="914400" lvl="1" indent="0">
              <a:buNone/>
            </a:pPr>
            <a:r>
              <a:rPr lang="en-US" altLang="en-US" sz="2400">
                <a:latin typeface="Times New Roman" panose="02020603050405020304" pitchFamily="18" charset="0"/>
                <a:sym typeface="Symbol" panose="05050102010706020507" pitchFamily="18" charset="2"/>
              </a:rPr>
              <a:t> square </a:t>
            </a:r>
            <a:r>
              <a:rPr lang="en-US" altLang="en-US" sz="2400" i="1">
                <a:latin typeface="Times New Roman" panose="02020603050405020304" pitchFamily="18" charset="0"/>
                <a:sym typeface="Symbol" panose="05050102010706020507" pitchFamily="18" charset="2"/>
              </a:rPr>
              <a:t>x</a:t>
            </a:r>
            <a:r>
              <a:rPr lang="en-US" altLang="en-US" sz="2400">
                <a:latin typeface="Times New Roman" panose="02020603050405020304" pitchFamily="18" charset="0"/>
                <a:sym typeface="Symbol" panose="05050102010706020507" pitchFamily="18" charset="2"/>
              </a:rPr>
              <a:t>,  circle </a:t>
            </a:r>
            <a:r>
              <a:rPr lang="en-US" altLang="en-US" sz="2400" i="1">
                <a:latin typeface="Times New Roman" panose="02020603050405020304" pitchFamily="18" charset="0"/>
                <a:sym typeface="Symbol" panose="05050102010706020507" pitchFamily="18" charset="2"/>
              </a:rPr>
              <a:t>y</a:t>
            </a:r>
            <a:r>
              <a:rPr lang="en-US" altLang="en-US" sz="2400">
                <a:latin typeface="Times New Roman" panose="02020603050405020304" pitchFamily="18" charset="0"/>
                <a:sym typeface="Symbol" panose="05050102010706020507" pitchFamily="18" charset="2"/>
              </a:rPr>
              <a:t>, </a:t>
            </a:r>
            <a:r>
              <a:rPr lang="en-US" altLang="en-US" sz="2400" i="1">
                <a:latin typeface="Times New Roman" panose="02020603050405020304" pitchFamily="18" charset="0"/>
                <a:sym typeface="Symbol" panose="05050102010706020507" pitchFamily="18" charset="2"/>
              </a:rPr>
              <a:t>x</a:t>
            </a:r>
            <a:r>
              <a:rPr lang="en-US" altLang="en-US" sz="2400">
                <a:latin typeface="Times New Roman" panose="02020603050405020304" pitchFamily="18" charset="0"/>
                <a:sym typeface="Symbol" panose="05050102010706020507" pitchFamily="18" charset="2"/>
              </a:rPr>
              <a:t> and </a:t>
            </a:r>
            <a:r>
              <a:rPr lang="en-US" altLang="en-US" sz="2400" i="1">
                <a:latin typeface="Times New Roman" panose="02020603050405020304" pitchFamily="18" charset="0"/>
                <a:sym typeface="Symbol" panose="05050102010706020507" pitchFamily="18" charset="2"/>
              </a:rPr>
              <a:t>y </a:t>
            </a:r>
            <a:r>
              <a:rPr lang="en-US" altLang="en-US" sz="2400">
                <a:latin typeface="Times New Roman" panose="02020603050405020304" pitchFamily="18" charset="0"/>
                <a:sym typeface="Symbol" panose="05050102010706020507" pitchFamily="18" charset="2"/>
              </a:rPr>
              <a:t>have the same colour.</a:t>
            </a:r>
          </a:p>
          <a:p>
            <a:pPr marL="0" indent="0">
              <a:buNone/>
            </a:pPr>
            <a:r>
              <a:rPr lang="en-US" altLang="en-US" sz="2400">
                <a:sym typeface="Symbol" panose="05050102010706020507" pitchFamily="18" charset="2"/>
              </a:rPr>
              <a:t>Negation is:</a:t>
            </a:r>
          </a:p>
          <a:p>
            <a:pPr marL="0" indent="0">
              <a:buNone/>
            </a:pPr>
            <a:r>
              <a:rPr lang="en-US" altLang="en-US" sz="2400">
                <a:sym typeface="Symbol" panose="05050102010706020507" pitchFamily="18" charset="2"/>
              </a:rPr>
              <a:t>	 a square </a:t>
            </a:r>
            <a:r>
              <a:rPr lang="en-US" altLang="en-US" sz="2400" i="1">
                <a:sym typeface="Symbol" panose="05050102010706020507" pitchFamily="18" charset="2"/>
              </a:rPr>
              <a:t>x</a:t>
            </a:r>
            <a:r>
              <a:rPr lang="en-US" altLang="en-US" sz="2400">
                <a:sym typeface="Symbol" panose="05050102010706020507" pitchFamily="18" charset="2"/>
              </a:rPr>
              <a:t>,  circle </a:t>
            </a:r>
            <a:r>
              <a:rPr lang="en-US" altLang="en-US" sz="2400" i="1">
                <a:sym typeface="Symbol" panose="05050102010706020507" pitchFamily="18" charset="2"/>
              </a:rPr>
              <a:t>y</a:t>
            </a:r>
            <a:r>
              <a:rPr lang="en-US" altLang="en-US" sz="2400">
                <a:sym typeface="Symbol" panose="05050102010706020507" pitchFamily="18" charset="2"/>
              </a:rPr>
              <a:t>, </a:t>
            </a:r>
            <a:r>
              <a:rPr lang="en-US" altLang="en-US" sz="2400" i="1">
                <a:sym typeface="Symbol" panose="05050102010706020507" pitchFamily="18" charset="2"/>
              </a:rPr>
              <a:t>x </a:t>
            </a:r>
            <a:r>
              <a:rPr lang="en-US" altLang="en-US" sz="2400">
                <a:sym typeface="Symbol" panose="05050102010706020507" pitchFamily="18" charset="2"/>
              </a:rPr>
              <a:t>and </a:t>
            </a:r>
            <a:r>
              <a:rPr lang="en-US" altLang="en-US" sz="2400" i="1">
                <a:sym typeface="Symbol" panose="05050102010706020507" pitchFamily="18" charset="2"/>
              </a:rPr>
              <a:t>y </a:t>
            </a:r>
            <a:r>
              <a:rPr lang="en-US" altLang="en-US" sz="2400">
                <a:sym typeface="Symbol" panose="05050102010706020507" pitchFamily="18" charset="2"/>
              </a:rPr>
              <a:t>do not have the same 	colour</a:t>
            </a:r>
            <a:r>
              <a:rPr lang="en-US" altLang="en-US" sz="2400" i="1">
                <a:sym typeface="Symbol" panose="05050102010706020507" pitchFamily="18" charset="2"/>
              </a:rPr>
              <a:t>.</a:t>
            </a:r>
          </a:p>
          <a:p>
            <a:pPr marL="0" indent="0">
              <a:buNone/>
            </a:pPr>
            <a:endParaRPr lang="en-US" altLang="en-US" i="1">
              <a:sym typeface="Symbol" panose="05050102010706020507" pitchFamily="18" charset="2"/>
            </a:endParaRPr>
          </a:p>
          <a:p>
            <a:pPr marL="0" indent="0">
              <a:buNone/>
            </a:pPr>
            <a:endParaRPr lang="en-US" altLang="en-US">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43">
                                            <p:txEl>
                                              <p:pRg st="2" end="2"/>
                                            </p:txEl>
                                          </p:spTgt>
                                        </p:tgtEl>
                                        <p:attrNameLst>
                                          <p:attrName>style.visibility</p:attrName>
                                        </p:attrNameLst>
                                      </p:cBhvr>
                                      <p:to>
                                        <p:strVal val="visible"/>
                                      </p:to>
                                    </p:set>
                                    <p:animEffect transition="in" filter="box(in)">
                                      <p:cBhvr>
                                        <p:cTn id="7" dur="500"/>
                                        <p:tgtEl>
                                          <p:spTgt spid="36864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3">
                                            <p:txEl>
                                              <p:pRg st="3" end="3"/>
                                            </p:txEl>
                                          </p:spTgt>
                                        </p:tgtEl>
                                        <p:attrNameLst>
                                          <p:attrName>style.visibility</p:attrName>
                                        </p:attrNameLst>
                                      </p:cBhvr>
                                      <p:to>
                                        <p:strVal val="visible"/>
                                      </p:to>
                                    </p:set>
                                    <p:animEffect transition="in" filter="box(in)">
                                      <p:cBhvr>
                                        <p:cTn id="12" dur="500"/>
                                        <p:tgtEl>
                                          <p:spTgt spid="36864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8643">
                                            <p:txEl>
                                              <p:pRg st="4" end="4"/>
                                            </p:txEl>
                                          </p:spTgt>
                                        </p:tgtEl>
                                        <p:attrNameLst>
                                          <p:attrName>style.visibility</p:attrName>
                                        </p:attrNameLst>
                                      </p:cBhvr>
                                      <p:to>
                                        <p:strVal val="visible"/>
                                      </p:to>
                                    </p:set>
                                    <p:animEffect transition="in" filter="box(in)">
                                      <p:cBhvr>
                                        <p:cTn id="17" dur="500"/>
                                        <p:tgtEl>
                                          <p:spTgt spid="3686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F742BC3E-8164-41FB-B33E-CEB0A8229E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D836A08-00EE-4AC6-B5C3-19856B791C69}" type="slidenum">
              <a:rPr lang="en-GB" altLang="en-US" sz="1400">
                <a:latin typeface="Arial" panose="020B0604020202020204" pitchFamily="34" charset="0"/>
                <a:cs typeface="Arial" panose="020B0604020202020204" pitchFamily="34" charset="0"/>
              </a:rPr>
              <a:pPr>
                <a:spcBef>
                  <a:spcPct val="0"/>
                </a:spcBef>
                <a:buFontTx/>
                <a:buNone/>
              </a:pPr>
              <a:t>33</a:t>
            </a:fld>
            <a:endParaRPr lang="en-GB" altLang="en-US" sz="1400">
              <a:latin typeface="Arial" panose="020B0604020202020204" pitchFamily="34" charset="0"/>
              <a:cs typeface="Arial" panose="020B0604020202020204" pitchFamily="34" charset="0"/>
            </a:endParaRPr>
          </a:p>
        </p:txBody>
      </p:sp>
      <p:sp>
        <p:nvSpPr>
          <p:cNvPr id="44035" name="Rectangle 2">
            <a:extLst>
              <a:ext uri="{FF2B5EF4-FFF2-40B4-BE49-F238E27FC236}">
                <a16:creationId xmlns:a16="http://schemas.microsoft.com/office/drawing/2014/main" id="{D9C9023B-30FE-4769-ADC6-0605F5A22493}"/>
              </a:ext>
            </a:extLst>
          </p:cNvPr>
          <p:cNvSpPr>
            <a:spLocks noGrp="1" noChangeArrowheads="1"/>
          </p:cNvSpPr>
          <p:nvPr>
            <p:ph type="title"/>
          </p:nvPr>
        </p:nvSpPr>
        <p:spPr>
          <a:xfrm>
            <a:off x="1981200" y="449263"/>
            <a:ext cx="9372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Negations Of Quantified Statements (with two Quantifiers): Example</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77859" name="Rectangle 3">
            <a:extLst>
              <a:ext uri="{FF2B5EF4-FFF2-40B4-BE49-F238E27FC236}">
                <a16:creationId xmlns:a16="http://schemas.microsoft.com/office/drawing/2014/main" id="{24536CBC-C688-45AA-B24E-FC86D19B4318}"/>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Write a formal negation for the following statement:</a:t>
            </a:r>
          </a:p>
          <a:p>
            <a:pPr marL="0" indent="0">
              <a:buNone/>
            </a:pPr>
            <a:r>
              <a:rPr lang="en-US" altLang="en-US" sz="2400">
                <a:sym typeface="Symbol" panose="05050102010706020507" pitchFamily="18" charset="2"/>
              </a:rPr>
              <a:t>b.	There is a triangle </a:t>
            </a:r>
            <a:r>
              <a:rPr lang="en-US" altLang="en-US" sz="2400" i="1">
                <a:sym typeface="Symbol" panose="05050102010706020507" pitchFamily="18" charset="2"/>
              </a:rPr>
              <a:t>x</a:t>
            </a:r>
            <a:r>
              <a:rPr lang="en-US" altLang="en-US" sz="2400">
                <a:sym typeface="Symbol" panose="05050102010706020507" pitchFamily="18" charset="2"/>
              </a:rPr>
              <a:t> such that for all square </a:t>
            </a:r>
            <a:r>
              <a:rPr lang="en-US" altLang="en-US" sz="2400" i="1">
                <a:sym typeface="Symbol" panose="05050102010706020507" pitchFamily="18" charset="2"/>
              </a:rPr>
              <a:t>y</a:t>
            </a: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is to the 	right of </a:t>
            </a:r>
            <a:r>
              <a:rPr lang="en-US" altLang="en-US" sz="2400" i="1">
                <a:sym typeface="Symbol" panose="05050102010706020507" pitchFamily="18" charset="2"/>
              </a:rPr>
              <a:t>y</a:t>
            </a:r>
            <a:r>
              <a:rPr lang="en-US" altLang="en-US" sz="2400">
                <a:sym typeface="Symbol" panose="05050102010706020507" pitchFamily="18" charset="2"/>
              </a:rPr>
              <a:t>.</a:t>
            </a:r>
          </a:p>
          <a:p>
            <a:pPr marL="0" indent="0">
              <a:buNone/>
            </a:pPr>
            <a:r>
              <a:rPr lang="en-US" altLang="en-US" sz="2400" i="1">
                <a:sym typeface="Symbol" panose="05050102010706020507" pitchFamily="18" charset="2"/>
              </a:rPr>
              <a:t>	 </a:t>
            </a:r>
            <a:r>
              <a:rPr lang="en-US" altLang="en-US" sz="2400">
                <a:sym typeface="Symbol" panose="05050102010706020507" pitchFamily="18" charset="2"/>
              </a:rPr>
              <a:t> a triangle </a:t>
            </a:r>
            <a:r>
              <a:rPr lang="en-US" altLang="en-US" sz="2400" i="1">
                <a:sym typeface="Symbol" panose="05050102010706020507" pitchFamily="18" charset="2"/>
              </a:rPr>
              <a:t>x</a:t>
            </a:r>
            <a:r>
              <a:rPr lang="en-US" altLang="en-US" sz="2400">
                <a:sym typeface="Symbol" panose="05050102010706020507" pitchFamily="18" charset="2"/>
              </a:rPr>
              <a:t>, </a:t>
            </a:r>
            <a:r>
              <a:rPr lang="en-US" altLang="en-US" sz="2400" i="1">
                <a:sym typeface="Symbol" panose="05050102010706020507" pitchFamily="18" charset="2"/>
              </a:rPr>
              <a:t> </a:t>
            </a:r>
            <a:r>
              <a:rPr lang="en-US" altLang="en-US" sz="2400">
                <a:sym typeface="Symbol" panose="05050102010706020507" pitchFamily="18" charset="2"/>
              </a:rPr>
              <a:t>square </a:t>
            </a:r>
            <a:r>
              <a:rPr lang="en-US" altLang="en-US" sz="2400" i="1">
                <a:sym typeface="Symbol" panose="05050102010706020507" pitchFamily="18" charset="2"/>
              </a:rPr>
              <a:t>y</a:t>
            </a: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is to the right of </a:t>
            </a:r>
            <a:r>
              <a:rPr lang="en-US" altLang="en-US" sz="2400" i="1">
                <a:sym typeface="Symbol" panose="05050102010706020507" pitchFamily="18" charset="2"/>
              </a:rPr>
              <a:t>y</a:t>
            </a:r>
            <a:r>
              <a:rPr lang="en-US" altLang="en-US" sz="2400">
                <a:sym typeface="Symbol" panose="05050102010706020507" pitchFamily="18" charset="2"/>
              </a:rPr>
              <a:t>.</a:t>
            </a:r>
          </a:p>
          <a:p>
            <a:pPr marL="0" indent="0">
              <a:buNone/>
            </a:pPr>
            <a:r>
              <a:rPr lang="en-US" altLang="en-US" sz="2400">
                <a:sym typeface="Symbol" panose="05050102010706020507" pitchFamily="18" charset="2"/>
              </a:rPr>
              <a:t>Negation is:</a:t>
            </a:r>
          </a:p>
          <a:p>
            <a:pPr marL="0" indent="0">
              <a:buNone/>
            </a:pPr>
            <a:r>
              <a:rPr lang="en-US" altLang="en-US" sz="2400">
                <a:sym typeface="Symbol" panose="05050102010706020507" pitchFamily="18" charset="2"/>
              </a:rPr>
              <a:t>	</a:t>
            </a:r>
            <a:r>
              <a:rPr lang="en-US" altLang="en-US" sz="2400" i="1">
                <a:sym typeface="Symbol" panose="05050102010706020507" pitchFamily="18" charset="2"/>
              </a:rPr>
              <a:t> </a:t>
            </a:r>
            <a:r>
              <a:rPr lang="en-US" altLang="en-US" sz="2400">
                <a:sym typeface="Symbol" panose="05050102010706020507" pitchFamily="18" charset="2"/>
              </a:rPr>
              <a:t>triangles </a:t>
            </a:r>
            <a:r>
              <a:rPr lang="en-US" altLang="en-US" sz="2400" i="1">
                <a:sym typeface="Symbol" panose="05050102010706020507" pitchFamily="18" charset="2"/>
              </a:rPr>
              <a:t>x</a:t>
            </a:r>
            <a:r>
              <a:rPr lang="en-US" altLang="en-US" sz="2400">
                <a:sym typeface="Symbol" panose="05050102010706020507" pitchFamily="18" charset="2"/>
              </a:rPr>
              <a:t>,  a square </a:t>
            </a:r>
            <a:r>
              <a:rPr lang="en-US" altLang="en-US" sz="2400" i="1">
                <a:sym typeface="Symbol" panose="05050102010706020507" pitchFamily="18" charset="2"/>
              </a:rPr>
              <a:t>y</a:t>
            </a:r>
            <a:r>
              <a:rPr lang="en-US" altLang="en-US" sz="2400">
                <a:sym typeface="Symbol" panose="05050102010706020507" pitchFamily="18" charset="2"/>
              </a:rPr>
              <a:t>, </a:t>
            </a:r>
            <a:r>
              <a:rPr lang="en-US" altLang="en-US" sz="2400" i="1">
                <a:sym typeface="Symbol" panose="05050102010706020507" pitchFamily="18" charset="2"/>
              </a:rPr>
              <a:t>x</a:t>
            </a:r>
            <a:r>
              <a:rPr lang="en-US" altLang="en-US" sz="2400">
                <a:sym typeface="Symbol" panose="05050102010706020507" pitchFamily="18" charset="2"/>
              </a:rPr>
              <a:t> is not to the right of </a:t>
            </a:r>
            <a:r>
              <a:rPr lang="en-US" altLang="en-US" sz="2400" i="1">
                <a:sym typeface="Symbol" panose="05050102010706020507" pitchFamily="18" charset="2"/>
              </a:rPr>
              <a:t>y</a:t>
            </a:r>
            <a:r>
              <a:rPr lang="en-US" altLang="en-US" sz="2400">
                <a:sym typeface="Symbol" panose="05050102010706020507" pitchFamily="18" charset="2"/>
              </a:rPr>
              <a:t>.</a:t>
            </a:r>
          </a:p>
          <a:p>
            <a:pPr marL="0" indent="0">
              <a:buNone/>
            </a:pPr>
            <a:endParaRPr lang="en-US" altLang="en-US" sz="24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7859">
                                            <p:txEl>
                                              <p:pRg st="2" end="2"/>
                                            </p:txEl>
                                          </p:spTgt>
                                        </p:tgtEl>
                                        <p:attrNameLst>
                                          <p:attrName>style.visibility</p:attrName>
                                        </p:attrNameLst>
                                      </p:cBhvr>
                                      <p:to>
                                        <p:strVal val="visible"/>
                                      </p:to>
                                    </p:set>
                                    <p:animEffect transition="in" filter="box(in)">
                                      <p:cBhvr>
                                        <p:cTn id="7" dur="500"/>
                                        <p:tgtEl>
                                          <p:spTgt spid="37785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7859">
                                            <p:txEl>
                                              <p:pRg st="3" end="3"/>
                                            </p:txEl>
                                          </p:spTgt>
                                        </p:tgtEl>
                                        <p:attrNameLst>
                                          <p:attrName>style.visibility</p:attrName>
                                        </p:attrNameLst>
                                      </p:cBhvr>
                                      <p:to>
                                        <p:strVal val="visible"/>
                                      </p:to>
                                    </p:set>
                                    <p:animEffect transition="in" filter="box(in)">
                                      <p:cBhvr>
                                        <p:cTn id="12" dur="500"/>
                                        <p:tgtEl>
                                          <p:spTgt spid="37785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7859">
                                            <p:txEl>
                                              <p:pRg st="4" end="4"/>
                                            </p:txEl>
                                          </p:spTgt>
                                        </p:tgtEl>
                                        <p:attrNameLst>
                                          <p:attrName>style.visibility</p:attrName>
                                        </p:attrNameLst>
                                      </p:cBhvr>
                                      <p:to>
                                        <p:strVal val="visible"/>
                                      </p:to>
                                    </p:set>
                                    <p:animEffect transition="in" filter="box(in)">
                                      <p:cBhvr>
                                        <p:cTn id="17" dur="500"/>
                                        <p:tgtEl>
                                          <p:spTgt spid="3778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1252F0D2-93A3-4637-B023-F9E37B8014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735947-2CE4-4D19-B344-107CA87EE634}" type="slidenum">
              <a:rPr lang="en-GB" altLang="en-US" sz="1400">
                <a:latin typeface="Arial" panose="020B0604020202020204" pitchFamily="34" charset="0"/>
                <a:cs typeface="Arial" panose="020B0604020202020204" pitchFamily="34" charset="0"/>
              </a:rPr>
              <a:pPr>
                <a:spcBef>
                  <a:spcPct val="0"/>
                </a:spcBef>
                <a:buFontTx/>
                <a:buNone/>
              </a:pPr>
              <a:t>34</a:t>
            </a:fld>
            <a:endParaRPr lang="en-GB" altLang="en-US" sz="1400">
              <a:latin typeface="Arial" panose="020B0604020202020204" pitchFamily="34" charset="0"/>
              <a:cs typeface="Arial" panose="020B0604020202020204" pitchFamily="34" charset="0"/>
            </a:endParaRPr>
          </a:p>
        </p:txBody>
      </p:sp>
      <p:sp>
        <p:nvSpPr>
          <p:cNvPr id="45059" name="Rectangle 2">
            <a:extLst>
              <a:ext uri="{FF2B5EF4-FFF2-40B4-BE49-F238E27FC236}">
                <a16:creationId xmlns:a16="http://schemas.microsoft.com/office/drawing/2014/main" id="{D4CD2439-E52E-4793-A64A-D78D898AEE34}"/>
              </a:ext>
            </a:extLst>
          </p:cNvPr>
          <p:cNvSpPr>
            <a:spLocks noGrp="1" noChangeArrowheads="1"/>
          </p:cNvSpPr>
          <p:nvPr>
            <p:ph type="ctrTitle"/>
          </p:nvPr>
        </p:nvSpPr>
        <p:spPr>
          <a:xfrm>
            <a:off x="2041958" y="1926463"/>
            <a:ext cx="7772400" cy="1828800"/>
          </a:xfrm>
        </p:spPr>
        <p:txBody>
          <a:bodyPr/>
          <a:lstStyle/>
          <a:p>
            <a:pPr eaLnBrk="1" hangingPunct="1"/>
            <a:r>
              <a:rPr lang="en-GB" altLang="en-US" b="1" dirty="0">
                <a:solidFill>
                  <a:schemeClr val="folHlink"/>
                </a:solidFill>
                <a:latin typeface="Times New Roman" panose="02020603050405020304" pitchFamily="18" charset="0"/>
                <a:cs typeface="Times New Roman" panose="02020603050405020304" pitchFamily="18" charset="0"/>
              </a:rPr>
              <a:t>End of Unit 2</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2858</Words>
  <Application>Microsoft Office PowerPoint</Application>
  <PresentationFormat>Widescreen</PresentationFormat>
  <Paragraphs>287</Paragraphs>
  <Slides>34</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Arial</vt:lpstr>
      <vt:lpstr>Calibri</vt:lpstr>
      <vt:lpstr>Calibri Light</vt:lpstr>
      <vt:lpstr>Cambria Math</vt:lpstr>
      <vt:lpstr>Times New Roman</vt:lpstr>
      <vt:lpstr>1_Office Theme</vt:lpstr>
      <vt:lpstr>Equation</vt:lpstr>
      <vt:lpstr>MATH221 Mathematics for Computer Science</vt:lpstr>
      <vt:lpstr>OBJECTIVES</vt:lpstr>
      <vt:lpstr>Discussion:</vt:lpstr>
      <vt:lpstr>Predicate</vt:lpstr>
      <vt:lpstr>Predicate: Examples and Notation</vt:lpstr>
      <vt:lpstr>Quantifiers</vt:lpstr>
      <vt:lpstr>Universal And Existential Statements</vt:lpstr>
      <vt:lpstr>Discussion:</vt:lpstr>
      <vt:lpstr>Examples:</vt:lpstr>
      <vt:lpstr>Examples:</vt:lpstr>
      <vt:lpstr>Universal Statements: Important</vt:lpstr>
      <vt:lpstr>Existential Statements: Important</vt:lpstr>
      <vt:lpstr>Truth Set of a Predicate</vt:lpstr>
      <vt:lpstr>Aside</vt:lpstr>
      <vt:lpstr>Aside</vt:lpstr>
      <vt:lpstr>Examples:</vt:lpstr>
      <vt:lpstr>Examples:</vt:lpstr>
      <vt:lpstr>Examples:</vt:lpstr>
      <vt:lpstr>Quantified Statements: Examples</vt:lpstr>
      <vt:lpstr>Discussion:</vt:lpstr>
      <vt:lpstr>Equivalent Forms of Universal Statements</vt:lpstr>
      <vt:lpstr>Equivalent Forms of Universal Statements: Example</vt:lpstr>
      <vt:lpstr>Examples:</vt:lpstr>
      <vt:lpstr>Quantifications Of Two Variables</vt:lpstr>
      <vt:lpstr>Quantifications of Two Variables</vt:lpstr>
      <vt:lpstr>Discussion:</vt:lpstr>
      <vt:lpstr>Negations Of Universal Statements</vt:lpstr>
      <vt:lpstr>Negations Of Existential Statements</vt:lpstr>
      <vt:lpstr>Negations Of Universal and Existential Statements: Example</vt:lpstr>
      <vt:lpstr>Negations Of Universal Conditional Statements</vt:lpstr>
      <vt:lpstr>Negations Of Quantified Statements (with two Quantifiers)</vt:lpstr>
      <vt:lpstr>Negations Of Quantified Statements (with two Quantifiers): Example</vt:lpstr>
      <vt:lpstr>Negations Of Quantified Statements (with two Quantifiers): Example</vt:lpstr>
      <vt:lpstr>End of Unit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Hee Beng Kuan Tan</dc:creator>
  <cp:lastModifiedBy>Hee Beng Kuan Tan</cp:lastModifiedBy>
  <cp:revision>24</cp:revision>
  <cp:lastPrinted>2021-01-05T03:46:49Z</cp:lastPrinted>
  <dcterms:created xsi:type="dcterms:W3CDTF">2020-10-03T10:39:56Z</dcterms:created>
  <dcterms:modified xsi:type="dcterms:W3CDTF">2021-01-05T03:47:08Z</dcterms:modified>
</cp:coreProperties>
</file>