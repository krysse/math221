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675" r:id="rId2"/>
    <p:sldId id="708" r:id="rId3"/>
    <p:sldId id="707" r:id="rId4"/>
    <p:sldId id="429" r:id="rId5"/>
    <p:sldId id="430" r:id="rId6"/>
    <p:sldId id="431" r:id="rId7"/>
    <p:sldId id="433" r:id="rId8"/>
    <p:sldId id="447" r:id="rId9"/>
    <p:sldId id="701" r:id="rId10"/>
    <p:sldId id="448" r:id="rId11"/>
    <p:sldId id="449" r:id="rId12"/>
    <p:sldId id="450" r:id="rId13"/>
    <p:sldId id="452" r:id="rId14"/>
    <p:sldId id="451" r:id="rId15"/>
    <p:sldId id="453" r:id="rId16"/>
    <p:sldId id="454" r:id="rId17"/>
    <p:sldId id="455" r:id="rId18"/>
    <p:sldId id="456" r:id="rId19"/>
    <p:sldId id="457" r:id="rId20"/>
    <p:sldId id="459" r:id="rId21"/>
    <p:sldId id="460" r:id="rId22"/>
    <p:sldId id="461" r:id="rId23"/>
    <p:sldId id="462" r:id="rId24"/>
    <p:sldId id="463" r:id="rId25"/>
    <p:sldId id="464" r:id="rId26"/>
    <p:sldId id="465" r:id="rId27"/>
    <p:sldId id="466" r:id="rId28"/>
    <p:sldId id="467" r:id="rId29"/>
    <p:sldId id="470" r:id="rId30"/>
    <p:sldId id="471" r:id="rId31"/>
    <p:sldId id="472" r:id="rId32"/>
    <p:sldId id="473" r:id="rId33"/>
    <p:sldId id="474" r:id="rId34"/>
    <p:sldId id="475" r:id="rId35"/>
    <p:sldId id="476" r:id="rId36"/>
    <p:sldId id="477" r:id="rId37"/>
    <p:sldId id="478" r:id="rId38"/>
    <p:sldId id="479" r:id="rId39"/>
    <p:sldId id="480" r:id="rId40"/>
    <p:sldId id="481" r:id="rId41"/>
    <p:sldId id="702" r:id="rId42"/>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1" d="100"/>
          <a:sy n="81" d="100"/>
        </p:scale>
        <p:origin x="2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F9B2417F-EE89-4A50-93BE-0E1C022F6193}" type="datetimeFigureOut">
              <a:rPr lang="en-SG" smtClean="0"/>
              <a:t>19/10/2020</a:t>
            </a:fld>
            <a:endParaRPr lang="en-SG"/>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9AB63B93-CEFB-459D-8B46-D88AA6B9C746}" type="slidenum">
              <a:rPr lang="en-SG" smtClean="0"/>
              <a:t>‹#›</a:t>
            </a:fld>
            <a:endParaRPr lang="en-SG"/>
          </a:p>
        </p:txBody>
      </p:sp>
    </p:spTree>
    <p:extLst>
      <p:ext uri="{BB962C8B-B14F-4D97-AF65-F5344CB8AC3E}">
        <p14:creationId xmlns:p14="http://schemas.microsoft.com/office/powerpoint/2010/main" val="4019342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67213" y="698500"/>
            <a:ext cx="3351212" cy="1884363"/>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403207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4171025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1236581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1236581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1236581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122266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448854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2439626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3702456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1034807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3756500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1724354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1660610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1177291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2604693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4123376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3556430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1188727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2843205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13908524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360602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2583401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14540741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3487453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3219048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3355232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33706794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28487870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37086353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10753531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15080561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39951522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2959778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22494478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5533114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20344905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2427090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24270904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82863" y="871538"/>
            <a:ext cx="4181475" cy="23526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24270904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0288" y="931863"/>
            <a:ext cx="4464050" cy="25114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2549846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1585-0E51-4AC6-B8A8-E2702C1DD8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D193A325-A068-4185-9336-84BD3021F5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172E6864-2F65-401D-8E1C-9CE64C3359B3}"/>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5" name="Footer Placeholder 4">
            <a:extLst>
              <a:ext uri="{FF2B5EF4-FFF2-40B4-BE49-F238E27FC236}">
                <a16:creationId xmlns:a16="http://schemas.microsoft.com/office/drawing/2014/main" id="{D0EEC6E3-48E1-403E-8609-421E0D3520D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B2C8B7A-7895-4C0B-A132-12E70A5687B2}"/>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995813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8E32-0950-43E7-A79F-625407CF9E5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D9716D4-3CE1-46A1-A81B-1E688D9AE3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4CCA8E7-4843-4961-85F4-D7C4F4620022}"/>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5" name="Footer Placeholder 4">
            <a:extLst>
              <a:ext uri="{FF2B5EF4-FFF2-40B4-BE49-F238E27FC236}">
                <a16:creationId xmlns:a16="http://schemas.microsoft.com/office/drawing/2014/main" id="{AD884B8B-2B08-41DC-9AA1-A875FC8B096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86F9327-5410-4A96-9992-0621069C14E5}"/>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130452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D6EB-28DD-4D9A-9351-E84DB331A3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3C385121-A918-4838-A2C9-63C074737C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3C81AD-573E-4DAA-BA8A-0D67BB7D7F57}"/>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5" name="Footer Placeholder 4">
            <a:extLst>
              <a:ext uri="{FF2B5EF4-FFF2-40B4-BE49-F238E27FC236}">
                <a16:creationId xmlns:a16="http://schemas.microsoft.com/office/drawing/2014/main" id="{087BBA0B-5C9C-45C9-8B1E-0BE0CF24783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79FFD8-4B90-4E44-A2A7-0307C3753DCA}"/>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1629009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29FF-839D-4D85-906F-F6CA97D599BF}"/>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76D4C93-D395-4283-9AA2-22C2652DA4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6A92813-58D0-44EB-92CC-EE8AD4325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D7955E9-1C79-4B62-9CFC-E4F556BB218C}"/>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6" name="Footer Placeholder 5">
            <a:extLst>
              <a:ext uri="{FF2B5EF4-FFF2-40B4-BE49-F238E27FC236}">
                <a16:creationId xmlns:a16="http://schemas.microsoft.com/office/drawing/2014/main" id="{FA8F3396-8F6D-49BE-8212-E926FA116D5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FEBB6D16-6926-4DC7-A35B-84674F484322}"/>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86362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BF855-B288-4DB0-80EE-6F8FE664DB2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45A2B1BD-08CD-4EAC-8752-0D041F33D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74E687-46DB-48DF-9666-3F196289A5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5E789A04-FFF2-4AC1-B03C-3B0038CF0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8420CD-DAA0-4EF4-B1BD-EFC76229A0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997F7DFB-8537-4B00-8A6B-DC59DE392AF9}"/>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8" name="Footer Placeholder 7">
            <a:extLst>
              <a:ext uri="{FF2B5EF4-FFF2-40B4-BE49-F238E27FC236}">
                <a16:creationId xmlns:a16="http://schemas.microsoft.com/office/drawing/2014/main" id="{F5C66FA5-9525-465C-91A9-39C4EF2A5C2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9AC58BA3-692E-48DE-B337-BB6AC028CED9}"/>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2621501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9EC5A-B759-4AA4-BF8E-5DD98412E21E}"/>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260064A-75DE-4A69-BC7C-E18206F99BFE}"/>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4" name="Footer Placeholder 3">
            <a:extLst>
              <a:ext uri="{FF2B5EF4-FFF2-40B4-BE49-F238E27FC236}">
                <a16:creationId xmlns:a16="http://schemas.microsoft.com/office/drawing/2014/main" id="{53E0ACE8-4938-4C9B-82D1-69211C362017}"/>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F29CEEFC-43E1-45FA-85AF-32784FC6AFCD}"/>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1772494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4C8A3E-C21D-4C67-9462-018F868BCD3B}"/>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3" name="Footer Placeholder 2">
            <a:extLst>
              <a:ext uri="{FF2B5EF4-FFF2-40B4-BE49-F238E27FC236}">
                <a16:creationId xmlns:a16="http://schemas.microsoft.com/office/drawing/2014/main" id="{76A0AB38-BC90-492A-9203-C45B51FF6AB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C1562636-E722-41E7-A95D-C18E8BC82EDE}"/>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182211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09B90-075E-47C2-968F-87AD204DDD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C5835BB3-EEBC-47CB-89A1-4A33AA476D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E6AD1891-5941-4C66-ACF8-14432B630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475E4-E5C2-4A73-8679-B01635262C66}"/>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6" name="Footer Placeholder 5">
            <a:extLst>
              <a:ext uri="{FF2B5EF4-FFF2-40B4-BE49-F238E27FC236}">
                <a16:creationId xmlns:a16="http://schemas.microsoft.com/office/drawing/2014/main" id="{87F20170-C4D7-45A2-AF4D-7C257795BFE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D3DC48F-5A1F-479B-99CD-CCAE386B3C23}"/>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900923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384B-B2A5-40EB-865C-2220C64871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1FEB3EF-6021-4A8A-8F8E-94F8E84CEF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38E8BFF3-CC18-4376-B253-D75CF4035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4223F7-04A8-42BC-B9B0-F2E884BEEE94}"/>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6" name="Footer Placeholder 5">
            <a:extLst>
              <a:ext uri="{FF2B5EF4-FFF2-40B4-BE49-F238E27FC236}">
                <a16:creationId xmlns:a16="http://schemas.microsoft.com/office/drawing/2014/main" id="{4C7A5944-3AE3-4B88-A095-4A2B54D422C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E08A3B5-71DD-41E4-89E6-D0BC8608093A}"/>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1310101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9765-C80F-4547-AB2E-F7C7F28EF899}"/>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2091A2E-D61A-409B-8D0F-CBCAA10E70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7105D6B-9B1F-47DF-97C5-094CBAD26546}"/>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5" name="Footer Placeholder 4">
            <a:extLst>
              <a:ext uri="{FF2B5EF4-FFF2-40B4-BE49-F238E27FC236}">
                <a16:creationId xmlns:a16="http://schemas.microsoft.com/office/drawing/2014/main" id="{177A2B23-30BD-4A33-9B46-C29BDAA26E2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25AAEFA-952D-4C58-93F4-5C5A155E7123}"/>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150317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937576-4201-4A62-9B74-D7D9660A3A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C6FC4C7-B594-40C7-8B4E-499D8C84F5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5CC3741-CA4C-4BCF-AB59-221947A30F85}"/>
              </a:ext>
            </a:extLst>
          </p:cNvPr>
          <p:cNvSpPr>
            <a:spLocks noGrp="1"/>
          </p:cNvSpPr>
          <p:nvPr>
            <p:ph type="dt" sz="half" idx="10"/>
          </p:nvPr>
        </p:nvSpPr>
        <p:spPr/>
        <p:txBody>
          <a:bodyPr/>
          <a:lstStyle/>
          <a:p>
            <a:fld id="{71397FA6-929C-4FA1-8C10-2CFB129C1735}" type="datetimeFigureOut">
              <a:rPr lang="en-SG" smtClean="0"/>
              <a:t>19/10/2020</a:t>
            </a:fld>
            <a:endParaRPr lang="en-SG"/>
          </a:p>
        </p:txBody>
      </p:sp>
      <p:sp>
        <p:nvSpPr>
          <p:cNvPr id="5" name="Footer Placeholder 4">
            <a:extLst>
              <a:ext uri="{FF2B5EF4-FFF2-40B4-BE49-F238E27FC236}">
                <a16:creationId xmlns:a16="http://schemas.microsoft.com/office/drawing/2014/main" id="{CBAAEADE-6B1C-4A25-818E-138FF52D5BA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5B236E3-2C38-4D84-99E6-39378EE48027}"/>
              </a:ext>
            </a:extLst>
          </p:cNvPr>
          <p:cNvSpPr>
            <a:spLocks noGrp="1"/>
          </p:cNvSpPr>
          <p:nvPr>
            <p:ph type="sldNum" sz="quarter" idx="12"/>
          </p:nvPr>
        </p:nvSpPr>
        <p:spPr/>
        <p:txBody>
          <a:bodyPr/>
          <a:lstStyle/>
          <a:p>
            <a:fld id="{E32734F7-F21A-44B9-A2C3-099707394B8D}" type="slidenum">
              <a:rPr lang="en-SG" smtClean="0"/>
              <a:t>‹#›</a:t>
            </a:fld>
            <a:endParaRPr lang="en-SG"/>
          </a:p>
        </p:txBody>
      </p:sp>
    </p:spTree>
    <p:extLst>
      <p:ext uri="{BB962C8B-B14F-4D97-AF65-F5344CB8AC3E}">
        <p14:creationId xmlns:p14="http://schemas.microsoft.com/office/powerpoint/2010/main" val="2561243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B0A21E-3632-4271-9CBB-612FBE9DAD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0080EC0-D4DC-45F5-915C-0C27DC9795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91E6ABA-F05B-4B96-A1B6-354CAEA9B1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397FA6-929C-4FA1-8C10-2CFB129C1735}" type="datetimeFigureOut">
              <a:rPr lang="en-SG" smtClean="0"/>
              <a:t>19/10/2020</a:t>
            </a:fld>
            <a:endParaRPr lang="en-SG"/>
          </a:p>
        </p:txBody>
      </p:sp>
      <p:sp>
        <p:nvSpPr>
          <p:cNvPr id="5" name="Footer Placeholder 4">
            <a:extLst>
              <a:ext uri="{FF2B5EF4-FFF2-40B4-BE49-F238E27FC236}">
                <a16:creationId xmlns:a16="http://schemas.microsoft.com/office/drawing/2014/main" id="{111BD0D6-BEDC-4A94-A098-DB76FBAF6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078DD901-A86E-4EE0-8704-4D5C892EBF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2734F7-F21A-44B9-A2C3-099707394B8D}" type="slidenum">
              <a:rPr lang="en-SG" smtClean="0"/>
              <a:t>‹#›</a:t>
            </a:fld>
            <a:endParaRPr lang="en-SG"/>
          </a:p>
        </p:txBody>
      </p:sp>
    </p:spTree>
    <p:extLst>
      <p:ext uri="{BB962C8B-B14F-4D97-AF65-F5344CB8AC3E}">
        <p14:creationId xmlns:p14="http://schemas.microsoft.com/office/powerpoint/2010/main" val="3883705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80.png"/><Relationship Id="rId4" Type="http://schemas.openxmlformats.org/officeDocument/2006/relationships/image" Target="../media/image670.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3" Type="http://schemas.openxmlformats.org/officeDocument/2006/relationships/image" Target="../media/image82.png"/><Relationship Id="rId7" Type="http://schemas.openxmlformats.org/officeDocument/2006/relationships/image" Target="../media/image740.png"/><Relationship Id="rId12" Type="http://schemas.openxmlformats.org/officeDocument/2006/relationships/image" Target="../media/image9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89.png"/><Relationship Id="rId5" Type="http://schemas.openxmlformats.org/officeDocument/2006/relationships/image" Target="../media/image84.png"/><Relationship Id="rId10" Type="http://schemas.openxmlformats.org/officeDocument/2006/relationships/image" Target="../media/image88.png"/><Relationship Id="rId4" Type="http://schemas.openxmlformats.org/officeDocument/2006/relationships/image" Target="../media/image83.png"/><Relationship Id="rId9" Type="http://schemas.openxmlformats.org/officeDocument/2006/relationships/image" Target="../media/image8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840.png"/><Relationship Id="rId4" Type="http://schemas.openxmlformats.org/officeDocument/2006/relationships/image" Target="../media/image94.png"/></Relationships>
</file>

<file path=ppt/slides/_rels/slide1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5.jpg"/><Relationship Id="rId7"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8.png"/><Relationship Id="rId11" Type="http://schemas.openxmlformats.org/officeDocument/2006/relationships/image" Target="../media/image112.png"/><Relationship Id="rId5" Type="http://schemas.openxmlformats.org/officeDocument/2006/relationships/image" Target="../media/image107.png"/><Relationship Id="rId10" Type="http://schemas.openxmlformats.org/officeDocument/2006/relationships/image" Target="../media/image111.png"/><Relationship Id="rId4" Type="http://schemas.openxmlformats.org/officeDocument/2006/relationships/image" Target="../media/image7.jpg"/><Relationship Id="rId9" Type="http://schemas.openxmlformats.org/officeDocument/2006/relationships/image" Target="../media/image110.png"/></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7.jpg"/></Relationships>
</file>

<file path=ppt/slides/_rels/slide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2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4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6C4119D-25EA-4251-B2EF-750C8A2035A0}"/>
              </a:ext>
            </a:extLst>
          </p:cNvPr>
          <p:cNvSpPr>
            <a:spLocks noGrp="1" noChangeArrowheads="1"/>
          </p:cNvSpPr>
          <p:nvPr>
            <p:ph type="ctrTitle"/>
          </p:nvPr>
        </p:nvSpPr>
        <p:spPr>
          <a:xfrm>
            <a:off x="1703387" y="506437"/>
            <a:ext cx="8785225" cy="2439451"/>
          </a:xfrm>
        </p:spPr>
        <p:txBody>
          <a:bodyPr>
            <a:normAutofit fontScale="90000"/>
          </a:bodyPr>
          <a:lstStyle/>
          <a:p>
            <a:pPr eaLnBrk="1" hangingPunct="1"/>
            <a:r>
              <a:rPr lang="en-US" altLang="en-US" b="1" u="sng" dirty="0">
                <a:solidFill>
                  <a:srgbClr val="2429E4"/>
                </a:solidFill>
                <a:latin typeface="Times New Roman" panose="02020603050405020304" pitchFamily="18" charset="0"/>
                <a:cs typeface="Times New Roman" panose="02020603050405020304" pitchFamily="18" charset="0"/>
              </a:rPr>
              <a:t>MATH221</a:t>
            </a:r>
            <a:br>
              <a:rPr lang="en-US" altLang="en-US" b="1" dirty="0">
                <a:solidFill>
                  <a:schemeClr val="folHlink"/>
                </a:solidFill>
                <a:latin typeface="Times New Roman" panose="02020603050405020304" pitchFamily="18" charset="0"/>
                <a:cs typeface="Times New Roman" panose="02020603050405020304" pitchFamily="18" charset="0"/>
              </a:rPr>
            </a:br>
            <a:r>
              <a:rPr lang="en-US" altLang="en-US" b="1" dirty="0">
                <a:solidFill>
                  <a:srgbClr val="2429E4"/>
                </a:solidFill>
                <a:latin typeface="Times New Roman" panose="02020603050405020304" pitchFamily="18" charset="0"/>
                <a:cs typeface="Times New Roman" panose="02020603050405020304" pitchFamily="18" charset="0"/>
              </a:rPr>
              <a:t>Mathematics for Computer Science</a:t>
            </a:r>
            <a:endParaRPr lang="en-GB" altLang="en-US" b="1" dirty="0">
              <a:solidFill>
                <a:srgbClr val="2429E4"/>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6CE7508E-1A3A-4830-B125-BE1B2D1C1640}"/>
              </a:ext>
            </a:extLst>
          </p:cNvPr>
          <p:cNvSpPr txBox="1">
            <a:spLocks noChangeArrowheads="1"/>
          </p:cNvSpPr>
          <p:nvPr/>
        </p:nvSpPr>
        <p:spPr bwMode="auto">
          <a:xfrm>
            <a:off x="572716" y="3651399"/>
            <a:ext cx="11369902" cy="1918128"/>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Arial" pitchFamily="-109" charset="0"/>
                <a:cs typeface="+mj-cs"/>
              </a:defRPr>
            </a:lvl1pPr>
            <a:lvl2pPr algn="ctr" rtl="0" eaLnBrk="0" fontAlgn="base" hangingPunct="0">
              <a:spcBef>
                <a:spcPct val="0"/>
              </a:spcBef>
              <a:spcAft>
                <a:spcPct val="0"/>
              </a:spcAft>
              <a:defRPr sz="4400">
                <a:solidFill>
                  <a:schemeClr val="tx2"/>
                </a:solidFill>
                <a:latin typeface="Arial" charset="0"/>
                <a:ea typeface="Arial" pitchFamily="-109" charset="0"/>
                <a:cs typeface="Arial" charset="0"/>
              </a:defRPr>
            </a:lvl2pPr>
            <a:lvl3pPr algn="ctr" rtl="0" eaLnBrk="0" fontAlgn="base" hangingPunct="0">
              <a:spcBef>
                <a:spcPct val="0"/>
              </a:spcBef>
              <a:spcAft>
                <a:spcPct val="0"/>
              </a:spcAft>
              <a:defRPr sz="4400">
                <a:solidFill>
                  <a:schemeClr val="tx2"/>
                </a:solidFill>
                <a:latin typeface="Arial" charset="0"/>
                <a:ea typeface="Arial" pitchFamily="-109" charset="0"/>
                <a:cs typeface="Arial" charset="0"/>
              </a:defRPr>
            </a:lvl3pPr>
            <a:lvl4pPr algn="ctr" rtl="0" eaLnBrk="0" fontAlgn="base" hangingPunct="0">
              <a:spcBef>
                <a:spcPct val="0"/>
              </a:spcBef>
              <a:spcAft>
                <a:spcPct val="0"/>
              </a:spcAft>
              <a:defRPr sz="4400">
                <a:solidFill>
                  <a:schemeClr val="tx2"/>
                </a:solidFill>
                <a:latin typeface="Arial" charset="0"/>
                <a:ea typeface="Arial" pitchFamily="-109" charset="0"/>
                <a:cs typeface="Arial" charset="0"/>
              </a:defRPr>
            </a:lvl4pPr>
            <a:lvl5pPr algn="ctr" rtl="0" eaLnBrk="0" fontAlgn="base" hangingPunct="0">
              <a:spcBef>
                <a:spcPct val="0"/>
              </a:spcBef>
              <a:spcAft>
                <a:spcPct val="0"/>
              </a:spcAft>
              <a:defRPr sz="4400">
                <a:solidFill>
                  <a:schemeClr val="tx2"/>
                </a:solidFill>
                <a:latin typeface="Arial" charset="0"/>
                <a:ea typeface="Arial" pitchFamily="-109"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eaLnBrk="1" hangingPunct="1">
              <a:defRPr/>
            </a:pPr>
            <a:r>
              <a:rPr lang="en-US" altLang="en-US" b="1" kern="0" dirty="0">
                <a:solidFill>
                  <a:srgbClr val="2429E4"/>
                </a:solidFill>
                <a:latin typeface="Times New Roman" panose="02020603050405020304" pitchFamily="18" charset="0"/>
                <a:cs typeface="Times New Roman" panose="02020603050405020304" pitchFamily="18" charset="0"/>
              </a:rPr>
              <a:t>Unit 11</a:t>
            </a:r>
          </a:p>
          <a:p>
            <a:pPr eaLnBrk="1" hangingPunct="1">
              <a:defRPr/>
            </a:pPr>
            <a:r>
              <a:rPr lang="en-US" altLang="en-US" sz="4800" b="1" kern="0" dirty="0">
                <a:solidFill>
                  <a:srgbClr val="2429E4"/>
                </a:solidFill>
                <a:latin typeface="Times New Roman" panose="02020603050405020304" pitchFamily="18" charset="0"/>
                <a:cs typeface="Times New Roman" panose="02020603050405020304" pitchFamily="18" charset="0"/>
              </a:rPr>
              <a:t>Probability</a:t>
            </a:r>
            <a:endParaRPr lang="en-GB" altLang="en-US" sz="4800" b="1" kern="0" dirty="0">
              <a:solidFill>
                <a:srgbClr val="2429E4"/>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a:t>
            </a:fld>
            <a:endParaRPr lang="en-SG" dirty="0"/>
          </a:p>
        </p:txBody>
      </p:sp>
      <p:sp>
        <p:nvSpPr>
          <p:cNvPr id="6" name="TextBox 5">
            <a:extLst>
              <a:ext uri="{FF2B5EF4-FFF2-40B4-BE49-F238E27FC236}">
                <a16:creationId xmlns:a16="http://schemas.microsoft.com/office/drawing/2014/main" id="{A475D5C1-E8A6-49A4-BAC5-85ABEB9D2837}"/>
              </a:ext>
            </a:extLst>
          </p:cNvPr>
          <p:cNvSpPr txBox="1"/>
          <p:nvPr/>
        </p:nvSpPr>
        <p:spPr>
          <a:xfrm>
            <a:off x="2171365" y="136525"/>
            <a:ext cx="7849269" cy="769441"/>
          </a:xfrm>
          <a:prstGeom prst="rect">
            <a:avLst/>
          </a:prstGeom>
          <a:noFill/>
        </p:spPr>
        <p:txBody>
          <a:bodyPr wrap="square" rtlCol="0">
            <a:spAutoFit/>
          </a:bodyPr>
          <a:lstStyle/>
          <a:p>
            <a:r>
              <a:rPr lang="en-SG" sz="4400" b="1" dirty="0">
                <a:solidFill>
                  <a:srgbClr val="2429E4"/>
                </a:solidFill>
              </a:rPr>
              <a:t>Learning Objectives</a:t>
            </a:r>
            <a:endParaRPr lang="en-SG" sz="4400" b="1" dirty="0"/>
          </a:p>
        </p:txBody>
      </p:sp>
      <p:sp>
        <p:nvSpPr>
          <p:cNvPr id="4" name="TextBox 3">
            <a:extLst>
              <a:ext uri="{FF2B5EF4-FFF2-40B4-BE49-F238E27FC236}">
                <a16:creationId xmlns:a16="http://schemas.microsoft.com/office/drawing/2014/main" id="{3485D5C1-923B-4D7D-B7BE-CFA541D2F741}"/>
              </a:ext>
            </a:extLst>
          </p:cNvPr>
          <p:cNvSpPr txBox="1"/>
          <p:nvPr/>
        </p:nvSpPr>
        <p:spPr>
          <a:xfrm>
            <a:off x="106878" y="1336883"/>
            <a:ext cx="11115304" cy="2292935"/>
          </a:xfrm>
          <a:prstGeom prst="rect">
            <a:avLst/>
          </a:prstGeom>
          <a:noFill/>
        </p:spPr>
        <p:txBody>
          <a:bodyPr wrap="square" rtlCol="0">
            <a:spAutoFit/>
          </a:bodyPr>
          <a:lstStyle/>
          <a:p>
            <a:pPr marL="457200" indent="-457200">
              <a:spcBef>
                <a:spcPts val="600"/>
              </a:spcBef>
              <a:buFont typeface="Arial" panose="020B0604020202020204" pitchFamily="34" charset="0"/>
              <a:buChar char="•"/>
            </a:pPr>
            <a:r>
              <a:rPr lang="en-US" altLang="en-US" sz="3200" dirty="0">
                <a:solidFill>
                  <a:srgbClr val="0033CC"/>
                </a:solidFill>
              </a:rPr>
              <a:t>Fundamentals knowledge of probability</a:t>
            </a:r>
          </a:p>
          <a:p>
            <a:pPr marL="457200" indent="-457200">
              <a:spcBef>
                <a:spcPts val="600"/>
              </a:spcBef>
              <a:buFont typeface="Arial" panose="020B0604020202020204" pitchFamily="34" charset="0"/>
              <a:buChar char="•"/>
            </a:pPr>
            <a:r>
              <a:rPr lang="en-SG" sz="3200" dirty="0">
                <a:solidFill>
                  <a:srgbClr val="2429E4"/>
                </a:solidFill>
              </a:rPr>
              <a:t>Conditional Probability</a:t>
            </a:r>
          </a:p>
          <a:p>
            <a:pPr marL="457200" indent="-457200">
              <a:spcBef>
                <a:spcPts val="600"/>
              </a:spcBef>
              <a:buFont typeface="Arial" panose="020B0604020202020204" pitchFamily="34" charset="0"/>
              <a:buChar char="•"/>
            </a:pPr>
            <a:r>
              <a:rPr lang="en-SG" sz="3200" dirty="0">
                <a:solidFill>
                  <a:srgbClr val="2429E4"/>
                </a:solidFill>
              </a:rPr>
              <a:t>Bayes’ Theorem</a:t>
            </a:r>
          </a:p>
          <a:p>
            <a:pPr marL="457200" indent="-457200">
              <a:spcBef>
                <a:spcPts val="600"/>
              </a:spcBef>
              <a:buFont typeface="Arial" panose="020B0604020202020204" pitchFamily="34" charset="0"/>
              <a:buChar char="•"/>
            </a:pPr>
            <a:r>
              <a:rPr lang="en-SG" sz="3200" dirty="0">
                <a:solidFill>
                  <a:srgbClr val="2429E4"/>
                </a:solidFill>
              </a:rPr>
              <a:t>Independent Events</a:t>
            </a:r>
          </a:p>
        </p:txBody>
      </p:sp>
    </p:spTree>
    <p:extLst>
      <p:ext uri="{BB962C8B-B14F-4D97-AF65-F5344CB8AC3E}">
        <p14:creationId xmlns:p14="http://schemas.microsoft.com/office/powerpoint/2010/main" val="472518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a:t>
            </a:fld>
            <a:endParaRPr lang="en-SG" dirty="0"/>
          </a:p>
        </p:txBody>
      </p:sp>
      <p:sp>
        <p:nvSpPr>
          <p:cNvPr id="36" name="Title 1"/>
          <p:cNvSpPr txBox="1">
            <a:spLocks/>
          </p:cNvSpPr>
          <p:nvPr/>
        </p:nvSpPr>
        <p:spPr>
          <a:xfrm>
            <a:off x="300843" y="2253166"/>
            <a:ext cx="11376560" cy="89299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b="1" dirty="0">
                <a:solidFill>
                  <a:srgbClr val="2429E4"/>
                </a:solidFill>
                <a:latin typeface="+mn-lt"/>
              </a:rPr>
              <a:t>1: Probability Axioms</a:t>
            </a:r>
          </a:p>
        </p:txBody>
      </p:sp>
    </p:spTree>
    <p:extLst>
      <p:ext uri="{BB962C8B-B14F-4D97-AF65-F5344CB8AC3E}">
        <p14:creationId xmlns:p14="http://schemas.microsoft.com/office/powerpoint/2010/main" val="3771208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090048" y="190291"/>
            <a:ext cx="10263752" cy="71231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3600" dirty="0">
                <a:solidFill>
                  <a:schemeClr val="bg1"/>
                </a:solidFill>
              </a:rPr>
              <a:t>    Probability Axioms</a:t>
            </a: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16" name="TextBox 15"/>
          <p:cNvSpPr txBox="1"/>
          <p:nvPr/>
        </p:nvSpPr>
        <p:spPr>
          <a:xfrm>
            <a:off x="1524000" y="968614"/>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Axioms</a:t>
            </a:r>
            <a:endParaRPr lang="en-SG" sz="2000" dirty="0">
              <a:solidFill>
                <a:schemeClr val="bg1"/>
              </a:solidFill>
            </a:endParaRPr>
          </a:p>
        </p:txBody>
      </p:sp>
      <p:sp>
        <p:nvSpPr>
          <p:cNvPr id="13" name="Rectangle 3"/>
          <p:cNvSpPr txBox="1">
            <a:spLocks noChangeArrowheads="1"/>
          </p:cNvSpPr>
          <p:nvPr/>
        </p:nvSpPr>
        <p:spPr>
          <a:xfrm>
            <a:off x="2000756" y="1563468"/>
            <a:ext cx="8038595" cy="14540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Recall: a </a:t>
            </a:r>
            <a:r>
              <a:rPr lang="en-US" altLang="en-US" sz="2400" dirty="0">
                <a:solidFill>
                  <a:srgbClr val="0000FF"/>
                </a:solidFill>
              </a:rPr>
              <a:t>sample space </a:t>
            </a:r>
            <a:r>
              <a:rPr lang="en-US" altLang="en-US" sz="2400" dirty="0"/>
              <a:t>is a set of all outcomes of a random process or experiment and that an </a:t>
            </a:r>
            <a:r>
              <a:rPr lang="en-US" altLang="en-US" sz="2400" dirty="0">
                <a:solidFill>
                  <a:srgbClr val="0070C0"/>
                </a:solidFill>
              </a:rPr>
              <a:t>event</a:t>
            </a:r>
            <a:r>
              <a:rPr lang="en-US" altLang="en-US" sz="2400" dirty="0"/>
              <a:t> is a subset of a sample space.</a:t>
            </a:r>
          </a:p>
        </p:txBody>
      </p:sp>
      <p:grpSp>
        <p:nvGrpSpPr>
          <p:cNvPr id="15" name="Group 14"/>
          <p:cNvGrpSpPr/>
          <p:nvPr/>
        </p:nvGrpSpPr>
        <p:grpSpPr>
          <a:xfrm>
            <a:off x="2507795" y="2798052"/>
            <a:ext cx="7176411" cy="3492286"/>
            <a:chOff x="993228" y="4598517"/>
            <a:chExt cx="7176411" cy="3492286"/>
          </a:xfrm>
        </p:grpSpPr>
        <p:sp>
          <p:nvSpPr>
            <p:cNvPr id="17" name="Rectangle 16"/>
            <p:cNvSpPr/>
            <p:nvPr/>
          </p:nvSpPr>
          <p:spPr>
            <a:xfrm>
              <a:off x="993228" y="4598517"/>
              <a:ext cx="7176411" cy="349228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8" name="Rectangle 17"/>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TextBox 19"/>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Probability Axioms</a:t>
              </a:r>
            </a:p>
          </p:txBody>
        </p:sp>
        <p:sp>
          <p:nvSpPr>
            <p:cNvPr id="21" name="TextBox 20"/>
            <p:cNvSpPr txBox="1"/>
            <p:nvPr/>
          </p:nvSpPr>
          <p:spPr>
            <a:xfrm>
              <a:off x="1109374" y="5193984"/>
              <a:ext cx="6925353" cy="2877711"/>
            </a:xfrm>
            <a:prstGeom prst="rect">
              <a:avLst/>
            </a:prstGeom>
            <a:noFill/>
          </p:spPr>
          <p:txBody>
            <a:bodyPr wrap="square" rtlCol="0">
              <a:spAutoFit/>
            </a:bodyPr>
            <a:lstStyle/>
            <a:p>
              <a:pPr>
                <a:spcAft>
                  <a:spcPts val="600"/>
                </a:spcAft>
              </a:pPr>
              <a:r>
                <a:rPr lang="en-SG" sz="2000" dirty="0"/>
                <a:t>Let </a:t>
              </a:r>
              <a:r>
                <a:rPr lang="en-SG" sz="2000" i="1" dirty="0"/>
                <a:t>S </a:t>
              </a:r>
              <a:r>
                <a:rPr lang="en-SG" sz="2000" dirty="0"/>
                <a:t>be a sample space. A </a:t>
              </a:r>
              <a:r>
                <a:rPr lang="en-SG" sz="2000" dirty="0">
                  <a:solidFill>
                    <a:srgbClr val="C00000"/>
                  </a:solidFill>
                </a:rPr>
                <a:t>probability function </a:t>
              </a:r>
              <a:r>
                <a:rPr lang="en-SG" sz="2000" i="1" dirty="0"/>
                <a:t>P</a:t>
              </a:r>
              <a:r>
                <a:rPr lang="en-SG" sz="2000" dirty="0"/>
                <a:t> from the set of all events in </a:t>
              </a:r>
              <a:r>
                <a:rPr lang="en-SG" sz="2000" i="1" dirty="0"/>
                <a:t>S </a:t>
              </a:r>
              <a:r>
                <a:rPr lang="en-SG" sz="2000" dirty="0"/>
                <a:t>to the set of real numbers satisfies the following axioms: For all events </a:t>
              </a:r>
              <a:r>
                <a:rPr lang="en-SG" sz="2000" i="1" dirty="0"/>
                <a:t>A </a:t>
              </a:r>
              <a:r>
                <a:rPr lang="en-SG" sz="2000" dirty="0"/>
                <a:t>and </a:t>
              </a:r>
              <a:r>
                <a:rPr lang="en-SG" sz="2000" i="1" dirty="0"/>
                <a:t>B</a:t>
              </a:r>
              <a:r>
                <a:rPr lang="en-SG" sz="2000" dirty="0"/>
                <a:t> in </a:t>
              </a:r>
              <a:r>
                <a:rPr lang="en-SG" sz="2000" i="1" dirty="0"/>
                <a:t>S</a:t>
              </a:r>
              <a:r>
                <a:rPr lang="en-SG" sz="2000" dirty="0"/>
                <a:t>,</a:t>
              </a:r>
            </a:p>
            <a:p>
              <a:pPr marL="514350" indent="-514350">
                <a:spcAft>
                  <a:spcPts val="1200"/>
                </a:spcAft>
                <a:buFont typeface="+mj-lt"/>
                <a:buAutoNum type="arabicPeriod"/>
              </a:pPr>
              <a:r>
                <a:rPr lang="en-US" sz="2400" dirty="0"/>
                <a:t>0 </a:t>
              </a:r>
              <a:r>
                <a:rPr lang="en-US" sz="2400" dirty="0">
                  <a:sym typeface="Symbol"/>
                </a:rPr>
                <a:t></a:t>
              </a:r>
              <a:r>
                <a:rPr lang="en-US" sz="2400" dirty="0"/>
                <a:t> </a:t>
              </a:r>
              <a:r>
                <a:rPr lang="en-US" sz="2400" i="1" dirty="0"/>
                <a:t>P</a:t>
              </a:r>
              <a:r>
                <a:rPr lang="en-US" sz="2400" dirty="0"/>
                <a:t>(</a:t>
              </a:r>
              <a:r>
                <a:rPr lang="en-US" sz="2400" i="1" dirty="0"/>
                <a:t>A</a:t>
              </a:r>
              <a:r>
                <a:rPr lang="en-US" sz="2400" dirty="0"/>
                <a:t>) </a:t>
              </a:r>
              <a:r>
                <a:rPr lang="en-US" sz="2400" dirty="0">
                  <a:sym typeface="Symbol"/>
                </a:rPr>
                <a:t></a:t>
              </a:r>
              <a:r>
                <a:rPr lang="en-US" sz="2400" dirty="0"/>
                <a:t> 1</a:t>
              </a:r>
            </a:p>
            <a:p>
              <a:pPr marL="514350" indent="-514350">
                <a:spcAft>
                  <a:spcPts val="1200"/>
                </a:spcAft>
                <a:buFont typeface="+mj-lt"/>
                <a:buAutoNum type="arabicPeriod"/>
              </a:pPr>
              <a:r>
                <a:rPr lang="en-SG" sz="2400" i="1" dirty="0"/>
                <a:t>P</a:t>
              </a:r>
              <a:r>
                <a:rPr lang="en-SG" sz="2400" dirty="0"/>
                <a:t>(</a:t>
              </a:r>
              <a:r>
                <a:rPr lang="en-SG" sz="2400" dirty="0">
                  <a:sym typeface="Symbol"/>
                </a:rPr>
                <a:t>) = 0 and </a:t>
              </a:r>
              <a:r>
                <a:rPr lang="en-SG" sz="2400" i="1" dirty="0">
                  <a:sym typeface="Symbol"/>
                </a:rPr>
                <a:t>P</a:t>
              </a:r>
              <a:r>
                <a:rPr lang="en-SG" sz="2400" dirty="0">
                  <a:sym typeface="Symbol"/>
                </a:rPr>
                <a:t>(</a:t>
              </a:r>
              <a:r>
                <a:rPr lang="en-SG" sz="2400" i="1" dirty="0">
                  <a:sym typeface="Symbol"/>
                </a:rPr>
                <a:t>S</a:t>
              </a:r>
              <a:r>
                <a:rPr lang="en-SG" sz="2400" dirty="0">
                  <a:sym typeface="Symbol"/>
                </a:rPr>
                <a:t>) = 1</a:t>
              </a:r>
            </a:p>
            <a:p>
              <a:pPr marL="514350" indent="-514350">
                <a:buFont typeface="+mj-lt"/>
                <a:buAutoNum type="arabicPeriod"/>
              </a:pPr>
              <a:r>
                <a:rPr lang="en-SG" sz="2400" dirty="0">
                  <a:sym typeface="Symbol"/>
                </a:rPr>
                <a:t>If </a:t>
              </a:r>
              <a:r>
                <a:rPr lang="en-SG" sz="2400" i="1" dirty="0">
                  <a:sym typeface="Symbol"/>
                </a:rPr>
                <a:t>A</a:t>
              </a:r>
              <a:r>
                <a:rPr lang="en-SG" sz="2400" dirty="0">
                  <a:sym typeface="Symbol"/>
                </a:rPr>
                <a:t> and </a:t>
              </a:r>
              <a:r>
                <a:rPr lang="en-SG" sz="2400" i="1" dirty="0">
                  <a:sym typeface="Symbol"/>
                </a:rPr>
                <a:t>B</a:t>
              </a:r>
              <a:r>
                <a:rPr lang="en-SG" sz="2400" dirty="0">
                  <a:sym typeface="Symbol"/>
                </a:rPr>
                <a:t> are disjoint (</a:t>
              </a:r>
              <a:r>
                <a:rPr lang="en-SG" sz="2400" i="1" dirty="0">
                  <a:sym typeface="Symbol"/>
                </a:rPr>
                <a:t>A</a:t>
              </a:r>
              <a:r>
                <a:rPr lang="en-SG" sz="2400" dirty="0">
                  <a:sym typeface="Symbol"/>
                </a:rPr>
                <a:t>  </a:t>
              </a:r>
              <a:r>
                <a:rPr lang="en-SG" sz="2400" i="1" dirty="0">
                  <a:sym typeface="Symbol"/>
                </a:rPr>
                <a:t>B</a:t>
              </a:r>
              <a:r>
                <a:rPr lang="en-SG" sz="2400" dirty="0">
                  <a:sym typeface="Symbol"/>
                </a:rPr>
                <a:t> = ), then </a:t>
              </a:r>
            </a:p>
            <a:p>
              <a:pPr>
                <a:spcAft>
                  <a:spcPts val="1200"/>
                </a:spcAft>
              </a:pPr>
              <a:r>
                <a:rPr lang="en-SG" sz="2400" dirty="0">
                  <a:sym typeface="Symbol"/>
                </a:rPr>
                <a:t>	</a:t>
              </a:r>
              <a:r>
                <a:rPr lang="en-SG" sz="2400" i="1" dirty="0">
                  <a:sym typeface="Symbol"/>
                </a:rPr>
                <a:t>P</a:t>
              </a:r>
              <a:r>
                <a:rPr lang="en-SG" sz="2400" dirty="0">
                  <a:sym typeface="Symbol"/>
                </a:rPr>
                <a:t>(</a:t>
              </a:r>
              <a:r>
                <a:rPr lang="en-SG" sz="2400" i="1" dirty="0">
                  <a:sym typeface="Symbol"/>
                </a:rPr>
                <a:t>A</a:t>
              </a:r>
              <a:r>
                <a:rPr lang="en-SG" sz="2400" dirty="0">
                  <a:sym typeface="Symbol"/>
                </a:rPr>
                <a:t>  </a:t>
              </a:r>
              <a:r>
                <a:rPr lang="en-SG" sz="2400" i="1" dirty="0">
                  <a:sym typeface="Symbol"/>
                </a:rPr>
                <a:t>B</a:t>
              </a:r>
              <a:r>
                <a:rPr lang="en-SG" sz="2400" dirty="0">
                  <a:sym typeface="Symbol"/>
                </a:rPr>
                <a:t>) = </a:t>
              </a:r>
              <a:r>
                <a:rPr lang="en-SG" sz="2400" i="1" dirty="0">
                  <a:sym typeface="Symbol"/>
                </a:rPr>
                <a:t>P</a:t>
              </a:r>
              <a:r>
                <a:rPr lang="en-SG" sz="2400" dirty="0">
                  <a:sym typeface="Symbol"/>
                </a:rPr>
                <a:t>(</a:t>
              </a:r>
              <a:r>
                <a:rPr lang="en-SG" sz="2400" i="1" dirty="0">
                  <a:sym typeface="Symbol"/>
                </a:rPr>
                <a:t>A</a:t>
              </a:r>
              <a:r>
                <a:rPr lang="en-SG" sz="2400" dirty="0">
                  <a:sym typeface="Symbol"/>
                </a:rPr>
                <a:t>) + </a:t>
              </a:r>
              <a:r>
                <a:rPr lang="en-SG" sz="2400" i="1" dirty="0">
                  <a:sym typeface="Symbol"/>
                </a:rPr>
                <a:t>P</a:t>
              </a:r>
              <a:r>
                <a:rPr lang="en-SG" sz="2400" dirty="0">
                  <a:sym typeface="Symbol"/>
                </a:rPr>
                <a:t>(</a:t>
              </a:r>
              <a:r>
                <a:rPr lang="en-SG" sz="2400" i="1" dirty="0">
                  <a:sym typeface="Symbol"/>
                </a:rPr>
                <a:t>B</a:t>
              </a:r>
              <a:r>
                <a:rPr lang="en-SG" sz="2400" dirty="0">
                  <a:sym typeface="Symbol"/>
                </a:rPr>
                <a:t>)</a:t>
              </a:r>
              <a:endParaRPr lang="en-SG" sz="2400" dirty="0"/>
            </a:p>
          </p:txBody>
        </p:sp>
      </p:grpSp>
    </p:spTree>
    <p:extLst>
      <p:ext uri="{BB962C8B-B14F-4D97-AF65-F5344CB8AC3E}">
        <p14:creationId xmlns:p14="http://schemas.microsoft.com/office/powerpoint/2010/main" val="1135245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16" name="TextBox 15"/>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of the Complement of an Event </a:t>
            </a:r>
          </a:p>
        </p:txBody>
      </p:sp>
      <p:sp>
        <p:nvSpPr>
          <p:cNvPr id="13" name="Rectangle 3"/>
          <p:cNvSpPr txBox="1">
            <a:spLocks noChangeArrowheads="1"/>
          </p:cNvSpPr>
          <p:nvPr/>
        </p:nvSpPr>
        <p:spPr>
          <a:xfrm>
            <a:off x="2000756" y="1563469"/>
            <a:ext cx="8038595" cy="9446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Suppose that </a:t>
            </a:r>
            <a:r>
              <a:rPr lang="en-US" altLang="en-US" sz="2400" i="1" dirty="0"/>
              <a:t>A</a:t>
            </a:r>
            <a:r>
              <a:rPr lang="en-US" altLang="en-US" sz="2400" dirty="0"/>
              <a:t> is an event in a sample space </a:t>
            </a:r>
            <a:r>
              <a:rPr lang="en-US" altLang="en-US" sz="2400" i="1" dirty="0"/>
              <a:t>S</a:t>
            </a:r>
            <a:r>
              <a:rPr lang="en-US" altLang="en-US" sz="2400" dirty="0"/>
              <a:t>. Deduce that </a:t>
            </a:r>
            <a:r>
              <a:rPr lang="en-US" altLang="en-US" sz="2400" i="1" dirty="0"/>
              <a:t>P</a:t>
            </a:r>
            <a:r>
              <a:rPr lang="en-US" altLang="en-US" sz="2400" dirty="0"/>
              <a:t>(</a:t>
            </a:r>
            <a:r>
              <a:rPr lang="en-US" altLang="en-US" sz="2400" i="1" dirty="0"/>
              <a:t>A</a:t>
            </a:r>
            <a:r>
              <a:rPr lang="en-US" altLang="en-US" sz="2400" i="1" baseline="30000" dirty="0"/>
              <a:t>c</a:t>
            </a:r>
            <a:r>
              <a:rPr lang="en-US" altLang="en-US" sz="2400" dirty="0"/>
              <a:t>) = 1 – </a:t>
            </a:r>
            <a:r>
              <a:rPr lang="en-US" altLang="en-US" sz="2400" i="1" dirty="0"/>
              <a:t>P</a:t>
            </a:r>
            <a:r>
              <a:rPr lang="en-US" altLang="en-US" sz="2400" dirty="0"/>
              <a:t>(</a:t>
            </a:r>
            <a:r>
              <a:rPr lang="en-US" altLang="en-US" sz="2400" i="1" dirty="0"/>
              <a:t>A</a:t>
            </a:r>
            <a:r>
              <a:rPr lang="en-US" altLang="en-US" sz="2400" dirty="0"/>
              <a:t>).</a:t>
            </a:r>
          </a:p>
        </p:txBody>
      </p:sp>
      <p:sp>
        <p:nvSpPr>
          <p:cNvPr id="22" name="Rectangle 3"/>
          <p:cNvSpPr txBox="1">
            <a:spLocks noChangeArrowheads="1"/>
          </p:cNvSpPr>
          <p:nvPr/>
        </p:nvSpPr>
        <p:spPr>
          <a:xfrm>
            <a:off x="2278135" y="2508070"/>
            <a:ext cx="7488528" cy="1828800"/>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en-US" sz="2400" dirty="0"/>
              <a:t>By Complement Laws:</a:t>
            </a:r>
          </a:p>
          <a:p>
            <a:pPr>
              <a:buNone/>
              <a:tabLst>
                <a:tab pos="1031875" algn="l"/>
                <a:tab pos="4284663" algn="l"/>
              </a:tabLst>
            </a:pPr>
            <a:r>
              <a:rPr lang="en-US" altLang="en-US" sz="2400" dirty="0"/>
              <a:t>		(a) </a:t>
            </a:r>
            <a:r>
              <a:rPr lang="en-US" altLang="en-US" sz="2400" i="1" dirty="0"/>
              <a:t>A</a:t>
            </a:r>
            <a:r>
              <a:rPr lang="en-US" altLang="en-US" sz="2400" dirty="0"/>
              <a:t> </a:t>
            </a:r>
            <a:r>
              <a:rPr lang="en-US" altLang="en-US" sz="2400" dirty="0">
                <a:sym typeface="Symbol"/>
              </a:rPr>
              <a:t> </a:t>
            </a:r>
            <a:r>
              <a:rPr lang="en-US" altLang="en-US" sz="2400" i="1" dirty="0">
                <a:sym typeface="Symbol"/>
              </a:rPr>
              <a:t>A</a:t>
            </a:r>
            <a:r>
              <a:rPr lang="en-US" altLang="en-US" sz="2400" i="1" baseline="44000" dirty="0">
                <a:sym typeface="Symbol"/>
              </a:rPr>
              <a:t>c</a:t>
            </a:r>
            <a:r>
              <a:rPr lang="en-US" altLang="en-US" sz="2400" dirty="0">
                <a:sym typeface="Symbol"/>
              </a:rPr>
              <a:t> = </a:t>
            </a:r>
            <a:r>
              <a:rPr lang="en-US" altLang="en-US" sz="2400" i="1" dirty="0">
                <a:sym typeface="Symbol"/>
              </a:rPr>
              <a:t>U</a:t>
            </a:r>
            <a:r>
              <a:rPr lang="en-US" altLang="en-US" sz="2400" dirty="0">
                <a:sym typeface="Symbol"/>
              </a:rPr>
              <a:t>       and 	(b) </a:t>
            </a:r>
            <a:r>
              <a:rPr lang="en-US" altLang="en-US" sz="2400" i="1" dirty="0"/>
              <a:t>A</a:t>
            </a:r>
            <a:r>
              <a:rPr lang="en-US" altLang="en-US" sz="2400" dirty="0"/>
              <a:t> </a:t>
            </a:r>
            <a:r>
              <a:rPr lang="en-US" altLang="en-US" sz="2400" dirty="0">
                <a:sym typeface="Symbol"/>
              </a:rPr>
              <a:t> </a:t>
            </a:r>
            <a:r>
              <a:rPr lang="en-US" altLang="en-US" sz="2400" i="1" dirty="0">
                <a:sym typeface="Symbol"/>
              </a:rPr>
              <a:t>A</a:t>
            </a:r>
            <a:r>
              <a:rPr lang="en-US" altLang="en-US" sz="2400" i="1" baseline="44000" dirty="0">
                <a:sym typeface="Symbol"/>
              </a:rPr>
              <a:t>c</a:t>
            </a:r>
            <a:r>
              <a:rPr lang="en-US" altLang="en-US" sz="2400" dirty="0">
                <a:sym typeface="Symbol"/>
              </a:rPr>
              <a:t> =  </a:t>
            </a:r>
            <a:endParaRPr lang="en-US" altLang="en-US" sz="2400" dirty="0"/>
          </a:p>
          <a:p>
            <a:pPr marL="0" indent="0">
              <a:buNone/>
            </a:pPr>
            <a:r>
              <a:rPr lang="en-US" altLang="en-US" sz="2400" dirty="0"/>
              <a:t>With </a:t>
            </a:r>
            <a:r>
              <a:rPr lang="en-US" altLang="en-US" sz="2400" i="1" dirty="0"/>
              <a:t>S</a:t>
            </a:r>
            <a:r>
              <a:rPr lang="en-US" altLang="en-US" sz="2400" dirty="0"/>
              <a:t> playing the role of the universal set </a:t>
            </a:r>
            <a:r>
              <a:rPr lang="en-US" altLang="en-US" sz="2400" i="1" dirty="0"/>
              <a:t>U</a:t>
            </a:r>
            <a:r>
              <a:rPr lang="en-US" altLang="en-US" sz="2400" dirty="0"/>
              <a:t>,</a:t>
            </a:r>
          </a:p>
          <a:p>
            <a:pPr marL="0" indent="0">
              <a:buNone/>
              <a:tabLst>
                <a:tab pos="1423988" algn="l"/>
                <a:tab pos="4402138" algn="l"/>
              </a:tabLst>
            </a:pPr>
            <a:r>
              <a:rPr lang="en-US" altLang="en-US" sz="2400" dirty="0"/>
              <a:t>	</a:t>
            </a:r>
            <a:r>
              <a:rPr lang="en-US" altLang="en-US" sz="2400" i="1" dirty="0"/>
              <a:t> A</a:t>
            </a:r>
            <a:r>
              <a:rPr lang="en-US" altLang="en-US" sz="2400" dirty="0"/>
              <a:t> </a:t>
            </a:r>
            <a:r>
              <a:rPr lang="en-US" altLang="en-US" sz="2400" dirty="0">
                <a:sym typeface="Symbol"/>
              </a:rPr>
              <a:t> </a:t>
            </a:r>
            <a:r>
              <a:rPr lang="en-US" altLang="en-US" sz="2400" i="1" dirty="0">
                <a:sym typeface="Symbol"/>
              </a:rPr>
              <a:t>A</a:t>
            </a:r>
            <a:r>
              <a:rPr lang="en-US" altLang="en-US" sz="2400" i="1" baseline="44000" dirty="0">
                <a:sym typeface="Symbol"/>
              </a:rPr>
              <a:t>c</a:t>
            </a:r>
            <a:r>
              <a:rPr lang="en-US" altLang="en-US" sz="2400" dirty="0">
                <a:sym typeface="Symbol"/>
              </a:rPr>
              <a:t> = </a:t>
            </a:r>
            <a:r>
              <a:rPr lang="en-US" altLang="en-US" sz="2400" i="1" dirty="0">
                <a:sym typeface="Symbol"/>
              </a:rPr>
              <a:t>S</a:t>
            </a:r>
            <a:r>
              <a:rPr lang="en-US" altLang="en-US" sz="2400" dirty="0">
                <a:sym typeface="Symbol"/>
              </a:rPr>
              <a:t>       and	</a:t>
            </a:r>
            <a:r>
              <a:rPr lang="en-US" altLang="en-US" sz="2400" i="1" dirty="0"/>
              <a:t> A</a:t>
            </a:r>
            <a:r>
              <a:rPr lang="en-US" altLang="en-US" sz="2400" dirty="0"/>
              <a:t> </a:t>
            </a:r>
            <a:r>
              <a:rPr lang="en-US" altLang="en-US" sz="2400" dirty="0">
                <a:sym typeface="Symbol"/>
              </a:rPr>
              <a:t> </a:t>
            </a:r>
            <a:r>
              <a:rPr lang="en-US" altLang="en-US" sz="2400" i="1" dirty="0">
                <a:sym typeface="Symbol"/>
              </a:rPr>
              <a:t>A</a:t>
            </a:r>
            <a:r>
              <a:rPr lang="en-US" altLang="en-US" sz="2400" i="1" baseline="44000" dirty="0">
                <a:sym typeface="Symbol"/>
              </a:rPr>
              <a:t>c</a:t>
            </a:r>
            <a:r>
              <a:rPr lang="en-US" altLang="en-US" sz="2400" dirty="0">
                <a:sym typeface="Symbol"/>
              </a:rPr>
              <a:t> =  </a:t>
            </a:r>
            <a:endParaRPr lang="en-US" altLang="en-US" sz="2400" dirty="0"/>
          </a:p>
        </p:txBody>
      </p:sp>
      <p:sp>
        <p:nvSpPr>
          <p:cNvPr id="23" name="Rectangle 3"/>
          <p:cNvSpPr txBox="1">
            <a:spLocks noChangeArrowheads="1"/>
          </p:cNvSpPr>
          <p:nvPr/>
        </p:nvSpPr>
        <p:spPr>
          <a:xfrm>
            <a:off x="2278135" y="4489270"/>
            <a:ext cx="7488528" cy="1828800"/>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en-US" sz="2400" dirty="0"/>
              <a:t>Thus </a:t>
            </a:r>
            <a:r>
              <a:rPr lang="en-US" altLang="en-US" sz="2400" i="1" dirty="0"/>
              <a:t>S</a:t>
            </a:r>
            <a:r>
              <a:rPr lang="en-US" altLang="en-US" sz="2400" dirty="0"/>
              <a:t> is the disjoint union of </a:t>
            </a:r>
            <a:r>
              <a:rPr lang="en-US" altLang="en-US" sz="2400" i="1" dirty="0"/>
              <a:t>A</a:t>
            </a:r>
            <a:r>
              <a:rPr lang="en-US" altLang="en-US" sz="2400" dirty="0"/>
              <a:t> and </a:t>
            </a:r>
            <a:r>
              <a:rPr lang="en-US" altLang="en-US" sz="2400" i="1" dirty="0">
                <a:sym typeface="Symbol"/>
              </a:rPr>
              <a:t>A</a:t>
            </a:r>
            <a:r>
              <a:rPr lang="en-US" altLang="en-US" sz="2400" i="1" baseline="44000" dirty="0">
                <a:sym typeface="Symbol"/>
              </a:rPr>
              <a:t>c</a:t>
            </a:r>
            <a:r>
              <a:rPr lang="en-US" altLang="en-US" sz="2400" dirty="0"/>
              <a:t>, and so</a:t>
            </a:r>
          </a:p>
          <a:p>
            <a:pPr>
              <a:buNone/>
              <a:tabLst>
                <a:tab pos="1031875" algn="l"/>
                <a:tab pos="4284663" algn="l"/>
              </a:tabLst>
            </a:pPr>
            <a:r>
              <a:rPr lang="en-US" altLang="en-US" sz="2400" dirty="0"/>
              <a:t>		</a:t>
            </a:r>
            <a:r>
              <a:rPr lang="en-US" altLang="en-US" sz="2400" i="1" dirty="0"/>
              <a:t>P</a:t>
            </a:r>
            <a:r>
              <a:rPr lang="en-US" altLang="en-US" sz="2400" dirty="0"/>
              <a:t>(</a:t>
            </a:r>
            <a:r>
              <a:rPr lang="en-US" altLang="en-US" sz="2400" i="1" dirty="0"/>
              <a:t>A</a:t>
            </a:r>
            <a:r>
              <a:rPr lang="en-US" altLang="en-US" sz="2400" dirty="0"/>
              <a:t> </a:t>
            </a:r>
            <a:r>
              <a:rPr lang="en-US" altLang="en-US" sz="2400" dirty="0">
                <a:sym typeface="Symbol"/>
              </a:rPr>
              <a:t> </a:t>
            </a:r>
            <a:r>
              <a:rPr lang="en-US" altLang="en-US" sz="2400" i="1" dirty="0">
                <a:sym typeface="Symbol"/>
              </a:rPr>
              <a:t>A</a:t>
            </a:r>
            <a:r>
              <a:rPr lang="en-US" altLang="en-US" sz="2400" i="1" baseline="44000" dirty="0">
                <a:sym typeface="Symbol"/>
              </a:rPr>
              <a:t>c</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i="1" baseline="44000" dirty="0">
                <a:sym typeface="Symbol"/>
              </a:rPr>
              <a:t>c</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S</a:t>
            </a:r>
            <a:r>
              <a:rPr lang="en-US" altLang="en-US" sz="2400" dirty="0">
                <a:sym typeface="Symbol"/>
              </a:rPr>
              <a:t>) = 1</a:t>
            </a:r>
          </a:p>
          <a:p>
            <a:pPr>
              <a:buNone/>
              <a:tabLst>
                <a:tab pos="1031875" algn="l"/>
                <a:tab pos="4284663" algn="l"/>
              </a:tabLst>
            </a:pPr>
            <a:r>
              <a:rPr lang="en-US" altLang="en-US" sz="2400" dirty="0"/>
              <a:t>Subtracting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a:t>
            </a:r>
            <a:r>
              <a:rPr lang="en-US" altLang="en-US" sz="2400" dirty="0"/>
              <a:t> from both sides:</a:t>
            </a:r>
          </a:p>
          <a:p>
            <a:pPr marL="0" indent="0">
              <a:buNone/>
              <a:tabLst>
                <a:tab pos="1423988" algn="l"/>
                <a:tab pos="4402138" algn="l"/>
              </a:tabLst>
            </a:pPr>
            <a:r>
              <a:rPr lang="en-US" altLang="en-US" sz="2400" dirty="0"/>
              <a:t>	</a:t>
            </a:r>
            <a:r>
              <a:rPr lang="en-US" altLang="en-US" sz="2400" i="1" dirty="0"/>
              <a:t> P</a:t>
            </a:r>
            <a:r>
              <a:rPr lang="en-US" altLang="en-US" sz="2400" dirty="0"/>
              <a:t>(</a:t>
            </a:r>
            <a:r>
              <a:rPr lang="en-US" altLang="en-US" sz="2400" i="1" dirty="0">
                <a:sym typeface="Symbol"/>
              </a:rPr>
              <a:t>A</a:t>
            </a:r>
            <a:r>
              <a:rPr lang="en-US" altLang="en-US" sz="2400" i="1" baseline="44000" dirty="0">
                <a:sym typeface="Symbol"/>
              </a:rPr>
              <a:t>c</a:t>
            </a:r>
            <a:r>
              <a:rPr lang="en-US" altLang="en-US" sz="2400" dirty="0">
                <a:sym typeface="Symbol"/>
              </a:rPr>
              <a:t>) = 1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a:t>
            </a:r>
            <a:endParaRPr lang="en-US" altLang="en-US" sz="2400" dirty="0"/>
          </a:p>
        </p:txBody>
      </p:sp>
      <p:sp>
        <p:nvSpPr>
          <p:cNvPr id="15" name="TextBox 14">
            <a:extLst>
              <a:ext uri="{FF2B5EF4-FFF2-40B4-BE49-F238E27FC236}">
                <a16:creationId xmlns:a16="http://schemas.microsoft.com/office/drawing/2014/main" id="{EE6F83C1-F5F9-4448-8BA0-581601ED5229}"/>
              </a:ext>
            </a:extLst>
          </p:cNvPr>
          <p:cNvSpPr txBox="1"/>
          <p:nvPr/>
        </p:nvSpPr>
        <p:spPr>
          <a:xfrm>
            <a:off x="888176" y="33447"/>
            <a:ext cx="10596067" cy="71231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3600" dirty="0">
                <a:solidFill>
                  <a:schemeClr val="bg1"/>
                </a:solidFill>
              </a:rPr>
              <a:t>    Probability Axioms</a:t>
            </a:r>
          </a:p>
        </p:txBody>
      </p:sp>
    </p:spTree>
    <p:extLst>
      <p:ext uri="{BB962C8B-B14F-4D97-AF65-F5344CB8AC3E}">
        <p14:creationId xmlns:p14="http://schemas.microsoft.com/office/powerpoint/2010/main" val="256587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16" name="TextBox 15"/>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of the Complement of an Event</a:t>
            </a:r>
          </a:p>
        </p:txBody>
      </p:sp>
      <p:grpSp>
        <p:nvGrpSpPr>
          <p:cNvPr id="18" name="Group 17"/>
          <p:cNvGrpSpPr/>
          <p:nvPr/>
        </p:nvGrpSpPr>
        <p:grpSpPr>
          <a:xfrm>
            <a:off x="2507795" y="1753025"/>
            <a:ext cx="7176411" cy="1503409"/>
            <a:chOff x="993228" y="4598517"/>
            <a:chExt cx="7176411" cy="1503409"/>
          </a:xfrm>
        </p:grpSpPr>
        <p:sp>
          <p:nvSpPr>
            <p:cNvPr id="20" name="Rectangle 19"/>
            <p:cNvSpPr/>
            <p:nvPr/>
          </p:nvSpPr>
          <p:spPr>
            <a:xfrm>
              <a:off x="993228" y="4598518"/>
              <a:ext cx="7176411" cy="15034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1" name="Rectangle 20"/>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672460" cy="461665"/>
            </a:xfrm>
            <a:prstGeom prst="rect">
              <a:avLst/>
            </a:prstGeom>
            <a:noFill/>
          </p:spPr>
          <p:txBody>
            <a:bodyPr wrap="square" rtlCol="0">
              <a:spAutoFit/>
            </a:bodyPr>
            <a:lstStyle/>
            <a:p>
              <a:r>
                <a:rPr lang="en-SG" sz="2400" dirty="0">
                  <a:solidFill>
                    <a:schemeClr val="bg1"/>
                  </a:solidFill>
                </a:rPr>
                <a:t>Probability of the Complement of an Event </a:t>
              </a:r>
            </a:p>
          </p:txBody>
        </p:sp>
        <p:sp>
          <p:nvSpPr>
            <p:cNvPr id="25" name="TextBox 24"/>
            <p:cNvSpPr txBox="1"/>
            <p:nvPr/>
          </p:nvSpPr>
          <p:spPr>
            <a:xfrm>
              <a:off x="1109374" y="5193984"/>
              <a:ext cx="6925353" cy="907941"/>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is any event in a sample space </a:t>
              </a:r>
              <a:r>
                <a:rPr lang="en-SG" sz="2400" i="1" dirty="0"/>
                <a:t>S</a:t>
              </a:r>
              <a:r>
                <a:rPr lang="en-SG" sz="2400" dirty="0"/>
                <a:t>, then</a:t>
              </a:r>
            </a:p>
            <a:p>
              <a:pPr>
                <a:spcAft>
                  <a:spcPts val="1200"/>
                </a:spcAft>
                <a:tabLst>
                  <a:tab pos="1828800" algn="l"/>
                </a:tabLst>
              </a:pPr>
              <a:r>
                <a:rPr lang="en-SG" sz="2400" dirty="0">
                  <a:sym typeface="Symbol"/>
                </a:rPr>
                <a:t>	</a:t>
              </a:r>
              <a:r>
                <a:rPr lang="en-US" altLang="en-US" sz="2400" i="1" dirty="0"/>
                <a:t> P</a:t>
              </a:r>
              <a:r>
                <a:rPr lang="en-US" altLang="en-US" sz="2400" dirty="0"/>
                <a:t>(</a:t>
              </a:r>
              <a:r>
                <a:rPr lang="en-US" altLang="en-US" sz="2400" i="1" dirty="0">
                  <a:sym typeface="Symbol"/>
                </a:rPr>
                <a:t>A</a:t>
              </a:r>
              <a:r>
                <a:rPr lang="en-US" altLang="en-US" sz="2400" i="1" baseline="44000" dirty="0">
                  <a:sym typeface="Symbol"/>
                </a:rPr>
                <a:t>c</a:t>
              </a:r>
              <a:r>
                <a:rPr lang="en-US" altLang="en-US" sz="2400" dirty="0">
                  <a:sym typeface="Symbol"/>
                </a:rPr>
                <a:t>) = 1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a:t>
              </a:r>
              <a:endParaRPr lang="en-SG" sz="2400" dirty="0"/>
            </a:p>
          </p:txBody>
        </p:sp>
      </p:grpSp>
      <p:sp>
        <p:nvSpPr>
          <p:cNvPr id="17" name="TextBox 16">
            <a:extLst>
              <a:ext uri="{FF2B5EF4-FFF2-40B4-BE49-F238E27FC236}">
                <a16:creationId xmlns:a16="http://schemas.microsoft.com/office/drawing/2014/main" id="{4C3436B3-849D-4384-B715-810BF8531431}"/>
              </a:ext>
            </a:extLst>
          </p:cNvPr>
          <p:cNvSpPr txBox="1"/>
          <p:nvPr/>
        </p:nvSpPr>
        <p:spPr>
          <a:xfrm>
            <a:off x="964124" y="49350"/>
            <a:ext cx="10263752" cy="71231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3600" dirty="0">
                <a:solidFill>
                  <a:schemeClr val="bg1"/>
                </a:solidFill>
              </a:rPr>
              <a:t>    Probability Axioms</a:t>
            </a:r>
          </a:p>
        </p:txBody>
      </p:sp>
    </p:spTree>
    <p:extLst>
      <p:ext uri="{BB962C8B-B14F-4D97-AF65-F5344CB8AC3E}">
        <p14:creationId xmlns:p14="http://schemas.microsoft.com/office/powerpoint/2010/main" val="199826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16" name="TextBox 15"/>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of a General Union of Two Events</a:t>
            </a:r>
          </a:p>
        </p:txBody>
      </p:sp>
      <p:grpSp>
        <p:nvGrpSpPr>
          <p:cNvPr id="18" name="Group 17"/>
          <p:cNvGrpSpPr/>
          <p:nvPr/>
        </p:nvGrpSpPr>
        <p:grpSpPr>
          <a:xfrm>
            <a:off x="2507795" y="1753025"/>
            <a:ext cx="7176411" cy="1503409"/>
            <a:chOff x="993228" y="4598517"/>
            <a:chExt cx="7176411" cy="1503409"/>
          </a:xfrm>
        </p:grpSpPr>
        <p:sp>
          <p:nvSpPr>
            <p:cNvPr id="20" name="Rectangle 19"/>
            <p:cNvSpPr/>
            <p:nvPr/>
          </p:nvSpPr>
          <p:spPr>
            <a:xfrm>
              <a:off x="993228" y="4598518"/>
              <a:ext cx="7176411" cy="15034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1" name="Rectangle 20"/>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672460" cy="461665"/>
            </a:xfrm>
            <a:prstGeom prst="rect">
              <a:avLst/>
            </a:prstGeom>
            <a:noFill/>
          </p:spPr>
          <p:txBody>
            <a:bodyPr wrap="square" rtlCol="0">
              <a:spAutoFit/>
            </a:bodyPr>
            <a:lstStyle/>
            <a:p>
              <a:r>
                <a:rPr lang="en-SG" sz="2400" dirty="0">
                  <a:solidFill>
                    <a:schemeClr val="bg1"/>
                  </a:solidFill>
                </a:rPr>
                <a:t>Probability of a General Union of Two Events </a:t>
              </a:r>
            </a:p>
          </p:txBody>
        </p:sp>
        <p:sp>
          <p:nvSpPr>
            <p:cNvPr id="25" name="TextBox 24"/>
            <p:cNvSpPr txBox="1"/>
            <p:nvPr/>
          </p:nvSpPr>
          <p:spPr>
            <a:xfrm>
              <a:off x="1109374" y="5193984"/>
              <a:ext cx="6925353" cy="907941"/>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and </a:t>
              </a:r>
              <a:r>
                <a:rPr lang="en-SG" sz="2400" i="1" dirty="0"/>
                <a:t>B</a:t>
              </a:r>
              <a:r>
                <a:rPr lang="en-SG" sz="2400" dirty="0"/>
                <a:t> are any events in a sample space </a:t>
              </a:r>
              <a:r>
                <a:rPr lang="en-SG" sz="2400" i="1" dirty="0"/>
                <a:t>S</a:t>
              </a:r>
              <a:r>
                <a:rPr lang="en-SG" sz="2400" dirty="0"/>
                <a:t>, then</a:t>
              </a:r>
            </a:p>
            <a:p>
              <a:pPr>
                <a:spcAft>
                  <a:spcPts val="1200"/>
                </a:spcAft>
                <a:tabLst>
                  <a:tab pos="1828800" algn="l"/>
                </a:tabLst>
              </a:pPr>
              <a:r>
                <a:rPr lang="en-SG" sz="2400" dirty="0">
                  <a:sym typeface="Symbol"/>
                </a:rPr>
                <a:t>	</a:t>
              </a:r>
              <a:r>
                <a:rPr lang="en-US" altLang="en-US" sz="2400" i="1" dirty="0"/>
                <a:t> P</a:t>
              </a:r>
              <a:r>
                <a:rPr lang="en-US" altLang="en-US" sz="2400" dirty="0"/>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 </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a:t>
              </a:r>
              <a:r>
                <a:rPr lang="en-US" altLang="en-US" sz="2400" dirty="0">
                  <a:sym typeface="Symbol"/>
                </a:rPr>
                <a:t> </a:t>
              </a:r>
              <a:r>
                <a:rPr lang="en-US" altLang="en-US" sz="2400" i="1" dirty="0">
                  <a:sym typeface="Symbol"/>
                </a:rPr>
                <a:t>B</a:t>
              </a:r>
              <a:r>
                <a:rPr lang="en-US" altLang="en-US" sz="2400" dirty="0">
                  <a:sym typeface="Symbol"/>
                </a:rPr>
                <a:t>). </a:t>
              </a:r>
              <a:endParaRPr lang="en-SG" sz="2400" dirty="0"/>
            </a:p>
          </p:txBody>
        </p:sp>
      </p:grpSp>
      <p:sp>
        <p:nvSpPr>
          <p:cNvPr id="2" name="TextBox 1"/>
          <p:cNvSpPr txBox="1"/>
          <p:nvPr/>
        </p:nvSpPr>
        <p:spPr>
          <a:xfrm>
            <a:off x="961901" y="4669235"/>
            <a:ext cx="10557164" cy="954107"/>
          </a:xfrm>
          <a:prstGeom prst="rect">
            <a:avLst/>
          </a:prstGeom>
          <a:noFill/>
        </p:spPr>
        <p:txBody>
          <a:bodyPr wrap="square" rtlCol="0">
            <a:spAutoFit/>
          </a:bodyPr>
          <a:lstStyle/>
          <a:p>
            <a:pPr>
              <a:spcAft>
                <a:spcPts val="600"/>
              </a:spcAft>
            </a:pPr>
            <a:r>
              <a:rPr lang="en-SG" sz="2800" dirty="0"/>
              <a:t>Note: This unit shall focus on the use of all these basic properties. However, their proofs can be fund in supplementary notes.</a:t>
            </a:r>
          </a:p>
        </p:txBody>
      </p:sp>
      <p:sp>
        <p:nvSpPr>
          <p:cNvPr id="22" name="TextBox 21">
            <a:extLst>
              <a:ext uri="{FF2B5EF4-FFF2-40B4-BE49-F238E27FC236}">
                <a16:creationId xmlns:a16="http://schemas.microsoft.com/office/drawing/2014/main" id="{D30962A4-185F-4EFE-8291-1E27F01D8B37}"/>
              </a:ext>
            </a:extLst>
          </p:cNvPr>
          <p:cNvSpPr txBox="1"/>
          <p:nvPr/>
        </p:nvSpPr>
        <p:spPr>
          <a:xfrm>
            <a:off x="828295" y="49350"/>
            <a:ext cx="10263752" cy="71231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3600" dirty="0">
                <a:solidFill>
                  <a:schemeClr val="bg1"/>
                </a:solidFill>
              </a:rPr>
              <a:t>    Probability Axioms</a:t>
            </a:r>
          </a:p>
        </p:txBody>
      </p:sp>
    </p:spTree>
    <p:extLst>
      <p:ext uri="{BB962C8B-B14F-4D97-AF65-F5344CB8AC3E}">
        <p14:creationId xmlns:p14="http://schemas.microsoft.com/office/powerpoint/2010/main" val="3144269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36" name="Title 1"/>
          <p:cNvSpPr txBox="1">
            <a:spLocks/>
          </p:cNvSpPr>
          <p:nvPr/>
        </p:nvSpPr>
        <p:spPr>
          <a:xfrm>
            <a:off x="158338" y="2422567"/>
            <a:ext cx="11875324" cy="18139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b="1" dirty="0">
                <a:solidFill>
                  <a:srgbClr val="2429E4"/>
                </a:solidFill>
                <a:latin typeface="+mn-lt"/>
              </a:rPr>
              <a:t>2: Conditional Probability, Bayes’ Theorem, and Independent Events</a:t>
            </a:r>
          </a:p>
        </p:txBody>
      </p:sp>
    </p:spTree>
    <p:extLst>
      <p:ext uri="{BB962C8B-B14F-4D97-AF65-F5344CB8AC3E}">
        <p14:creationId xmlns:p14="http://schemas.microsoft.com/office/powerpoint/2010/main" val="1805800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27" name="TextBox 26"/>
          <p:cNvSpPr txBox="1"/>
          <p:nvPr/>
        </p:nvSpPr>
        <p:spPr>
          <a:xfrm>
            <a:off x="866900" y="206191"/>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
        <p:nvSpPr>
          <p:cNvPr id="28" name="TextBox 27"/>
          <p:cNvSpPr txBox="1"/>
          <p:nvPr/>
        </p:nvSpPr>
        <p:spPr>
          <a:xfrm>
            <a:off x="1442239" y="931794"/>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Conditional Probability</a:t>
            </a:r>
            <a:endParaRPr lang="en-SG" sz="2000" dirty="0">
              <a:solidFill>
                <a:schemeClr val="bg1"/>
              </a:solidFill>
            </a:endParaRPr>
          </a:p>
        </p:txBody>
      </p:sp>
      <p:sp>
        <p:nvSpPr>
          <p:cNvPr id="30" name="Rectangle 3"/>
          <p:cNvSpPr txBox="1">
            <a:spLocks noChangeArrowheads="1"/>
          </p:cNvSpPr>
          <p:nvPr/>
        </p:nvSpPr>
        <p:spPr>
          <a:xfrm>
            <a:off x="1856425" y="1568776"/>
            <a:ext cx="8315629" cy="16703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Imagine a couple with two children, each of whom is equally likely to be a boy or a girl. Now suppose you are given the information that one is a boy. What is the probability that the other child is a boy?</a:t>
            </a:r>
          </a:p>
        </p:txBody>
      </p:sp>
      <p:grpSp>
        <p:nvGrpSpPr>
          <p:cNvPr id="2" name="Group 1"/>
          <p:cNvGrpSpPr/>
          <p:nvPr/>
        </p:nvGrpSpPr>
        <p:grpSpPr>
          <a:xfrm>
            <a:off x="2046139" y="3239147"/>
            <a:ext cx="3534502" cy="2872009"/>
            <a:chOff x="522139" y="3239146"/>
            <a:chExt cx="3534502" cy="2872009"/>
          </a:xfrm>
        </p:grpSpPr>
        <p:sp>
          <p:nvSpPr>
            <p:cNvPr id="43" name="Text Box 7"/>
            <p:cNvSpPr txBox="1">
              <a:spLocks noChangeArrowheads="1"/>
            </p:cNvSpPr>
            <p:nvPr/>
          </p:nvSpPr>
          <p:spPr bwMode="auto">
            <a:xfrm>
              <a:off x="1328772" y="5741823"/>
              <a:ext cx="19212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dirty="0"/>
                <a:t>Figure 11.11.1</a:t>
              </a:r>
            </a:p>
          </p:txBody>
        </p:sp>
        <p:pic>
          <p:nvPicPr>
            <p:cNvPr id="44"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139" y="3239146"/>
              <a:ext cx="3534502" cy="250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3323" y="2896694"/>
            <a:ext cx="2091786" cy="1441008"/>
          </a:xfrm>
          <a:prstGeom prst="rect">
            <a:avLst/>
          </a:prstGeom>
        </p:spPr>
      </p:pic>
      <p:sp>
        <p:nvSpPr>
          <p:cNvPr id="7" name="TextBox 6"/>
          <p:cNvSpPr txBox="1"/>
          <p:nvPr/>
        </p:nvSpPr>
        <p:spPr>
          <a:xfrm>
            <a:off x="6018509" y="4617066"/>
            <a:ext cx="3409628" cy="954107"/>
          </a:xfrm>
          <a:prstGeom prst="rect">
            <a:avLst/>
          </a:prstGeom>
          <a:noFill/>
        </p:spPr>
        <p:txBody>
          <a:bodyPr wrap="square" rtlCol="0">
            <a:spAutoFit/>
          </a:bodyPr>
          <a:lstStyle/>
          <a:p>
            <a:r>
              <a:rPr lang="en-SG" sz="2800" dirty="0"/>
              <a:t>New sample space = </a:t>
            </a:r>
            <a:r>
              <a:rPr lang="en-SG" sz="2800" dirty="0" err="1"/>
              <a:t>gray</a:t>
            </a:r>
            <a:r>
              <a:rPr lang="en-SG" sz="2800" dirty="0"/>
              <a:t> region. </a:t>
            </a:r>
          </a:p>
        </p:txBody>
      </p:sp>
    </p:spTree>
    <p:extLst>
      <p:ext uri="{BB962C8B-B14F-4D97-AF65-F5344CB8AC3E}">
        <p14:creationId xmlns:p14="http://schemas.microsoft.com/office/powerpoint/2010/main" val="71058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grpSp>
        <p:nvGrpSpPr>
          <p:cNvPr id="3" name="Group 2"/>
          <p:cNvGrpSpPr/>
          <p:nvPr/>
        </p:nvGrpSpPr>
        <p:grpSpPr>
          <a:xfrm>
            <a:off x="7676382" y="1679143"/>
            <a:ext cx="2668536" cy="2239988"/>
            <a:chOff x="5669552" y="2906155"/>
            <a:chExt cx="2668536" cy="2239988"/>
          </a:xfrm>
        </p:grpSpPr>
        <p:sp>
          <p:nvSpPr>
            <p:cNvPr id="43" name="Text Box 7"/>
            <p:cNvSpPr txBox="1">
              <a:spLocks noChangeArrowheads="1"/>
            </p:cNvSpPr>
            <p:nvPr/>
          </p:nvSpPr>
          <p:spPr bwMode="auto">
            <a:xfrm>
              <a:off x="6043202" y="4776811"/>
              <a:ext cx="19212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dirty="0"/>
                <a:t>Figure 11.8.1</a:t>
              </a:r>
            </a:p>
          </p:txBody>
        </p:sp>
        <p:pic>
          <p:nvPicPr>
            <p:cNvPr id="44" name="Picture 4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9552" y="2906155"/>
              <a:ext cx="2668536" cy="18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7"/>
          <p:cNvGrpSpPr/>
          <p:nvPr/>
        </p:nvGrpSpPr>
        <p:grpSpPr>
          <a:xfrm>
            <a:off x="2008825" y="4182794"/>
            <a:ext cx="7962445" cy="1413734"/>
            <a:chOff x="484824" y="4182794"/>
            <a:chExt cx="7962445" cy="1413734"/>
          </a:xfrm>
        </p:grpSpPr>
        <p:sp>
          <p:nvSpPr>
            <p:cNvPr id="30" name="Rectangle 3"/>
            <p:cNvSpPr txBox="1">
              <a:spLocks noChangeArrowheads="1"/>
            </p:cNvSpPr>
            <p:nvPr/>
          </p:nvSpPr>
          <p:spPr>
            <a:xfrm>
              <a:off x="484824" y="4182794"/>
              <a:ext cx="2335868" cy="51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Note also</a:t>
              </a:r>
            </a:p>
          </p:txBody>
        </p:sp>
        <p:pic>
          <p:nvPicPr>
            <p:cNvPr id="18"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31" y="4678953"/>
              <a:ext cx="783113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Rectangle 3"/>
          <p:cNvSpPr txBox="1">
            <a:spLocks noChangeArrowheads="1"/>
          </p:cNvSpPr>
          <p:nvPr/>
        </p:nvSpPr>
        <p:spPr>
          <a:xfrm>
            <a:off x="2008825" y="1721176"/>
            <a:ext cx="5172057" cy="25516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Within the new sample space, there is one combination where the other child is a boy (blue-gray region).</a:t>
            </a:r>
          </a:p>
          <a:p>
            <a:pPr marL="0" indent="0">
              <a:lnSpc>
                <a:spcPct val="100000"/>
              </a:lnSpc>
              <a:spcBef>
                <a:spcPts val="0"/>
              </a:spcBef>
              <a:spcAft>
                <a:spcPts val="600"/>
              </a:spcAft>
              <a:buNone/>
            </a:pPr>
            <a:r>
              <a:rPr lang="en-US" altLang="en-US" sz="2400" dirty="0"/>
              <a:t>Hence, the likelihood that the other child is a boy given that at least one is a boy = 1/3. </a:t>
            </a:r>
          </a:p>
        </p:txBody>
      </p:sp>
      <p:sp>
        <p:nvSpPr>
          <p:cNvPr id="21" name="TextBox 20">
            <a:extLst>
              <a:ext uri="{FF2B5EF4-FFF2-40B4-BE49-F238E27FC236}">
                <a16:creationId xmlns:a16="http://schemas.microsoft.com/office/drawing/2014/main" id="{E5F042B7-CDB5-44D6-9C1E-FDE968B4FDA7}"/>
              </a:ext>
            </a:extLst>
          </p:cNvPr>
          <p:cNvSpPr txBox="1"/>
          <p:nvPr/>
        </p:nvSpPr>
        <p:spPr>
          <a:xfrm>
            <a:off x="866900" y="206191"/>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169174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20" name="Rectangle 3"/>
          <p:cNvSpPr txBox="1">
            <a:spLocks noChangeArrowheads="1"/>
          </p:cNvSpPr>
          <p:nvPr/>
        </p:nvSpPr>
        <p:spPr>
          <a:xfrm>
            <a:off x="2008824" y="936012"/>
            <a:ext cx="8163230" cy="9600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A generalization of this observation forms the basis for the following definition. </a:t>
            </a:r>
          </a:p>
        </p:txBody>
      </p:sp>
      <p:grpSp>
        <p:nvGrpSpPr>
          <p:cNvPr id="21" name="Group 20"/>
          <p:cNvGrpSpPr/>
          <p:nvPr/>
        </p:nvGrpSpPr>
        <p:grpSpPr>
          <a:xfrm>
            <a:off x="2490855" y="1823413"/>
            <a:ext cx="7176411" cy="2675023"/>
            <a:chOff x="993228" y="4598517"/>
            <a:chExt cx="7176411" cy="2675023"/>
          </a:xfrm>
        </p:grpSpPr>
        <p:sp>
          <p:nvSpPr>
            <p:cNvPr id="22" name="Rectangle 21"/>
            <p:cNvSpPr/>
            <p:nvPr/>
          </p:nvSpPr>
          <p:spPr>
            <a:xfrm>
              <a:off x="993228" y="4598517"/>
              <a:ext cx="7176411" cy="267502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542166" cy="461665"/>
            </a:xfrm>
            <a:prstGeom prst="rect">
              <a:avLst/>
            </a:prstGeom>
            <a:noFill/>
          </p:spPr>
          <p:txBody>
            <a:bodyPr wrap="square" rtlCol="0">
              <a:spAutoFit/>
            </a:bodyPr>
            <a:lstStyle/>
            <a:p>
              <a:r>
                <a:rPr lang="en-SG" sz="2400" dirty="0">
                  <a:solidFill>
                    <a:schemeClr val="bg1"/>
                  </a:solidFill>
                </a:rPr>
                <a:t>Definition: Conditional Probability</a:t>
              </a:r>
            </a:p>
          </p:txBody>
        </p:sp>
        <p:sp>
          <p:nvSpPr>
            <p:cNvPr id="25" name="TextBox 24"/>
            <p:cNvSpPr txBox="1"/>
            <p:nvPr/>
          </p:nvSpPr>
          <p:spPr>
            <a:xfrm>
              <a:off x="1109374" y="5193984"/>
              <a:ext cx="6925353" cy="1200329"/>
            </a:xfrm>
            <a:prstGeom prst="rect">
              <a:avLst/>
            </a:prstGeom>
            <a:noFill/>
          </p:spPr>
          <p:txBody>
            <a:bodyPr wrap="square" rtlCol="0">
              <a:spAutoFit/>
            </a:bodyPr>
            <a:lstStyle/>
            <a:p>
              <a:pPr>
                <a:spcAft>
                  <a:spcPts val="600"/>
                </a:spcAft>
              </a:pPr>
              <a:r>
                <a:rPr lang="en-SG" sz="2400" dirty="0"/>
                <a:t>Let </a:t>
              </a:r>
              <a:r>
                <a:rPr lang="en-SG" sz="2400" i="1" dirty="0"/>
                <a:t>A</a:t>
              </a:r>
              <a:r>
                <a:rPr lang="en-SG" sz="2400" dirty="0"/>
                <a:t> and </a:t>
              </a:r>
              <a:r>
                <a:rPr lang="en-SG" sz="2400" i="1" dirty="0"/>
                <a:t>B</a:t>
              </a:r>
              <a:r>
                <a:rPr lang="en-SG" sz="2400" dirty="0"/>
                <a:t> be events in a sample space </a:t>
              </a:r>
              <a:r>
                <a:rPr lang="en-SG" sz="2400" i="1" dirty="0"/>
                <a:t>S</a:t>
              </a:r>
              <a:r>
                <a:rPr lang="en-SG" sz="2400" dirty="0"/>
                <a:t>. If </a:t>
              </a:r>
              <a:r>
                <a:rPr lang="en-SG" sz="2400" i="1" dirty="0"/>
                <a:t>P</a:t>
              </a:r>
              <a:r>
                <a:rPr lang="en-SG" sz="2400" dirty="0"/>
                <a:t>(</a:t>
              </a:r>
              <a:r>
                <a:rPr lang="en-SG" sz="2400" i="1" dirty="0"/>
                <a:t>A</a:t>
              </a:r>
              <a:r>
                <a:rPr lang="en-SG" sz="2400" dirty="0"/>
                <a:t>) </a:t>
              </a:r>
              <a:r>
                <a:rPr lang="en-SG" sz="2400" dirty="0">
                  <a:sym typeface="Symbol" panose="05050102010706020507" pitchFamily="18" charset="2"/>
                </a:rPr>
                <a:t> 0, then the </a:t>
              </a:r>
              <a:r>
                <a:rPr lang="en-SG" sz="2400" b="1" dirty="0">
                  <a:sym typeface="Symbol" panose="05050102010706020507" pitchFamily="18" charset="2"/>
                </a:rPr>
                <a:t>conditional probability of </a:t>
              </a:r>
              <a:r>
                <a:rPr lang="en-SG" sz="2400" b="1" i="1" dirty="0">
                  <a:sym typeface="Symbol" panose="05050102010706020507" pitchFamily="18" charset="2"/>
                </a:rPr>
                <a:t>B</a:t>
              </a:r>
              <a:r>
                <a:rPr lang="en-SG" sz="2400" b="1" dirty="0">
                  <a:sym typeface="Symbol" panose="05050102010706020507" pitchFamily="18" charset="2"/>
                </a:rPr>
                <a:t> given </a:t>
              </a:r>
              <a:r>
                <a:rPr lang="en-SG" sz="2400" b="1" i="1" dirty="0">
                  <a:sym typeface="Symbol" panose="05050102010706020507" pitchFamily="18" charset="2"/>
                </a:rPr>
                <a:t>A</a:t>
              </a:r>
              <a:r>
                <a:rPr lang="en-SG" sz="2400" dirty="0">
                  <a:sym typeface="Symbol" panose="05050102010706020507" pitchFamily="18" charset="2"/>
                </a:rPr>
                <a:t>, denoted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B</a:t>
              </a:r>
              <a:r>
                <a:rPr lang="en-SG" sz="2400" dirty="0">
                  <a:sym typeface="Symbol" panose="05050102010706020507" pitchFamily="18" charset="2"/>
                </a:rPr>
                <a:t>|</a:t>
              </a:r>
              <a:r>
                <a:rPr lang="en-SG" sz="2400" i="1" dirty="0">
                  <a:sym typeface="Symbol" panose="05050102010706020507" pitchFamily="18" charset="2"/>
                </a:rPr>
                <a:t>A</a:t>
              </a:r>
              <a:r>
                <a:rPr lang="en-SG" sz="2400" dirty="0">
                  <a:sym typeface="Symbol" panose="05050102010706020507" pitchFamily="18" charset="2"/>
                </a:rPr>
                <a:t>), is</a:t>
              </a:r>
              <a:endParaRPr lang="en-SG" sz="2400" dirty="0"/>
            </a:p>
          </p:txBody>
        </p:sp>
      </p:grpSp>
      <mc:AlternateContent xmlns:mc="http://schemas.openxmlformats.org/markup-compatibility/2006" xmlns:a14="http://schemas.microsoft.com/office/drawing/2010/main">
        <mc:Choice Requires="a14">
          <p:sp>
            <p:nvSpPr>
              <p:cNvPr id="2" name="TextBox 1"/>
              <p:cNvSpPr txBox="1"/>
              <p:nvPr/>
            </p:nvSpPr>
            <p:spPr>
              <a:xfrm>
                <a:off x="4306906" y="3491769"/>
                <a:ext cx="3750589"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num>
                        <m:den>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306906" y="3491769"/>
                <a:ext cx="3750589" cy="861326"/>
              </a:xfrm>
              <a:prstGeom prst="rect">
                <a:avLst/>
              </a:prstGeom>
              <a:blipFill>
                <a:blip r:embed="rId3"/>
                <a:stretch>
                  <a:fillRect/>
                </a:stretch>
              </a:blipFill>
            </p:spPr>
            <p:txBody>
              <a:bodyPr/>
              <a:lstStyle/>
              <a:p>
                <a:r>
                  <a:rPr lang="en-SG">
                    <a:noFill/>
                  </a:rPr>
                  <a:t> </a:t>
                </a:r>
              </a:p>
            </p:txBody>
          </p:sp>
        </mc:Fallback>
      </mc:AlternateContent>
      <p:sp>
        <p:nvSpPr>
          <p:cNvPr id="26" name="Rectangle 3"/>
          <p:cNvSpPr txBox="1">
            <a:spLocks noChangeArrowheads="1"/>
          </p:cNvSpPr>
          <p:nvPr/>
        </p:nvSpPr>
        <p:spPr>
          <a:xfrm>
            <a:off x="2269713" y="4632567"/>
            <a:ext cx="3820727" cy="8091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Multiplying both sides of formula 11.8.1 by </a:t>
            </a:r>
            <a:r>
              <a:rPr lang="en-US" altLang="en-US" sz="2400" i="1" dirty="0"/>
              <a:t>P</a:t>
            </a:r>
            <a:r>
              <a:rPr lang="en-US" altLang="en-US" sz="2400" dirty="0"/>
              <a:t>(</a:t>
            </a:r>
            <a:r>
              <a:rPr lang="en-US" altLang="en-US" sz="2400" i="1" dirty="0"/>
              <a:t>A</a:t>
            </a:r>
            <a:r>
              <a:rPr lang="en-US" altLang="en-US" sz="2400" dirty="0"/>
              <a:t>), we get</a:t>
            </a:r>
          </a:p>
        </p:txBody>
      </p:sp>
      <p:sp>
        <p:nvSpPr>
          <p:cNvPr id="33" name="Rectangle 3"/>
          <p:cNvSpPr txBox="1">
            <a:spLocks noChangeArrowheads="1"/>
          </p:cNvSpPr>
          <p:nvPr/>
        </p:nvSpPr>
        <p:spPr>
          <a:xfrm>
            <a:off x="6560161" y="4632567"/>
            <a:ext cx="3952857" cy="8091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Dividing both sides of formula 11.8.1 by </a:t>
            </a:r>
            <a:r>
              <a:rPr lang="en-US" altLang="en-US" sz="2400" i="1" dirty="0"/>
              <a:t>P</a:t>
            </a:r>
            <a:r>
              <a:rPr lang="en-US" altLang="en-US" sz="2400" dirty="0"/>
              <a:t>(</a:t>
            </a:r>
            <a:r>
              <a:rPr lang="en-US" altLang="en-US" sz="2400" i="1" dirty="0"/>
              <a:t>B</a:t>
            </a:r>
            <a:r>
              <a:rPr lang="en-US" altLang="en-US" sz="2400" dirty="0"/>
              <a:t>|</a:t>
            </a:r>
            <a:r>
              <a:rPr lang="en-US" altLang="en-US" sz="2400" i="1" dirty="0"/>
              <a:t>A</a:t>
            </a:r>
            <a:r>
              <a:rPr lang="en-US" altLang="en-US" sz="2400" dirty="0"/>
              <a:t>), we get</a:t>
            </a:r>
          </a:p>
        </p:txBody>
      </p:sp>
      <p:sp>
        <p:nvSpPr>
          <p:cNvPr id="6" name="TextBox 5"/>
          <p:cNvSpPr txBox="1"/>
          <p:nvPr/>
        </p:nvSpPr>
        <p:spPr>
          <a:xfrm>
            <a:off x="7744201" y="3905533"/>
            <a:ext cx="1007390" cy="369332"/>
          </a:xfrm>
          <a:prstGeom prst="rect">
            <a:avLst/>
          </a:prstGeom>
          <a:noFill/>
        </p:spPr>
        <p:txBody>
          <a:bodyPr wrap="square" rtlCol="0">
            <a:spAutoFit/>
          </a:bodyPr>
          <a:lstStyle/>
          <a:p>
            <a:pPr algn="ctr"/>
            <a:r>
              <a:rPr lang="en-SG" dirty="0">
                <a:solidFill>
                  <a:srgbClr val="0000FF"/>
                </a:solidFill>
              </a:rPr>
              <a:t>11.8.1</a:t>
            </a:r>
          </a:p>
        </p:txBody>
      </p:sp>
      <p:grpSp>
        <p:nvGrpSpPr>
          <p:cNvPr id="7" name="Group 6"/>
          <p:cNvGrpSpPr/>
          <p:nvPr/>
        </p:nvGrpSpPr>
        <p:grpSpPr>
          <a:xfrm>
            <a:off x="2354091" y="5506029"/>
            <a:ext cx="3973126" cy="829512"/>
            <a:chOff x="830091" y="5789049"/>
            <a:chExt cx="3973126" cy="829512"/>
          </a:xfrm>
        </p:grpSpPr>
        <mc:AlternateContent xmlns:mc="http://schemas.openxmlformats.org/markup-compatibility/2006" xmlns:a14="http://schemas.microsoft.com/office/drawing/2010/main">
          <mc:Choice Requires="a14">
            <p:sp>
              <p:nvSpPr>
                <p:cNvPr id="31" name="TextBox 30"/>
                <p:cNvSpPr txBox="1"/>
                <p:nvPr/>
              </p:nvSpPr>
              <p:spPr>
                <a:xfrm>
                  <a:off x="830091" y="5789049"/>
                  <a:ext cx="3750589" cy="461665"/>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31" name="TextBox 30"/>
                <p:cNvSpPr txBox="1">
                  <a:spLocks noRot="1" noChangeAspect="1" noMove="1" noResize="1" noEditPoints="1" noAdjustHandles="1" noChangeArrowheads="1" noChangeShapeType="1" noTextEdit="1"/>
                </p:cNvSpPr>
                <p:nvPr/>
              </p:nvSpPr>
              <p:spPr>
                <a:xfrm>
                  <a:off x="830091" y="5789049"/>
                  <a:ext cx="3750589" cy="461665"/>
                </a:xfrm>
                <a:prstGeom prst="rect">
                  <a:avLst/>
                </a:prstGeom>
                <a:blipFill rotWithShape="0">
                  <a:blip r:embed="rId4"/>
                  <a:stretch>
                    <a:fillRect b="-17105"/>
                  </a:stretch>
                </a:blipFill>
              </p:spPr>
              <p:txBody>
                <a:bodyPr/>
                <a:lstStyle/>
                <a:p>
                  <a:r>
                    <a:rPr lang="en-SG">
                      <a:noFill/>
                    </a:rPr>
                    <a:t> </a:t>
                  </a:r>
                </a:p>
              </p:txBody>
            </p:sp>
          </mc:Fallback>
        </mc:AlternateContent>
        <p:sp>
          <p:nvSpPr>
            <p:cNvPr id="34" name="TextBox 33"/>
            <p:cNvSpPr txBox="1"/>
            <p:nvPr/>
          </p:nvSpPr>
          <p:spPr>
            <a:xfrm>
              <a:off x="3795827" y="6249229"/>
              <a:ext cx="1007390" cy="369332"/>
            </a:xfrm>
            <a:prstGeom prst="rect">
              <a:avLst/>
            </a:prstGeom>
            <a:noFill/>
          </p:spPr>
          <p:txBody>
            <a:bodyPr wrap="square" rtlCol="0">
              <a:spAutoFit/>
            </a:bodyPr>
            <a:lstStyle/>
            <a:p>
              <a:pPr algn="ctr"/>
              <a:r>
                <a:rPr lang="en-SG" dirty="0">
                  <a:solidFill>
                    <a:srgbClr val="0000FF"/>
                  </a:solidFill>
                </a:rPr>
                <a:t>11.8.2</a:t>
              </a:r>
            </a:p>
          </p:txBody>
        </p:sp>
      </p:grpSp>
      <p:grpSp>
        <p:nvGrpSpPr>
          <p:cNvPr id="9" name="Group 8"/>
          <p:cNvGrpSpPr/>
          <p:nvPr/>
        </p:nvGrpSpPr>
        <p:grpSpPr>
          <a:xfrm>
            <a:off x="7001690" y="5461205"/>
            <a:ext cx="3340048" cy="894836"/>
            <a:chOff x="5477690" y="5461205"/>
            <a:chExt cx="3340048" cy="894836"/>
          </a:xfrm>
        </p:grpSpPr>
        <p:sp>
          <p:nvSpPr>
            <p:cNvPr id="38" name="TextBox 37"/>
            <p:cNvSpPr txBox="1"/>
            <p:nvPr/>
          </p:nvSpPr>
          <p:spPr>
            <a:xfrm>
              <a:off x="7981627" y="5986709"/>
              <a:ext cx="836111" cy="369332"/>
            </a:xfrm>
            <a:prstGeom prst="rect">
              <a:avLst/>
            </a:prstGeom>
            <a:noFill/>
          </p:spPr>
          <p:txBody>
            <a:bodyPr wrap="square" rtlCol="0">
              <a:spAutoFit/>
            </a:bodyPr>
            <a:lstStyle/>
            <a:p>
              <a:pPr algn="ctr"/>
              <a:r>
                <a:rPr lang="en-SG" dirty="0">
                  <a:solidFill>
                    <a:srgbClr val="0000FF"/>
                  </a:solidFill>
                </a:rPr>
                <a:t>11.8.3</a:t>
              </a:r>
            </a:p>
          </p:txBody>
        </p:sp>
        <mc:AlternateContent xmlns:mc="http://schemas.openxmlformats.org/markup-compatibility/2006" xmlns:a14="http://schemas.microsoft.com/office/drawing/2010/main">
          <mc:Choice Requires="a14">
            <p:sp>
              <p:nvSpPr>
                <p:cNvPr id="39" name="TextBox 38"/>
                <p:cNvSpPr txBox="1"/>
                <p:nvPr/>
              </p:nvSpPr>
              <p:spPr>
                <a:xfrm>
                  <a:off x="5477690" y="5461205"/>
                  <a:ext cx="2665575" cy="861326"/>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num>
                          <m:den>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5477690" y="5461205"/>
                  <a:ext cx="2665575" cy="861326"/>
                </a:xfrm>
                <a:prstGeom prst="rect">
                  <a:avLst/>
                </a:prstGeom>
                <a:blipFill rotWithShape="0">
                  <a:blip r:embed="rId5"/>
                  <a:stretch>
                    <a:fillRect/>
                  </a:stretch>
                </a:blipFill>
              </p:spPr>
              <p:txBody>
                <a:bodyPr/>
                <a:lstStyle/>
                <a:p>
                  <a:r>
                    <a:rPr lang="en-SG">
                      <a:noFill/>
                    </a:rPr>
                    <a:t> </a:t>
                  </a:r>
                </a:p>
              </p:txBody>
            </p:sp>
          </mc:Fallback>
        </mc:AlternateContent>
      </p:grpSp>
      <p:sp>
        <p:nvSpPr>
          <p:cNvPr id="28" name="TextBox 27">
            <a:extLst>
              <a:ext uri="{FF2B5EF4-FFF2-40B4-BE49-F238E27FC236}">
                <a16:creationId xmlns:a16="http://schemas.microsoft.com/office/drawing/2014/main" id="{9E8C7613-8A2E-4F23-9192-CB720A2372CE}"/>
              </a:ext>
            </a:extLst>
          </p:cNvPr>
          <p:cNvSpPr txBox="1"/>
          <p:nvPr/>
        </p:nvSpPr>
        <p:spPr>
          <a:xfrm>
            <a:off x="866900" y="206191"/>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291415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dissolve">
                                      <p:cBhvr>
                                        <p:cTn id="15" dur="500"/>
                                        <p:tgtEl>
                                          <p:spTgt spid="33"/>
                                        </p:tgtEl>
                                      </p:cBhvr>
                                    </p:animEffect>
                                  </p:childTnLst>
                                </p:cTn>
                              </p:par>
                              <p:par>
                                <p:cTn id="16" presetID="9"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20" name="Rectangle 3"/>
          <p:cNvSpPr txBox="1">
            <a:spLocks noChangeArrowheads="1"/>
          </p:cNvSpPr>
          <p:nvPr/>
        </p:nvSpPr>
        <p:spPr>
          <a:xfrm>
            <a:off x="2008824" y="1519514"/>
            <a:ext cx="8163230" cy="9600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An urn contains 5 blue and 7 gray balls. Let us say that 2 are chosen at random, one after the other, without replacement</a:t>
            </a:r>
            <a:r>
              <a:rPr lang="en-US" altLang="en-US" sz="2400" dirty="0"/>
              <a:t>. </a:t>
            </a:r>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30" name="Rectangle 3"/>
          <p:cNvSpPr txBox="1">
            <a:spLocks noChangeArrowheads="1"/>
          </p:cNvSpPr>
          <p:nvPr/>
        </p:nvSpPr>
        <p:spPr>
          <a:xfrm>
            <a:off x="2008824" y="2668663"/>
            <a:ext cx="9035228" cy="19364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a:pPr>
            <a:r>
              <a:rPr lang="en-US" sz="2400" dirty="0"/>
              <a:t>Find the following probabilities and illustrate them with a tree diagram: the probability that both balls are blue, the probability that the first ball is blue and the second is not blue, the probability that the first ball is not blue and the second ball is blue, and the probability that neither ball is blue</a:t>
            </a:r>
            <a:r>
              <a:rPr lang="en-US" altLang="en-US" sz="2400" dirty="0"/>
              <a:t>.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3451" y="1428823"/>
            <a:ext cx="891798" cy="1328004"/>
          </a:xfrm>
          <a:prstGeom prst="rect">
            <a:avLst/>
          </a:prstGeom>
        </p:spPr>
      </p:pic>
      <p:sp>
        <p:nvSpPr>
          <p:cNvPr id="40" name="Rectangle 3"/>
          <p:cNvSpPr txBox="1">
            <a:spLocks noChangeArrowheads="1"/>
          </p:cNvSpPr>
          <p:nvPr/>
        </p:nvSpPr>
        <p:spPr>
          <a:xfrm>
            <a:off x="2008824" y="4725066"/>
            <a:ext cx="8163230" cy="561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startAt="2"/>
            </a:pPr>
            <a:r>
              <a:rPr lang="en-US" sz="2400" dirty="0"/>
              <a:t>What is the probability that the second ball is blue?</a:t>
            </a:r>
            <a:r>
              <a:rPr lang="en-US" altLang="en-US" sz="2400" dirty="0"/>
              <a:t> </a:t>
            </a:r>
          </a:p>
        </p:txBody>
      </p:sp>
      <p:sp>
        <p:nvSpPr>
          <p:cNvPr id="41" name="Rectangle 3"/>
          <p:cNvSpPr txBox="1">
            <a:spLocks noChangeArrowheads="1"/>
          </p:cNvSpPr>
          <p:nvPr/>
        </p:nvSpPr>
        <p:spPr>
          <a:xfrm>
            <a:off x="2008824" y="5406699"/>
            <a:ext cx="8163230" cy="561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startAt="3"/>
            </a:pPr>
            <a:r>
              <a:rPr lang="en-US" sz="2400" dirty="0"/>
              <a:t>What is the probability that at least one of the balls is blue?</a:t>
            </a:r>
            <a:r>
              <a:rPr lang="en-US" altLang="en-US" sz="2400" dirty="0"/>
              <a:t> </a:t>
            </a:r>
          </a:p>
        </p:txBody>
      </p:sp>
      <p:sp>
        <p:nvSpPr>
          <p:cNvPr id="18" name="TextBox 17">
            <a:extLst>
              <a:ext uri="{FF2B5EF4-FFF2-40B4-BE49-F238E27FC236}">
                <a16:creationId xmlns:a16="http://schemas.microsoft.com/office/drawing/2014/main" id="{17BA4EB2-C504-4189-BDEF-EFE5F5F58003}"/>
              </a:ext>
            </a:extLst>
          </p:cNvPr>
          <p:cNvSpPr txBox="1"/>
          <p:nvPr/>
        </p:nvSpPr>
        <p:spPr>
          <a:xfrm>
            <a:off x="866900" y="49975"/>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4183005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20" name="Rectangle 3"/>
          <p:cNvSpPr txBox="1">
            <a:spLocks noChangeArrowheads="1"/>
          </p:cNvSpPr>
          <p:nvPr/>
        </p:nvSpPr>
        <p:spPr>
          <a:xfrm>
            <a:off x="2008824" y="1519514"/>
            <a:ext cx="8163230" cy="9600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An urn contains 5 blue and 7 gray balls. Let us say that 2 are chosen at random, one after the other, without replacement</a:t>
            </a:r>
            <a:r>
              <a:rPr lang="en-US" altLang="en-US" sz="2400" dirty="0"/>
              <a:t>. </a:t>
            </a:r>
          </a:p>
        </p:txBody>
      </p:sp>
      <p:sp>
        <p:nvSpPr>
          <p:cNvPr id="28" name="TextBox 27"/>
          <p:cNvSpPr txBox="1"/>
          <p:nvPr/>
        </p:nvSpPr>
        <p:spPr>
          <a:xfrm>
            <a:off x="1518439" y="908454"/>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3451" y="1428823"/>
            <a:ext cx="891798" cy="1328004"/>
          </a:xfrm>
          <a:prstGeom prst="rect">
            <a:avLst/>
          </a:prstGeom>
        </p:spPr>
      </p:pic>
      <p:sp>
        <p:nvSpPr>
          <p:cNvPr id="21" name="Rectangle 3"/>
          <p:cNvSpPr txBox="1">
            <a:spLocks noChangeArrowheads="1"/>
          </p:cNvSpPr>
          <p:nvPr/>
        </p:nvSpPr>
        <p:spPr>
          <a:xfrm>
            <a:off x="2008825" y="2668663"/>
            <a:ext cx="7372817" cy="3158701"/>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Let</a:t>
            </a:r>
          </a:p>
          <a:p>
            <a:pPr marL="449263">
              <a:lnSpc>
                <a:spcPct val="100000"/>
              </a:lnSpc>
              <a:spcBef>
                <a:spcPts val="0"/>
              </a:spcBef>
              <a:spcAft>
                <a:spcPts val="600"/>
              </a:spcAft>
              <a:buFont typeface="Wingdings" panose="05000000000000000000" pitchFamily="2" charset="2"/>
              <a:buChar char="§"/>
            </a:pPr>
            <a:r>
              <a:rPr lang="en-US" sz="2400" i="1" dirty="0"/>
              <a:t>S</a:t>
            </a:r>
            <a:r>
              <a:rPr lang="en-US" sz="2400" dirty="0"/>
              <a:t> denote the sample space of all possible choices of two balls from the urn,</a:t>
            </a:r>
          </a:p>
          <a:p>
            <a:pPr marL="449263">
              <a:lnSpc>
                <a:spcPct val="100000"/>
              </a:lnSpc>
              <a:spcBef>
                <a:spcPts val="0"/>
              </a:spcBef>
              <a:spcAft>
                <a:spcPts val="600"/>
              </a:spcAft>
              <a:buFont typeface="Wingdings" panose="05000000000000000000" pitchFamily="2" charset="2"/>
              <a:buChar char="§"/>
            </a:pPr>
            <a:r>
              <a:rPr lang="en-US" sz="2400" i="1" dirty="0"/>
              <a:t>B</a:t>
            </a:r>
            <a:r>
              <a:rPr lang="en-US" sz="2400" baseline="-25000" dirty="0"/>
              <a:t>1</a:t>
            </a:r>
            <a:r>
              <a:rPr lang="en-US" sz="2400" dirty="0"/>
              <a:t> be the event that the first ball is blue (then </a:t>
            </a:r>
            <a:r>
              <a:rPr lang="en-US" sz="2400" i="1" dirty="0"/>
              <a:t>B</a:t>
            </a:r>
            <a:r>
              <a:rPr lang="en-US" sz="2400" baseline="-25000" dirty="0"/>
              <a:t>1</a:t>
            </a:r>
            <a:r>
              <a:rPr lang="en-US" sz="2400" i="1" baseline="30000" dirty="0"/>
              <a:t>c</a:t>
            </a:r>
            <a:r>
              <a:rPr lang="en-US" sz="2400" dirty="0"/>
              <a:t> is the event that the first ball is not blue),</a:t>
            </a:r>
          </a:p>
          <a:p>
            <a:pPr marL="449263">
              <a:lnSpc>
                <a:spcPct val="100000"/>
              </a:lnSpc>
              <a:spcBef>
                <a:spcPts val="0"/>
              </a:spcBef>
              <a:spcAft>
                <a:spcPts val="600"/>
              </a:spcAft>
              <a:buFont typeface="Wingdings" panose="05000000000000000000" pitchFamily="2" charset="2"/>
              <a:buChar char="§"/>
            </a:pPr>
            <a:r>
              <a:rPr lang="en-US" sz="2400" i="1" dirty="0"/>
              <a:t>B</a:t>
            </a:r>
            <a:r>
              <a:rPr lang="en-US" sz="2400" baseline="-25000" dirty="0"/>
              <a:t>2</a:t>
            </a:r>
            <a:r>
              <a:rPr lang="en-US" sz="2400" dirty="0"/>
              <a:t> be the event that the second ball is blue (then </a:t>
            </a:r>
            <a:r>
              <a:rPr lang="en-US" sz="2400" i="1" dirty="0"/>
              <a:t>B</a:t>
            </a:r>
            <a:r>
              <a:rPr lang="en-US" sz="2400" baseline="-25000" dirty="0"/>
              <a:t>2</a:t>
            </a:r>
            <a:r>
              <a:rPr lang="en-US" sz="2400" i="1" baseline="30000" dirty="0"/>
              <a:t>c</a:t>
            </a:r>
            <a:r>
              <a:rPr lang="en-US" sz="2400" dirty="0"/>
              <a:t> is the event that the second ball is not blue)</a:t>
            </a:r>
            <a:r>
              <a:rPr lang="en-US" altLang="en-US" sz="2400" dirty="0"/>
              <a:t>.</a:t>
            </a:r>
          </a:p>
          <a:p>
            <a:pPr marL="0" indent="0">
              <a:lnSpc>
                <a:spcPct val="100000"/>
              </a:lnSpc>
              <a:spcBef>
                <a:spcPts val="0"/>
              </a:spcBef>
              <a:spcAft>
                <a:spcPts val="600"/>
              </a:spcAft>
              <a:buNone/>
            </a:pPr>
            <a:r>
              <a:rPr lang="en-US" altLang="en-US" sz="2400" dirty="0"/>
              <a:t> </a:t>
            </a:r>
          </a:p>
        </p:txBody>
      </p:sp>
      <p:sp>
        <p:nvSpPr>
          <p:cNvPr id="15" name="TextBox 14">
            <a:extLst>
              <a:ext uri="{FF2B5EF4-FFF2-40B4-BE49-F238E27FC236}">
                <a16:creationId xmlns:a16="http://schemas.microsoft.com/office/drawing/2014/main" id="{325527F9-202F-4B03-A22A-BCA7BF43355E}"/>
              </a:ext>
            </a:extLst>
          </p:cNvPr>
          <p:cNvSpPr txBox="1"/>
          <p:nvPr/>
        </p:nvSpPr>
        <p:spPr>
          <a:xfrm>
            <a:off x="866900" y="206191"/>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3078616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20" name="Rectangle 3"/>
          <p:cNvSpPr txBox="1">
            <a:spLocks noChangeArrowheads="1"/>
          </p:cNvSpPr>
          <p:nvPr/>
        </p:nvSpPr>
        <p:spPr>
          <a:xfrm>
            <a:off x="2008824" y="1519514"/>
            <a:ext cx="8163230" cy="9600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An urn contains 5 blue and 7 gray balls. Let us say that 2 are chosen at random, one after the other, without replacement</a:t>
            </a:r>
            <a:r>
              <a:rPr lang="en-US" altLang="en-US" sz="2400" dirty="0"/>
              <a:t>. </a:t>
            </a:r>
          </a:p>
        </p:txBody>
      </p:sp>
      <p:sp>
        <p:nvSpPr>
          <p:cNvPr id="28" name="TextBox 27"/>
          <p:cNvSpPr txBox="1"/>
          <p:nvPr/>
        </p:nvSpPr>
        <p:spPr>
          <a:xfrm>
            <a:off x="1538350" y="853042"/>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23" name="Rectangle 3"/>
          <p:cNvSpPr txBox="1">
            <a:spLocks noChangeArrowheads="1"/>
          </p:cNvSpPr>
          <p:nvPr/>
        </p:nvSpPr>
        <p:spPr>
          <a:xfrm>
            <a:off x="2008824" y="2668663"/>
            <a:ext cx="8163230" cy="2352789"/>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a:pPr>
            <a:r>
              <a:rPr lang="en-US" sz="2400" dirty="0"/>
              <a:t>Find the following probabilities and illustrate them with a tree diagram: the probability that both balls are blue, the probability that the first ball is blue and the second is not blue, the probability that the first ball is not blue and the second ball is blue, and the probability that neither ball is blue</a:t>
            </a:r>
            <a:r>
              <a:rPr lang="en-US" altLang="en-US" sz="2400" dirty="0"/>
              <a:t>. </a:t>
            </a:r>
          </a:p>
        </p:txBody>
      </p:sp>
      <p:sp>
        <p:nvSpPr>
          <p:cNvPr id="14" name="TextBox 13">
            <a:extLst>
              <a:ext uri="{FF2B5EF4-FFF2-40B4-BE49-F238E27FC236}">
                <a16:creationId xmlns:a16="http://schemas.microsoft.com/office/drawing/2014/main" id="{F4A3F2EA-9995-497E-9925-0A77AB11CED5}"/>
              </a:ext>
            </a:extLst>
          </p:cNvPr>
          <p:cNvSpPr txBox="1"/>
          <p:nvPr/>
        </p:nvSpPr>
        <p:spPr>
          <a:xfrm>
            <a:off x="866900" y="112183"/>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1073506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20" name="Rectangle 3"/>
          <p:cNvSpPr txBox="1">
            <a:spLocks noChangeArrowheads="1"/>
          </p:cNvSpPr>
          <p:nvPr/>
        </p:nvSpPr>
        <p:spPr>
          <a:xfrm>
            <a:off x="1627382"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23" name="Rectangle 3"/>
          <p:cNvSpPr txBox="1">
            <a:spLocks noChangeArrowheads="1"/>
          </p:cNvSpPr>
          <p:nvPr/>
        </p:nvSpPr>
        <p:spPr>
          <a:xfrm>
            <a:off x="3494778" y="1477237"/>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nSpc>
                <a:spcPct val="100000"/>
              </a:lnSpc>
              <a:spcBef>
                <a:spcPts val="0"/>
              </a:spcBef>
              <a:spcAft>
                <a:spcPts val="600"/>
              </a:spcAft>
              <a:buFont typeface="+mj-lt"/>
              <a:buAutoNum type="alphaLcPeriod"/>
            </a:pPr>
            <a:r>
              <a:rPr lang="en-US" sz="2400" dirty="0"/>
              <a:t>Find </a:t>
            </a:r>
            <a:r>
              <a:rPr lang="en-US" sz="2400" i="1" dirty="0"/>
              <a:t>P</a:t>
            </a:r>
            <a:r>
              <a:rPr lang="en-US" sz="2400" dirty="0"/>
              <a:t>(</a:t>
            </a:r>
            <a:r>
              <a:rPr lang="en-US" sz="2400" i="1" dirty="0"/>
              <a:t>B</a:t>
            </a:r>
            <a:r>
              <a:rPr lang="en-US" sz="2400" baseline="-25000" dirty="0"/>
              <a:t>1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dirty="0">
                <a:sym typeface="Symbol" panose="05050102010706020507" pitchFamily="18" charset="2"/>
              </a:rPr>
              <a:t>), </a:t>
            </a:r>
            <a:r>
              <a:rPr lang="en-US" sz="2400" i="1" dirty="0"/>
              <a:t>P</a:t>
            </a:r>
            <a:r>
              <a:rPr lang="en-US" sz="2400" dirty="0"/>
              <a:t>(</a:t>
            </a:r>
            <a:r>
              <a:rPr lang="en-US" sz="2400" i="1" dirty="0"/>
              <a:t>B</a:t>
            </a:r>
            <a:r>
              <a:rPr lang="en-US" sz="2400" baseline="-25000" dirty="0"/>
              <a:t>1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i="1" baseline="30000" dirty="0">
                <a:sym typeface="Symbol" panose="05050102010706020507" pitchFamily="18" charset="2"/>
              </a:rPr>
              <a:t>c</a:t>
            </a:r>
            <a:r>
              <a:rPr lang="en-US" sz="2400" dirty="0">
                <a:sym typeface="Symbol" panose="05050102010706020507" pitchFamily="18" charset="2"/>
              </a:rPr>
              <a:t>),</a:t>
            </a:r>
            <a:r>
              <a:rPr lang="en-US" sz="2400" dirty="0"/>
              <a:t> </a:t>
            </a:r>
            <a:r>
              <a:rPr lang="en-US" sz="2400" i="1" dirty="0"/>
              <a:t>P</a:t>
            </a:r>
            <a:r>
              <a:rPr lang="en-US" sz="2400" dirty="0"/>
              <a:t>(</a:t>
            </a:r>
            <a:r>
              <a:rPr lang="en-US" sz="2400" i="1" dirty="0"/>
              <a:t>B</a:t>
            </a:r>
            <a:r>
              <a:rPr lang="en-US" sz="2400" baseline="-25000" dirty="0"/>
              <a:t>1</a:t>
            </a:r>
            <a:r>
              <a:rPr lang="en-US" sz="2400" i="1" baseline="30000" dirty="0">
                <a:sym typeface="Symbol" panose="05050102010706020507" pitchFamily="18" charset="2"/>
              </a:rPr>
              <a:t>c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dirty="0">
                <a:sym typeface="Symbol" panose="05050102010706020507" pitchFamily="18" charset="2"/>
              </a:rPr>
              <a:t>),</a:t>
            </a:r>
            <a:r>
              <a:rPr lang="en-US" sz="2400" dirty="0"/>
              <a:t> </a:t>
            </a:r>
            <a:r>
              <a:rPr lang="en-US" sz="2400" i="1" dirty="0"/>
              <a:t>P</a:t>
            </a:r>
            <a:r>
              <a:rPr lang="en-US" sz="2400" dirty="0"/>
              <a:t>(</a:t>
            </a:r>
            <a:r>
              <a:rPr lang="en-US" sz="2400" i="1" dirty="0"/>
              <a:t>B</a:t>
            </a:r>
            <a:r>
              <a:rPr lang="en-US" sz="2400" baseline="-25000" dirty="0"/>
              <a:t>1</a:t>
            </a:r>
            <a:r>
              <a:rPr lang="en-US" sz="2400" i="1" baseline="30000" dirty="0">
                <a:sym typeface="Symbol" panose="05050102010706020507" pitchFamily="18" charset="2"/>
              </a:rPr>
              <a:t>c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i="1" baseline="30000" dirty="0">
                <a:sym typeface="Symbol" panose="05050102010706020507" pitchFamily="18" charset="2"/>
              </a:rPr>
              <a:t>c</a:t>
            </a:r>
            <a:r>
              <a:rPr lang="en-US" sz="2400" dirty="0">
                <a:sym typeface="Symbol" panose="05050102010706020507" pitchFamily="18" charset="2"/>
              </a:rPr>
              <a:t>)</a:t>
            </a:r>
            <a:r>
              <a:rPr lang="en-US" altLang="en-US" sz="2400" dirty="0"/>
              <a:t>. </a:t>
            </a:r>
          </a:p>
        </p:txBody>
      </p:sp>
      <mc:AlternateContent xmlns:mc="http://schemas.openxmlformats.org/markup-compatibility/2006" xmlns:a14="http://schemas.microsoft.com/office/drawing/2010/main">
        <mc:Choice Requires="a14">
          <p:sp>
            <p:nvSpPr>
              <p:cNvPr id="2" name="TextBox 1"/>
              <p:cNvSpPr txBox="1"/>
              <p:nvPr/>
            </p:nvSpPr>
            <p:spPr>
              <a:xfrm>
                <a:off x="1928551" y="2131522"/>
                <a:ext cx="1646421" cy="674800"/>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1</m:t>
                          </m:r>
                        </m:sub>
                      </m:sSub>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5</m:t>
                          </m:r>
                        </m:num>
                        <m:den>
                          <m:r>
                            <a:rPr lang="en-SG" sz="2000" i="1">
                              <a:latin typeface="Cambria Math" panose="02040503050406030204" pitchFamily="18" charset="0"/>
                            </a:rPr>
                            <m:t>12</m:t>
                          </m:r>
                        </m:den>
                      </m:f>
                    </m:oMath>
                  </m:oMathPara>
                </a14:m>
                <a:endParaRPr lang="en-SG"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1928551" y="2131522"/>
                <a:ext cx="1646421" cy="674800"/>
              </a:xfrm>
              <a:prstGeom prst="rect">
                <a:avLst/>
              </a:prstGeom>
              <a:blipFill>
                <a:blip r:embed="rId3"/>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720141" y="2131523"/>
                <a:ext cx="1679881" cy="666529"/>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r>
                        <a:rPr lang="en-SG" sz="2000" i="1">
                          <a:latin typeface="Cambria Math" panose="02040503050406030204" pitchFamily="18" charset="0"/>
                        </a:rPr>
                        <m:t>(</m:t>
                      </m:r>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1</m:t>
                          </m:r>
                        </m:sub>
                        <m:sup>
                          <m:r>
                            <a:rPr lang="en-SG" sz="2000" i="1">
                              <a:latin typeface="Cambria Math" panose="02040503050406030204" pitchFamily="18" charset="0"/>
                            </a:rPr>
                            <m:t>𝑐</m:t>
                          </m:r>
                        </m:sup>
                      </m:sSubSup>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7</m:t>
                          </m:r>
                        </m:num>
                        <m:den>
                          <m:r>
                            <a:rPr lang="en-SG" sz="2000" i="1">
                              <a:latin typeface="Cambria Math" panose="02040503050406030204" pitchFamily="18" charset="0"/>
                            </a:rPr>
                            <m:t>12</m:t>
                          </m:r>
                        </m:den>
                      </m:f>
                    </m:oMath>
                  </m:oMathPara>
                </a14:m>
                <a:endParaRPr lang="en-SG"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3720141" y="2131523"/>
                <a:ext cx="1679881" cy="666529"/>
              </a:xfrm>
              <a:prstGeom prst="rect">
                <a:avLst/>
              </a:prstGeom>
              <a:blipFill>
                <a:blip r:embed="rId4"/>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725106" y="2131523"/>
                <a:ext cx="1923428" cy="667427"/>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r>
                        <a:rPr lang="en-SG" sz="2000" i="1">
                          <a:latin typeface="Cambria Math" panose="02040503050406030204" pitchFamily="18" charset="0"/>
                        </a:rPr>
                        <m:t>(</m:t>
                      </m:r>
                      <m:sSub>
                        <m:sSubPr>
                          <m:ctrlPr>
                            <a:rPr lang="en-SG" sz="2000" i="1">
                              <a:latin typeface="Cambria Math" panose="02040503050406030204" pitchFamily="18" charset="0"/>
                            </a:rPr>
                          </m:ctrlPr>
                        </m:sSubPr>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2</m:t>
                              </m:r>
                            </m:sub>
                          </m:sSub>
                          <m:r>
                            <a:rPr lang="en-SG" sz="2000" i="1">
                              <a:latin typeface="Cambria Math" panose="02040503050406030204" pitchFamily="18" charset="0"/>
                            </a:rPr>
                            <m:t>|</m:t>
                          </m:r>
                          <m:r>
                            <a:rPr lang="en-SG" sz="2000" i="1">
                              <a:latin typeface="Cambria Math" panose="02040503050406030204" pitchFamily="18" charset="0"/>
                            </a:rPr>
                            <m:t>𝐵</m:t>
                          </m:r>
                        </m:e>
                        <m:sub>
                          <m:r>
                            <a:rPr lang="en-SG" sz="2000" i="1">
                              <a:latin typeface="Cambria Math" panose="02040503050406030204" pitchFamily="18" charset="0"/>
                            </a:rPr>
                            <m:t>1</m:t>
                          </m:r>
                        </m:sub>
                      </m:sSub>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4</m:t>
                          </m:r>
                        </m:num>
                        <m:den>
                          <m:r>
                            <a:rPr lang="en-SG" sz="2000" i="1">
                              <a:latin typeface="Cambria Math" panose="02040503050406030204" pitchFamily="18" charset="0"/>
                            </a:rPr>
                            <m:t>11</m:t>
                          </m:r>
                        </m:den>
                      </m:f>
                    </m:oMath>
                  </m:oMathPara>
                </a14:m>
                <a:endParaRPr lang="en-SG" sz="20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725106" y="2131523"/>
                <a:ext cx="1923428" cy="667427"/>
              </a:xfrm>
              <a:prstGeom prst="rect">
                <a:avLst/>
              </a:prstGeom>
              <a:blipFill>
                <a:blip r:embed="rId5"/>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892166" y="2131523"/>
                <a:ext cx="1864137" cy="666529"/>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r>
                        <a:rPr lang="en-SG" sz="2000" i="1">
                          <a:latin typeface="Cambria Math" panose="02040503050406030204" pitchFamily="18" charset="0"/>
                        </a:rPr>
                        <m:t>(</m:t>
                      </m:r>
                      <m:sSub>
                        <m:sSubPr>
                          <m:ctrlPr>
                            <a:rPr lang="en-SG" sz="2000" i="1">
                              <a:latin typeface="Cambria Math" panose="02040503050406030204" pitchFamily="18" charset="0"/>
                            </a:rPr>
                          </m:ctrlPr>
                        </m:sSubPr>
                        <m:e>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2</m:t>
                              </m:r>
                            </m:sub>
                            <m:sup>
                              <m:r>
                                <a:rPr lang="en-SG" sz="2000" i="1">
                                  <a:latin typeface="Cambria Math" panose="02040503050406030204" pitchFamily="18" charset="0"/>
                                </a:rPr>
                                <m:t>𝑐</m:t>
                              </m:r>
                            </m:sup>
                          </m:sSubSup>
                          <m:r>
                            <a:rPr lang="en-SG" sz="2000" i="1">
                              <a:latin typeface="Cambria Math" panose="02040503050406030204" pitchFamily="18" charset="0"/>
                            </a:rPr>
                            <m:t>|</m:t>
                          </m:r>
                          <m:r>
                            <a:rPr lang="en-SG" sz="2000" i="1">
                              <a:latin typeface="Cambria Math" panose="02040503050406030204" pitchFamily="18" charset="0"/>
                            </a:rPr>
                            <m:t>𝐵</m:t>
                          </m:r>
                        </m:e>
                        <m:sub>
                          <m:r>
                            <a:rPr lang="en-SG" sz="2000" i="1">
                              <a:latin typeface="Cambria Math" panose="02040503050406030204" pitchFamily="18" charset="0"/>
                            </a:rPr>
                            <m:t>1</m:t>
                          </m:r>
                        </m:sub>
                      </m:sSub>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7</m:t>
                          </m:r>
                        </m:num>
                        <m:den>
                          <m:r>
                            <a:rPr lang="en-SG" sz="2000" i="1">
                              <a:latin typeface="Cambria Math" panose="02040503050406030204" pitchFamily="18" charset="0"/>
                            </a:rPr>
                            <m:t>11</m:t>
                          </m:r>
                        </m:den>
                      </m:f>
                    </m:oMath>
                  </m:oMathPara>
                </a14:m>
                <a:endParaRPr lang="en-SG" sz="2000" dirty="0"/>
              </a:p>
            </p:txBody>
          </p:sp>
        </mc:Choice>
        <mc:Fallback xmlns="">
          <p:sp>
            <p:nvSpPr>
              <p:cNvPr id="21" name="TextBox 20"/>
              <p:cNvSpPr txBox="1">
                <a:spLocks noRot="1" noChangeAspect="1" noMove="1" noResize="1" noEditPoints="1" noAdjustHandles="1" noChangeArrowheads="1" noChangeShapeType="1" noTextEdit="1"/>
              </p:cNvSpPr>
              <p:nvPr/>
            </p:nvSpPr>
            <p:spPr>
              <a:xfrm>
                <a:off x="7892166" y="2131523"/>
                <a:ext cx="1864137" cy="666529"/>
              </a:xfrm>
              <a:prstGeom prst="rect">
                <a:avLst/>
              </a:prstGeom>
              <a:blipFill>
                <a:blip r:embed="rId6"/>
                <a:stretch>
                  <a:fillRect/>
                </a:stretch>
              </a:blipFill>
              <a:ln>
                <a:solidFill>
                  <a:schemeClr val="tx1"/>
                </a:solidFill>
              </a:ln>
            </p:spPr>
            <p:txBody>
              <a:bodyPr/>
              <a:lstStyle/>
              <a:p>
                <a:r>
                  <a:rPr lang="en-SG">
                    <a:noFill/>
                  </a:rPr>
                  <a:t> </a:t>
                </a:r>
              </a:p>
            </p:txBody>
          </p:sp>
        </mc:Fallback>
      </mc:AlternateContent>
      <p:grpSp>
        <p:nvGrpSpPr>
          <p:cNvPr id="7" name="Group 6"/>
          <p:cNvGrpSpPr/>
          <p:nvPr/>
        </p:nvGrpSpPr>
        <p:grpSpPr>
          <a:xfrm>
            <a:off x="1812406" y="2985235"/>
            <a:ext cx="3750589" cy="886174"/>
            <a:chOff x="288405" y="2985235"/>
            <a:chExt cx="3750589" cy="886174"/>
          </a:xfrm>
        </p:grpSpPr>
        <p:sp>
          <p:nvSpPr>
            <p:cNvPr id="6" name="TextBox 5"/>
            <p:cNvSpPr txBox="1"/>
            <p:nvPr/>
          </p:nvSpPr>
          <p:spPr>
            <a:xfrm>
              <a:off x="324356" y="2985235"/>
              <a:ext cx="2286427" cy="369332"/>
            </a:xfrm>
            <a:prstGeom prst="rect">
              <a:avLst/>
            </a:prstGeom>
            <a:noFill/>
          </p:spPr>
          <p:txBody>
            <a:bodyPr wrap="square" rtlCol="0">
              <a:spAutoFit/>
            </a:bodyPr>
            <a:lstStyle/>
            <a:p>
              <a:r>
                <a:rPr lang="en-SG" dirty="0"/>
                <a:t>By formula 10.8.2</a:t>
              </a:r>
            </a:p>
          </p:txBody>
        </p:sp>
        <mc:AlternateContent xmlns:mc="http://schemas.openxmlformats.org/markup-compatibility/2006" xmlns:a14="http://schemas.microsoft.com/office/drawing/2010/main">
          <mc:Choice Requires="a14">
            <p:sp>
              <p:nvSpPr>
                <p:cNvPr id="22" name="TextBox 21"/>
                <p:cNvSpPr txBox="1"/>
                <p:nvPr/>
              </p:nvSpPr>
              <p:spPr>
                <a:xfrm>
                  <a:off x="288405" y="3409744"/>
                  <a:ext cx="3750589" cy="461665"/>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288405" y="3409744"/>
                  <a:ext cx="3750589" cy="461665"/>
                </a:xfrm>
                <a:prstGeom prst="rect">
                  <a:avLst/>
                </a:prstGeom>
                <a:blipFill rotWithShape="0">
                  <a:blip r:embed="rId7"/>
                  <a:stretch>
                    <a:fillRect b="-1710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4" name="TextBox 23"/>
              <p:cNvSpPr txBox="1"/>
              <p:nvPr/>
            </p:nvSpPr>
            <p:spPr>
              <a:xfrm>
                <a:off x="2575271" y="3926586"/>
                <a:ext cx="6320816" cy="67685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1</m:t>
                              </m:r>
                            </m:sub>
                          </m:sSub>
                          <m:r>
                            <a:rPr lang="en-SG" sz="2000" i="1">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ea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2</m:t>
                              </m:r>
                            </m:sub>
                          </m:sSub>
                        </m:e>
                      </m:d>
                      <m:r>
                        <a:rPr lang="en-SG" sz="2000" i="1">
                          <a:latin typeface="Cambria Math" panose="02040503050406030204" pitchFamily="18" charset="0"/>
                        </a:rPr>
                        <m:t>=</m:t>
                      </m:r>
                      <m:r>
                        <a:rPr lang="en-SG" sz="2000" i="1">
                          <a:latin typeface="Cambria Math" panose="02040503050406030204" pitchFamily="18" charset="0"/>
                        </a:rPr>
                        <m:t>𝑃</m:t>
                      </m:r>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2</m:t>
                              </m:r>
                            </m:sub>
                          </m:sSub>
                        </m:e>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1</m:t>
                              </m:r>
                            </m:sub>
                          </m:sSub>
                        </m:e>
                      </m:d>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𝑃</m:t>
                      </m:r>
                      <m:d>
                        <m:dPr>
                          <m:ctrlPr>
                            <a:rPr lang="en-SG" sz="2000" i="1">
                              <a:latin typeface="Cambria Math" panose="02040503050406030204" pitchFamily="18" charset="0"/>
                              <a:ea typeface="Cambria Math" panose="02040503050406030204" pitchFamily="18" charset="0"/>
                            </a:rPr>
                          </m:ctrlPr>
                        </m:dPr>
                        <m:e>
                          <m:sSub>
                            <m:sSubPr>
                              <m:ctrlPr>
                                <a:rPr lang="en-SG" sz="2000" i="1">
                                  <a:latin typeface="Cambria Math" panose="02040503050406030204" pitchFamily="18" charset="0"/>
                                  <a:ea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1</m:t>
                              </m:r>
                            </m:sub>
                          </m:sSub>
                        </m:e>
                      </m:d>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4</m:t>
                          </m:r>
                        </m:num>
                        <m:den>
                          <m:r>
                            <a:rPr lang="en-SG" sz="2000" i="1">
                              <a:latin typeface="Cambria Math" panose="02040503050406030204" pitchFamily="18" charset="0"/>
                            </a:rPr>
                            <m:t>11</m:t>
                          </m:r>
                        </m:den>
                      </m:f>
                      <m:r>
                        <a:rPr lang="en-SG" sz="2000" i="1">
                          <a:latin typeface="Cambria Math" panose="02040503050406030204" pitchFamily="18" charset="0"/>
                          <a:ea typeface="Cambria Math" panose="02040503050406030204" pitchFamily="18" charset="0"/>
                        </a:rPr>
                        <m:t>∙</m:t>
                      </m:r>
                      <m:f>
                        <m:fPr>
                          <m:ctrlPr>
                            <a:rPr lang="en-SG" sz="2000" i="1">
                              <a:latin typeface="Cambria Math" panose="02040503050406030204" pitchFamily="18" charset="0"/>
                              <a:ea typeface="Cambria Math" panose="02040503050406030204" pitchFamily="18" charset="0"/>
                            </a:rPr>
                          </m:ctrlPr>
                        </m:fPr>
                        <m:num>
                          <m:r>
                            <a:rPr lang="en-SG" sz="2000" i="1">
                              <a:latin typeface="Cambria Math" panose="02040503050406030204" pitchFamily="18" charset="0"/>
                              <a:ea typeface="Cambria Math" panose="02040503050406030204" pitchFamily="18" charset="0"/>
                            </a:rPr>
                            <m:t>5</m:t>
                          </m:r>
                        </m:num>
                        <m:den>
                          <m:r>
                            <a:rPr lang="en-SG" sz="2000" i="1">
                              <a:latin typeface="Cambria Math" panose="02040503050406030204" pitchFamily="18" charset="0"/>
                              <a:ea typeface="Cambria Math" panose="02040503050406030204" pitchFamily="18" charset="0"/>
                            </a:rPr>
                            <m:t>12</m:t>
                          </m:r>
                        </m:den>
                      </m:f>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20</m:t>
                          </m:r>
                        </m:num>
                        <m:den>
                          <m:r>
                            <a:rPr lang="en-SG" sz="2000" i="1">
                              <a:latin typeface="Cambria Math" panose="02040503050406030204" pitchFamily="18" charset="0"/>
                            </a:rPr>
                            <m:t>132</m:t>
                          </m:r>
                        </m:den>
                      </m:f>
                    </m:oMath>
                  </m:oMathPara>
                </a14:m>
                <a:endParaRPr lang="en-SG" sz="2000" dirty="0"/>
              </a:p>
            </p:txBody>
          </p:sp>
        </mc:Choice>
        <mc:Fallback xmlns="">
          <p:sp>
            <p:nvSpPr>
              <p:cNvPr id="24" name="TextBox 23"/>
              <p:cNvSpPr txBox="1">
                <a:spLocks noRot="1" noChangeAspect="1" noMove="1" noResize="1" noEditPoints="1" noAdjustHandles="1" noChangeArrowheads="1" noChangeShapeType="1" noTextEdit="1"/>
              </p:cNvSpPr>
              <p:nvPr/>
            </p:nvSpPr>
            <p:spPr>
              <a:xfrm>
                <a:off x="2575271" y="3926586"/>
                <a:ext cx="6320816" cy="676852"/>
              </a:xfrm>
              <a:prstGeom prst="rect">
                <a:avLst/>
              </a:prstGeom>
              <a:blipFill>
                <a:blip r:embed="rId8"/>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2575271" y="4647527"/>
                <a:ext cx="6320816" cy="697114"/>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1</m:t>
                              </m:r>
                            </m:sub>
                          </m:sSub>
                          <m:r>
                            <a:rPr lang="en-SG" sz="2000" i="1">
                              <a:latin typeface="Cambria Math" panose="02040503050406030204" pitchFamily="18" charset="0"/>
                              <a:ea typeface="Cambria Math" panose="02040503050406030204" pitchFamily="18" charset="0"/>
                            </a:rPr>
                            <m:t>∩</m:t>
                          </m:r>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2</m:t>
                              </m:r>
                            </m:sub>
                            <m:sup>
                              <m:r>
                                <a:rPr lang="en-SG" sz="2000" i="1">
                                  <a:latin typeface="Cambria Math" panose="02040503050406030204" pitchFamily="18" charset="0"/>
                                  <a:ea typeface="Cambria Math" panose="02040503050406030204" pitchFamily="18" charset="0"/>
                                </a:rPr>
                                <m:t>𝑐</m:t>
                              </m:r>
                            </m:sup>
                          </m:sSubSup>
                        </m:e>
                      </m:d>
                      <m:r>
                        <a:rPr lang="en-SG" sz="2000" i="1">
                          <a:latin typeface="Cambria Math" panose="02040503050406030204" pitchFamily="18" charset="0"/>
                        </a:rPr>
                        <m:t>=</m:t>
                      </m:r>
                      <m:r>
                        <a:rPr lang="en-SG" sz="2000" i="1">
                          <a:latin typeface="Cambria Math" panose="02040503050406030204" pitchFamily="18" charset="0"/>
                        </a:rPr>
                        <m:t>𝑃</m:t>
                      </m:r>
                      <m:d>
                        <m:dPr>
                          <m:ctrlPr>
                            <a:rPr lang="en-SG" sz="2000" i="1">
                              <a:latin typeface="Cambria Math" panose="02040503050406030204" pitchFamily="18" charset="0"/>
                            </a:rPr>
                          </m:ctrlPr>
                        </m:dPr>
                        <m:e>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2</m:t>
                              </m:r>
                            </m:sub>
                            <m:sup>
                              <m:r>
                                <a:rPr lang="en-SG" sz="2000" i="1">
                                  <a:latin typeface="Cambria Math" panose="02040503050406030204" pitchFamily="18" charset="0"/>
                                </a:rPr>
                                <m:t>𝑐</m:t>
                              </m:r>
                            </m:sup>
                          </m:sSubSup>
                        </m:e>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1</m:t>
                              </m:r>
                            </m:sub>
                          </m:sSub>
                        </m:e>
                      </m:d>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𝑃</m:t>
                      </m:r>
                      <m:d>
                        <m:dPr>
                          <m:ctrlPr>
                            <a:rPr lang="en-SG" sz="2000" i="1">
                              <a:latin typeface="Cambria Math" panose="02040503050406030204" pitchFamily="18" charset="0"/>
                              <a:ea typeface="Cambria Math" panose="02040503050406030204" pitchFamily="18" charset="0"/>
                            </a:rPr>
                          </m:ctrlPr>
                        </m:dPr>
                        <m:e>
                          <m:sSub>
                            <m:sSubPr>
                              <m:ctrlPr>
                                <a:rPr lang="en-SG" sz="2000" i="1">
                                  <a:latin typeface="Cambria Math" panose="02040503050406030204" pitchFamily="18" charset="0"/>
                                  <a:ea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1</m:t>
                              </m:r>
                            </m:sub>
                          </m:sSub>
                        </m:e>
                      </m:d>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7</m:t>
                          </m:r>
                        </m:num>
                        <m:den>
                          <m:r>
                            <a:rPr lang="en-SG" sz="2000" i="1">
                              <a:latin typeface="Cambria Math" panose="02040503050406030204" pitchFamily="18" charset="0"/>
                            </a:rPr>
                            <m:t>11</m:t>
                          </m:r>
                        </m:den>
                      </m:f>
                      <m:r>
                        <a:rPr lang="en-SG" sz="2000" i="1">
                          <a:latin typeface="Cambria Math" panose="02040503050406030204" pitchFamily="18" charset="0"/>
                          <a:ea typeface="Cambria Math" panose="02040503050406030204" pitchFamily="18" charset="0"/>
                        </a:rPr>
                        <m:t>∙</m:t>
                      </m:r>
                      <m:f>
                        <m:fPr>
                          <m:ctrlPr>
                            <a:rPr lang="en-SG" sz="2000" i="1">
                              <a:latin typeface="Cambria Math" panose="02040503050406030204" pitchFamily="18" charset="0"/>
                              <a:ea typeface="Cambria Math" panose="02040503050406030204" pitchFamily="18" charset="0"/>
                            </a:rPr>
                          </m:ctrlPr>
                        </m:fPr>
                        <m:num>
                          <m:r>
                            <a:rPr lang="en-SG" sz="2000" i="1">
                              <a:latin typeface="Cambria Math" panose="02040503050406030204" pitchFamily="18" charset="0"/>
                              <a:ea typeface="Cambria Math" panose="02040503050406030204" pitchFamily="18" charset="0"/>
                            </a:rPr>
                            <m:t>5</m:t>
                          </m:r>
                        </m:num>
                        <m:den>
                          <m:r>
                            <a:rPr lang="en-SG" sz="2000" i="1">
                              <a:latin typeface="Cambria Math" panose="02040503050406030204" pitchFamily="18" charset="0"/>
                              <a:ea typeface="Cambria Math" panose="02040503050406030204" pitchFamily="18" charset="0"/>
                            </a:rPr>
                            <m:t>12</m:t>
                          </m:r>
                        </m:den>
                      </m:f>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35</m:t>
                          </m:r>
                        </m:num>
                        <m:den>
                          <m:r>
                            <a:rPr lang="en-SG" sz="2000" i="1">
                              <a:latin typeface="Cambria Math" panose="02040503050406030204" pitchFamily="18" charset="0"/>
                            </a:rPr>
                            <m:t>132</m:t>
                          </m:r>
                        </m:den>
                      </m:f>
                    </m:oMath>
                  </m:oMathPara>
                </a14:m>
                <a:endParaRPr lang="en-SG" sz="2000" dirty="0"/>
              </a:p>
            </p:txBody>
          </p:sp>
        </mc:Choice>
        <mc:Fallback xmlns="">
          <p:sp>
            <p:nvSpPr>
              <p:cNvPr id="25" name="TextBox 24"/>
              <p:cNvSpPr txBox="1">
                <a:spLocks noRot="1" noChangeAspect="1" noMove="1" noResize="1" noEditPoints="1" noAdjustHandles="1" noChangeArrowheads="1" noChangeShapeType="1" noTextEdit="1"/>
              </p:cNvSpPr>
              <p:nvPr/>
            </p:nvSpPr>
            <p:spPr>
              <a:xfrm>
                <a:off x="2575271" y="4647527"/>
                <a:ext cx="6320816" cy="697114"/>
              </a:xfrm>
              <a:prstGeom prst="rect">
                <a:avLst/>
              </a:prstGeom>
              <a:blipFill>
                <a:blip r:embed="rId9"/>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5725106" y="2941280"/>
                <a:ext cx="1923428" cy="69506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2</m:t>
                          </m:r>
                        </m:sub>
                      </m:sSub>
                      <m:r>
                        <a:rPr lang="en-SG" sz="2000" i="1">
                          <a:latin typeface="Cambria Math" panose="02040503050406030204" pitchFamily="18" charset="0"/>
                        </a:rPr>
                        <m:t>|</m:t>
                      </m:r>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1</m:t>
                          </m:r>
                        </m:sub>
                        <m:sup>
                          <m:r>
                            <a:rPr lang="en-SG" sz="2000" i="1">
                              <a:latin typeface="Cambria Math" panose="02040503050406030204" pitchFamily="18" charset="0"/>
                            </a:rPr>
                            <m:t>𝑐</m:t>
                          </m:r>
                        </m:sup>
                      </m:sSubSup>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5</m:t>
                          </m:r>
                        </m:num>
                        <m:den>
                          <m:r>
                            <a:rPr lang="en-SG" sz="2000" i="1">
                              <a:latin typeface="Cambria Math" panose="02040503050406030204" pitchFamily="18" charset="0"/>
                            </a:rPr>
                            <m:t>11</m:t>
                          </m:r>
                        </m:den>
                      </m:f>
                    </m:oMath>
                  </m:oMathPara>
                </a14:m>
                <a:endParaRPr lang="en-SG" sz="2000" dirty="0"/>
              </a:p>
            </p:txBody>
          </p:sp>
        </mc:Choice>
        <mc:Fallback xmlns="">
          <p:sp>
            <p:nvSpPr>
              <p:cNvPr id="26" name="TextBox 25"/>
              <p:cNvSpPr txBox="1">
                <a:spLocks noRot="1" noChangeAspect="1" noMove="1" noResize="1" noEditPoints="1" noAdjustHandles="1" noChangeArrowheads="1" noChangeShapeType="1" noTextEdit="1"/>
              </p:cNvSpPr>
              <p:nvPr/>
            </p:nvSpPr>
            <p:spPr>
              <a:xfrm>
                <a:off x="5725106" y="2941280"/>
                <a:ext cx="1923428" cy="695062"/>
              </a:xfrm>
              <a:prstGeom prst="rect">
                <a:avLst/>
              </a:prstGeom>
              <a:blipFill>
                <a:blip r:embed="rId10"/>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892165" y="2941280"/>
                <a:ext cx="1923428" cy="69506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r>
                        <a:rPr lang="en-SG" sz="2000" i="1">
                          <a:latin typeface="Cambria Math" panose="02040503050406030204" pitchFamily="18" charset="0"/>
                        </a:rPr>
                        <m:t>(</m:t>
                      </m:r>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2</m:t>
                          </m:r>
                        </m:sub>
                        <m:sup>
                          <m:r>
                            <a:rPr lang="en-SG" sz="2000" i="1">
                              <a:latin typeface="Cambria Math" panose="02040503050406030204" pitchFamily="18" charset="0"/>
                            </a:rPr>
                            <m:t>𝑐</m:t>
                          </m:r>
                        </m:sup>
                      </m:sSubSup>
                      <m:r>
                        <a:rPr lang="en-SG" sz="2000" i="1">
                          <a:latin typeface="Cambria Math" panose="02040503050406030204" pitchFamily="18" charset="0"/>
                        </a:rPr>
                        <m:t>|</m:t>
                      </m:r>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1</m:t>
                          </m:r>
                        </m:sub>
                        <m:sup>
                          <m:r>
                            <a:rPr lang="en-SG" sz="2000" i="1">
                              <a:latin typeface="Cambria Math" panose="02040503050406030204" pitchFamily="18" charset="0"/>
                            </a:rPr>
                            <m:t>𝑐</m:t>
                          </m:r>
                        </m:sup>
                      </m:sSubSup>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6</m:t>
                          </m:r>
                        </m:num>
                        <m:den>
                          <m:r>
                            <a:rPr lang="en-SG" sz="2000" i="1">
                              <a:latin typeface="Cambria Math" panose="02040503050406030204" pitchFamily="18" charset="0"/>
                            </a:rPr>
                            <m:t>11</m:t>
                          </m:r>
                        </m:den>
                      </m:f>
                    </m:oMath>
                  </m:oMathPara>
                </a14:m>
                <a:endParaRPr lang="en-SG" sz="2000" dirty="0"/>
              </a:p>
            </p:txBody>
          </p:sp>
        </mc:Choice>
        <mc:Fallback xmlns="">
          <p:sp>
            <p:nvSpPr>
              <p:cNvPr id="30" name="TextBox 29"/>
              <p:cNvSpPr txBox="1">
                <a:spLocks noRot="1" noChangeAspect="1" noMove="1" noResize="1" noEditPoints="1" noAdjustHandles="1" noChangeArrowheads="1" noChangeShapeType="1" noTextEdit="1"/>
              </p:cNvSpPr>
              <p:nvPr/>
            </p:nvSpPr>
            <p:spPr>
              <a:xfrm>
                <a:off x="7892165" y="2941280"/>
                <a:ext cx="1923428" cy="695062"/>
              </a:xfrm>
              <a:prstGeom prst="rect">
                <a:avLst/>
              </a:prstGeom>
              <a:blipFill>
                <a:blip r:embed="rId11"/>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2575271" y="5377462"/>
                <a:ext cx="6320816" cy="697114"/>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1</m:t>
                                  </m:r>
                                </m:sub>
                                <m:sup>
                                  <m:r>
                                    <a:rPr lang="en-SG" sz="2000" i="1">
                                      <a:latin typeface="Cambria Math" panose="02040503050406030204" pitchFamily="18" charset="0"/>
                                      <a:ea typeface="Cambria Math" panose="02040503050406030204" pitchFamily="18" charset="0"/>
                                    </a:rPr>
                                    <m:t>𝑐</m:t>
                                  </m:r>
                                </m:sup>
                              </m:sSubSup>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rPr>
                                <m:t>𝐵</m:t>
                              </m:r>
                            </m:e>
                            <m:sub>
                              <m:r>
                                <a:rPr lang="en-SG" sz="2000" i="1">
                                  <a:latin typeface="Cambria Math" panose="02040503050406030204" pitchFamily="18" charset="0"/>
                                </a:rPr>
                                <m:t>2</m:t>
                              </m:r>
                            </m:sub>
                          </m:sSub>
                        </m:e>
                      </m:d>
                      <m:r>
                        <a:rPr lang="en-SG" sz="2000" i="1">
                          <a:latin typeface="Cambria Math" panose="02040503050406030204" pitchFamily="18" charset="0"/>
                        </a:rPr>
                        <m:t>=</m:t>
                      </m:r>
                      <m:r>
                        <a:rPr lang="en-SG" sz="2000" i="1">
                          <a:latin typeface="Cambria Math" panose="02040503050406030204" pitchFamily="18" charset="0"/>
                        </a:rPr>
                        <m:t>𝑃</m:t>
                      </m:r>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i="1">
                                  <a:latin typeface="Cambria Math" panose="02040503050406030204" pitchFamily="18" charset="0"/>
                                </a:rPr>
                                <m:t>2</m:t>
                              </m:r>
                            </m:sub>
                          </m:sSub>
                        </m:e>
                        <m:e>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1</m:t>
                              </m:r>
                            </m:sub>
                            <m:sup>
                              <m:r>
                                <a:rPr lang="en-SG" sz="2000" i="1">
                                  <a:latin typeface="Cambria Math" panose="02040503050406030204" pitchFamily="18" charset="0"/>
                                </a:rPr>
                                <m:t>𝑐</m:t>
                              </m:r>
                            </m:sup>
                          </m:sSubSup>
                        </m:e>
                      </m:d>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𝑃</m:t>
                      </m:r>
                      <m:d>
                        <m:dPr>
                          <m:ctrlPr>
                            <a:rPr lang="en-SG" sz="2000" i="1">
                              <a:latin typeface="Cambria Math" panose="02040503050406030204" pitchFamily="18" charset="0"/>
                              <a:ea typeface="Cambria Math" panose="02040503050406030204" pitchFamily="18" charset="0"/>
                            </a:rPr>
                          </m:ctrlPr>
                        </m:dPr>
                        <m:e>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1</m:t>
                              </m:r>
                            </m:sub>
                            <m:sup>
                              <m:r>
                                <a:rPr lang="en-SG" sz="2000" i="1">
                                  <a:latin typeface="Cambria Math" panose="02040503050406030204" pitchFamily="18" charset="0"/>
                                  <a:ea typeface="Cambria Math" panose="02040503050406030204" pitchFamily="18" charset="0"/>
                                </a:rPr>
                                <m:t>𝑐</m:t>
                              </m:r>
                            </m:sup>
                          </m:sSubSup>
                        </m:e>
                      </m:d>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5</m:t>
                          </m:r>
                        </m:num>
                        <m:den>
                          <m:r>
                            <a:rPr lang="en-SG" sz="2000" i="1">
                              <a:latin typeface="Cambria Math" panose="02040503050406030204" pitchFamily="18" charset="0"/>
                            </a:rPr>
                            <m:t>11</m:t>
                          </m:r>
                        </m:den>
                      </m:f>
                      <m:r>
                        <a:rPr lang="en-SG" sz="2000" i="1">
                          <a:latin typeface="Cambria Math" panose="02040503050406030204" pitchFamily="18" charset="0"/>
                          <a:ea typeface="Cambria Math" panose="02040503050406030204" pitchFamily="18" charset="0"/>
                        </a:rPr>
                        <m:t>∙</m:t>
                      </m:r>
                      <m:f>
                        <m:fPr>
                          <m:ctrlPr>
                            <a:rPr lang="en-SG" sz="2000" i="1">
                              <a:latin typeface="Cambria Math" panose="02040503050406030204" pitchFamily="18" charset="0"/>
                              <a:ea typeface="Cambria Math" panose="02040503050406030204" pitchFamily="18" charset="0"/>
                            </a:rPr>
                          </m:ctrlPr>
                        </m:fPr>
                        <m:num>
                          <m:r>
                            <a:rPr lang="en-SG" sz="2000" i="1">
                              <a:latin typeface="Cambria Math" panose="02040503050406030204" pitchFamily="18" charset="0"/>
                              <a:ea typeface="Cambria Math" panose="02040503050406030204" pitchFamily="18" charset="0"/>
                            </a:rPr>
                            <m:t>7</m:t>
                          </m:r>
                        </m:num>
                        <m:den>
                          <m:r>
                            <a:rPr lang="en-SG" sz="2000" i="1">
                              <a:latin typeface="Cambria Math" panose="02040503050406030204" pitchFamily="18" charset="0"/>
                              <a:ea typeface="Cambria Math" panose="02040503050406030204" pitchFamily="18" charset="0"/>
                            </a:rPr>
                            <m:t>12</m:t>
                          </m:r>
                        </m:den>
                      </m:f>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35</m:t>
                          </m:r>
                        </m:num>
                        <m:den>
                          <m:r>
                            <a:rPr lang="en-SG" sz="2000" i="1">
                              <a:latin typeface="Cambria Math" panose="02040503050406030204" pitchFamily="18" charset="0"/>
                            </a:rPr>
                            <m:t>132</m:t>
                          </m:r>
                        </m:den>
                      </m:f>
                    </m:oMath>
                  </m:oMathPara>
                </a14:m>
                <a:endParaRPr lang="en-SG" sz="2000" dirty="0"/>
              </a:p>
            </p:txBody>
          </p:sp>
        </mc:Choice>
        <mc:Fallback xmlns="">
          <p:sp>
            <p:nvSpPr>
              <p:cNvPr id="31" name="TextBox 30"/>
              <p:cNvSpPr txBox="1">
                <a:spLocks noRot="1" noChangeAspect="1" noMove="1" noResize="1" noEditPoints="1" noAdjustHandles="1" noChangeArrowheads="1" noChangeShapeType="1" noTextEdit="1"/>
              </p:cNvSpPr>
              <p:nvPr/>
            </p:nvSpPr>
            <p:spPr>
              <a:xfrm>
                <a:off x="2575271" y="5377462"/>
                <a:ext cx="6320816" cy="697114"/>
              </a:xfrm>
              <a:prstGeom prst="rect">
                <a:avLst/>
              </a:prstGeom>
              <a:blipFill>
                <a:blip r:embed="rId12"/>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2575271" y="6119398"/>
                <a:ext cx="6320816" cy="697114"/>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latin typeface="Cambria Math" panose="02040503050406030204" pitchFamily="18" charset="0"/>
                        </a:rPr>
                        <m:t>𝑃</m:t>
                      </m:r>
                      <m:d>
                        <m:dPr>
                          <m:ctrlPr>
                            <a:rPr lang="en-SG" sz="2000" i="1">
                              <a:latin typeface="Cambria Math" panose="02040503050406030204" pitchFamily="18" charset="0"/>
                            </a:rPr>
                          </m:ctrlPr>
                        </m:dPr>
                        <m:e>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1</m:t>
                              </m:r>
                            </m:sub>
                            <m:sup>
                              <m:r>
                                <a:rPr lang="en-SG" sz="2000" i="1">
                                  <a:latin typeface="Cambria Math" panose="02040503050406030204" pitchFamily="18" charset="0"/>
                                  <a:ea typeface="Cambria Math" panose="02040503050406030204" pitchFamily="18" charset="0"/>
                                </a:rPr>
                                <m:t>𝑐</m:t>
                              </m:r>
                            </m:sup>
                          </m:sSubSup>
                          <m:r>
                            <a:rPr lang="en-SG" sz="2000" i="1">
                              <a:latin typeface="Cambria Math" panose="02040503050406030204" pitchFamily="18" charset="0"/>
                              <a:ea typeface="Cambria Math" panose="02040503050406030204" pitchFamily="18" charset="0"/>
                            </a:rPr>
                            <m:t>∩</m:t>
                          </m:r>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2</m:t>
                              </m:r>
                            </m:sub>
                            <m:sup>
                              <m:r>
                                <a:rPr lang="en-SG" sz="2000" i="1">
                                  <a:latin typeface="Cambria Math" panose="02040503050406030204" pitchFamily="18" charset="0"/>
                                  <a:ea typeface="Cambria Math" panose="02040503050406030204" pitchFamily="18" charset="0"/>
                                </a:rPr>
                                <m:t>𝑐</m:t>
                              </m:r>
                            </m:sup>
                          </m:sSubSup>
                        </m:e>
                      </m:d>
                      <m:r>
                        <a:rPr lang="en-SG" sz="2000" i="1">
                          <a:latin typeface="Cambria Math" panose="02040503050406030204" pitchFamily="18" charset="0"/>
                        </a:rPr>
                        <m:t>=</m:t>
                      </m:r>
                      <m:r>
                        <a:rPr lang="en-SG" sz="2000" i="1">
                          <a:latin typeface="Cambria Math" panose="02040503050406030204" pitchFamily="18" charset="0"/>
                        </a:rPr>
                        <m:t>𝑃</m:t>
                      </m:r>
                      <m:d>
                        <m:dPr>
                          <m:ctrlPr>
                            <a:rPr lang="en-SG" sz="2000" i="1">
                              <a:latin typeface="Cambria Math" panose="02040503050406030204" pitchFamily="18" charset="0"/>
                            </a:rPr>
                          </m:ctrlPr>
                        </m:dPr>
                        <m:e>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2</m:t>
                              </m:r>
                            </m:sub>
                            <m:sup>
                              <m:r>
                                <a:rPr lang="en-SG" sz="2000" i="1">
                                  <a:latin typeface="Cambria Math" panose="02040503050406030204" pitchFamily="18" charset="0"/>
                                  <a:ea typeface="Cambria Math" panose="02040503050406030204" pitchFamily="18" charset="0"/>
                                </a:rPr>
                                <m:t>𝑐</m:t>
                              </m:r>
                            </m:sup>
                          </m:sSubSup>
                        </m:e>
                        <m:e>
                          <m:sSubSup>
                            <m:sSubSupPr>
                              <m:ctrlPr>
                                <a:rPr lang="en-SG" sz="2000" i="1">
                                  <a:latin typeface="Cambria Math" panose="02040503050406030204" pitchFamily="18" charset="0"/>
                                </a:rPr>
                              </m:ctrlPr>
                            </m:sSubSupPr>
                            <m:e>
                              <m:r>
                                <a:rPr lang="en-SG" sz="2000" i="1">
                                  <a:latin typeface="Cambria Math" panose="02040503050406030204" pitchFamily="18" charset="0"/>
                                </a:rPr>
                                <m:t>𝐵</m:t>
                              </m:r>
                            </m:e>
                            <m:sub>
                              <m:r>
                                <a:rPr lang="en-SG" sz="2000" i="1">
                                  <a:latin typeface="Cambria Math" panose="02040503050406030204" pitchFamily="18" charset="0"/>
                                </a:rPr>
                                <m:t>1</m:t>
                              </m:r>
                            </m:sub>
                            <m:sup>
                              <m:r>
                                <a:rPr lang="en-SG" sz="2000" i="1">
                                  <a:latin typeface="Cambria Math" panose="02040503050406030204" pitchFamily="18" charset="0"/>
                                </a:rPr>
                                <m:t>𝑐</m:t>
                              </m:r>
                            </m:sup>
                          </m:sSubSup>
                        </m:e>
                      </m:d>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𝑃</m:t>
                      </m:r>
                      <m:d>
                        <m:dPr>
                          <m:ctrlPr>
                            <a:rPr lang="en-SG" sz="2000" i="1">
                              <a:latin typeface="Cambria Math" panose="02040503050406030204" pitchFamily="18" charset="0"/>
                              <a:ea typeface="Cambria Math" panose="02040503050406030204" pitchFamily="18" charset="0"/>
                            </a:rPr>
                          </m:ctrlPr>
                        </m:dPr>
                        <m:e>
                          <m:sSubSup>
                            <m:sSubSupPr>
                              <m:ctrlPr>
                                <a:rPr lang="en-SG" sz="2000" i="1">
                                  <a:latin typeface="Cambria Math" panose="02040503050406030204" pitchFamily="18" charset="0"/>
                                  <a:ea typeface="Cambria Math" panose="02040503050406030204" pitchFamily="18" charset="0"/>
                                </a:rPr>
                              </m:ctrlPr>
                            </m:sSubSupPr>
                            <m:e>
                              <m:r>
                                <a:rPr lang="en-SG" sz="2000" i="1">
                                  <a:latin typeface="Cambria Math" panose="02040503050406030204" pitchFamily="18" charset="0"/>
                                  <a:ea typeface="Cambria Math" panose="02040503050406030204" pitchFamily="18" charset="0"/>
                                </a:rPr>
                                <m:t>𝐵</m:t>
                              </m:r>
                            </m:e>
                            <m:sub>
                              <m:r>
                                <a:rPr lang="en-SG" sz="2000" i="1">
                                  <a:latin typeface="Cambria Math" panose="02040503050406030204" pitchFamily="18" charset="0"/>
                                  <a:ea typeface="Cambria Math" panose="02040503050406030204" pitchFamily="18" charset="0"/>
                                </a:rPr>
                                <m:t>1</m:t>
                              </m:r>
                            </m:sub>
                            <m:sup>
                              <m:r>
                                <a:rPr lang="en-SG" sz="2000" i="1">
                                  <a:latin typeface="Cambria Math" panose="02040503050406030204" pitchFamily="18" charset="0"/>
                                  <a:ea typeface="Cambria Math" panose="02040503050406030204" pitchFamily="18" charset="0"/>
                                </a:rPr>
                                <m:t>𝑐</m:t>
                              </m:r>
                            </m:sup>
                          </m:sSubSup>
                        </m:e>
                      </m:d>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6</m:t>
                          </m:r>
                        </m:num>
                        <m:den>
                          <m:r>
                            <a:rPr lang="en-SG" sz="2000" i="1">
                              <a:latin typeface="Cambria Math" panose="02040503050406030204" pitchFamily="18" charset="0"/>
                            </a:rPr>
                            <m:t>11</m:t>
                          </m:r>
                        </m:den>
                      </m:f>
                      <m:r>
                        <a:rPr lang="en-SG" sz="2000" i="1">
                          <a:latin typeface="Cambria Math" panose="02040503050406030204" pitchFamily="18" charset="0"/>
                          <a:ea typeface="Cambria Math" panose="02040503050406030204" pitchFamily="18" charset="0"/>
                        </a:rPr>
                        <m:t>∙</m:t>
                      </m:r>
                      <m:f>
                        <m:fPr>
                          <m:ctrlPr>
                            <a:rPr lang="en-SG" sz="2000" i="1">
                              <a:latin typeface="Cambria Math" panose="02040503050406030204" pitchFamily="18" charset="0"/>
                              <a:ea typeface="Cambria Math" panose="02040503050406030204" pitchFamily="18" charset="0"/>
                            </a:rPr>
                          </m:ctrlPr>
                        </m:fPr>
                        <m:num>
                          <m:r>
                            <a:rPr lang="en-SG" sz="2000" i="1">
                              <a:latin typeface="Cambria Math" panose="02040503050406030204" pitchFamily="18" charset="0"/>
                              <a:ea typeface="Cambria Math" panose="02040503050406030204" pitchFamily="18" charset="0"/>
                            </a:rPr>
                            <m:t>7</m:t>
                          </m:r>
                        </m:num>
                        <m:den>
                          <m:r>
                            <a:rPr lang="en-SG" sz="2000" i="1">
                              <a:latin typeface="Cambria Math" panose="02040503050406030204" pitchFamily="18" charset="0"/>
                              <a:ea typeface="Cambria Math" panose="02040503050406030204" pitchFamily="18" charset="0"/>
                            </a:rPr>
                            <m:t>12</m:t>
                          </m:r>
                        </m:den>
                      </m:f>
                      <m:r>
                        <a:rPr lang="en-SG" sz="2000" i="1">
                          <a:latin typeface="Cambria Math" panose="02040503050406030204" pitchFamily="18" charset="0"/>
                        </a:rPr>
                        <m:t>=</m:t>
                      </m:r>
                      <m:f>
                        <m:fPr>
                          <m:ctrlPr>
                            <a:rPr lang="en-SG" sz="2000" i="1">
                              <a:latin typeface="Cambria Math" panose="02040503050406030204" pitchFamily="18" charset="0"/>
                            </a:rPr>
                          </m:ctrlPr>
                        </m:fPr>
                        <m:num>
                          <m:r>
                            <a:rPr lang="en-SG" sz="2000" i="1">
                              <a:latin typeface="Cambria Math" panose="02040503050406030204" pitchFamily="18" charset="0"/>
                            </a:rPr>
                            <m:t>42</m:t>
                          </m:r>
                        </m:num>
                        <m:den>
                          <m:r>
                            <a:rPr lang="en-SG" sz="2000" i="1">
                              <a:latin typeface="Cambria Math" panose="02040503050406030204" pitchFamily="18" charset="0"/>
                            </a:rPr>
                            <m:t>132</m:t>
                          </m:r>
                        </m:den>
                      </m:f>
                    </m:oMath>
                  </m:oMathPara>
                </a14:m>
                <a:endParaRPr lang="en-SG" sz="2000" dirty="0"/>
              </a:p>
            </p:txBody>
          </p:sp>
        </mc:Choice>
        <mc:Fallback xmlns="">
          <p:sp>
            <p:nvSpPr>
              <p:cNvPr id="33" name="TextBox 32"/>
              <p:cNvSpPr txBox="1">
                <a:spLocks noRot="1" noChangeAspect="1" noMove="1" noResize="1" noEditPoints="1" noAdjustHandles="1" noChangeArrowheads="1" noChangeShapeType="1" noTextEdit="1"/>
              </p:cNvSpPr>
              <p:nvPr/>
            </p:nvSpPr>
            <p:spPr>
              <a:xfrm>
                <a:off x="2575271" y="6119398"/>
                <a:ext cx="6320816" cy="697114"/>
              </a:xfrm>
              <a:prstGeom prst="rect">
                <a:avLst/>
              </a:prstGeom>
              <a:blipFill>
                <a:blip r:embed="rId13"/>
                <a:stretch>
                  <a:fillRect/>
                </a:stretch>
              </a:blipFill>
              <a:ln>
                <a:solidFill>
                  <a:schemeClr val="tx1"/>
                </a:solidFill>
              </a:ln>
            </p:spPr>
            <p:txBody>
              <a:bodyPr/>
              <a:lstStyle/>
              <a:p>
                <a:r>
                  <a:rPr lang="en-SG">
                    <a:noFill/>
                  </a:rPr>
                  <a:t> </a:t>
                </a:r>
              </a:p>
            </p:txBody>
          </p:sp>
        </mc:Fallback>
      </mc:AlternateContent>
      <p:sp>
        <p:nvSpPr>
          <p:cNvPr id="34" name="TextBox 33">
            <a:extLst>
              <a:ext uri="{FF2B5EF4-FFF2-40B4-BE49-F238E27FC236}">
                <a16:creationId xmlns:a16="http://schemas.microsoft.com/office/drawing/2014/main" id="{4A569033-F3AD-49A5-B06F-B8395FB590B9}"/>
              </a:ext>
            </a:extLst>
          </p:cNvPr>
          <p:cNvSpPr txBox="1"/>
          <p:nvPr/>
        </p:nvSpPr>
        <p:spPr>
          <a:xfrm>
            <a:off x="950028" y="65391"/>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376686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dissolv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ssolve">
                                      <p:cBhvr>
                                        <p:cTn id="5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P spid="18" grpId="0" animBg="1"/>
      <p:bldP spid="21" grpId="0" animBg="1"/>
      <p:bldP spid="24" grpId="0" animBg="1"/>
      <p:bldP spid="25" grpId="0" animBg="1"/>
      <p:bldP spid="26" grpId="0" animBg="1"/>
      <p:bldP spid="30" grpId="0" animBg="1"/>
      <p:bldP spid="31" grpId="0" animBg="1"/>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20" name="Rectangle 3"/>
          <p:cNvSpPr txBox="1">
            <a:spLocks noChangeArrowheads="1"/>
          </p:cNvSpPr>
          <p:nvPr/>
        </p:nvSpPr>
        <p:spPr>
          <a:xfrm>
            <a:off x="1627382"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23" name="Rectangle 3"/>
          <p:cNvSpPr txBox="1">
            <a:spLocks noChangeArrowheads="1"/>
          </p:cNvSpPr>
          <p:nvPr/>
        </p:nvSpPr>
        <p:spPr>
          <a:xfrm>
            <a:off x="3494778" y="1477237"/>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a:pPr>
            <a:r>
              <a:rPr lang="en-US" sz="2400" dirty="0"/>
              <a:t>Find </a:t>
            </a:r>
            <a:r>
              <a:rPr lang="en-US" sz="2400" i="1" dirty="0"/>
              <a:t>P</a:t>
            </a:r>
            <a:r>
              <a:rPr lang="en-US" sz="2400" dirty="0"/>
              <a:t>(</a:t>
            </a:r>
            <a:r>
              <a:rPr lang="en-US" sz="2400" i="1" dirty="0"/>
              <a:t>B</a:t>
            </a:r>
            <a:r>
              <a:rPr lang="en-US" sz="2400" baseline="-25000" dirty="0"/>
              <a:t>1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dirty="0">
                <a:sym typeface="Symbol" panose="05050102010706020507" pitchFamily="18" charset="2"/>
              </a:rPr>
              <a:t>), </a:t>
            </a:r>
            <a:r>
              <a:rPr lang="en-US" sz="2400" i="1" dirty="0"/>
              <a:t>P</a:t>
            </a:r>
            <a:r>
              <a:rPr lang="en-US" sz="2400" dirty="0"/>
              <a:t>(</a:t>
            </a:r>
            <a:r>
              <a:rPr lang="en-US" sz="2400" i="1" dirty="0"/>
              <a:t>B</a:t>
            </a:r>
            <a:r>
              <a:rPr lang="en-US" sz="2400" baseline="-25000" dirty="0"/>
              <a:t>1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i="1" baseline="30000" dirty="0">
                <a:sym typeface="Symbol" panose="05050102010706020507" pitchFamily="18" charset="2"/>
              </a:rPr>
              <a:t>c</a:t>
            </a:r>
            <a:r>
              <a:rPr lang="en-US" sz="2400" dirty="0">
                <a:sym typeface="Symbol" panose="05050102010706020507" pitchFamily="18" charset="2"/>
              </a:rPr>
              <a:t>),</a:t>
            </a:r>
            <a:r>
              <a:rPr lang="en-US" sz="2400" dirty="0"/>
              <a:t> </a:t>
            </a:r>
            <a:r>
              <a:rPr lang="en-US" sz="2400" i="1" dirty="0"/>
              <a:t>P</a:t>
            </a:r>
            <a:r>
              <a:rPr lang="en-US" sz="2400" dirty="0"/>
              <a:t>(</a:t>
            </a:r>
            <a:r>
              <a:rPr lang="en-US" sz="2400" i="1" dirty="0"/>
              <a:t>B</a:t>
            </a:r>
            <a:r>
              <a:rPr lang="en-US" sz="2400" baseline="-25000" dirty="0"/>
              <a:t>1</a:t>
            </a:r>
            <a:r>
              <a:rPr lang="en-US" sz="2400" i="1" baseline="30000" dirty="0">
                <a:sym typeface="Symbol" panose="05050102010706020507" pitchFamily="18" charset="2"/>
              </a:rPr>
              <a:t>c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dirty="0">
                <a:sym typeface="Symbol" panose="05050102010706020507" pitchFamily="18" charset="2"/>
              </a:rPr>
              <a:t>),</a:t>
            </a:r>
            <a:r>
              <a:rPr lang="en-US" sz="2400" dirty="0"/>
              <a:t> </a:t>
            </a:r>
            <a:r>
              <a:rPr lang="en-US" sz="2400" i="1" dirty="0"/>
              <a:t>P</a:t>
            </a:r>
            <a:r>
              <a:rPr lang="en-US" sz="2400" dirty="0"/>
              <a:t>(</a:t>
            </a:r>
            <a:r>
              <a:rPr lang="en-US" sz="2400" i="1" dirty="0"/>
              <a:t>B</a:t>
            </a:r>
            <a:r>
              <a:rPr lang="en-US" sz="2400" baseline="-25000" dirty="0"/>
              <a:t>1</a:t>
            </a:r>
            <a:r>
              <a:rPr lang="en-US" sz="2400" i="1" baseline="30000" dirty="0">
                <a:sym typeface="Symbol" panose="05050102010706020507" pitchFamily="18" charset="2"/>
              </a:rPr>
              <a:t>c </a:t>
            </a:r>
            <a:r>
              <a:rPr lang="en-US" sz="2400" dirty="0">
                <a:sym typeface="Symbol" panose="05050102010706020507" pitchFamily="18" charset="2"/>
              </a:rPr>
              <a:t> </a:t>
            </a:r>
            <a:r>
              <a:rPr lang="en-US" sz="2400" i="1" dirty="0">
                <a:sym typeface="Symbol" panose="05050102010706020507" pitchFamily="18" charset="2"/>
              </a:rPr>
              <a:t>B</a:t>
            </a:r>
            <a:r>
              <a:rPr lang="en-US" sz="2400" baseline="-25000" dirty="0">
                <a:sym typeface="Symbol" panose="05050102010706020507" pitchFamily="18" charset="2"/>
              </a:rPr>
              <a:t>2</a:t>
            </a:r>
            <a:r>
              <a:rPr lang="en-US" sz="2400" i="1" baseline="30000" dirty="0">
                <a:sym typeface="Symbol" panose="05050102010706020507" pitchFamily="18" charset="2"/>
              </a:rPr>
              <a:t>c</a:t>
            </a:r>
            <a:r>
              <a:rPr lang="en-US" sz="2400" dirty="0">
                <a:sym typeface="Symbol" panose="05050102010706020507" pitchFamily="18" charset="2"/>
              </a:rPr>
              <a:t>)</a:t>
            </a:r>
            <a:r>
              <a:rPr lang="en-US" altLang="en-US" sz="2400" dirty="0"/>
              <a:t>. </a:t>
            </a:r>
          </a:p>
        </p:txBody>
      </p:sp>
      <p:grpSp>
        <p:nvGrpSpPr>
          <p:cNvPr id="9" name="Group 8"/>
          <p:cNvGrpSpPr/>
          <p:nvPr/>
        </p:nvGrpSpPr>
        <p:grpSpPr>
          <a:xfrm>
            <a:off x="1627382" y="2155332"/>
            <a:ext cx="8898539" cy="4270765"/>
            <a:chOff x="103381" y="2155331"/>
            <a:chExt cx="8898539" cy="4270765"/>
          </a:xfrm>
        </p:grpSpPr>
        <p:sp>
          <p:nvSpPr>
            <p:cNvPr id="38" name="Text Box 7"/>
            <p:cNvSpPr txBox="1">
              <a:spLocks noChangeArrowheads="1"/>
            </p:cNvSpPr>
            <p:nvPr/>
          </p:nvSpPr>
          <p:spPr bwMode="auto">
            <a:xfrm>
              <a:off x="3605465" y="6025986"/>
              <a:ext cx="18943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dirty="0"/>
                <a:t>Figure 11.8.2</a:t>
              </a:r>
            </a:p>
          </p:txBody>
        </p:sp>
        <p:grpSp>
          <p:nvGrpSpPr>
            <p:cNvPr id="8" name="Group 7"/>
            <p:cNvGrpSpPr/>
            <p:nvPr/>
          </p:nvGrpSpPr>
          <p:grpSpPr>
            <a:xfrm>
              <a:off x="103381" y="2155331"/>
              <a:ext cx="8898539" cy="3699143"/>
              <a:chOff x="103381" y="2155331"/>
              <a:chExt cx="8898539" cy="3699143"/>
            </a:xfrm>
          </p:grpSpPr>
          <p:pic>
            <p:nvPicPr>
              <p:cNvPr id="3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81" y="2155331"/>
                <a:ext cx="8898539" cy="3699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090834" y="3762202"/>
                <a:ext cx="201478" cy="276999"/>
              </a:xfrm>
              <a:prstGeom prst="rect">
                <a:avLst/>
              </a:prstGeom>
              <a:noFill/>
            </p:spPr>
            <p:txBody>
              <a:bodyPr wrap="square" rtlCol="0">
                <a:spAutoFit/>
              </a:bodyPr>
              <a:lstStyle/>
              <a:p>
                <a:pPr algn="ctr"/>
                <a:r>
                  <a:rPr lang="en-SG" sz="1200" dirty="0">
                    <a:solidFill>
                      <a:schemeClr val="tx1">
                        <a:lumMod val="65000"/>
                        <a:lumOff val="35000"/>
                      </a:schemeClr>
                    </a:solidFill>
                  </a:rPr>
                  <a:t>2</a:t>
                </a:r>
              </a:p>
            </p:txBody>
          </p:sp>
        </p:grpSp>
      </p:grpSp>
      <p:sp>
        <p:nvSpPr>
          <p:cNvPr id="21" name="TextBox 20">
            <a:extLst>
              <a:ext uri="{FF2B5EF4-FFF2-40B4-BE49-F238E27FC236}">
                <a16:creationId xmlns:a16="http://schemas.microsoft.com/office/drawing/2014/main" id="{4F4C245E-2879-499E-AD7A-9898D93918A5}"/>
              </a:ext>
            </a:extLst>
          </p:cNvPr>
          <p:cNvSpPr txBox="1"/>
          <p:nvPr/>
        </p:nvSpPr>
        <p:spPr>
          <a:xfrm>
            <a:off x="866900" y="48677"/>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1673936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20" name="Rectangle 3"/>
          <p:cNvSpPr txBox="1">
            <a:spLocks noChangeArrowheads="1"/>
          </p:cNvSpPr>
          <p:nvPr/>
        </p:nvSpPr>
        <p:spPr>
          <a:xfrm>
            <a:off x="1627382"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23" name="Rectangle 3"/>
          <p:cNvSpPr txBox="1">
            <a:spLocks noChangeArrowheads="1"/>
          </p:cNvSpPr>
          <p:nvPr/>
        </p:nvSpPr>
        <p:spPr>
          <a:xfrm>
            <a:off x="3494778" y="1477237"/>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2"/>
            </a:pPr>
            <a:r>
              <a:rPr lang="en-US" sz="2400" dirty="0"/>
              <a:t>What is the probability that the 2</a:t>
            </a:r>
            <a:r>
              <a:rPr lang="en-US" sz="2400" baseline="30000" dirty="0"/>
              <a:t>nd</a:t>
            </a:r>
            <a:r>
              <a:rPr lang="en-US" sz="2400" dirty="0"/>
              <a:t> ball is blue?</a:t>
            </a:r>
            <a:endParaRPr lang="en-US" altLang="en-US" sz="2400" dirty="0"/>
          </a:p>
        </p:txBody>
      </p:sp>
      <p:sp>
        <p:nvSpPr>
          <p:cNvPr id="2" name="TextBox 1"/>
          <p:cNvSpPr txBox="1"/>
          <p:nvPr/>
        </p:nvSpPr>
        <p:spPr>
          <a:xfrm>
            <a:off x="1869609" y="2224594"/>
            <a:ext cx="6900437" cy="1200329"/>
          </a:xfrm>
          <a:prstGeom prst="rect">
            <a:avLst/>
          </a:prstGeom>
          <a:noFill/>
        </p:spPr>
        <p:txBody>
          <a:bodyPr wrap="square" rtlCol="0">
            <a:spAutoFit/>
          </a:bodyPr>
          <a:lstStyle/>
          <a:p>
            <a:r>
              <a:rPr lang="en-SG" sz="2400" dirty="0"/>
              <a:t>First ball is blue and second is also blue, OR</a:t>
            </a:r>
          </a:p>
          <a:p>
            <a:r>
              <a:rPr lang="en-SG" sz="2400" dirty="0"/>
              <a:t>first ball is </a:t>
            </a:r>
            <a:r>
              <a:rPr lang="en-SG" sz="2400" dirty="0" err="1"/>
              <a:t>gray</a:t>
            </a:r>
            <a:r>
              <a:rPr lang="en-SG" sz="2400" dirty="0"/>
              <a:t> and second is blue.</a:t>
            </a:r>
          </a:p>
          <a:p>
            <a:r>
              <a:rPr lang="en-SG" sz="2400" dirty="0"/>
              <a:t>They are mutually exclusive.</a:t>
            </a:r>
          </a:p>
        </p:txBody>
      </p:sp>
      <mc:AlternateContent xmlns:mc="http://schemas.openxmlformats.org/markup-compatibility/2006" xmlns:a14="http://schemas.microsoft.com/office/drawing/2010/main">
        <mc:Choice Requires="a14">
          <p:sp>
            <p:nvSpPr>
              <p:cNvPr id="6" name="TextBox 5"/>
              <p:cNvSpPr txBox="1"/>
              <p:nvPr/>
            </p:nvSpPr>
            <p:spPr>
              <a:xfrm>
                <a:off x="3162258" y="3744589"/>
                <a:ext cx="488196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sSubSup>
                            <m:sSubSupPr>
                              <m:ctrlPr>
                                <a:rPr lang="en-SG" sz="2400" i="1">
                                  <a:latin typeface="Cambria Math" panose="02040503050406030204" pitchFamily="18" charset="0"/>
                                  <a:ea typeface="Cambria Math" panose="02040503050406030204" pitchFamily="18" charset="0"/>
                                </a:rPr>
                              </m:ctrlPr>
                            </m:sSubSup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up>
                              <m:r>
                                <a:rPr lang="en-SG" sz="2400" i="1">
                                  <a:latin typeface="Cambria Math" panose="02040503050406030204" pitchFamily="18" charset="0"/>
                                  <a:ea typeface="Cambria Math" panose="02040503050406030204" pitchFamily="18" charset="0"/>
                                </a:rPr>
                                <m:t>𝑐</m:t>
                              </m:r>
                            </m:sup>
                          </m:sSubSup>
                        </m:e>
                      </m:d>
                      <m:r>
                        <a:rPr lang="en-SG" sz="2400" i="1">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3162258" y="3744589"/>
                <a:ext cx="4881968" cy="461665"/>
              </a:xfrm>
              <a:prstGeom prst="rect">
                <a:avLst/>
              </a:prstGeom>
              <a:blipFill>
                <a:blip r:embed="rId3"/>
                <a:stretch>
                  <a:fillRect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936894" y="4774313"/>
                <a:ext cx="4045057" cy="8156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20</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35</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 </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55</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m:t>
                      </m:r>
                      <m:f>
                        <m:fPr>
                          <m:ctrlPr>
                            <a:rPr lang="en-SG" sz="2400" b="1" i="1">
                              <a:solidFill>
                                <a:srgbClr val="0000FF"/>
                              </a:solidFill>
                              <a:latin typeface="Cambria Math" panose="02040503050406030204" pitchFamily="18" charset="0"/>
                              <a:ea typeface="Cambria Math" panose="02040503050406030204" pitchFamily="18" charset="0"/>
                            </a:rPr>
                          </m:ctrlPr>
                        </m:fPr>
                        <m:num>
                          <m:r>
                            <a:rPr lang="en-SG" sz="2400" b="1" i="1">
                              <a:solidFill>
                                <a:srgbClr val="0000FF"/>
                              </a:solidFill>
                              <a:latin typeface="Cambria Math" panose="02040503050406030204" pitchFamily="18" charset="0"/>
                              <a:ea typeface="Cambria Math" panose="02040503050406030204" pitchFamily="18" charset="0"/>
                            </a:rPr>
                            <m:t>𝟓</m:t>
                          </m:r>
                        </m:num>
                        <m:den>
                          <m:r>
                            <a:rPr lang="en-SG" sz="2400" b="1" i="1">
                              <a:solidFill>
                                <a:srgbClr val="0000FF"/>
                              </a:solidFill>
                              <a:latin typeface="Cambria Math" panose="02040503050406030204" pitchFamily="18" charset="0"/>
                              <a:ea typeface="Cambria Math" panose="02040503050406030204" pitchFamily="18" charset="0"/>
                            </a:rPr>
                            <m:t>𝟏𝟐</m:t>
                          </m:r>
                        </m:den>
                      </m:f>
                    </m:oMath>
                  </m:oMathPara>
                </a14:m>
                <a:endParaRPr lang="en-SG" sz="2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3936894" y="4774313"/>
                <a:ext cx="4045057" cy="815673"/>
              </a:xfrm>
              <a:prstGeom prst="rect">
                <a:avLst/>
              </a:prstGeom>
              <a:blipFill>
                <a:blip r:embed="rId4"/>
                <a:stretch>
                  <a:fillRect/>
                </a:stretch>
              </a:blipFill>
            </p:spPr>
            <p:txBody>
              <a:bodyPr/>
              <a:lstStyle/>
              <a:p>
                <a:r>
                  <a:rPr lang="en-SG">
                    <a:noFill/>
                  </a:rPr>
                  <a:t> </a:t>
                </a:r>
              </a:p>
            </p:txBody>
          </p:sp>
        </mc:Fallback>
      </mc:AlternateContent>
      <p:grpSp>
        <p:nvGrpSpPr>
          <p:cNvPr id="10" name="Group 9"/>
          <p:cNvGrpSpPr/>
          <p:nvPr/>
        </p:nvGrpSpPr>
        <p:grpSpPr>
          <a:xfrm>
            <a:off x="4004013" y="4315790"/>
            <a:ext cx="6155793" cy="461665"/>
            <a:chOff x="2480012" y="4315789"/>
            <a:chExt cx="6155793" cy="461665"/>
          </a:xfrm>
        </p:grpSpPr>
        <mc:AlternateContent xmlns:mc="http://schemas.openxmlformats.org/markup-compatibility/2006" xmlns:a14="http://schemas.microsoft.com/office/drawing/2010/main">
          <mc:Choice Requires="a14">
            <p:sp>
              <p:nvSpPr>
                <p:cNvPr id="25" name="TextBox 24"/>
                <p:cNvSpPr txBox="1"/>
                <p:nvPr/>
              </p:nvSpPr>
              <p:spPr>
                <a:xfrm>
                  <a:off x="2480012" y="4315789"/>
                  <a:ext cx="404021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sSubSup>
                              <m:sSubSupPr>
                                <m:ctrlPr>
                                  <a:rPr lang="en-SG" sz="2400" i="1">
                                    <a:latin typeface="Cambria Math" panose="02040503050406030204" pitchFamily="18" charset="0"/>
                                    <a:ea typeface="Cambria Math" panose="02040503050406030204" pitchFamily="18" charset="0"/>
                                  </a:rPr>
                                </m:ctrlPr>
                              </m:sSubSup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up>
                                <m:r>
                                  <a:rPr lang="en-SG" sz="2400" i="1">
                                    <a:latin typeface="Cambria Math" panose="02040503050406030204" pitchFamily="18" charset="0"/>
                                    <a:ea typeface="Cambria Math" panose="02040503050406030204" pitchFamily="18" charset="0"/>
                                  </a:rPr>
                                  <m:t>𝑐</m:t>
                                </m:r>
                              </m:sup>
                            </m:sSubSup>
                          </m:e>
                        </m:d>
                      </m:oMath>
                    </m:oMathPara>
                  </a14:m>
                  <a:endParaRPr lang="en-SG" sz="2400" dirty="0"/>
                </a:p>
              </p:txBody>
            </p:sp>
          </mc:Choice>
          <mc:Fallback xmlns="">
            <p:sp>
              <p:nvSpPr>
                <p:cNvPr id="25" name="TextBox 24"/>
                <p:cNvSpPr txBox="1">
                  <a:spLocks noRot="1" noChangeAspect="1" noMove="1" noResize="1" noEditPoints="1" noAdjustHandles="1" noChangeArrowheads="1" noChangeShapeType="1" noTextEdit="1"/>
                </p:cNvSpPr>
                <p:nvPr/>
              </p:nvSpPr>
              <p:spPr>
                <a:xfrm>
                  <a:off x="2480012" y="4315789"/>
                  <a:ext cx="4040214" cy="461665"/>
                </a:xfrm>
                <a:prstGeom prst="rect">
                  <a:avLst/>
                </a:prstGeom>
                <a:blipFill rotWithShape="0">
                  <a:blip r:embed="rId5"/>
                  <a:stretch>
                    <a:fillRect b="-1316"/>
                  </a:stretch>
                </a:blipFill>
              </p:spPr>
              <p:txBody>
                <a:bodyPr/>
                <a:lstStyle/>
                <a:p>
                  <a:r>
                    <a:rPr lang="en-SG">
                      <a:noFill/>
                    </a:rPr>
                    <a:t> </a:t>
                  </a:r>
                </a:p>
              </p:txBody>
            </p:sp>
          </mc:Fallback>
        </mc:AlternateContent>
        <p:sp>
          <p:nvSpPr>
            <p:cNvPr id="7" name="TextBox 6"/>
            <p:cNvSpPr txBox="1"/>
            <p:nvPr/>
          </p:nvSpPr>
          <p:spPr>
            <a:xfrm>
              <a:off x="6337495" y="4361955"/>
              <a:ext cx="2298310" cy="369332"/>
            </a:xfrm>
            <a:prstGeom prst="rect">
              <a:avLst/>
            </a:prstGeom>
            <a:noFill/>
          </p:spPr>
          <p:txBody>
            <a:bodyPr wrap="square" rtlCol="0">
              <a:spAutoFit/>
            </a:bodyPr>
            <a:lstStyle/>
            <a:p>
              <a:r>
                <a:rPr lang="en-SG" dirty="0">
                  <a:solidFill>
                    <a:srgbClr val="0000FF"/>
                  </a:solidFill>
                </a:rPr>
                <a:t>by probability axiom 3</a:t>
              </a:r>
            </a:p>
          </p:txBody>
        </p:sp>
      </p:grpSp>
      <p:sp>
        <p:nvSpPr>
          <p:cNvPr id="21" name="TextBox 20">
            <a:extLst>
              <a:ext uri="{FF2B5EF4-FFF2-40B4-BE49-F238E27FC236}">
                <a16:creationId xmlns:a16="http://schemas.microsoft.com/office/drawing/2014/main" id="{B87FBB95-22B3-4668-BEE2-DE7476DAB9F9}"/>
              </a:ext>
            </a:extLst>
          </p:cNvPr>
          <p:cNvSpPr txBox="1"/>
          <p:nvPr/>
        </p:nvSpPr>
        <p:spPr>
          <a:xfrm>
            <a:off x="866900" y="89100"/>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144110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20" name="Rectangle 3"/>
          <p:cNvSpPr txBox="1">
            <a:spLocks noChangeArrowheads="1"/>
          </p:cNvSpPr>
          <p:nvPr/>
        </p:nvSpPr>
        <p:spPr>
          <a:xfrm>
            <a:off x="1627382"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23" name="Rectangle 3"/>
          <p:cNvSpPr txBox="1">
            <a:spLocks noChangeArrowheads="1"/>
          </p:cNvSpPr>
          <p:nvPr/>
        </p:nvSpPr>
        <p:spPr>
          <a:xfrm>
            <a:off x="3494778" y="1477237"/>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3"/>
            </a:pPr>
            <a:r>
              <a:rPr lang="en-US" sz="2400" dirty="0"/>
              <a:t>What is the probability that at least one ball is blue?</a:t>
            </a:r>
            <a:endParaRPr lang="en-US" altLang="en-US" sz="2400" dirty="0"/>
          </a:p>
        </p:txBody>
      </p:sp>
      <p:sp>
        <p:nvSpPr>
          <p:cNvPr id="21" name="TextBox 20"/>
          <p:cNvSpPr txBox="1"/>
          <p:nvPr/>
        </p:nvSpPr>
        <p:spPr>
          <a:xfrm>
            <a:off x="1487897"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6" name="TextBox 5"/>
              <p:cNvSpPr txBox="1"/>
              <p:nvPr/>
            </p:nvSpPr>
            <p:spPr>
              <a:xfrm>
                <a:off x="2552060" y="4088447"/>
                <a:ext cx="64731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r>
                        <a:rPr lang="en-SG" sz="2400" i="1">
                          <a:latin typeface="Cambria Math" panose="02040503050406030204" pitchFamily="18" charset="0"/>
                          <a:ea typeface="Cambria Math" panose="02040503050406030204" pitchFamily="18" charset="0"/>
                        </a:rPr>
                        <m:t>− </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oMath>
                  </m:oMathPara>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552060" y="4088447"/>
                <a:ext cx="6473121" cy="461665"/>
              </a:xfrm>
              <a:prstGeom prst="rect">
                <a:avLst/>
              </a:prstGeom>
              <a:blipFill>
                <a:blip r:embed="rId3"/>
                <a:stretch>
                  <a:fillRect b="-133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639947" y="4817564"/>
                <a:ext cx="5398253" cy="8180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m:t>
                          </m:r>
                        </m:num>
                        <m:den>
                          <m:r>
                            <a:rPr lang="en-SG" sz="2400" i="1">
                              <a:latin typeface="Cambria Math" panose="02040503050406030204" pitchFamily="18" charset="0"/>
                              <a:ea typeface="Cambria Math" panose="02040503050406030204" pitchFamily="18" charset="0"/>
                            </a:rPr>
                            <m:t>12</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m:t>
                          </m:r>
                        </m:num>
                        <m:den>
                          <m:r>
                            <a:rPr lang="en-SG" sz="2400" i="1">
                              <a:latin typeface="Cambria Math" panose="02040503050406030204" pitchFamily="18" charset="0"/>
                              <a:ea typeface="Cambria Math" panose="02040503050406030204" pitchFamily="18" charset="0"/>
                            </a:rPr>
                            <m:t>12</m:t>
                          </m:r>
                        </m:den>
                      </m:f>
                      <m:r>
                        <a:rPr lang="en-SG" sz="2400" i="1">
                          <a:latin typeface="Cambria Math" panose="02040503050406030204" pitchFamily="18" charset="0"/>
                          <a:ea typeface="Cambria Math" panose="02040503050406030204" pitchFamily="18" charset="0"/>
                        </a:rPr>
                        <m:t>− </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20</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 </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90</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m:t>
                      </m:r>
                      <m:f>
                        <m:fPr>
                          <m:ctrlPr>
                            <a:rPr lang="en-SG" sz="2400" b="1" i="1">
                              <a:solidFill>
                                <a:srgbClr val="0000FF"/>
                              </a:solidFill>
                              <a:latin typeface="Cambria Math" panose="02040503050406030204" pitchFamily="18" charset="0"/>
                              <a:ea typeface="Cambria Math" panose="02040503050406030204" pitchFamily="18" charset="0"/>
                            </a:rPr>
                          </m:ctrlPr>
                        </m:fPr>
                        <m:num>
                          <m:r>
                            <a:rPr lang="en-SG" sz="2400" b="1" i="1">
                              <a:solidFill>
                                <a:srgbClr val="0000FF"/>
                              </a:solidFill>
                              <a:latin typeface="Cambria Math" panose="02040503050406030204" pitchFamily="18" charset="0"/>
                              <a:ea typeface="Cambria Math" panose="02040503050406030204" pitchFamily="18" charset="0"/>
                            </a:rPr>
                            <m:t>𝟏𝟓</m:t>
                          </m:r>
                        </m:num>
                        <m:den>
                          <m:r>
                            <a:rPr lang="en-SG" sz="2400" b="1" i="1">
                              <a:solidFill>
                                <a:srgbClr val="0000FF"/>
                              </a:solidFill>
                              <a:latin typeface="Cambria Math" panose="02040503050406030204" pitchFamily="18" charset="0"/>
                              <a:ea typeface="Cambria Math" panose="02040503050406030204" pitchFamily="18" charset="0"/>
                            </a:rPr>
                            <m:t>𝟐𝟐</m:t>
                          </m:r>
                        </m:den>
                      </m:f>
                    </m:oMath>
                  </m:oMathPara>
                </a14:m>
                <a:endParaRPr lang="en-SG" sz="2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3639947" y="4817564"/>
                <a:ext cx="5398253" cy="818044"/>
              </a:xfrm>
              <a:prstGeom prst="rect">
                <a:avLst/>
              </a:prstGeom>
              <a:blipFill>
                <a:blip r:embed="rId4"/>
                <a:stretch>
                  <a:fillRect/>
                </a:stretch>
              </a:blipFill>
            </p:spPr>
            <p:txBody>
              <a:bodyPr/>
              <a:lstStyle/>
              <a:p>
                <a:r>
                  <a:rPr lang="en-SG">
                    <a:noFill/>
                  </a:rPr>
                  <a:t> </a:t>
                </a:r>
              </a:p>
            </p:txBody>
          </p:sp>
        </mc:Fallback>
      </mc:AlternateContent>
      <p:grpSp>
        <p:nvGrpSpPr>
          <p:cNvPr id="24" name="Group 23"/>
          <p:cNvGrpSpPr/>
          <p:nvPr/>
        </p:nvGrpSpPr>
        <p:grpSpPr>
          <a:xfrm>
            <a:off x="2435914" y="2155838"/>
            <a:ext cx="7176411" cy="1503409"/>
            <a:chOff x="993228" y="4598517"/>
            <a:chExt cx="7176411" cy="1503409"/>
          </a:xfrm>
        </p:grpSpPr>
        <p:sp>
          <p:nvSpPr>
            <p:cNvPr id="30" name="Rectangle 29"/>
            <p:cNvSpPr/>
            <p:nvPr/>
          </p:nvSpPr>
          <p:spPr>
            <a:xfrm>
              <a:off x="993228" y="4598518"/>
              <a:ext cx="7176411" cy="15034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Rectangle 30"/>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TextBox 32"/>
            <p:cNvSpPr txBox="1"/>
            <p:nvPr/>
          </p:nvSpPr>
          <p:spPr>
            <a:xfrm>
              <a:off x="1109374" y="4645644"/>
              <a:ext cx="6672460" cy="461665"/>
            </a:xfrm>
            <a:prstGeom prst="rect">
              <a:avLst/>
            </a:prstGeom>
            <a:noFill/>
          </p:spPr>
          <p:txBody>
            <a:bodyPr wrap="square" rtlCol="0">
              <a:spAutoFit/>
            </a:bodyPr>
            <a:lstStyle/>
            <a:p>
              <a:r>
                <a:rPr lang="en-SG" sz="2400" dirty="0">
                  <a:solidFill>
                    <a:schemeClr val="bg1"/>
                  </a:solidFill>
                </a:rPr>
                <a:t>Probability of a General Union of Two Events </a:t>
              </a:r>
            </a:p>
          </p:txBody>
        </p:sp>
        <p:sp>
          <p:nvSpPr>
            <p:cNvPr id="34" name="TextBox 33"/>
            <p:cNvSpPr txBox="1"/>
            <p:nvPr/>
          </p:nvSpPr>
          <p:spPr>
            <a:xfrm>
              <a:off x="1109374" y="5193984"/>
              <a:ext cx="6925353" cy="907941"/>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and </a:t>
              </a:r>
              <a:r>
                <a:rPr lang="en-SG" sz="2400" i="1" dirty="0"/>
                <a:t>B</a:t>
              </a:r>
              <a:r>
                <a:rPr lang="en-SG" sz="2400" dirty="0"/>
                <a:t> are any events in a sample space </a:t>
              </a:r>
              <a:r>
                <a:rPr lang="en-SG" sz="2400" i="1" dirty="0"/>
                <a:t>S</a:t>
              </a:r>
              <a:r>
                <a:rPr lang="en-SG" sz="2400" dirty="0"/>
                <a:t>, then</a:t>
              </a:r>
            </a:p>
            <a:p>
              <a:pPr>
                <a:spcAft>
                  <a:spcPts val="1200"/>
                </a:spcAft>
                <a:tabLst>
                  <a:tab pos="1828800" algn="l"/>
                </a:tabLst>
              </a:pPr>
              <a:r>
                <a:rPr lang="en-SG" sz="2400" dirty="0">
                  <a:sym typeface="Symbol"/>
                </a:rPr>
                <a:t>	</a:t>
              </a:r>
              <a:r>
                <a:rPr lang="en-US" altLang="en-US" sz="2400" i="1" dirty="0"/>
                <a:t> P</a:t>
              </a:r>
              <a:r>
                <a:rPr lang="en-US" altLang="en-US" sz="2400" dirty="0"/>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 </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a:t>
              </a:r>
              <a:r>
                <a:rPr lang="en-US" altLang="en-US" sz="2400" dirty="0">
                  <a:sym typeface="Symbol"/>
                </a:rPr>
                <a:t> </a:t>
              </a:r>
              <a:r>
                <a:rPr lang="en-US" altLang="en-US" sz="2400" i="1" dirty="0">
                  <a:sym typeface="Symbol"/>
                </a:rPr>
                <a:t>B</a:t>
              </a:r>
              <a:r>
                <a:rPr lang="en-US" altLang="en-US" sz="2400" dirty="0">
                  <a:sym typeface="Symbol"/>
                </a:rPr>
                <a:t>). </a:t>
              </a:r>
              <a:endParaRPr lang="en-SG" sz="2400" dirty="0"/>
            </a:p>
          </p:txBody>
        </p:sp>
      </p:grpSp>
      <p:sp>
        <p:nvSpPr>
          <p:cNvPr id="22" name="TextBox 21">
            <a:extLst>
              <a:ext uri="{FF2B5EF4-FFF2-40B4-BE49-F238E27FC236}">
                <a16:creationId xmlns:a16="http://schemas.microsoft.com/office/drawing/2014/main" id="{734A13F0-C797-478F-92DA-A943EA4629FB}"/>
              </a:ext>
            </a:extLst>
          </p:cNvPr>
          <p:cNvSpPr txBox="1"/>
          <p:nvPr/>
        </p:nvSpPr>
        <p:spPr>
          <a:xfrm>
            <a:off x="973778" y="53327"/>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153946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20" name="Rectangle 3"/>
          <p:cNvSpPr txBox="1">
            <a:spLocks noChangeArrowheads="1"/>
          </p:cNvSpPr>
          <p:nvPr/>
        </p:nvSpPr>
        <p:spPr>
          <a:xfrm>
            <a:off x="1627382"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 – Representing Conditional Probabilities in a Tree Diagram</a:t>
            </a:r>
          </a:p>
        </p:txBody>
      </p:sp>
      <p:sp>
        <p:nvSpPr>
          <p:cNvPr id="23" name="Rectangle 3"/>
          <p:cNvSpPr txBox="1">
            <a:spLocks noChangeArrowheads="1"/>
          </p:cNvSpPr>
          <p:nvPr/>
        </p:nvSpPr>
        <p:spPr>
          <a:xfrm>
            <a:off x="3494778" y="1477237"/>
            <a:ext cx="7031143" cy="727049"/>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4"/>
            </a:pPr>
            <a:r>
              <a:rPr lang="en-US" sz="2400" dirty="0"/>
              <a:t>What are the probabilities of no blue ball, one blue ball and two blue balls?</a:t>
            </a:r>
            <a:endParaRPr lang="en-US" altLang="en-US" sz="2400" dirty="0"/>
          </a:p>
        </p:txBody>
      </p:sp>
      <mc:AlternateContent xmlns:mc="http://schemas.openxmlformats.org/markup-compatibility/2006" xmlns:a14="http://schemas.microsoft.com/office/drawing/2010/main">
        <mc:Choice Requires="a14">
          <p:sp>
            <p:nvSpPr>
              <p:cNvPr id="26" name="TextBox 25"/>
              <p:cNvSpPr txBox="1"/>
              <p:nvPr/>
            </p:nvSpPr>
            <p:spPr>
              <a:xfrm>
                <a:off x="7218042" y="2447418"/>
                <a:ext cx="2378562" cy="8180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=1−</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15</m:t>
                          </m:r>
                        </m:num>
                        <m:den>
                          <m:r>
                            <a:rPr lang="en-SG" sz="2400" i="1">
                              <a:latin typeface="Cambria Math" panose="02040503050406030204" pitchFamily="18" charset="0"/>
                              <a:ea typeface="Cambria Math" panose="02040503050406030204" pitchFamily="18" charset="0"/>
                            </a:rPr>
                            <m:t>22</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7</m:t>
                          </m:r>
                        </m:num>
                        <m:den>
                          <m:r>
                            <a:rPr lang="en-SG" sz="2400" i="1">
                              <a:latin typeface="Cambria Math" panose="02040503050406030204" pitchFamily="18" charset="0"/>
                              <a:ea typeface="Cambria Math" panose="02040503050406030204" pitchFamily="18" charset="0"/>
                            </a:rPr>
                            <m:t>22</m:t>
                          </m:r>
                        </m:den>
                      </m:f>
                    </m:oMath>
                  </m:oMathPara>
                </a14:m>
                <a:endParaRPr lang="en-SG"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7218042" y="2447418"/>
                <a:ext cx="2378562" cy="818044"/>
              </a:xfrm>
              <a:prstGeom prst="rect">
                <a:avLst/>
              </a:prstGeom>
              <a:blipFill>
                <a:blip r:embed="rId3"/>
                <a:stretch>
                  <a:fillRect/>
                </a:stretch>
              </a:blipFill>
            </p:spPr>
            <p:txBody>
              <a:bodyPr/>
              <a:lstStyle/>
              <a:p>
                <a:r>
                  <a:rPr lang="en-SG">
                    <a:noFill/>
                  </a:rPr>
                  <a:t> </a:t>
                </a:r>
              </a:p>
            </p:txBody>
          </p:sp>
        </mc:Fallback>
      </mc:AlternateContent>
      <p:sp>
        <p:nvSpPr>
          <p:cNvPr id="2" name="TextBox 1"/>
          <p:cNvSpPr txBox="1"/>
          <p:nvPr/>
        </p:nvSpPr>
        <p:spPr>
          <a:xfrm>
            <a:off x="1767019" y="2633493"/>
            <a:ext cx="5816819" cy="461665"/>
          </a:xfrm>
          <a:prstGeom prst="rect">
            <a:avLst/>
          </a:prstGeom>
          <a:noFill/>
        </p:spPr>
        <p:txBody>
          <a:bodyPr wrap="square" rtlCol="0">
            <a:spAutoFit/>
          </a:bodyPr>
          <a:lstStyle/>
          <a:p>
            <a:r>
              <a:rPr lang="en-SG" sz="2400" i="1" dirty="0"/>
              <a:t>P</a:t>
            </a:r>
            <a:r>
              <a:rPr lang="en-SG" sz="2400" dirty="0"/>
              <a:t>(no blue balls) = 1 – </a:t>
            </a:r>
            <a:r>
              <a:rPr lang="en-SG" sz="2400" i="1" dirty="0"/>
              <a:t>P</a:t>
            </a:r>
            <a:r>
              <a:rPr lang="en-SG" sz="2400" dirty="0"/>
              <a:t>(at least one blue ball)</a:t>
            </a:r>
          </a:p>
        </p:txBody>
      </p:sp>
      <p:sp>
        <p:nvSpPr>
          <p:cNvPr id="25" name="TextBox 24"/>
          <p:cNvSpPr txBox="1"/>
          <p:nvPr/>
        </p:nvSpPr>
        <p:spPr>
          <a:xfrm>
            <a:off x="1893738" y="3405660"/>
            <a:ext cx="8213890" cy="830997"/>
          </a:xfrm>
          <a:prstGeom prst="rect">
            <a:avLst/>
          </a:prstGeom>
          <a:noFill/>
        </p:spPr>
        <p:txBody>
          <a:bodyPr wrap="square" rtlCol="0">
            <a:spAutoFit/>
          </a:bodyPr>
          <a:lstStyle/>
          <a:p>
            <a:r>
              <a:rPr lang="en-SG" sz="2400" dirty="0"/>
              <a:t>The event that one ball is blue </a:t>
            </a:r>
            <a:r>
              <a:rPr lang="en-SG" sz="2400" dirty="0">
                <a:sym typeface="Wingdings" panose="05000000000000000000" pitchFamily="2" charset="2"/>
              </a:rPr>
              <a:t> first ball is blue but second ball is not; or second ball is blue but first ball is not.</a:t>
            </a:r>
            <a:endParaRPr lang="en-SG" sz="2400" dirty="0"/>
          </a:p>
        </p:txBody>
      </p:sp>
      <mc:AlternateContent xmlns:mc="http://schemas.openxmlformats.org/markup-compatibility/2006" xmlns:a14="http://schemas.microsoft.com/office/drawing/2010/main">
        <mc:Choice Requires="a14">
          <p:sp>
            <p:nvSpPr>
              <p:cNvPr id="38" name="TextBox 37"/>
              <p:cNvSpPr txBox="1"/>
              <p:nvPr/>
            </p:nvSpPr>
            <p:spPr>
              <a:xfrm>
                <a:off x="2091524" y="4256965"/>
                <a:ext cx="8016105" cy="621773"/>
              </a:xfrm>
              <a:prstGeom prst="rect">
                <a:avLst/>
              </a:prstGeom>
              <a:noFill/>
            </p:spPr>
            <p:txBody>
              <a:bodyPr wrap="square" rtlCol="0">
                <a:spAutoFit/>
              </a:bodyPr>
              <a:lstStyle/>
              <a:p>
                <a:r>
                  <a:rPr lang="en-SG" sz="2400" dirty="0"/>
                  <a:t>From part (a), </a:t>
                </a:r>
                <a14:m>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r>
                          <a:rPr lang="en-SG" sz="2400" i="1">
                            <a:latin typeface="Cambria Math" panose="02040503050406030204" pitchFamily="18" charset="0"/>
                            <a:ea typeface="Cambria Math" panose="02040503050406030204" pitchFamily="18" charset="0"/>
                          </a:rPr>
                          <m:t>∩</m:t>
                        </m:r>
                        <m:sSubSup>
                          <m:sSubSupPr>
                            <m:ctrlPr>
                              <a:rPr lang="en-SG" sz="2400" i="1">
                                <a:latin typeface="Cambria Math" panose="02040503050406030204" pitchFamily="18" charset="0"/>
                                <a:ea typeface="Cambria Math" panose="02040503050406030204" pitchFamily="18" charset="0"/>
                              </a:rPr>
                            </m:ctrlPr>
                          </m:sSubSup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up>
                            <m:r>
                              <a:rPr lang="en-SG" sz="2400" i="1">
                                <a:latin typeface="Cambria Math" panose="02040503050406030204" pitchFamily="18" charset="0"/>
                                <a:ea typeface="Cambria Math" panose="02040503050406030204" pitchFamily="18" charset="0"/>
                              </a:rPr>
                              <m:t>𝑐</m:t>
                            </m:r>
                          </m:sup>
                        </m:sSubSup>
                      </m:e>
                    </m:d>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35</m:t>
                        </m:r>
                      </m:num>
                      <m:den>
                        <m:r>
                          <a:rPr lang="en-SG" sz="2400" i="1">
                            <a:latin typeface="Cambria Math" panose="02040503050406030204" pitchFamily="18" charset="0"/>
                            <a:ea typeface="Cambria Math" panose="02040503050406030204" pitchFamily="18" charset="0"/>
                          </a:rPr>
                          <m:t>132</m:t>
                        </m:r>
                      </m:den>
                    </m:f>
                  </m:oMath>
                </a14:m>
                <a:r>
                  <a:rPr lang="en-SG" sz="2400" dirty="0"/>
                  <a:t> and </a:t>
                </a:r>
                <a14:m>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bSup>
                          <m:sSubSupPr>
                            <m:ctrlPr>
                              <a:rPr lang="en-SG" sz="2400" i="1">
                                <a:latin typeface="Cambria Math" panose="02040503050406030204" pitchFamily="18" charset="0"/>
                              </a:rPr>
                            </m:ctrlPr>
                          </m:sSubSupPr>
                          <m:e>
                            <m:r>
                              <a:rPr lang="en-SG" sz="2400" i="1">
                                <a:latin typeface="Cambria Math" panose="02040503050406030204" pitchFamily="18" charset="0"/>
                              </a:rPr>
                              <m:t>𝐵</m:t>
                            </m:r>
                          </m:e>
                          <m:sub>
                            <m:r>
                              <a:rPr lang="en-SG" sz="2400" i="1">
                                <a:latin typeface="Cambria Math" panose="02040503050406030204" pitchFamily="18" charset="0"/>
                              </a:rPr>
                              <m:t>1</m:t>
                            </m:r>
                          </m:sub>
                          <m:sup>
                            <m:r>
                              <a:rPr lang="en-SG" sz="2400" i="1">
                                <a:latin typeface="Cambria Math" panose="02040503050406030204" pitchFamily="18" charset="0"/>
                              </a:rPr>
                              <m:t>𝑐</m:t>
                            </m:r>
                          </m:sup>
                        </m:sSubSup>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35</m:t>
                        </m:r>
                      </m:num>
                      <m:den>
                        <m:r>
                          <a:rPr lang="en-SG" sz="2400" i="1">
                            <a:latin typeface="Cambria Math" panose="02040503050406030204" pitchFamily="18" charset="0"/>
                            <a:ea typeface="Cambria Math" panose="02040503050406030204" pitchFamily="18" charset="0"/>
                          </a:rPr>
                          <m:t>132</m:t>
                        </m:r>
                      </m:den>
                    </m:f>
                  </m:oMath>
                </a14:m>
                <a:r>
                  <a:rPr lang="en-SG" sz="2400" dirty="0"/>
                  <a:t> </a:t>
                </a:r>
              </a:p>
            </p:txBody>
          </p:sp>
        </mc:Choice>
        <mc:Fallback xmlns="">
          <p:sp>
            <p:nvSpPr>
              <p:cNvPr id="38" name="TextBox 37"/>
              <p:cNvSpPr txBox="1">
                <a:spLocks noRot="1" noChangeAspect="1" noMove="1" noResize="1" noEditPoints="1" noAdjustHandles="1" noChangeArrowheads="1" noChangeShapeType="1" noTextEdit="1"/>
              </p:cNvSpPr>
              <p:nvPr/>
            </p:nvSpPr>
            <p:spPr>
              <a:xfrm>
                <a:off x="2091524" y="4256965"/>
                <a:ext cx="8016105" cy="621773"/>
              </a:xfrm>
              <a:prstGeom prst="rect">
                <a:avLst/>
              </a:prstGeom>
              <a:blipFill>
                <a:blip r:embed="rId4"/>
                <a:stretch>
                  <a:fillRect l="-1141" b="-980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2091524" y="4861428"/>
                <a:ext cx="8016105" cy="621773"/>
              </a:xfrm>
              <a:prstGeom prst="rect">
                <a:avLst/>
              </a:prstGeom>
              <a:noFill/>
            </p:spPr>
            <p:txBody>
              <a:bodyPr wrap="square" rtlCol="0">
                <a:spAutoFit/>
              </a:bodyPr>
              <a:lstStyle/>
              <a:p>
                <a:r>
                  <a:rPr lang="en-SG" sz="2400" dirty="0"/>
                  <a:t>Hence, </a:t>
                </a:r>
                <a:r>
                  <a:rPr lang="en-SG" sz="2400" i="1" dirty="0"/>
                  <a:t>P</a:t>
                </a:r>
                <a:r>
                  <a:rPr lang="en-SG" sz="2400" dirty="0"/>
                  <a:t>(1 blue ball) </a:t>
                </a:r>
                <a14:m>
                  <m:oMath xmlns:m="http://schemas.openxmlformats.org/officeDocument/2006/math">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35</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 </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35</m:t>
                        </m:r>
                      </m:num>
                      <m:den>
                        <m:r>
                          <a:rPr lang="en-SG" sz="2400" i="1">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70</m:t>
                        </m:r>
                      </m:num>
                      <m:den>
                        <m:r>
                          <a:rPr lang="en-SG" sz="2400" i="1">
                            <a:latin typeface="Cambria Math" panose="02040503050406030204" pitchFamily="18" charset="0"/>
                            <a:ea typeface="Cambria Math" panose="02040503050406030204" pitchFamily="18" charset="0"/>
                          </a:rPr>
                          <m:t>132</m:t>
                        </m:r>
                      </m:den>
                    </m:f>
                  </m:oMath>
                </a14:m>
                <a:endParaRPr lang="en-SG"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2091524" y="4861428"/>
                <a:ext cx="8016105" cy="621773"/>
              </a:xfrm>
              <a:prstGeom prst="rect">
                <a:avLst/>
              </a:prstGeom>
              <a:blipFill>
                <a:blip r:embed="rId5"/>
                <a:stretch>
                  <a:fillRect l="-1141" b="-980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1825537" y="5578483"/>
                <a:ext cx="5758301" cy="616515"/>
              </a:xfrm>
              <a:prstGeom prst="rect">
                <a:avLst/>
              </a:prstGeom>
              <a:noFill/>
            </p:spPr>
            <p:txBody>
              <a:bodyPr wrap="square" rtlCol="0">
                <a:spAutoFit/>
              </a:bodyPr>
              <a:lstStyle/>
              <a:p>
                <a:r>
                  <a:rPr lang="en-SG" sz="2400" dirty="0"/>
                  <a:t>From part (a), </a:t>
                </a:r>
                <a:r>
                  <a:rPr lang="en-SG" sz="2400" i="1" dirty="0"/>
                  <a:t>P</a:t>
                </a:r>
                <a:r>
                  <a:rPr lang="en-SG" sz="2400" dirty="0"/>
                  <a:t>(2 blue balls) </a:t>
                </a:r>
                <a14:m>
                  <m:oMath xmlns:m="http://schemas.openxmlformats.org/officeDocument/2006/math">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20</m:t>
                        </m:r>
                      </m:num>
                      <m:den>
                        <m:r>
                          <a:rPr lang="en-SG" sz="2400" i="1">
                            <a:latin typeface="Cambria Math" panose="02040503050406030204" pitchFamily="18" charset="0"/>
                            <a:ea typeface="Cambria Math" panose="02040503050406030204" pitchFamily="18" charset="0"/>
                          </a:rPr>
                          <m:t>132</m:t>
                        </m:r>
                      </m:den>
                    </m:f>
                  </m:oMath>
                </a14:m>
                <a:endParaRPr lang="en-SG"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1825537" y="5578483"/>
                <a:ext cx="5758301" cy="616515"/>
              </a:xfrm>
              <a:prstGeom prst="rect">
                <a:avLst/>
              </a:prstGeom>
              <a:blipFill>
                <a:blip r:embed="rId6"/>
                <a:stretch>
                  <a:fillRect l="-1587" b="-9901"/>
                </a:stretch>
              </a:blipFill>
            </p:spPr>
            <p:txBody>
              <a:bodyPr/>
              <a:lstStyle/>
              <a:p>
                <a:r>
                  <a:rPr lang="en-SG">
                    <a:noFill/>
                  </a:rPr>
                  <a:t> </a:t>
                </a:r>
              </a:p>
            </p:txBody>
          </p:sp>
        </mc:Fallback>
      </mc:AlternateContent>
      <p:sp>
        <p:nvSpPr>
          <p:cNvPr id="21" name="TextBox 20">
            <a:extLst>
              <a:ext uri="{FF2B5EF4-FFF2-40B4-BE49-F238E27FC236}">
                <a16:creationId xmlns:a16="http://schemas.microsoft.com/office/drawing/2014/main" id="{24BA2765-CB8A-4210-A5BF-E31BD45649BC}"/>
              </a:ext>
            </a:extLst>
          </p:cNvPr>
          <p:cNvSpPr txBox="1"/>
          <p:nvPr/>
        </p:nvSpPr>
        <p:spPr>
          <a:xfrm>
            <a:off x="866900" y="64542"/>
            <a:ext cx="10486900" cy="671855"/>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3600" dirty="0">
                <a:solidFill>
                  <a:schemeClr val="bg1"/>
                </a:solidFill>
              </a:rPr>
              <a:t>Conditional Probability</a:t>
            </a:r>
          </a:p>
        </p:txBody>
      </p:sp>
    </p:spTree>
    <p:extLst>
      <p:ext uri="{BB962C8B-B14F-4D97-AF65-F5344CB8AC3E}">
        <p14:creationId xmlns:p14="http://schemas.microsoft.com/office/powerpoint/2010/main" val="417795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 grpId="0"/>
      <p:bldP spid="25" grpId="0"/>
      <p:bldP spid="38" grpId="0"/>
      <p:bldP spid="39"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27" name="TextBox 26"/>
          <p:cNvSpPr txBox="1"/>
          <p:nvPr/>
        </p:nvSpPr>
        <p:spPr>
          <a:xfrm>
            <a:off x="807522" y="20903"/>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Bayes’ Theorem</a:t>
            </a:r>
            <a:endParaRPr lang="en-SG" sz="2000" dirty="0">
              <a:solidFill>
                <a:schemeClr val="bg1"/>
              </a:solidFill>
            </a:endParaRPr>
          </a:p>
        </p:txBody>
      </p:sp>
      <p:sp>
        <p:nvSpPr>
          <p:cNvPr id="30" name="Rectangle 3"/>
          <p:cNvSpPr txBox="1">
            <a:spLocks noChangeArrowheads="1"/>
          </p:cNvSpPr>
          <p:nvPr/>
        </p:nvSpPr>
        <p:spPr>
          <a:xfrm>
            <a:off x="1856425" y="1568776"/>
            <a:ext cx="8616553" cy="19803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Suppose that one urn contains 3 blue and 4 gray balls and a second urn contains 5 blue and 3 gray balls. A ball is selected by choosing one of the urns at random and then picking a ball at random from that urn. If the chosen ball is blue, what is the </a:t>
            </a:r>
            <a:r>
              <a:rPr lang="en-US" altLang="en-US" sz="2400" b="1" dirty="0"/>
              <a:t>probability that it came from the first urn</a:t>
            </a:r>
            <a:r>
              <a:rPr lang="en-US" altLang="en-US" sz="2400" dirty="0"/>
              <a:t>?</a:t>
            </a:r>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t="4526"/>
          <a:stretch/>
        </p:blipFill>
        <p:spPr>
          <a:xfrm>
            <a:off x="8808204" y="359072"/>
            <a:ext cx="827867" cy="117700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4080" r="12553"/>
          <a:stretch/>
        </p:blipFill>
        <p:spPr>
          <a:xfrm>
            <a:off x="9636070" y="362659"/>
            <a:ext cx="836908" cy="1140723"/>
          </a:xfrm>
          <a:prstGeom prst="rect">
            <a:avLst/>
          </a:prstGeom>
        </p:spPr>
      </p:pic>
      <p:sp>
        <p:nvSpPr>
          <p:cNvPr id="20" name="Rectangle 3"/>
          <p:cNvSpPr txBox="1">
            <a:spLocks noChangeArrowheads="1"/>
          </p:cNvSpPr>
          <p:nvPr/>
        </p:nvSpPr>
        <p:spPr>
          <a:xfrm>
            <a:off x="1856425" y="3614506"/>
            <a:ext cx="8616553" cy="12986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This problem can be solved by carefully interpreting all the information that is known and putting it together in just the right way.</a:t>
            </a:r>
          </a:p>
        </p:txBody>
      </p:sp>
      <p:sp>
        <p:nvSpPr>
          <p:cNvPr id="21" name="Rectangle 3"/>
          <p:cNvSpPr txBox="1">
            <a:spLocks noChangeArrowheads="1"/>
          </p:cNvSpPr>
          <p:nvPr/>
        </p:nvSpPr>
        <p:spPr>
          <a:xfrm>
            <a:off x="1856424" y="4845971"/>
            <a:ext cx="8616553" cy="16637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Let</a:t>
            </a:r>
          </a:p>
          <a:p>
            <a:pPr marL="449263">
              <a:lnSpc>
                <a:spcPct val="100000"/>
              </a:lnSpc>
              <a:spcBef>
                <a:spcPts val="0"/>
              </a:spcBef>
              <a:buFont typeface="Wingdings" panose="05000000000000000000" pitchFamily="2" charset="2"/>
              <a:buChar char="§"/>
            </a:pPr>
            <a:r>
              <a:rPr lang="en-US" altLang="en-US" sz="2400" i="1" dirty="0"/>
              <a:t>A</a:t>
            </a:r>
            <a:r>
              <a:rPr lang="en-US" altLang="en-US" sz="2400" dirty="0"/>
              <a:t> be the event that the chosen ball is blue,</a:t>
            </a:r>
          </a:p>
          <a:p>
            <a:pPr marL="449263">
              <a:lnSpc>
                <a:spcPct val="100000"/>
              </a:lnSpc>
              <a:spcBef>
                <a:spcPts val="0"/>
              </a:spcBef>
              <a:buFont typeface="Wingdings" panose="05000000000000000000" pitchFamily="2" charset="2"/>
              <a:buChar char="§"/>
            </a:pPr>
            <a:r>
              <a:rPr lang="en-US" altLang="en-US" sz="2400" i="1" dirty="0"/>
              <a:t>B</a:t>
            </a:r>
            <a:r>
              <a:rPr lang="en-US" altLang="en-US" sz="2400" baseline="-25000" dirty="0"/>
              <a:t>1</a:t>
            </a:r>
            <a:r>
              <a:rPr lang="en-US" altLang="en-US" sz="2400" dirty="0"/>
              <a:t> the event that the ball came from the first urn, and</a:t>
            </a:r>
          </a:p>
          <a:p>
            <a:pPr marL="449263">
              <a:lnSpc>
                <a:spcPct val="100000"/>
              </a:lnSpc>
              <a:spcBef>
                <a:spcPts val="0"/>
              </a:spcBef>
              <a:buFont typeface="Wingdings" panose="05000000000000000000" pitchFamily="2" charset="2"/>
              <a:buChar char="§"/>
            </a:pPr>
            <a:r>
              <a:rPr lang="en-US" altLang="en-US" sz="2400" i="1" dirty="0"/>
              <a:t>B</a:t>
            </a:r>
            <a:r>
              <a:rPr lang="en-US" altLang="en-US" sz="2400" baseline="-25000" dirty="0"/>
              <a:t>2</a:t>
            </a:r>
            <a:r>
              <a:rPr lang="en-US" altLang="en-US" sz="2400" dirty="0"/>
              <a:t> the event that the ball came from the second urn.</a:t>
            </a:r>
          </a:p>
        </p:txBody>
      </p:sp>
    </p:spTree>
    <p:extLst>
      <p:ext uri="{BB962C8B-B14F-4D97-AF65-F5344CB8AC3E}">
        <p14:creationId xmlns:p14="http://schemas.microsoft.com/office/powerpoint/2010/main" val="47463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Bayes’ Theorem</a:t>
            </a:r>
            <a:endParaRPr lang="en-SG" sz="2000" dirty="0">
              <a:solidFill>
                <a:schemeClr val="bg1"/>
              </a:solidFill>
            </a:endParaRPr>
          </a:p>
        </p:txBody>
      </p:sp>
      <p:sp>
        <p:nvSpPr>
          <p:cNvPr id="30" name="Rectangle 3"/>
          <p:cNvSpPr txBox="1">
            <a:spLocks noChangeArrowheads="1"/>
          </p:cNvSpPr>
          <p:nvPr/>
        </p:nvSpPr>
        <p:spPr>
          <a:xfrm>
            <a:off x="1856425" y="1568776"/>
            <a:ext cx="8616553" cy="88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3 of the 7 balls in the first urn are blue, 5 of the 8 balls in the second urn are blue:</a:t>
            </a:r>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t="4526"/>
          <a:stretch/>
        </p:blipFill>
        <p:spPr>
          <a:xfrm>
            <a:off x="8808204" y="359072"/>
            <a:ext cx="827867" cy="117700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4080" r="12553"/>
          <a:stretch/>
        </p:blipFill>
        <p:spPr>
          <a:xfrm>
            <a:off x="9636070" y="362659"/>
            <a:ext cx="836908" cy="1140723"/>
          </a:xfrm>
          <a:prstGeom prst="rect">
            <a:avLst/>
          </a:prstGeom>
        </p:spPr>
      </p:pic>
      <mc:AlternateContent xmlns:mc="http://schemas.openxmlformats.org/markup-compatibility/2006" xmlns:a14="http://schemas.microsoft.com/office/drawing/2010/main">
        <mc:Choice Requires="a14">
          <p:sp>
            <p:nvSpPr>
              <p:cNvPr id="20" name="Rectangle 3"/>
              <p:cNvSpPr txBox="1">
                <a:spLocks noChangeArrowheads="1"/>
              </p:cNvSpPr>
              <p:nvPr/>
            </p:nvSpPr>
            <p:spPr>
              <a:xfrm>
                <a:off x="3529946" y="1960020"/>
                <a:ext cx="3761296" cy="5619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 xmlns:m="http://schemas.openxmlformats.org/officeDocument/2006/math">
                    <m:r>
                      <a:rPr lang="en-SG" altLang="en-US" sz="2000" i="1" dirty="0">
                        <a:latin typeface="Cambria Math" panose="02040503050406030204" pitchFamily="18" charset="0"/>
                      </a:rPr>
                      <m:t>𝑃</m:t>
                    </m:r>
                    <m:d>
                      <m:dPr>
                        <m:ctrlPr>
                          <a:rPr lang="en-SG" altLang="en-US" sz="2000" i="1" dirty="0">
                            <a:latin typeface="Cambria Math" panose="02040503050406030204" pitchFamily="18" charset="0"/>
                          </a:rPr>
                        </m:ctrlPr>
                      </m:dPr>
                      <m:e>
                        <m:r>
                          <a:rPr lang="en-SG" altLang="en-US" sz="2000" i="1" dirty="0">
                            <a:latin typeface="Cambria Math" panose="02040503050406030204" pitchFamily="18" charset="0"/>
                          </a:rPr>
                          <m:t>𝐴</m:t>
                        </m:r>
                      </m:e>
                      <m:e>
                        <m:sSub>
                          <m:sSubPr>
                            <m:ctrlPr>
                              <a:rPr lang="en-SG" altLang="en-US" sz="2000" i="1" dirty="0">
                                <a:latin typeface="Cambria Math" panose="02040503050406030204" pitchFamily="18" charset="0"/>
                              </a:rPr>
                            </m:ctrlPr>
                          </m:sSubPr>
                          <m:e>
                            <m:r>
                              <a:rPr lang="en-SG" altLang="en-US" sz="2000" i="1" dirty="0">
                                <a:latin typeface="Cambria Math" panose="02040503050406030204" pitchFamily="18" charset="0"/>
                              </a:rPr>
                              <m:t>𝐵</m:t>
                            </m:r>
                          </m:e>
                          <m:sub>
                            <m:r>
                              <a:rPr lang="en-SG" altLang="en-US" sz="2000" i="1" dirty="0">
                                <a:latin typeface="Cambria Math" panose="02040503050406030204" pitchFamily="18" charset="0"/>
                              </a:rPr>
                              <m:t>1</m:t>
                            </m:r>
                          </m:sub>
                        </m:sSub>
                      </m:e>
                    </m:d>
                    <m:r>
                      <a:rPr lang="en-SG" altLang="en-US" sz="2000" i="1" dirty="0">
                        <a:latin typeface="Cambria Math" panose="02040503050406030204" pitchFamily="18" charset="0"/>
                      </a:rPr>
                      <m:t>=</m:t>
                    </m:r>
                    <m:f>
                      <m:fPr>
                        <m:ctrlPr>
                          <a:rPr lang="en-SG" altLang="en-US" sz="2000" i="1" dirty="0">
                            <a:latin typeface="Cambria Math" panose="02040503050406030204" pitchFamily="18" charset="0"/>
                          </a:rPr>
                        </m:ctrlPr>
                      </m:fPr>
                      <m:num>
                        <m:r>
                          <a:rPr lang="en-SG" altLang="en-US" sz="2000" i="1" dirty="0">
                            <a:latin typeface="Cambria Math" panose="02040503050406030204" pitchFamily="18" charset="0"/>
                          </a:rPr>
                          <m:t>3</m:t>
                        </m:r>
                      </m:num>
                      <m:den>
                        <m:r>
                          <a:rPr lang="en-SG" altLang="en-US" sz="2000" i="1" dirty="0">
                            <a:latin typeface="Cambria Math" panose="02040503050406030204" pitchFamily="18" charset="0"/>
                          </a:rPr>
                          <m:t>7</m:t>
                        </m:r>
                      </m:den>
                    </m:f>
                  </m:oMath>
                </a14:m>
                <a:r>
                  <a:rPr lang="en-US" altLang="en-US" sz="2000" dirty="0"/>
                  <a:t> and </a:t>
                </a:r>
                <a14:m>
                  <m:oMath xmlns:m="http://schemas.openxmlformats.org/officeDocument/2006/math">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r>
                          <a:rPr lang="en-SG" altLang="en-US" sz="2000" i="1">
                            <a:latin typeface="Cambria Math" panose="02040503050406030204" pitchFamily="18" charset="0"/>
                          </a:rPr>
                          <m:t>𝐴</m:t>
                        </m:r>
                      </m:e>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𝐵</m:t>
                            </m:r>
                          </m:e>
                          <m:sub>
                            <m:r>
                              <a:rPr lang="en-SG" altLang="en-US" sz="2000" i="1">
                                <a:latin typeface="Cambria Math" panose="02040503050406030204" pitchFamily="18" charset="0"/>
                              </a:rPr>
                              <m:t>2</m:t>
                            </m:r>
                          </m:sub>
                        </m:sSub>
                      </m:e>
                    </m:d>
                    <m:r>
                      <a:rPr lang="en-SG" altLang="en-US" sz="2000" i="1">
                        <a:latin typeface="Cambria Math" panose="02040503050406030204" pitchFamily="18" charset="0"/>
                      </a:rPr>
                      <m:t>=</m:t>
                    </m:r>
                    <m:f>
                      <m:fPr>
                        <m:ctrlPr>
                          <a:rPr lang="en-SG" altLang="en-US" sz="2000" i="1">
                            <a:latin typeface="Cambria Math" panose="02040503050406030204" pitchFamily="18" charset="0"/>
                          </a:rPr>
                        </m:ctrlPr>
                      </m:fPr>
                      <m:num>
                        <m:r>
                          <a:rPr lang="en-SG" altLang="en-US" sz="2000" i="1">
                            <a:latin typeface="Cambria Math" panose="02040503050406030204" pitchFamily="18" charset="0"/>
                          </a:rPr>
                          <m:t>5</m:t>
                        </m:r>
                      </m:num>
                      <m:den>
                        <m:r>
                          <a:rPr lang="en-SG" altLang="en-US" sz="2000" i="1">
                            <a:latin typeface="Cambria Math" panose="02040503050406030204" pitchFamily="18" charset="0"/>
                          </a:rPr>
                          <m:t>8</m:t>
                        </m:r>
                      </m:den>
                    </m:f>
                  </m:oMath>
                </a14:m>
                <a:endParaRPr lang="en-US" altLang="en-US" sz="2000" dirty="0"/>
              </a:p>
            </p:txBody>
          </p:sp>
        </mc:Choice>
        <mc:Fallback xmlns="">
          <p:sp>
            <p:nvSpPr>
              <p:cNvPr id="20" name="Rectangle 3"/>
              <p:cNvSpPr txBox="1">
                <a:spLocks noRot="1" noChangeAspect="1" noMove="1" noResize="1" noEditPoints="1" noAdjustHandles="1" noChangeArrowheads="1" noChangeShapeType="1" noTextEdit="1"/>
              </p:cNvSpPr>
              <p:nvPr/>
            </p:nvSpPr>
            <p:spPr>
              <a:xfrm>
                <a:off x="3529946" y="1960020"/>
                <a:ext cx="3761296" cy="561959"/>
              </a:xfrm>
              <a:prstGeom prst="rect">
                <a:avLst/>
              </a:prstGeom>
              <a:blipFill>
                <a:blip r:embed="rId5"/>
                <a:stretch>
                  <a:fillRect b="-2174"/>
                </a:stretch>
              </a:blipFill>
            </p:spPr>
            <p:txBody>
              <a:bodyPr/>
              <a:lstStyle/>
              <a:p>
                <a:r>
                  <a:rPr lang="en-SG">
                    <a:noFill/>
                  </a:rPr>
                  <a:t> </a:t>
                </a:r>
              </a:p>
            </p:txBody>
          </p:sp>
        </mc:Fallback>
      </mc:AlternateContent>
      <p:sp>
        <p:nvSpPr>
          <p:cNvPr id="21" name="Rectangle 3"/>
          <p:cNvSpPr txBox="1">
            <a:spLocks noChangeArrowheads="1"/>
          </p:cNvSpPr>
          <p:nvPr/>
        </p:nvSpPr>
        <p:spPr>
          <a:xfrm>
            <a:off x="1856425" y="2491423"/>
            <a:ext cx="5354087" cy="5704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 urns are equally like to be chosen:</a:t>
            </a:r>
          </a:p>
        </p:txBody>
      </p:sp>
      <mc:AlternateContent xmlns:mc="http://schemas.openxmlformats.org/markup-compatibility/2006" xmlns:a14="http://schemas.microsoft.com/office/drawing/2010/main">
        <mc:Choice Requires="a14">
          <p:sp>
            <p:nvSpPr>
              <p:cNvPr id="17" name="Rectangle 3"/>
              <p:cNvSpPr txBox="1">
                <a:spLocks noChangeArrowheads="1"/>
              </p:cNvSpPr>
              <p:nvPr/>
            </p:nvSpPr>
            <p:spPr>
              <a:xfrm>
                <a:off x="6746931" y="2377617"/>
                <a:ext cx="2687663" cy="7281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SG" altLang="en-US" sz="2000" i="1" dirty="0">
                          <a:latin typeface="Cambria Math" panose="02040503050406030204" pitchFamily="18" charset="0"/>
                        </a:rPr>
                        <m:t>𝑃</m:t>
                      </m:r>
                      <m:r>
                        <a:rPr lang="en-SG" altLang="en-US" sz="2000" i="1" dirty="0">
                          <a:latin typeface="Cambria Math" panose="02040503050406030204" pitchFamily="18" charset="0"/>
                        </a:rPr>
                        <m:t>(</m:t>
                      </m:r>
                      <m:sSub>
                        <m:sSubPr>
                          <m:ctrlPr>
                            <a:rPr lang="en-SG" altLang="en-US" sz="2000" i="1" dirty="0">
                              <a:latin typeface="Cambria Math" panose="02040503050406030204" pitchFamily="18" charset="0"/>
                            </a:rPr>
                          </m:ctrlPr>
                        </m:sSubPr>
                        <m:e>
                          <m:r>
                            <a:rPr lang="en-SG" altLang="en-US" sz="2000" i="1" dirty="0">
                              <a:latin typeface="Cambria Math" panose="02040503050406030204" pitchFamily="18" charset="0"/>
                            </a:rPr>
                            <m:t>𝐵</m:t>
                          </m:r>
                        </m:e>
                        <m:sub>
                          <m:r>
                            <a:rPr lang="en-SG" altLang="en-US" sz="2000" i="1" dirty="0">
                              <a:latin typeface="Cambria Math" panose="02040503050406030204" pitchFamily="18" charset="0"/>
                            </a:rPr>
                            <m:t>1</m:t>
                          </m:r>
                        </m:sub>
                      </m:sSub>
                      <m:r>
                        <a:rPr lang="en-SG" altLang="en-US" sz="2000" i="1" dirty="0">
                          <a:latin typeface="Cambria Math" panose="02040503050406030204" pitchFamily="18" charset="0"/>
                        </a:rPr>
                        <m:t>)=</m:t>
                      </m:r>
                      <m:r>
                        <a:rPr lang="en-SG" altLang="en-US" sz="2000" i="1">
                          <a:latin typeface="Cambria Math" panose="02040503050406030204" pitchFamily="18" charset="0"/>
                        </a:rPr>
                        <m:t>𝑃</m:t>
                      </m:r>
                      <m:r>
                        <a:rPr lang="en-SG" altLang="en-US" sz="2000" i="1">
                          <a:latin typeface="Cambria Math" panose="02040503050406030204" pitchFamily="18" charset="0"/>
                        </a:rPr>
                        <m:t>(</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𝐵</m:t>
                          </m:r>
                        </m:e>
                        <m:sub>
                          <m:r>
                            <a:rPr lang="en-SG" altLang="en-US" sz="2000" i="1">
                              <a:latin typeface="Cambria Math" panose="02040503050406030204" pitchFamily="18" charset="0"/>
                            </a:rPr>
                            <m:t>2</m:t>
                          </m:r>
                        </m:sub>
                      </m:sSub>
                      <m:r>
                        <a:rPr lang="en-SG" altLang="en-US" sz="2000" i="1">
                          <a:latin typeface="Cambria Math" panose="02040503050406030204" pitchFamily="18" charset="0"/>
                        </a:rPr>
                        <m:t>)=</m:t>
                      </m:r>
                      <m:f>
                        <m:fPr>
                          <m:ctrlPr>
                            <a:rPr lang="en-SG" altLang="en-US" sz="2000" i="1">
                              <a:latin typeface="Cambria Math" panose="02040503050406030204" pitchFamily="18" charset="0"/>
                            </a:rPr>
                          </m:ctrlPr>
                        </m:fPr>
                        <m:num>
                          <m:r>
                            <a:rPr lang="en-SG" altLang="en-US" sz="2000" i="1">
                              <a:latin typeface="Cambria Math" panose="02040503050406030204" pitchFamily="18" charset="0"/>
                            </a:rPr>
                            <m:t>1</m:t>
                          </m:r>
                        </m:num>
                        <m:den>
                          <m:r>
                            <a:rPr lang="en-SG" altLang="en-US" sz="2000" i="1">
                              <a:latin typeface="Cambria Math" panose="02040503050406030204" pitchFamily="18" charset="0"/>
                            </a:rPr>
                            <m:t>2</m:t>
                          </m:r>
                        </m:den>
                      </m:f>
                    </m:oMath>
                  </m:oMathPara>
                </a14:m>
                <a:endParaRPr lang="en-US" altLang="en-US" sz="2000" dirty="0"/>
              </a:p>
            </p:txBody>
          </p:sp>
        </mc:Choice>
        <mc:Fallback xmlns="">
          <p:sp>
            <p:nvSpPr>
              <p:cNvPr id="17" name="Rectangle 3"/>
              <p:cNvSpPr txBox="1">
                <a:spLocks noRot="1" noChangeAspect="1" noMove="1" noResize="1" noEditPoints="1" noAdjustHandles="1" noChangeArrowheads="1" noChangeShapeType="1" noTextEdit="1"/>
              </p:cNvSpPr>
              <p:nvPr/>
            </p:nvSpPr>
            <p:spPr>
              <a:xfrm>
                <a:off x="6746931" y="2377617"/>
                <a:ext cx="2687663" cy="728116"/>
              </a:xfrm>
              <a:prstGeom prst="rect">
                <a:avLst/>
              </a:prstGeom>
              <a:blipFill>
                <a:blip r:embed="rId6"/>
                <a:stretch>
                  <a:fillRect/>
                </a:stretch>
              </a:blipFill>
            </p:spPr>
            <p:txBody>
              <a:bodyPr/>
              <a:lstStyle/>
              <a:p>
                <a:r>
                  <a:rPr lang="en-SG">
                    <a:noFill/>
                  </a:rPr>
                  <a:t> </a:t>
                </a:r>
              </a:p>
            </p:txBody>
          </p:sp>
        </mc:Fallback>
      </mc:AlternateContent>
      <p:grpSp>
        <p:nvGrpSpPr>
          <p:cNvPr id="2" name="Group 1"/>
          <p:cNvGrpSpPr/>
          <p:nvPr/>
        </p:nvGrpSpPr>
        <p:grpSpPr>
          <a:xfrm>
            <a:off x="1848357" y="2892186"/>
            <a:ext cx="5735484" cy="544105"/>
            <a:chOff x="324356" y="3311180"/>
            <a:chExt cx="5735484" cy="544105"/>
          </a:xfrm>
        </p:grpSpPr>
        <p:sp>
          <p:nvSpPr>
            <p:cNvPr id="22" name="TextBox 21"/>
            <p:cNvSpPr txBox="1"/>
            <p:nvPr/>
          </p:nvSpPr>
          <p:spPr>
            <a:xfrm>
              <a:off x="324356" y="3311180"/>
              <a:ext cx="2286427" cy="369332"/>
            </a:xfrm>
            <a:prstGeom prst="rect">
              <a:avLst/>
            </a:prstGeom>
            <a:noFill/>
          </p:spPr>
          <p:txBody>
            <a:bodyPr wrap="square" rtlCol="0">
              <a:spAutoFit/>
            </a:bodyPr>
            <a:lstStyle/>
            <a:p>
              <a:r>
                <a:rPr lang="en-SG" dirty="0"/>
                <a:t>By formula 10.8.2</a:t>
              </a:r>
            </a:p>
          </p:txBody>
        </p:sp>
        <mc:AlternateContent xmlns:mc="http://schemas.openxmlformats.org/markup-compatibility/2006" xmlns:a14="http://schemas.microsoft.com/office/drawing/2010/main">
          <mc:Choice Requires="a14">
            <p:sp>
              <p:nvSpPr>
                <p:cNvPr id="23" name="TextBox 22"/>
                <p:cNvSpPr txBox="1"/>
                <p:nvPr/>
              </p:nvSpPr>
              <p:spPr>
                <a:xfrm>
                  <a:off x="2309251" y="3393620"/>
                  <a:ext cx="3750589" cy="461665"/>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309251" y="3393620"/>
                  <a:ext cx="3750589" cy="461665"/>
                </a:xfrm>
                <a:prstGeom prst="rect">
                  <a:avLst/>
                </a:prstGeom>
                <a:blipFill>
                  <a:blip r:embed="rId7"/>
                  <a:stretch>
                    <a:fillRect b="-1710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4" name="Rectangle 3"/>
              <p:cNvSpPr txBox="1">
                <a:spLocks noChangeArrowheads="1"/>
              </p:cNvSpPr>
              <p:nvPr/>
            </p:nvSpPr>
            <p:spPr>
              <a:xfrm>
                <a:off x="3228814" y="3506870"/>
                <a:ext cx="5216921" cy="800024"/>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SG" altLang="en-US" sz="2000" i="1" dirty="0">
                          <a:latin typeface="Cambria Math" panose="02040503050406030204" pitchFamily="18" charset="0"/>
                        </a:rPr>
                        <m:t>𝑃</m:t>
                      </m:r>
                      <m:d>
                        <m:dPr>
                          <m:ctrlPr>
                            <a:rPr lang="en-SG" altLang="en-US" sz="2000" i="1" dirty="0">
                              <a:latin typeface="Cambria Math" panose="02040503050406030204" pitchFamily="18" charset="0"/>
                            </a:rPr>
                          </m:ctrlPr>
                        </m:dPr>
                        <m:e>
                          <m:r>
                            <a:rPr lang="en-SG" altLang="en-US" sz="2000" i="1" dirty="0">
                              <a:latin typeface="Cambria Math" panose="02040503050406030204" pitchFamily="18" charset="0"/>
                            </a:rPr>
                            <m:t>𝐴</m:t>
                          </m:r>
                          <m:r>
                            <a:rPr lang="en-SG" altLang="en-US" sz="2000" i="1" dirty="0">
                              <a:latin typeface="Cambria Math" panose="02040503050406030204" pitchFamily="18" charset="0"/>
                              <a:ea typeface="Cambria Math" panose="02040503050406030204" pitchFamily="18" charset="0"/>
                            </a:rPr>
                            <m:t>∩</m:t>
                          </m:r>
                          <m:sSub>
                            <m:sSubPr>
                              <m:ctrlPr>
                                <a:rPr lang="en-SG" altLang="en-US" sz="2000" i="1" dirty="0">
                                  <a:latin typeface="Cambria Math" panose="02040503050406030204" pitchFamily="18" charset="0"/>
                                  <a:ea typeface="Cambria Math" panose="02040503050406030204" pitchFamily="18" charset="0"/>
                                </a:rPr>
                              </m:ctrlPr>
                            </m:sSubPr>
                            <m:e>
                              <m:r>
                                <a:rPr lang="en-SG" altLang="en-US" sz="2000" i="1" dirty="0">
                                  <a:latin typeface="Cambria Math" panose="02040503050406030204" pitchFamily="18" charset="0"/>
                                  <a:ea typeface="Cambria Math" panose="02040503050406030204" pitchFamily="18" charset="0"/>
                                </a:rPr>
                                <m:t>𝐵</m:t>
                              </m:r>
                            </m:e>
                            <m:sub>
                              <m:r>
                                <a:rPr lang="en-SG" altLang="en-US" sz="2000" i="1" dirty="0">
                                  <a:latin typeface="Cambria Math" panose="02040503050406030204" pitchFamily="18" charset="0"/>
                                  <a:ea typeface="Cambria Math" panose="02040503050406030204" pitchFamily="18" charset="0"/>
                                </a:rPr>
                                <m:t>1</m:t>
                              </m:r>
                            </m:sub>
                          </m:sSub>
                        </m:e>
                      </m:d>
                      <m:r>
                        <a:rPr lang="en-SG" altLang="en-US" sz="2000" i="1" dirty="0">
                          <a:latin typeface="Cambria Math" panose="02040503050406030204" pitchFamily="18" charset="0"/>
                        </a:rPr>
                        <m:t>=</m:t>
                      </m:r>
                      <m:r>
                        <a:rPr lang="en-SG" altLang="en-US" sz="2000" i="1" dirty="0">
                          <a:latin typeface="Cambria Math" panose="02040503050406030204" pitchFamily="18" charset="0"/>
                        </a:rPr>
                        <m:t>𝑃</m:t>
                      </m:r>
                      <m:d>
                        <m:dPr>
                          <m:ctrlPr>
                            <a:rPr lang="en-SG" altLang="en-US" sz="2000" i="1">
                              <a:latin typeface="Cambria Math" panose="02040503050406030204" pitchFamily="18" charset="0"/>
                            </a:rPr>
                          </m:ctrlPr>
                        </m:dPr>
                        <m:e>
                          <m:r>
                            <a:rPr lang="en-SG" altLang="en-US" sz="2000" i="1">
                              <a:latin typeface="Cambria Math" panose="02040503050406030204" pitchFamily="18" charset="0"/>
                            </a:rPr>
                            <m:t>𝐴</m:t>
                          </m:r>
                        </m:e>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𝐵</m:t>
                              </m:r>
                            </m:e>
                            <m:sub>
                              <m:r>
                                <a:rPr lang="en-SG" altLang="en-US" sz="2000" i="1">
                                  <a:latin typeface="Cambria Math" panose="02040503050406030204" pitchFamily="18" charset="0"/>
                                </a:rPr>
                                <m:t>1</m:t>
                              </m:r>
                            </m:sub>
                          </m:sSub>
                        </m:e>
                      </m:d>
                      <m:r>
                        <a:rPr lang="en-SG" altLang="en-US" sz="2000" i="1">
                          <a:latin typeface="Cambria Math" panose="02040503050406030204" pitchFamily="18" charset="0"/>
                          <a:ea typeface="Cambria Math" panose="02040503050406030204" pitchFamily="18" charset="0"/>
                        </a:rPr>
                        <m:t>∙</m:t>
                      </m:r>
                      <m:r>
                        <a:rPr lang="en-SG" altLang="en-US" sz="2000" i="1">
                          <a:latin typeface="Cambria Math" panose="02040503050406030204" pitchFamily="18" charset="0"/>
                          <a:ea typeface="Cambria Math" panose="02040503050406030204" pitchFamily="18" charset="0"/>
                        </a:rPr>
                        <m:t>𝑃</m:t>
                      </m:r>
                      <m:d>
                        <m:dPr>
                          <m:ctrlPr>
                            <a:rPr lang="en-SG" altLang="en-US" sz="2000" i="1">
                              <a:latin typeface="Cambria Math" panose="02040503050406030204" pitchFamily="18" charset="0"/>
                              <a:ea typeface="Cambria Math" panose="02040503050406030204" pitchFamily="18" charset="0"/>
                            </a:rPr>
                          </m:ctrlPr>
                        </m:dPr>
                        <m:e>
                          <m:sSub>
                            <m:sSubPr>
                              <m:ctrlPr>
                                <a:rPr lang="en-SG" altLang="en-US" sz="2000" i="1">
                                  <a:latin typeface="Cambria Math" panose="02040503050406030204" pitchFamily="18" charset="0"/>
                                  <a:ea typeface="Cambria Math" panose="02040503050406030204" pitchFamily="18" charset="0"/>
                                </a:rPr>
                              </m:ctrlPr>
                            </m:sSubPr>
                            <m:e>
                              <m:r>
                                <a:rPr lang="en-SG" altLang="en-US" sz="2000" i="1">
                                  <a:latin typeface="Cambria Math" panose="02040503050406030204" pitchFamily="18" charset="0"/>
                                  <a:ea typeface="Cambria Math" panose="02040503050406030204" pitchFamily="18" charset="0"/>
                                </a:rPr>
                                <m:t>𝐵</m:t>
                              </m:r>
                            </m:e>
                            <m:sub>
                              <m:r>
                                <a:rPr lang="en-SG" altLang="en-US" sz="2000" i="1">
                                  <a:latin typeface="Cambria Math" panose="02040503050406030204" pitchFamily="18" charset="0"/>
                                  <a:ea typeface="Cambria Math" panose="02040503050406030204" pitchFamily="18" charset="0"/>
                                </a:rPr>
                                <m:t>1</m:t>
                              </m:r>
                            </m:sub>
                          </m:sSub>
                        </m:e>
                      </m:d>
                      <m:r>
                        <a:rPr lang="en-SG" altLang="en-US" sz="2000" i="1">
                          <a:latin typeface="Cambria Math" panose="02040503050406030204" pitchFamily="18" charset="0"/>
                        </a:rPr>
                        <m:t>=</m:t>
                      </m:r>
                      <m:f>
                        <m:fPr>
                          <m:ctrlPr>
                            <a:rPr lang="en-SG" altLang="en-US" sz="2000" i="1">
                              <a:latin typeface="Cambria Math" panose="02040503050406030204" pitchFamily="18" charset="0"/>
                            </a:rPr>
                          </m:ctrlPr>
                        </m:fPr>
                        <m:num>
                          <m:r>
                            <a:rPr lang="en-SG" altLang="en-US" sz="2000" i="1">
                              <a:latin typeface="Cambria Math" panose="02040503050406030204" pitchFamily="18" charset="0"/>
                            </a:rPr>
                            <m:t>3</m:t>
                          </m:r>
                        </m:num>
                        <m:den>
                          <m:r>
                            <a:rPr lang="en-SG" altLang="en-US" sz="2000" i="1">
                              <a:latin typeface="Cambria Math" panose="02040503050406030204" pitchFamily="18" charset="0"/>
                            </a:rPr>
                            <m:t>7</m:t>
                          </m:r>
                        </m:den>
                      </m:f>
                      <m:r>
                        <a:rPr lang="en-SG" altLang="en-US" sz="2000" i="1">
                          <a:latin typeface="Cambria Math" panose="02040503050406030204" pitchFamily="18" charset="0"/>
                          <a:ea typeface="Cambria Math" panose="02040503050406030204" pitchFamily="18" charset="0"/>
                        </a:rPr>
                        <m:t>∙</m:t>
                      </m:r>
                      <m:f>
                        <m:fPr>
                          <m:ctrlPr>
                            <a:rPr lang="en-SG" altLang="en-US" sz="2000" i="1">
                              <a:latin typeface="Cambria Math" panose="02040503050406030204" pitchFamily="18" charset="0"/>
                              <a:ea typeface="Cambria Math" panose="02040503050406030204" pitchFamily="18" charset="0"/>
                            </a:rPr>
                          </m:ctrlPr>
                        </m:fPr>
                        <m:num>
                          <m:r>
                            <a:rPr lang="en-SG" altLang="en-US" sz="2000" i="1">
                              <a:latin typeface="Cambria Math" panose="02040503050406030204" pitchFamily="18" charset="0"/>
                              <a:ea typeface="Cambria Math" panose="02040503050406030204" pitchFamily="18" charset="0"/>
                            </a:rPr>
                            <m:t>1</m:t>
                          </m:r>
                        </m:num>
                        <m:den>
                          <m:r>
                            <a:rPr lang="en-SG" altLang="en-US" sz="2000" i="1">
                              <a:latin typeface="Cambria Math" panose="02040503050406030204" pitchFamily="18" charset="0"/>
                              <a:ea typeface="Cambria Math" panose="02040503050406030204" pitchFamily="18" charset="0"/>
                            </a:rPr>
                            <m:t>2</m:t>
                          </m:r>
                        </m:den>
                      </m:f>
                      <m:r>
                        <a:rPr lang="en-SG" altLang="en-US" sz="2000" i="1">
                          <a:latin typeface="Cambria Math" panose="02040503050406030204" pitchFamily="18" charset="0"/>
                          <a:ea typeface="Cambria Math" panose="02040503050406030204" pitchFamily="18" charset="0"/>
                        </a:rPr>
                        <m:t>=</m:t>
                      </m:r>
                      <m:f>
                        <m:fPr>
                          <m:ctrlPr>
                            <a:rPr lang="en-SG" altLang="en-US" sz="2000" i="1">
                              <a:latin typeface="Cambria Math" panose="02040503050406030204" pitchFamily="18" charset="0"/>
                              <a:ea typeface="Cambria Math" panose="02040503050406030204" pitchFamily="18" charset="0"/>
                            </a:rPr>
                          </m:ctrlPr>
                        </m:fPr>
                        <m:num>
                          <m:r>
                            <a:rPr lang="en-SG" altLang="en-US" sz="2000" i="1">
                              <a:latin typeface="Cambria Math" panose="02040503050406030204" pitchFamily="18" charset="0"/>
                              <a:ea typeface="Cambria Math" panose="02040503050406030204" pitchFamily="18" charset="0"/>
                            </a:rPr>
                            <m:t>3</m:t>
                          </m:r>
                        </m:num>
                        <m:den>
                          <m:r>
                            <a:rPr lang="en-SG" altLang="en-US" sz="2000" i="1">
                              <a:latin typeface="Cambria Math" panose="02040503050406030204" pitchFamily="18" charset="0"/>
                              <a:ea typeface="Cambria Math" panose="02040503050406030204" pitchFamily="18" charset="0"/>
                            </a:rPr>
                            <m:t>14</m:t>
                          </m:r>
                        </m:den>
                      </m:f>
                    </m:oMath>
                  </m:oMathPara>
                </a14:m>
                <a:endParaRPr lang="en-US" altLang="en-US" sz="2000" dirty="0"/>
              </a:p>
            </p:txBody>
          </p:sp>
        </mc:Choice>
        <mc:Fallback xmlns="">
          <p:sp>
            <p:nvSpPr>
              <p:cNvPr id="24" name="Rectangle 3"/>
              <p:cNvSpPr txBox="1">
                <a:spLocks noRot="1" noChangeAspect="1" noMove="1" noResize="1" noEditPoints="1" noAdjustHandles="1" noChangeArrowheads="1" noChangeShapeType="1" noTextEdit="1"/>
              </p:cNvSpPr>
              <p:nvPr/>
            </p:nvSpPr>
            <p:spPr>
              <a:xfrm>
                <a:off x="3228814" y="3506870"/>
                <a:ext cx="5216921" cy="800024"/>
              </a:xfrm>
              <a:prstGeom prst="rect">
                <a:avLst/>
              </a:prstGeom>
              <a:blipFill>
                <a:blip r:embed="rId8"/>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Rectangle 3"/>
              <p:cNvSpPr txBox="1">
                <a:spLocks noChangeArrowheads="1"/>
              </p:cNvSpPr>
              <p:nvPr/>
            </p:nvSpPr>
            <p:spPr>
              <a:xfrm>
                <a:off x="3228814" y="4248699"/>
                <a:ext cx="5216921" cy="800024"/>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SG" altLang="en-US" sz="2000" i="1" dirty="0">
                          <a:latin typeface="Cambria Math" panose="02040503050406030204" pitchFamily="18" charset="0"/>
                        </a:rPr>
                        <m:t>𝑃</m:t>
                      </m:r>
                      <m:d>
                        <m:dPr>
                          <m:ctrlPr>
                            <a:rPr lang="en-SG" altLang="en-US" sz="2000" i="1" dirty="0">
                              <a:latin typeface="Cambria Math" panose="02040503050406030204" pitchFamily="18" charset="0"/>
                            </a:rPr>
                          </m:ctrlPr>
                        </m:dPr>
                        <m:e>
                          <m:r>
                            <a:rPr lang="en-SG" altLang="en-US" sz="2000" i="1" dirty="0">
                              <a:latin typeface="Cambria Math" panose="02040503050406030204" pitchFamily="18" charset="0"/>
                            </a:rPr>
                            <m:t>𝐴</m:t>
                          </m:r>
                          <m:r>
                            <a:rPr lang="en-SG" altLang="en-US" sz="2000" i="1" dirty="0">
                              <a:latin typeface="Cambria Math" panose="02040503050406030204" pitchFamily="18" charset="0"/>
                              <a:ea typeface="Cambria Math" panose="02040503050406030204" pitchFamily="18" charset="0"/>
                            </a:rPr>
                            <m:t>∩</m:t>
                          </m:r>
                          <m:sSub>
                            <m:sSubPr>
                              <m:ctrlPr>
                                <a:rPr lang="en-SG" altLang="en-US" sz="2000" i="1" dirty="0">
                                  <a:latin typeface="Cambria Math" panose="02040503050406030204" pitchFamily="18" charset="0"/>
                                  <a:ea typeface="Cambria Math" panose="02040503050406030204" pitchFamily="18" charset="0"/>
                                </a:rPr>
                              </m:ctrlPr>
                            </m:sSubPr>
                            <m:e>
                              <m:r>
                                <a:rPr lang="en-SG" altLang="en-US" sz="2000" i="1" dirty="0">
                                  <a:latin typeface="Cambria Math" panose="02040503050406030204" pitchFamily="18" charset="0"/>
                                  <a:ea typeface="Cambria Math" panose="02040503050406030204" pitchFamily="18" charset="0"/>
                                </a:rPr>
                                <m:t>𝐵</m:t>
                              </m:r>
                            </m:e>
                            <m:sub>
                              <m:r>
                                <a:rPr lang="en-SG" altLang="en-US" sz="2000" i="1" dirty="0">
                                  <a:latin typeface="Cambria Math" panose="02040503050406030204" pitchFamily="18" charset="0"/>
                                  <a:ea typeface="Cambria Math" panose="02040503050406030204" pitchFamily="18" charset="0"/>
                                </a:rPr>
                                <m:t>2</m:t>
                              </m:r>
                            </m:sub>
                          </m:sSub>
                        </m:e>
                      </m:d>
                      <m:r>
                        <a:rPr lang="en-SG" altLang="en-US" sz="2000" i="1" dirty="0">
                          <a:latin typeface="Cambria Math" panose="02040503050406030204" pitchFamily="18" charset="0"/>
                        </a:rPr>
                        <m:t>=</m:t>
                      </m:r>
                      <m:r>
                        <a:rPr lang="en-SG" altLang="en-US" sz="2000" i="1" dirty="0">
                          <a:latin typeface="Cambria Math" panose="02040503050406030204" pitchFamily="18" charset="0"/>
                        </a:rPr>
                        <m:t>𝑃</m:t>
                      </m:r>
                      <m:d>
                        <m:dPr>
                          <m:ctrlPr>
                            <a:rPr lang="en-SG" altLang="en-US" sz="2000" i="1">
                              <a:latin typeface="Cambria Math" panose="02040503050406030204" pitchFamily="18" charset="0"/>
                            </a:rPr>
                          </m:ctrlPr>
                        </m:dPr>
                        <m:e>
                          <m:r>
                            <a:rPr lang="en-SG" altLang="en-US" sz="2000" i="1">
                              <a:latin typeface="Cambria Math" panose="02040503050406030204" pitchFamily="18" charset="0"/>
                            </a:rPr>
                            <m:t>𝐴</m:t>
                          </m:r>
                        </m:e>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𝐵</m:t>
                              </m:r>
                            </m:e>
                            <m:sub>
                              <m:r>
                                <a:rPr lang="en-SG" altLang="en-US" sz="2000" i="1">
                                  <a:latin typeface="Cambria Math" panose="02040503050406030204" pitchFamily="18" charset="0"/>
                                </a:rPr>
                                <m:t>2</m:t>
                              </m:r>
                            </m:sub>
                          </m:sSub>
                        </m:e>
                      </m:d>
                      <m:r>
                        <a:rPr lang="en-SG" altLang="en-US" sz="2000" i="1">
                          <a:latin typeface="Cambria Math" panose="02040503050406030204" pitchFamily="18" charset="0"/>
                          <a:ea typeface="Cambria Math" panose="02040503050406030204" pitchFamily="18" charset="0"/>
                        </a:rPr>
                        <m:t>∙</m:t>
                      </m:r>
                      <m:r>
                        <a:rPr lang="en-SG" altLang="en-US" sz="2000" i="1">
                          <a:latin typeface="Cambria Math" panose="02040503050406030204" pitchFamily="18" charset="0"/>
                          <a:ea typeface="Cambria Math" panose="02040503050406030204" pitchFamily="18" charset="0"/>
                        </a:rPr>
                        <m:t>𝑃</m:t>
                      </m:r>
                      <m:d>
                        <m:dPr>
                          <m:ctrlPr>
                            <a:rPr lang="en-SG" altLang="en-US" sz="2000" i="1">
                              <a:latin typeface="Cambria Math" panose="02040503050406030204" pitchFamily="18" charset="0"/>
                              <a:ea typeface="Cambria Math" panose="02040503050406030204" pitchFamily="18" charset="0"/>
                            </a:rPr>
                          </m:ctrlPr>
                        </m:dPr>
                        <m:e>
                          <m:sSub>
                            <m:sSubPr>
                              <m:ctrlPr>
                                <a:rPr lang="en-SG" altLang="en-US" sz="2000" i="1">
                                  <a:latin typeface="Cambria Math" panose="02040503050406030204" pitchFamily="18" charset="0"/>
                                  <a:ea typeface="Cambria Math" panose="02040503050406030204" pitchFamily="18" charset="0"/>
                                </a:rPr>
                              </m:ctrlPr>
                            </m:sSubPr>
                            <m:e>
                              <m:r>
                                <a:rPr lang="en-SG" altLang="en-US" sz="2000" i="1">
                                  <a:latin typeface="Cambria Math" panose="02040503050406030204" pitchFamily="18" charset="0"/>
                                  <a:ea typeface="Cambria Math" panose="02040503050406030204" pitchFamily="18" charset="0"/>
                                </a:rPr>
                                <m:t>𝐵</m:t>
                              </m:r>
                            </m:e>
                            <m:sub>
                              <m:r>
                                <a:rPr lang="en-SG" altLang="en-US" sz="2000" i="1">
                                  <a:latin typeface="Cambria Math" panose="02040503050406030204" pitchFamily="18" charset="0"/>
                                  <a:ea typeface="Cambria Math" panose="02040503050406030204" pitchFamily="18" charset="0"/>
                                </a:rPr>
                                <m:t>2</m:t>
                              </m:r>
                            </m:sub>
                          </m:sSub>
                        </m:e>
                      </m:d>
                      <m:r>
                        <a:rPr lang="en-SG" altLang="en-US" sz="2000" i="1">
                          <a:latin typeface="Cambria Math" panose="02040503050406030204" pitchFamily="18" charset="0"/>
                        </a:rPr>
                        <m:t>=</m:t>
                      </m:r>
                      <m:f>
                        <m:fPr>
                          <m:ctrlPr>
                            <a:rPr lang="en-SG" altLang="en-US" sz="2000" i="1">
                              <a:latin typeface="Cambria Math" panose="02040503050406030204" pitchFamily="18" charset="0"/>
                            </a:rPr>
                          </m:ctrlPr>
                        </m:fPr>
                        <m:num>
                          <m:r>
                            <a:rPr lang="en-SG" altLang="en-US" sz="2000" i="1">
                              <a:latin typeface="Cambria Math" panose="02040503050406030204" pitchFamily="18" charset="0"/>
                            </a:rPr>
                            <m:t>5</m:t>
                          </m:r>
                        </m:num>
                        <m:den>
                          <m:r>
                            <a:rPr lang="en-SG" altLang="en-US" sz="2000" i="1">
                              <a:latin typeface="Cambria Math" panose="02040503050406030204" pitchFamily="18" charset="0"/>
                            </a:rPr>
                            <m:t>8</m:t>
                          </m:r>
                        </m:den>
                      </m:f>
                      <m:r>
                        <a:rPr lang="en-SG" altLang="en-US" sz="2000" i="1">
                          <a:latin typeface="Cambria Math" panose="02040503050406030204" pitchFamily="18" charset="0"/>
                          <a:ea typeface="Cambria Math" panose="02040503050406030204" pitchFamily="18" charset="0"/>
                        </a:rPr>
                        <m:t>∙</m:t>
                      </m:r>
                      <m:f>
                        <m:fPr>
                          <m:ctrlPr>
                            <a:rPr lang="en-SG" altLang="en-US" sz="2000" i="1">
                              <a:latin typeface="Cambria Math" panose="02040503050406030204" pitchFamily="18" charset="0"/>
                              <a:ea typeface="Cambria Math" panose="02040503050406030204" pitchFamily="18" charset="0"/>
                            </a:rPr>
                          </m:ctrlPr>
                        </m:fPr>
                        <m:num>
                          <m:r>
                            <a:rPr lang="en-SG" altLang="en-US" sz="2000" i="1">
                              <a:latin typeface="Cambria Math" panose="02040503050406030204" pitchFamily="18" charset="0"/>
                              <a:ea typeface="Cambria Math" panose="02040503050406030204" pitchFamily="18" charset="0"/>
                            </a:rPr>
                            <m:t>1</m:t>
                          </m:r>
                        </m:num>
                        <m:den>
                          <m:r>
                            <a:rPr lang="en-SG" altLang="en-US" sz="2000" i="1">
                              <a:latin typeface="Cambria Math" panose="02040503050406030204" pitchFamily="18" charset="0"/>
                              <a:ea typeface="Cambria Math" panose="02040503050406030204" pitchFamily="18" charset="0"/>
                            </a:rPr>
                            <m:t>2</m:t>
                          </m:r>
                        </m:den>
                      </m:f>
                      <m:r>
                        <a:rPr lang="en-SG" altLang="en-US" sz="2000" i="1">
                          <a:latin typeface="Cambria Math" panose="02040503050406030204" pitchFamily="18" charset="0"/>
                          <a:ea typeface="Cambria Math" panose="02040503050406030204" pitchFamily="18" charset="0"/>
                        </a:rPr>
                        <m:t>=</m:t>
                      </m:r>
                      <m:f>
                        <m:fPr>
                          <m:ctrlPr>
                            <a:rPr lang="en-SG" altLang="en-US" sz="2000" i="1">
                              <a:latin typeface="Cambria Math" panose="02040503050406030204" pitchFamily="18" charset="0"/>
                              <a:ea typeface="Cambria Math" panose="02040503050406030204" pitchFamily="18" charset="0"/>
                            </a:rPr>
                          </m:ctrlPr>
                        </m:fPr>
                        <m:num>
                          <m:r>
                            <a:rPr lang="en-SG" altLang="en-US" sz="2000" i="1">
                              <a:latin typeface="Cambria Math" panose="02040503050406030204" pitchFamily="18" charset="0"/>
                              <a:ea typeface="Cambria Math" panose="02040503050406030204" pitchFamily="18" charset="0"/>
                            </a:rPr>
                            <m:t>5</m:t>
                          </m:r>
                        </m:num>
                        <m:den>
                          <m:r>
                            <a:rPr lang="en-SG" altLang="en-US" sz="2000" i="1">
                              <a:latin typeface="Cambria Math" panose="02040503050406030204" pitchFamily="18" charset="0"/>
                              <a:ea typeface="Cambria Math" panose="02040503050406030204" pitchFamily="18" charset="0"/>
                            </a:rPr>
                            <m:t>16</m:t>
                          </m:r>
                        </m:den>
                      </m:f>
                    </m:oMath>
                  </m:oMathPara>
                </a14:m>
                <a:endParaRPr lang="en-US" altLang="en-US" sz="2000" dirty="0"/>
              </a:p>
            </p:txBody>
          </p:sp>
        </mc:Choice>
        <mc:Fallback xmlns="">
          <p:sp>
            <p:nvSpPr>
              <p:cNvPr id="26" name="Rectangle 3"/>
              <p:cNvSpPr txBox="1">
                <a:spLocks noRot="1" noChangeAspect="1" noMove="1" noResize="1" noEditPoints="1" noAdjustHandles="1" noChangeArrowheads="1" noChangeShapeType="1" noTextEdit="1"/>
              </p:cNvSpPr>
              <p:nvPr/>
            </p:nvSpPr>
            <p:spPr>
              <a:xfrm>
                <a:off x="3228814" y="4248699"/>
                <a:ext cx="5216921" cy="800024"/>
              </a:xfrm>
              <a:prstGeom prst="rect">
                <a:avLst/>
              </a:prstGeom>
              <a:blipFill>
                <a:blip r:embed="rId9"/>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Rectangle 3"/>
              <p:cNvSpPr txBox="1">
                <a:spLocks noChangeArrowheads="1"/>
              </p:cNvSpPr>
              <p:nvPr/>
            </p:nvSpPr>
            <p:spPr>
              <a:xfrm>
                <a:off x="1888787" y="5048724"/>
                <a:ext cx="8584191" cy="4484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000" i="1" dirty="0"/>
                  <a:t>A</a:t>
                </a:r>
                <a:r>
                  <a:rPr lang="en-US" altLang="en-US" sz="2000" dirty="0"/>
                  <a:t> is a disjoint union of </a:t>
                </a:r>
                <a14:m>
                  <m:oMath xmlns:m="http://schemas.openxmlformats.org/officeDocument/2006/math">
                    <m:r>
                      <a:rPr lang="en-SG" altLang="en-US" sz="2000" i="1">
                        <a:latin typeface="Cambria Math" panose="02040503050406030204" pitchFamily="18" charset="0"/>
                      </a:rPr>
                      <m:t>(</m:t>
                    </m:r>
                    <m:r>
                      <a:rPr lang="en-SG" altLang="en-US" sz="2000" i="1">
                        <a:latin typeface="Cambria Math" panose="02040503050406030204" pitchFamily="18" charset="0"/>
                      </a:rPr>
                      <m:t>𝐴</m:t>
                    </m:r>
                    <m:r>
                      <a:rPr lang="en-SG" altLang="en-US" sz="2000" i="1">
                        <a:latin typeface="Cambria Math" panose="02040503050406030204" pitchFamily="18" charset="0"/>
                        <a:ea typeface="Cambria Math" panose="02040503050406030204" pitchFamily="18" charset="0"/>
                      </a:rPr>
                      <m:t>∩</m:t>
                    </m:r>
                    <m:sSub>
                      <m:sSubPr>
                        <m:ctrlPr>
                          <a:rPr lang="en-SG" altLang="en-US" sz="2000" i="1">
                            <a:latin typeface="Cambria Math" panose="02040503050406030204" pitchFamily="18" charset="0"/>
                            <a:ea typeface="Cambria Math" panose="02040503050406030204" pitchFamily="18" charset="0"/>
                          </a:rPr>
                        </m:ctrlPr>
                      </m:sSubPr>
                      <m:e>
                        <m:r>
                          <a:rPr lang="en-SG" altLang="en-US" sz="2000" i="1">
                            <a:latin typeface="Cambria Math" panose="02040503050406030204" pitchFamily="18" charset="0"/>
                            <a:ea typeface="Cambria Math" panose="02040503050406030204" pitchFamily="18" charset="0"/>
                          </a:rPr>
                          <m:t>𝐵</m:t>
                        </m:r>
                      </m:e>
                      <m:sub>
                        <m:r>
                          <a:rPr lang="en-SG" altLang="en-US" sz="2000" i="1">
                            <a:latin typeface="Cambria Math" panose="02040503050406030204" pitchFamily="18" charset="0"/>
                            <a:ea typeface="Cambria Math" panose="02040503050406030204" pitchFamily="18" charset="0"/>
                          </a:rPr>
                          <m:t>1</m:t>
                        </m:r>
                      </m:sub>
                    </m:sSub>
                    <m:r>
                      <a:rPr lang="en-SG" altLang="en-US" sz="2000" i="1">
                        <a:latin typeface="Cambria Math" panose="02040503050406030204" pitchFamily="18" charset="0"/>
                        <a:ea typeface="Cambria Math" panose="02040503050406030204" pitchFamily="18" charset="0"/>
                      </a:rPr>
                      <m:t>)</m:t>
                    </m:r>
                  </m:oMath>
                </a14:m>
                <a:r>
                  <a:rPr lang="en-US" altLang="en-US" sz="2000" dirty="0"/>
                  <a:t> and </a:t>
                </a:r>
                <a14:m>
                  <m:oMath xmlns:m="http://schemas.openxmlformats.org/officeDocument/2006/math">
                    <m:r>
                      <a:rPr lang="en-SG" altLang="en-US" sz="2000" i="1">
                        <a:latin typeface="Cambria Math" panose="02040503050406030204" pitchFamily="18" charset="0"/>
                      </a:rPr>
                      <m:t>(</m:t>
                    </m:r>
                    <m:r>
                      <a:rPr lang="en-SG" altLang="en-US" sz="2000" i="1">
                        <a:latin typeface="Cambria Math" panose="02040503050406030204" pitchFamily="18" charset="0"/>
                      </a:rPr>
                      <m:t>𝐴</m:t>
                    </m:r>
                    <m:r>
                      <a:rPr lang="en-SG" altLang="en-US" sz="2000" i="1">
                        <a:latin typeface="Cambria Math" panose="02040503050406030204" pitchFamily="18" charset="0"/>
                        <a:ea typeface="Cambria Math" panose="02040503050406030204" pitchFamily="18" charset="0"/>
                      </a:rPr>
                      <m:t>∩</m:t>
                    </m:r>
                    <m:sSub>
                      <m:sSubPr>
                        <m:ctrlPr>
                          <a:rPr lang="en-SG" altLang="en-US" sz="2000" i="1">
                            <a:latin typeface="Cambria Math" panose="02040503050406030204" pitchFamily="18" charset="0"/>
                            <a:ea typeface="Cambria Math" panose="02040503050406030204" pitchFamily="18" charset="0"/>
                          </a:rPr>
                        </m:ctrlPr>
                      </m:sSubPr>
                      <m:e>
                        <m:r>
                          <a:rPr lang="en-SG" altLang="en-US" sz="2000" i="1">
                            <a:latin typeface="Cambria Math" panose="02040503050406030204" pitchFamily="18" charset="0"/>
                            <a:ea typeface="Cambria Math" panose="02040503050406030204" pitchFamily="18" charset="0"/>
                          </a:rPr>
                          <m:t>𝐵</m:t>
                        </m:r>
                      </m:e>
                      <m:sub>
                        <m:r>
                          <a:rPr lang="en-SG" altLang="en-US" sz="2000" i="1">
                            <a:latin typeface="Cambria Math" panose="02040503050406030204" pitchFamily="18" charset="0"/>
                            <a:ea typeface="Cambria Math" panose="02040503050406030204" pitchFamily="18" charset="0"/>
                          </a:rPr>
                          <m:t>2</m:t>
                        </m:r>
                      </m:sub>
                    </m:sSub>
                    <m:r>
                      <a:rPr lang="en-SG" altLang="en-US" sz="2000" i="1">
                        <a:latin typeface="Cambria Math" panose="02040503050406030204" pitchFamily="18" charset="0"/>
                        <a:ea typeface="Cambria Math" panose="02040503050406030204" pitchFamily="18" charset="0"/>
                      </a:rPr>
                      <m:t>)</m:t>
                    </m:r>
                  </m:oMath>
                </a14:m>
                <a:r>
                  <a:rPr lang="en-US" altLang="en-US" sz="2000" dirty="0"/>
                  <a:t>,  so by probability axiom 3,</a:t>
                </a:r>
              </a:p>
            </p:txBody>
          </p:sp>
        </mc:Choice>
        <mc:Fallback xmlns="">
          <p:sp>
            <p:nvSpPr>
              <p:cNvPr id="31" name="Rectangle 3"/>
              <p:cNvSpPr txBox="1">
                <a:spLocks noRot="1" noChangeAspect="1" noMove="1" noResize="1" noEditPoints="1" noAdjustHandles="1" noChangeArrowheads="1" noChangeShapeType="1" noTextEdit="1"/>
              </p:cNvSpPr>
              <p:nvPr/>
            </p:nvSpPr>
            <p:spPr>
              <a:xfrm>
                <a:off x="1888787" y="5048724"/>
                <a:ext cx="8584191" cy="448458"/>
              </a:xfrm>
              <a:prstGeom prst="rect">
                <a:avLst/>
              </a:prstGeom>
              <a:blipFill>
                <a:blip r:embed="rId10"/>
                <a:stretch>
                  <a:fillRect l="-781" t="-6757" b="-1216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482946" y="5497182"/>
                <a:ext cx="7323408" cy="12105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r>
                            <a:rPr lang="en-SG" sz="2400" i="1">
                              <a:latin typeface="Cambria Math" panose="02040503050406030204" pitchFamily="18" charset="0"/>
                            </a:rPr>
                            <m:t>𝐴</m:t>
                          </m:r>
                        </m:e>
                      </m:d>
                      <m:r>
                        <a:rPr lang="en-SG" sz="2400" i="1">
                          <a:latin typeface="Cambria Math" panose="02040503050406030204" pitchFamily="18" charset="0"/>
                        </a:rPr>
                        <m:t>=</m:t>
                      </m:r>
                      <m:r>
                        <a:rPr lang="en-SG" sz="2400" i="1">
                          <a:latin typeface="Cambria Math" panose="02040503050406030204" pitchFamily="18" charset="0"/>
                        </a:rPr>
                        <m:t>𝑃</m:t>
                      </m:r>
                      <m:d>
                        <m:dPr>
                          <m:ctrlPr>
                            <a:rPr lang="en-SG" sz="2400" i="1">
                              <a:latin typeface="Cambria Math" panose="02040503050406030204" pitchFamily="18" charset="0"/>
                            </a:rPr>
                          </m:ctrlPr>
                        </m:dPr>
                        <m:e>
                          <m:d>
                            <m:dPr>
                              <m:ctrlPr>
                                <a:rPr lang="en-SG" sz="2400" i="1">
                                  <a:latin typeface="Cambria Math" panose="02040503050406030204" pitchFamily="18" charset="0"/>
                                </a:rPr>
                              </m:ctrlPr>
                            </m:dPr>
                            <m:e>
                              <m:r>
                                <a:rPr lang="en-SG" sz="2400" i="1">
                                  <a:latin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d>
                            <m:dPr>
                              <m:ctrlPr>
                                <a:rPr lang="en-SG" sz="2400" i="1">
                                  <a:latin typeface="Cambria Math" panose="02040503050406030204" pitchFamily="18" charset="0"/>
                                  <a:ea typeface="Cambria Math" panose="02040503050406030204" pitchFamily="18" charset="0"/>
                                </a:rPr>
                              </m:ctrlPr>
                            </m:dPr>
                            <m:e>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r>
                        <a:rPr lang="en-SG" sz="2400" i="1">
                          <a:latin typeface="Cambria Math" panose="02040503050406030204" pitchFamily="18" charset="0"/>
                          <a:ea typeface="Cambria Math" panose="02040503050406030204" pitchFamily="18" charset="0"/>
                        </a:rPr>
                        <m:t>= </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m:t>
                          </m:r>
                        </m:num>
                        <m:den>
                          <m:r>
                            <a:rPr lang="en-SG" sz="2400" i="1">
                              <a:latin typeface="Cambria Math" panose="02040503050406030204" pitchFamily="18" charset="0"/>
                              <a:ea typeface="Cambria Math" panose="02040503050406030204" pitchFamily="18" charset="0"/>
                            </a:rPr>
                            <m:t>14</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m:t>
                          </m:r>
                        </m:num>
                        <m:den>
                          <m:r>
                            <a:rPr lang="en-SG" sz="2400" i="1">
                              <a:latin typeface="Cambria Math" panose="02040503050406030204" pitchFamily="18" charset="0"/>
                              <a:ea typeface="Cambria Math" panose="02040503050406030204" pitchFamily="18" charset="0"/>
                            </a:rPr>
                            <m:t>16</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59</m:t>
                          </m:r>
                        </m:num>
                        <m:den>
                          <m:r>
                            <a:rPr lang="en-SG" sz="2400" i="1">
                              <a:latin typeface="Cambria Math" panose="02040503050406030204" pitchFamily="18" charset="0"/>
                              <a:ea typeface="Cambria Math" panose="02040503050406030204" pitchFamily="18" charset="0"/>
                            </a:rPr>
                            <m:t>112</m:t>
                          </m:r>
                        </m:den>
                      </m:f>
                    </m:oMath>
                  </m:oMathPara>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482946" y="5497182"/>
                <a:ext cx="7323408" cy="1210524"/>
              </a:xfrm>
              <a:prstGeom prst="rect">
                <a:avLst/>
              </a:prstGeom>
              <a:blipFill>
                <a:blip r:embed="rId11"/>
                <a:stretch>
                  <a:fillRect/>
                </a:stretch>
              </a:blipFill>
            </p:spPr>
            <p:txBody>
              <a:bodyPr/>
              <a:lstStyle/>
              <a:p>
                <a:r>
                  <a:rPr lang="en-SG">
                    <a:noFill/>
                  </a:rPr>
                  <a:t> </a:t>
                </a:r>
              </a:p>
            </p:txBody>
          </p:sp>
        </mc:Fallback>
      </mc:AlternateContent>
      <p:sp>
        <p:nvSpPr>
          <p:cNvPr id="25" name="TextBox 24">
            <a:extLst>
              <a:ext uri="{FF2B5EF4-FFF2-40B4-BE49-F238E27FC236}">
                <a16:creationId xmlns:a16="http://schemas.microsoft.com/office/drawing/2014/main" id="{631894BE-D5BF-4AD0-ADC7-EAE49F5DF153}"/>
              </a:ext>
            </a:extLst>
          </p:cNvPr>
          <p:cNvSpPr txBox="1"/>
          <p:nvPr/>
        </p:nvSpPr>
        <p:spPr>
          <a:xfrm>
            <a:off x="807522" y="20903"/>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287932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dissolve">
                                      <p:cBhvr>
                                        <p:cTn id="21" dur="500"/>
                                        <p:tgtEl>
                                          <p:spTgt spid="2"/>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par>
                          <p:cTn id="26" fill="hold">
                            <p:stCondLst>
                              <p:cond delay="1000"/>
                            </p:stCondLst>
                            <p:childTnLst>
                              <p:par>
                                <p:cTn id="27" presetID="9" presetClass="entr" presetSubtype="0"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dissolv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dissolve">
                                      <p:cBhvr>
                                        <p:cTn id="34" dur="500"/>
                                        <p:tgtEl>
                                          <p:spTgt spid="3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dissolv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17" grpId="0"/>
      <p:bldP spid="24" grpId="0" animBg="1"/>
      <p:bldP spid="26" grpId="0" animBg="1"/>
      <p:bldP spid="31"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Bayes’ Theorem</a:t>
            </a:r>
            <a:endParaRPr lang="en-SG" sz="2000" dirty="0">
              <a:solidFill>
                <a:schemeClr val="bg1"/>
              </a:solidFill>
            </a:endParaRPr>
          </a:p>
        </p:txBody>
      </p:sp>
      <p:sp>
        <p:nvSpPr>
          <p:cNvPr id="30" name="Rectangle 3"/>
          <p:cNvSpPr txBox="1">
            <a:spLocks noChangeArrowheads="1"/>
          </p:cNvSpPr>
          <p:nvPr/>
        </p:nvSpPr>
        <p:spPr>
          <a:xfrm>
            <a:off x="1856425" y="1568776"/>
            <a:ext cx="7676991" cy="88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3 of the 7 balls in the first urn are blue, 5 of the 8 balls in the second urn are blue.</a:t>
            </a:r>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t="4526"/>
          <a:stretch/>
        </p:blipFill>
        <p:spPr>
          <a:xfrm>
            <a:off x="8808204" y="359072"/>
            <a:ext cx="827867" cy="117700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4080" r="12553"/>
          <a:stretch/>
        </p:blipFill>
        <p:spPr>
          <a:xfrm>
            <a:off x="9636070" y="362659"/>
            <a:ext cx="836908" cy="1140723"/>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4502614" y="2390774"/>
                <a:ext cx="4719523" cy="619913"/>
              </a:xfrm>
              <a:prstGeom prst="rect">
                <a:avLst/>
              </a:prstGeom>
              <a:noFill/>
            </p:spPr>
            <p:txBody>
              <a:bodyPr wrap="square" rtlCol="0">
                <a:spAutoFit/>
              </a:bodyPr>
              <a:lstStyle/>
              <a:p>
                <a14:m>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r>
                          <a:rPr lang="en-SG" sz="2400" i="1">
                            <a:latin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m:t>
                        </m:r>
                      </m:num>
                      <m:den>
                        <m:r>
                          <a:rPr lang="en-SG" sz="2400" i="1">
                            <a:latin typeface="Cambria Math" panose="02040503050406030204" pitchFamily="18" charset="0"/>
                            <a:ea typeface="Cambria Math" panose="02040503050406030204" pitchFamily="18" charset="0"/>
                          </a:rPr>
                          <m:t>14</m:t>
                        </m:r>
                      </m:den>
                    </m:f>
                  </m:oMath>
                </a14:m>
                <a:r>
                  <a:rPr lang="en-SG" sz="2400" dirty="0"/>
                  <a:t> and </a:t>
                </a:r>
                <a14:m>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r>
                          <a:rPr lang="en-SG" sz="2400" i="1">
                            <a:latin typeface="Cambria Math" panose="02040503050406030204" pitchFamily="18" charset="0"/>
                          </a:rPr>
                          <m:t>𝐴</m:t>
                        </m:r>
                      </m:e>
                    </m:d>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59</m:t>
                        </m:r>
                      </m:num>
                      <m:den>
                        <m:r>
                          <a:rPr lang="en-SG" sz="2400" i="1">
                            <a:latin typeface="Cambria Math" panose="02040503050406030204" pitchFamily="18" charset="0"/>
                            <a:ea typeface="Cambria Math" panose="02040503050406030204" pitchFamily="18" charset="0"/>
                          </a:rPr>
                          <m:t>112</m:t>
                        </m:r>
                      </m:den>
                    </m:f>
                  </m:oMath>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502614" y="2390774"/>
                <a:ext cx="4719523" cy="619913"/>
              </a:xfrm>
              <a:prstGeom prst="rect">
                <a:avLst/>
              </a:prstGeom>
              <a:blipFill>
                <a:blip r:embed="rId5"/>
                <a:stretch>
                  <a:fillRect b="-9804"/>
                </a:stretch>
              </a:blipFill>
            </p:spPr>
            <p:txBody>
              <a:bodyPr/>
              <a:lstStyle/>
              <a:p>
                <a:r>
                  <a:rPr lang="en-SG">
                    <a:noFill/>
                  </a:rPr>
                  <a:t> </a:t>
                </a:r>
              </a:p>
            </p:txBody>
          </p:sp>
        </mc:Fallback>
      </mc:AlternateContent>
      <p:sp>
        <p:nvSpPr>
          <p:cNvPr id="25" name="Rectangle 3"/>
          <p:cNvSpPr txBox="1">
            <a:spLocks noChangeArrowheads="1"/>
          </p:cNvSpPr>
          <p:nvPr/>
        </p:nvSpPr>
        <p:spPr>
          <a:xfrm>
            <a:off x="1848357" y="2452134"/>
            <a:ext cx="2992281" cy="4971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From previous slide,</a:t>
            </a:r>
          </a:p>
        </p:txBody>
      </p:sp>
      <mc:AlternateContent xmlns:mc="http://schemas.openxmlformats.org/markup-compatibility/2006" xmlns:a14="http://schemas.microsoft.com/office/drawing/2010/main">
        <mc:Choice Requires="a14">
          <p:sp>
            <p:nvSpPr>
              <p:cNvPr id="33" name="TextBox 32"/>
              <p:cNvSpPr txBox="1"/>
              <p:nvPr/>
            </p:nvSpPr>
            <p:spPr>
              <a:xfrm>
                <a:off x="2590816" y="3723822"/>
                <a:ext cx="7147769" cy="1328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r>
                            <a:rPr lang="en-SG" sz="2400" i="1">
                              <a:latin typeface="Cambria Math" panose="02040503050406030204" pitchFamily="18" charset="0"/>
                            </a:rPr>
                            <m:t>|</m:t>
                          </m:r>
                          <m:r>
                            <a:rPr lang="en-SG" sz="2400" i="1">
                              <a:latin typeface="Cambria Math" panose="02040503050406030204" pitchFamily="18" charset="0"/>
                            </a:rPr>
                            <m:t>𝐴</m:t>
                          </m:r>
                        </m:e>
                      </m:d>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num>
                        <m:den>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m:t>
                              </m:r>
                            </m:num>
                            <m:den>
                              <m:r>
                                <a:rPr lang="en-SG" sz="2400" i="1">
                                  <a:latin typeface="Cambria Math" panose="02040503050406030204" pitchFamily="18" charset="0"/>
                                  <a:ea typeface="Cambria Math" panose="02040503050406030204" pitchFamily="18" charset="0"/>
                                </a:rPr>
                                <m:t>14</m:t>
                              </m:r>
                            </m:den>
                          </m:f>
                        </m:num>
                        <m:den>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59</m:t>
                              </m:r>
                            </m:num>
                            <m:den>
                              <m:r>
                                <a:rPr lang="en-SG" sz="2400" i="1">
                                  <a:latin typeface="Cambria Math" panose="02040503050406030204" pitchFamily="18" charset="0"/>
                                  <a:ea typeface="Cambria Math" panose="02040503050406030204" pitchFamily="18" charset="0"/>
                                </a:rPr>
                                <m:t>112</m:t>
                              </m:r>
                            </m:den>
                          </m:f>
                        </m:den>
                      </m:f>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336</m:t>
                          </m:r>
                        </m:num>
                        <m:den>
                          <m:r>
                            <a:rPr lang="en-SG" sz="2400" i="1">
                              <a:latin typeface="Cambria Math" panose="02040503050406030204" pitchFamily="18" charset="0"/>
                              <a:ea typeface="Cambria Math" panose="02040503050406030204" pitchFamily="18" charset="0"/>
                            </a:rPr>
                            <m:t>826</m:t>
                          </m:r>
                        </m:den>
                      </m:f>
                      <m:r>
                        <a:rPr lang="en-SG" sz="2400" i="1">
                          <a:latin typeface="Cambria Math" panose="02040503050406030204" pitchFamily="18" charset="0"/>
                          <a:ea typeface="Cambria Math" panose="02040503050406030204" pitchFamily="18" charset="0"/>
                        </a:rPr>
                        <m:t>≅40.7%</m:t>
                      </m:r>
                    </m:oMath>
                  </m:oMathPara>
                </a14:m>
                <a:endParaRPr lang="en-SG"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2590816" y="3723822"/>
                <a:ext cx="7147769" cy="1328441"/>
              </a:xfrm>
              <a:prstGeom prst="rect">
                <a:avLst/>
              </a:prstGeom>
              <a:blipFill>
                <a:blip r:embed="rId6"/>
                <a:stretch>
                  <a:fillRect/>
                </a:stretch>
              </a:blipFill>
            </p:spPr>
            <p:txBody>
              <a:bodyPr/>
              <a:lstStyle/>
              <a:p>
                <a:r>
                  <a:rPr lang="en-SG">
                    <a:noFill/>
                  </a:rPr>
                  <a:t> </a:t>
                </a:r>
              </a:p>
            </p:txBody>
          </p:sp>
        </mc:Fallback>
      </mc:AlternateContent>
      <p:sp>
        <p:nvSpPr>
          <p:cNvPr id="34" name="Rectangle 3"/>
          <p:cNvSpPr txBox="1">
            <a:spLocks noChangeArrowheads="1"/>
          </p:cNvSpPr>
          <p:nvPr/>
        </p:nvSpPr>
        <p:spPr>
          <a:xfrm>
            <a:off x="1848355" y="3226627"/>
            <a:ext cx="6649882" cy="4971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By definition of conditional probability,</a:t>
            </a:r>
          </a:p>
        </p:txBody>
      </p:sp>
      <p:sp>
        <p:nvSpPr>
          <p:cNvPr id="7" name="TextBox 6"/>
          <p:cNvSpPr txBox="1"/>
          <p:nvPr/>
        </p:nvSpPr>
        <p:spPr>
          <a:xfrm>
            <a:off x="1848356" y="5288809"/>
            <a:ext cx="7532659" cy="830997"/>
          </a:xfrm>
          <a:prstGeom prst="rect">
            <a:avLst/>
          </a:prstGeom>
          <a:noFill/>
        </p:spPr>
        <p:txBody>
          <a:bodyPr wrap="square" rtlCol="0">
            <a:spAutoFit/>
          </a:bodyPr>
          <a:lstStyle/>
          <a:p>
            <a:r>
              <a:rPr lang="en-SG" sz="2400" dirty="0"/>
              <a:t>Thus, if the chosen ball is blue, the probability that it came from the first urn is approximately 40.7%.</a:t>
            </a:r>
          </a:p>
        </p:txBody>
      </p:sp>
      <p:sp>
        <p:nvSpPr>
          <p:cNvPr id="21" name="TextBox 20">
            <a:extLst>
              <a:ext uri="{FF2B5EF4-FFF2-40B4-BE49-F238E27FC236}">
                <a16:creationId xmlns:a16="http://schemas.microsoft.com/office/drawing/2014/main" id="{9948B2A3-4DBB-4E4E-9343-19FF1F73857C}"/>
              </a:ext>
            </a:extLst>
          </p:cNvPr>
          <p:cNvSpPr txBox="1"/>
          <p:nvPr/>
        </p:nvSpPr>
        <p:spPr>
          <a:xfrm>
            <a:off x="807522" y="20903"/>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116446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grpSp>
        <p:nvGrpSpPr>
          <p:cNvPr id="20" name="Group 19"/>
          <p:cNvGrpSpPr/>
          <p:nvPr/>
        </p:nvGrpSpPr>
        <p:grpSpPr>
          <a:xfrm>
            <a:off x="2000756" y="1404636"/>
            <a:ext cx="8082376" cy="3895785"/>
            <a:chOff x="622411" y="4598517"/>
            <a:chExt cx="8082376" cy="3895785"/>
          </a:xfrm>
        </p:grpSpPr>
        <p:sp>
          <p:nvSpPr>
            <p:cNvPr id="21" name="Rectangle 20"/>
            <p:cNvSpPr/>
            <p:nvPr/>
          </p:nvSpPr>
          <p:spPr>
            <a:xfrm>
              <a:off x="622411" y="4598518"/>
              <a:ext cx="8082376" cy="389578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p:cNvSpPr/>
            <p:nvPr/>
          </p:nvSpPr>
          <p:spPr>
            <a:xfrm>
              <a:off x="622411" y="4598517"/>
              <a:ext cx="80823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TextBox 22"/>
            <p:cNvSpPr txBox="1"/>
            <p:nvPr/>
          </p:nvSpPr>
          <p:spPr>
            <a:xfrm>
              <a:off x="795941" y="4645644"/>
              <a:ext cx="7802814" cy="461665"/>
            </a:xfrm>
            <a:prstGeom prst="rect">
              <a:avLst/>
            </a:prstGeom>
            <a:noFill/>
          </p:spPr>
          <p:txBody>
            <a:bodyPr wrap="square" rtlCol="0">
              <a:spAutoFit/>
            </a:bodyPr>
            <a:lstStyle/>
            <a:p>
              <a:r>
                <a:rPr lang="en-SG" sz="2400" dirty="0">
                  <a:solidFill>
                    <a:schemeClr val="bg1"/>
                  </a:solidFill>
                </a:rPr>
                <a:t>Theorem 10.8.1  Bayes’ Theorem</a:t>
              </a:r>
              <a:endParaRPr lang="en-SG" sz="2000" dirty="0">
                <a:solidFill>
                  <a:schemeClr val="bg1"/>
                </a:solidFill>
              </a:endParaRPr>
            </a:p>
          </p:txBody>
        </p:sp>
        <p:sp>
          <p:nvSpPr>
            <p:cNvPr id="24" name="TextBox 23"/>
            <p:cNvSpPr txBox="1"/>
            <p:nvPr/>
          </p:nvSpPr>
          <p:spPr>
            <a:xfrm>
              <a:off x="795941" y="5218733"/>
              <a:ext cx="7737396" cy="2092881"/>
            </a:xfrm>
            <a:prstGeom prst="rect">
              <a:avLst/>
            </a:prstGeom>
            <a:noFill/>
          </p:spPr>
          <p:txBody>
            <a:bodyPr wrap="square" rtlCol="0">
              <a:spAutoFit/>
            </a:bodyPr>
            <a:lstStyle/>
            <a:p>
              <a:pPr>
                <a:spcAft>
                  <a:spcPts val="600"/>
                </a:spcAft>
              </a:pPr>
              <a:r>
                <a:rPr lang="en-SG" sz="2400" dirty="0"/>
                <a:t>Suppose that a sample space </a:t>
              </a:r>
              <a:r>
                <a:rPr lang="en-SG" sz="2400" i="1" dirty="0"/>
                <a:t>S</a:t>
              </a:r>
              <a:r>
                <a:rPr lang="en-SG" sz="2400" dirty="0"/>
                <a:t> is a union of mutually disjoint events </a:t>
              </a:r>
              <a:r>
                <a:rPr lang="en-SG" sz="2400" i="1" dirty="0"/>
                <a:t>B</a:t>
              </a:r>
              <a:r>
                <a:rPr lang="en-SG" sz="2400" baseline="-25000" dirty="0"/>
                <a:t>1</a:t>
              </a:r>
              <a:r>
                <a:rPr lang="en-SG" sz="2400" dirty="0"/>
                <a:t>, </a:t>
              </a:r>
              <a:r>
                <a:rPr lang="en-SG" sz="2400" i="1" dirty="0"/>
                <a:t>B</a:t>
              </a:r>
              <a:r>
                <a:rPr lang="en-SG" sz="2400" baseline="-25000" dirty="0"/>
                <a:t>2</a:t>
              </a:r>
              <a:r>
                <a:rPr lang="en-SG" sz="2400" dirty="0"/>
                <a:t>, </a:t>
              </a:r>
              <a:r>
                <a:rPr lang="en-SG" sz="2400" i="1" dirty="0"/>
                <a:t>B</a:t>
              </a:r>
              <a:r>
                <a:rPr lang="en-SG" sz="2400" baseline="-25000" dirty="0"/>
                <a:t>3</a:t>
              </a:r>
              <a:r>
                <a:rPr lang="en-SG" sz="2400" dirty="0"/>
                <a:t>, …, </a:t>
              </a:r>
              <a:r>
                <a:rPr lang="en-SG" sz="2400" i="1" dirty="0"/>
                <a:t>B</a:t>
              </a:r>
              <a:r>
                <a:rPr lang="en-SG" sz="2400" i="1" baseline="-25000" dirty="0"/>
                <a:t>n</a:t>
              </a:r>
              <a:r>
                <a:rPr lang="en-SG" sz="2400" dirty="0"/>
                <a:t>. </a:t>
              </a:r>
            </a:p>
            <a:p>
              <a:pPr>
                <a:spcAft>
                  <a:spcPts val="600"/>
                </a:spcAft>
              </a:pPr>
              <a:r>
                <a:rPr lang="en-SG" sz="2400" dirty="0"/>
                <a:t>Suppose </a:t>
              </a:r>
              <a:r>
                <a:rPr lang="en-SG" sz="2400" i="1" dirty="0"/>
                <a:t>A</a:t>
              </a:r>
              <a:r>
                <a:rPr lang="en-SG" sz="2400" dirty="0"/>
                <a:t> is an event in </a:t>
              </a:r>
              <a:r>
                <a:rPr lang="en-SG" sz="2400" i="1" dirty="0"/>
                <a:t>S</a:t>
              </a:r>
              <a:r>
                <a:rPr lang="en-SG" sz="2400" dirty="0"/>
                <a:t>, and suppose </a:t>
              </a:r>
              <a:r>
                <a:rPr lang="en-SG" sz="2400" i="1" dirty="0"/>
                <a:t>A</a:t>
              </a:r>
              <a:r>
                <a:rPr lang="en-SG" sz="2400" dirty="0"/>
                <a:t> and all the </a:t>
              </a:r>
              <a:r>
                <a:rPr lang="en-SG" sz="2400" i="1" dirty="0"/>
                <a:t>B</a:t>
              </a:r>
              <a:r>
                <a:rPr lang="en-SG" sz="2400" i="1" baseline="-25000" dirty="0"/>
                <a:t>i</a:t>
              </a:r>
              <a:r>
                <a:rPr lang="en-SG" sz="2400" dirty="0"/>
                <a:t> have non-zero probabilities. </a:t>
              </a:r>
            </a:p>
            <a:p>
              <a:pPr>
                <a:spcAft>
                  <a:spcPts val="600"/>
                </a:spcAft>
              </a:pPr>
              <a:r>
                <a:rPr lang="en-SG" sz="2400" dirty="0"/>
                <a:t>If </a:t>
              </a:r>
              <a:r>
                <a:rPr lang="en-SG" sz="2400" i="1" dirty="0"/>
                <a:t>k</a:t>
              </a:r>
              <a:r>
                <a:rPr lang="en-SG" sz="2400" dirty="0"/>
                <a:t> is an integer with 1 </a:t>
              </a:r>
              <a:r>
                <a:rPr lang="en-SG" sz="2400" dirty="0">
                  <a:sym typeface="Symbol" panose="05050102010706020507" pitchFamily="18" charset="2"/>
                </a:rPr>
                <a:t></a:t>
              </a:r>
              <a:r>
                <a:rPr lang="en-SG" sz="2400" dirty="0"/>
                <a:t> </a:t>
              </a:r>
              <a:r>
                <a:rPr lang="en-SG" sz="2400" i="1" dirty="0"/>
                <a:t>k</a:t>
              </a:r>
              <a:r>
                <a:rPr lang="en-SG" sz="2400" dirty="0"/>
                <a:t> </a:t>
              </a:r>
              <a:r>
                <a:rPr lang="en-SG" sz="2400" dirty="0">
                  <a:sym typeface="Symbol" panose="05050102010706020507" pitchFamily="18" charset="2"/>
                </a:rPr>
                <a:t> </a:t>
              </a:r>
              <a:r>
                <a:rPr lang="en-SG" sz="2400" i="1" dirty="0"/>
                <a:t>n</a:t>
              </a:r>
              <a:r>
                <a:rPr lang="en-SG" sz="2400" dirty="0"/>
                <a:t>, then</a:t>
              </a:r>
            </a:p>
          </p:txBody>
        </p:sp>
      </p:grpSp>
      <mc:AlternateContent xmlns:mc="http://schemas.openxmlformats.org/markup-compatibility/2006" xmlns:a14="http://schemas.microsoft.com/office/drawing/2010/main">
        <mc:Choice Requires="a14">
          <p:sp>
            <p:nvSpPr>
              <p:cNvPr id="2" name="TextBox 1"/>
              <p:cNvSpPr txBox="1"/>
              <p:nvPr/>
            </p:nvSpPr>
            <p:spPr>
              <a:xfrm>
                <a:off x="1939124" y="4324639"/>
                <a:ext cx="8136609" cy="7331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i="1">
                          <a:solidFill>
                            <a:srgbClr val="0000FF"/>
                          </a:solidFill>
                          <a:latin typeface="Cambria Math" panose="02040503050406030204" pitchFamily="18" charset="0"/>
                        </a:rPr>
                        <m:t>𝑃</m:t>
                      </m:r>
                      <m:d>
                        <m:dPr>
                          <m:ctrlPr>
                            <a:rPr lang="en-SG" sz="2000" i="1">
                              <a:solidFill>
                                <a:srgbClr val="0000FF"/>
                              </a:solidFill>
                              <a:latin typeface="Cambria Math" panose="02040503050406030204" pitchFamily="18" charset="0"/>
                            </a:rPr>
                          </m:ctrlPr>
                        </m:dPr>
                        <m:e>
                          <m:sSub>
                            <m:sSubPr>
                              <m:ctrlPr>
                                <a:rPr lang="en-SG" sz="2000" i="1">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rPr>
                                <m:t>𝐵</m:t>
                              </m:r>
                            </m:e>
                            <m:sub>
                              <m:r>
                                <a:rPr lang="en-SG" sz="2000" i="1">
                                  <a:solidFill>
                                    <a:srgbClr val="0000FF"/>
                                  </a:solidFill>
                                  <a:latin typeface="Cambria Math" panose="02040503050406030204" pitchFamily="18" charset="0"/>
                                </a:rPr>
                                <m:t>𝑘</m:t>
                              </m:r>
                            </m:sub>
                          </m:sSub>
                        </m:e>
                        <m:e>
                          <m:r>
                            <a:rPr lang="en-SG" sz="2000" i="1">
                              <a:solidFill>
                                <a:srgbClr val="0000FF"/>
                              </a:solidFill>
                              <a:latin typeface="Cambria Math" panose="02040503050406030204" pitchFamily="18" charset="0"/>
                            </a:rPr>
                            <m:t>𝐴</m:t>
                          </m:r>
                        </m:e>
                      </m:d>
                      <m:r>
                        <a:rPr lang="en-SG" sz="2000" i="1">
                          <a:solidFill>
                            <a:srgbClr val="0000FF"/>
                          </a:solidFill>
                          <a:latin typeface="Cambria Math" panose="02040503050406030204" pitchFamily="18" charset="0"/>
                        </a:rPr>
                        <m:t>= </m:t>
                      </m:r>
                      <m:f>
                        <m:fPr>
                          <m:ctrlPr>
                            <a:rPr lang="en-SG" sz="2000" i="1">
                              <a:solidFill>
                                <a:srgbClr val="0000FF"/>
                              </a:solidFill>
                              <a:latin typeface="Cambria Math" panose="02040503050406030204" pitchFamily="18" charset="0"/>
                            </a:rPr>
                          </m:ctrlPr>
                        </m:fPr>
                        <m:num>
                          <m:r>
                            <a:rPr lang="en-SG" sz="2000" i="1">
                              <a:solidFill>
                                <a:srgbClr val="0000FF"/>
                              </a:solidFill>
                              <a:latin typeface="Cambria Math" panose="02040503050406030204" pitchFamily="18" charset="0"/>
                            </a:rPr>
                            <m:t>𝑃</m:t>
                          </m:r>
                          <m:r>
                            <a:rPr lang="en-SG" sz="2000" i="1">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𝐴</m:t>
                          </m:r>
                          <m:r>
                            <a:rPr lang="en-SG" sz="2000" i="1">
                              <a:solidFill>
                                <a:srgbClr val="0000FF"/>
                              </a:solidFill>
                              <a:latin typeface="Cambria Math" panose="02040503050406030204" pitchFamily="18" charset="0"/>
                            </a:rPr>
                            <m:t>|</m:t>
                          </m:r>
                          <m:sSub>
                            <m:sSubPr>
                              <m:ctrlPr>
                                <a:rPr lang="en-SG" sz="2000" i="1">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rPr>
                                <m:t>𝐵</m:t>
                              </m:r>
                            </m:e>
                            <m:sub>
                              <m:r>
                                <a:rPr lang="en-SG" sz="2000" i="1">
                                  <a:solidFill>
                                    <a:srgbClr val="0000FF"/>
                                  </a:solidFill>
                                  <a:latin typeface="Cambria Math" panose="02040503050406030204" pitchFamily="18" charset="0"/>
                                </a:rPr>
                                <m:t>𝑘</m:t>
                              </m:r>
                            </m:sub>
                          </m:sSub>
                          <m:r>
                            <a:rPr lang="en-SG" sz="2000" i="1">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𝑃</m:t>
                          </m:r>
                          <m:r>
                            <a:rPr lang="en-SG" sz="2000" i="1">
                              <a:solidFill>
                                <a:srgbClr val="0000FF"/>
                              </a:solidFill>
                              <a:latin typeface="Cambria Math" panose="02040503050406030204" pitchFamily="18" charset="0"/>
                              <a:ea typeface="Cambria Math" panose="02040503050406030204" pitchFamily="18" charset="0"/>
                            </a:rPr>
                            <m:t>(</m:t>
                          </m:r>
                          <m:sSub>
                            <m:sSubPr>
                              <m:ctrlPr>
                                <a:rPr lang="en-SG" sz="2000" i="1">
                                  <a:solidFill>
                                    <a:srgbClr val="0000FF"/>
                                  </a:solidFill>
                                  <a:latin typeface="Cambria Math" panose="02040503050406030204" pitchFamily="18" charset="0"/>
                                  <a:ea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𝐵</m:t>
                              </m:r>
                            </m:e>
                            <m:sub>
                              <m:r>
                                <a:rPr lang="en-SG" sz="2000" i="1">
                                  <a:solidFill>
                                    <a:srgbClr val="0000FF"/>
                                  </a:solidFill>
                                  <a:latin typeface="Cambria Math" panose="02040503050406030204" pitchFamily="18" charset="0"/>
                                  <a:ea typeface="Cambria Math" panose="02040503050406030204" pitchFamily="18" charset="0"/>
                                </a:rPr>
                                <m:t>𝑘</m:t>
                              </m:r>
                            </m:sub>
                          </m:sSub>
                          <m:r>
                            <a:rPr lang="en-SG" sz="2000" i="1">
                              <a:solidFill>
                                <a:srgbClr val="0000FF"/>
                              </a:solidFill>
                              <a:latin typeface="Cambria Math" panose="02040503050406030204" pitchFamily="18" charset="0"/>
                              <a:ea typeface="Cambria Math" panose="02040503050406030204" pitchFamily="18" charset="0"/>
                            </a:rPr>
                            <m:t>)</m:t>
                          </m:r>
                        </m:num>
                        <m:den>
                          <m:r>
                            <a:rPr lang="en-SG" sz="2000" i="1">
                              <a:solidFill>
                                <a:srgbClr val="0000FF"/>
                              </a:solidFill>
                              <a:latin typeface="Cambria Math" panose="02040503050406030204" pitchFamily="18" charset="0"/>
                            </a:rPr>
                            <m:t>𝑃</m:t>
                          </m:r>
                          <m:d>
                            <m:dPr>
                              <m:ctrlPr>
                                <a:rPr lang="en-SG" sz="2000" i="1">
                                  <a:solidFill>
                                    <a:srgbClr val="0000FF"/>
                                  </a:solidFill>
                                  <a:latin typeface="Cambria Math" panose="02040503050406030204" pitchFamily="18" charset="0"/>
                                </a:rPr>
                              </m:ctrlPr>
                            </m:dPr>
                            <m:e>
                              <m:r>
                                <a:rPr lang="en-SG" sz="2000" i="1">
                                  <a:solidFill>
                                    <a:srgbClr val="0000FF"/>
                                  </a:solidFill>
                                  <a:latin typeface="Cambria Math" panose="02040503050406030204" pitchFamily="18" charset="0"/>
                                </a:rPr>
                                <m:t>𝐴</m:t>
                              </m:r>
                            </m:e>
                            <m:e>
                              <m:sSub>
                                <m:sSubPr>
                                  <m:ctrlPr>
                                    <a:rPr lang="en-SG" sz="2000" i="1">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rPr>
                                    <m:t>𝐵</m:t>
                                  </m:r>
                                </m:e>
                                <m:sub>
                                  <m:r>
                                    <a:rPr lang="en-SG" sz="2000" i="1">
                                      <a:solidFill>
                                        <a:srgbClr val="0000FF"/>
                                      </a:solidFill>
                                      <a:latin typeface="Cambria Math" panose="02040503050406030204" pitchFamily="18" charset="0"/>
                                    </a:rPr>
                                    <m:t>1</m:t>
                                  </m:r>
                                </m:sub>
                              </m:sSub>
                            </m:e>
                          </m:d>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𝑃</m:t>
                          </m:r>
                          <m:d>
                            <m:dPr>
                              <m:ctrlPr>
                                <a:rPr lang="en-SG" sz="2000" i="1">
                                  <a:solidFill>
                                    <a:srgbClr val="0000FF"/>
                                  </a:solidFill>
                                  <a:latin typeface="Cambria Math" panose="02040503050406030204" pitchFamily="18" charset="0"/>
                                  <a:ea typeface="Cambria Math" panose="02040503050406030204" pitchFamily="18" charset="0"/>
                                </a:rPr>
                              </m:ctrlPr>
                            </m:dPr>
                            <m:e>
                              <m:sSub>
                                <m:sSubPr>
                                  <m:ctrlPr>
                                    <a:rPr lang="en-SG" sz="2000" i="1">
                                      <a:solidFill>
                                        <a:srgbClr val="0000FF"/>
                                      </a:solidFill>
                                      <a:latin typeface="Cambria Math" panose="02040503050406030204" pitchFamily="18" charset="0"/>
                                      <a:ea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𝐵</m:t>
                                  </m:r>
                                </m:e>
                                <m:sub>
                                  <m:r>
                                    <a:rPr lang="en-SG" sz="2000" i="1">
                                      <a:solidFill>
                                        <a:srgbClr val="0000FF"/>
                                      </a:solidFill>
                                      <a:latin typeface="Cambria Math" panose="02040503050406030204" pitchFamily="18" charset="0"/>
                                      <a:ea typeface="Cambria Math" panose="02040503050406030204" pitchFamily="18" charset="0"/>
                                    </a:rPr>
                                    <m:t>1</m:t>
                                  </m:r>
                                </m:sub>
                              </m:sSub>
                            </m:e>
                          </m:d>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𝑃</m:t>
                          </m:r>
                          <m:d>
                            <m:dPr>
                              <m:ctrlPr>
                                <a:rPr lang="en-SG" sz="2000" i="1">
                                  <a:solidFill>
                                    <a:srgbClr val="0000FF"/>
                                  </a:solidFill>
                                  <a:latin typeface="Cambria Math" panose="02040503050406030204" pitchFamily="18" charset="0"/>
                                  <a:ea typeface="Cambria Math" panose="02040503050406030204" pitchFamily="18" charset="0"/>
                                </a:rPr>
                              </m:ctrlPr>
                            </m:dPr>
                            <m:e>
                              <m:r>
                                <a:rPr lang="en-SG" sz="2000" i="1">
                                  <a:solidFill>
                                    <a:srgbClr val="0000FF"/>
                                  </a:solidFill>
                                  <a:latin typeface="Cambria Math" panose="02040503050406030204" pitchFamily="18" charset="0"/>
                                  <a:ea typeface="Cambria Math" panose="02040503050406030204" pitchFamily="18" charset="0"/>
                                </a:rPr>
                                <m:t>𝐴</m:t>
                              </m:r>
                            </m:e>
                            <m:e>
                              <m:sSub>
                                <m:sSubPr>
                                  <m:ctrlPr>
                                    <a:rPr lang="en-SG" sz="2000" i="1">
                                      <a:solidFill>
                                        <a:srgbClr val="0000FF"/>
                                      </a:solidFill>
                                      <a:latin typeface="Cambria Math" panose="02040503050406030204" pitchFamily="18" charset="0"/>
                                      <a:ea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𝐵</m:t>
                                  </m:r>
                                </m:e>
                                <m:sub>
                                  <m:r>
                                    <a:rPr lang="en-SG" sz="2000" i="1">
                                      <a:solidFill>
                                        <a:srgbClr val="0000FF"/>
                                      </a:solidFill>
                                      <a:latin typeface="Cambria Math" panose="02040503050406030204" pitchFamily="18" charset="0"/>
                                      <a:ea typeface="Cambria Math" panose="02040503050406030204" pitchFamily="18" charset="0"/>
                                    </a:rPr>
                                    <m:t>2</m:t>
                                  </m:r>
                                </m:sub>
                              </m:sSub>
                            </m:e>
                          </m:d>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𝑃</m:t>
                          </m:r>
                          <m:d>
                            <m:dPr>
                              <m:ctrlPr>
                                <a:rPr lang="en-SG" sz="2000" i="1">
                                  <a:solidFill>
                                    <a:srgbClr val="0000FF"/>
                                  </a:solidFill>
                                  <a:latin typeface="Cambria Math" panose="02040503050406030204" pitchFamily="18" charset="0"/>
                                  <a:ea typeface="Cambria Math" panose="02040503050406030204" pitchFamily="18" charset="0"/>
                                </a:rPr>
                              </m:ctrlPr>
                            </m:dPr>
                            <m:e>
                              <m:sSub>
                                <m:sSubPr>
                                  <m:ctrlPr>
                                    <a:rPr lang="en-SG" sz="2000" i="1">
                                      <a:solidFill>
                                        <a:srgbClr val="0000FF"/>
                                      </a:solidFill>
                                      <a:latin typeface="Cambria Math" panose="02040503050406030204" pitchFamily="18" charset="0"/>
                                      <a:ea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𝐵</m:t>
                                  </m:r>
                                </m:e>
                                <m:sub>
                                  <m:r>
                                    <a:rPr lang="en-SG" sz="2000" i="1">
                                      <a:solidFill>
                                        <a:srgbClr val="0000FF"/>
                                      </a:solidFill>
                                      <a:latin typeface="Cambria Math" panose="02040503050406030204" pitchFamily="18" charset="0"/>
                                      <a:ea typeface="Cambria Math" panose="02040503050406030204" pitchFamily="18" charset="0"/>
                                    </a:rPr>
                                    <m:t>2</m:t>
                                  </m:r>
                                </m:sub>
                              </m:sSub>
                            </m:e>
                          </m:d>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𝑃</m:t>
                          </m:r>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𝐴</m:t>
                          </m:r>
                          <m:r>
                            <a:rPr lang="en-SG" sz="2000" i="1">
                              <a:solidFill>
                                <a:srgbClr val="0000FF"/>
                              </a:solidFill>
                              <a:latin typeface="Cambria Math" panose="02040503050406030204" pitchFamily="18" charset="0"/>
                              <a:ea typeface="Cambria Math" panose="02040503050406030204" pitchFamily="18" charset="0"/>
                            </a:rPr>
                            <m:t>|</m:t>
                          </m:r>
                          <m:sSub>
                            <m:sSubPr>
                              <m:ctrlPr>
                                <a:rPr lang="en-SG" sz="2000" i="1">
                                  <a:solidFill>
                                    <a:srgbClr val="0000FF"/>
                                  </a:solidFill>
                                  <a:latin typeface="Cambria Math" panose="02040503050406030204" pitchFamily="18" charset="0"/>
                                  <a:ea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𝐵</m:t>
                              </m:r>
                            </m:e>
                            <m:sub>
                              <m:r>
                                <a:rPr lang="en-SG" sz="2000" i="1">
                                  <a:solidFill>
                                    <a:srgbClr val="0000FF"/>
                                  </a:solidFill>
                                  <a:latin typeface="Cambria Math" panose="02040503050406030204" pitchFamily="18" charset="0"/>
                                  <a:ea typeface="Cambria Math" panose="02040503050406030204" pitchFamily="18" charset="0"/>
                                </a:rPr>
                                <m:t>𝑛</m:t>
                              </m:r>
                            </m:sub>
                          </m:sSub>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ea typeface="Cambria Math" panose="02040503050406030204" pitchFamily="18" charset="0"/>
                            </a:rPr>
                            <m:t>𝑃</m:t>
                          </m:r>
                          <m:r>
                            <a:rPr lang="en-SG" sz="2000" i="1">
                              <a:solidFill>
                                <a:srgbClr val="0000FF"/>
                              </a:solidFill>
                              <a:latin typeface="Cambria Math" panose="02040503050406030204" pitchFamily="18" charset="0"/>
                              <a:ea typeface="Cambria Math" panose="02040503050406030204" pitchFamily="18" charset="0"/>
                            </a:rPr>
                            <m:t>(</m:t>
                          </m:r>
                          <m:sSub>
                            <m:sSubPr>
                              <m:ctrlPr>
                                <a:rPr lang="en-SG" sz="2000" i="1">
                                  <a:solidFill>
                                    <a:srgbClr val="0000FF"/>
                                  </a:solidFill>
                                  <a:latin typeface="Cambria Math" panose="02040503050406030204" pitchFamily="18" charset="0"/>
                                  <a:ea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𝐵</m:t>
                              </m:r>
                            </m:e>
                            <m:sub>
                              <m:r>
                                <a:rPr lang="en-SG" sz="2000" i="1">
                                  <a:solidFill>
                                    <a:srgbClr val="0000FF"/>
                                  </a:solidFill>
                                  <a:latin typeface="Cambria Math" panose="02040503050406030204" pitchFamily="18" charset="0"/>
                                  <a:ea typeface="Cambria Math" panose="02040503050406030204" pitchFamily="18" charset="0"/>
                                </a:rPr>
                                <m:t>𝑛</m:t>
                              </m:r>
                            </m:sub>
                          </m:sSub>
                          <m:r>
                            <a:rPr lang="en-SG" sz="2000" i="1">
                              <a:solidFill>
                                <a:srgbClr val="0000FF"/>
                              </a:solidFill>
                              <a:latin typeface="Cambria Math" panose="02040503050406030204" pitchFamily="18" charset="0"/>
                              <a:ea typeface="Cambria Math" panose="02040503050406030204" pitchFamily="18" charset="0"/>
                            </a:rPr>
                            <m:t>)</m:t>
                          </m:r>
                        </m:den>
                      </m:f>
                    </m:oMath>
                  </m:oMathPara>
                </a14:m>
                <a:endParaRPr lang="en-SG"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1939124" y="4324639"/>
                <a:ext cx="8136609" cy="733149"/>
              </a:xfrm>
              <a:prstGeom prst="rect">
                <a:avLst/>
              </a:prstGeom>
              <a:blipFill>
                <a:blip r:embed="rId3"/>
                <a:stretch>
                  <a:fillRect/>
                </a:stretch>
              </a:blipFill>
            </p:spPr>
            <p:txBody>
              <a:bodyPr/>
              <a:lstStyle/>
              <a:p>
                <a:r>
                  <a:rPr lang="en-SG">
                    <a:noFill/>
                  </a:rPr>
                  <a:t> </a:t>
                </a:r>
              </a:p>
            </p:txBody>
          </p:sp>
        </mc:Fallback>
      </mc:AlternateContent>
      <p:sp>
        <p:nvSpPr>
          <p:cNvPr id="17" name="TextBox 16">
            <a:extLst>
              <a:ext uri="{FF2B5EF4-FFF2-40B4-BE49-F238E27FC236}">
                <a16:creationId xmlns:a16="http://schemas.microsoft.com/office/drawing/2014/main" id="{B604FB36-2128-458B-ACC0-02AFCFBF7C17}"/>
              </a:ext>
            </a:extLst>
          </p:cNvPr>
          <p:cNvSpPr txBox="1"/>
          <p:nvPr/>
        </p:nvSpPr>
        <p:spPr>
          <a:xfrm>
            <a:off x="807522" y="20903"/>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3115943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 – Applying Bayes’ Theorem </a:t>
            </a:r>
            <a:endParaRPr lang="en-SG" sz="2000" dirty="0">
              <a:solidFill>
                <a:schemeClr val="bg1"/>
              </a:solidFill>
            </a:endParaRPr>
          </a:p>
        </p:txBody>
      </p:sp>
      <p:sp>
        <p:nvSpPr>
          <p:cNvPr id="30" name="Rectangle 3"/>
          <p:cNvSpPr txBox="1">
            <a:spLocks noChangeArrowheads="1"/>
          </p:cNvSpPr>
          <p:nvPr/>
        </p:nvSpPr>
        <p:spPr>
          <a:xfrm>
            <a:off x="807523" y="1434109"/>
            <a:ext cx="10260280" cy="7535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Most medical tests occasionally produce incorrect results, called false positives and false negatives.</a:t>
            </a:r>
          </a:p>
          <a:p>
            <a:pPr marL="0" indent="0">
              <a:lnSpc>
                <a:spcPct val="100000"/>
              </a:lnSpc>
              <a:spcBef>
                <a:spcPts val="0"/>
              </a:spcBef>
              <a:buNone/>
            </a:pPr>
            <a:endParaRPr lang="en-US" altLang="en-US" sz="2400" dirty="0"/>
          </a:p>
        </p:txBody>
      </p:sp>
      <p:sp>
        <p:nvSpPr>
          <p:cNvPr id="20" name="Rectangle 3"/>
          <p:cNvSpPr txBox="1">
            <a:spLocks noChangeArrowheads="1"/>
          </p:cNvSpPr>
          <p:nvPr/>
        </p:nvSpPr>
        <p:spPr>
          <a:xfrm>
            <a:off x="1365647" y="3714513"/>
            <a:ext cx="8880292" cy="8278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a:t>
            </a:r>
            <a:r>
              <a:rPr lang="en-US" altLang="en-US" sz="2400" b="1" dirty="0">
                <a:solidFill>
                  <a:srgbClr val="0000FF"/>
                </a:solidFill>
              </a:rPr>
              <a:t>false positive</a:t>
            </a:r>
            <a:r>
              <a:rPr lang="en-US" altLang="en-US" sz="2400" dirty="0">
                <a:solidFill>
                  <a:srgbClr val="0000FF"/>
                </a:solidFill>
              </a:rPr>
              <a:t> </a:t>
            </a:r>
            <a:r>
              <a:rPr lang="en-US" altLang="en-US" sz="2400" dirty="0"/>
              <a:t>result indicates that a patient has the disease when the patient does not have it.</a:t>
            </a:r>
          </a:p>
        </p:txBody>
      </p:sp>
      <p:sp>
        <p:nvSpPr>
          <p:cNvPr id="17" name="Rectangle 3"/>
          <p:cNvSpPr txBox="1">
            <a:spLocks noChangeArrowheads="1"/>
          </p:cNvSpPr>
          <p:nvPr/>
        </p:nvSpPr>
        <p:spPr>
          <a:xfrm>
            <a:off x="1365645" y="5492008"/>
            <a:ext cx="9108391" cy="8643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a:t>
            </a:r>
            <a:r>
              <a:rPr lang="en-US" altLang="en-US" sz="2400" b="1" dirty="0">
                <a:solidFill>
                  <a:srgbClr val="0000FF"/>
                </a:solidFill>
              </a:rPr>
              <a:t>false negative</a:t>
            </a:r>
            <a:r>
              <a:rPr lang="en-US" altLang="en-US" sz="2400" dirty="0">
                <a:solidFill>
                  <a:srgbClr val="0000FF"/>
                </a:solidFill>
              </a:rPr>
              <a:t> </a:t>
            </a:r>
            <a:r>
              <a:rPr lang="en-US" altLang="en-US" sz="2400" dirty="0"/>
              <a:t>result indicates that a patient does not have the disease when the patient does have it.</a:t>
            </a:r>
          </a:p>
        </p:txBody>
      </p:sp>
      <p:sp>
        <p:nvSpPr>
          <p:cNvPr id="15" name="TextBox 14">
            <a:extLst>
              <a:ext uri="{FF2B5EF4-FFF2-40B4-BE49-F238E27FC236}">
                <a16:creationId xmlns:a16="http://schemas.microsoft.com/office/drawing/2014/main" id="{83F367C4-2881-45E9-ADE9-85CD9789AEBC}"/>
              </a:ext>
            </a:extLst>
          </p:cNvPr>
          <p:cNvSpPr txBox="1"/>
          <p:nvPr/>
        </p:nvSpPr>
        <p:spPr>
          <a:xfrm>
            <a:off x="807522" y="20903"/>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
        <p:nvSpPr>
          <p:cNvPr id="9" name="Rectangle 3">
            <a:extLst>
              <a:ext uri="{FF2B5EF4-FFF2-40B4-BE49-F238E27FC236}">
                <a16:creationId xmlns:a16="http://schemas.microsoft.com/office/drawing/2014/main" id="{3EBFD89C-5A26-48B8-AD81-41B61F06208C}"/>
              </a:ext>
            </a:extLst>
          </p:cNvPr>
          <p:cNvSpPr txBox="1">
            <a:spLocks noChangeArrowheads="1"/>
          </p:cNvSpPr>
          <p:nvPr/>
        </p:nvSpPr>
        <p:spPr>
          <a:xfrm>
            <a:off x="1365646" y="4574836"/>
            <a:ext cx="8616553" cy="8643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a:t>
            </a:r>
            <a:r>
              <a:rPr lang="en-US" altLang="en-US" sz="2400" b="1" dirty="0">
                <a:solidFill>
                  <a:srgbClr val="0000FF"/>
                </a:solidFill>
              </a:rPr>
              <a:t>true negative </a:t>
            </a:r>
            <a:r>
              <a:rPr lang="en-US" altLang="en-US" sz="2400" dirty="0"/>
              <a:t>result indicates that a patient does not have the disease when the patient does not have it.</a:t>
            </a:r>
          </a:p>
        </p:txBody>
      </p:sp>
      <p:sp>
        <p:nvSpPr>
          <p:cNvPr id="10" name="Rectangle 3">
            <a:extLst>
              <a:ext uri="{FF2B5EF4-FFF2-40B4-BE49-F238E27FC236}">
                <a16:creationId xmlns:a16="http://schemas.microsoft.com/office/drawing/2014/main" id="{19E72427-2F55-4CDF-8ADD-1AD04EB049C2}"/>
              </a:ext>
            </a:extLst>
          </p:cNvPr>
          <p:cNvSpPr txBox="1">
            <a:spLocks noChangeArrowheads="1"/>
          </p:cNvSpPr>
          <p:nvPr/>
        </p:nvSpPr>
        <p:spPr>
          <a:xfrm>
            <a:off x="1365647" y="2793323"/>
            <a:ext cx="9559652" cy="8643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a:t>
            </a:r>
            <a:r>
              <a:rPr lang="en-US" altLang="en-US" sz="2400" b="1" dirty="0">
                <a:solidFill>
                  <a:srgbClr val="0000FF"/>
                </a:solidFill>
              </a:rPr>
              <a:t>true positive </a:t>
            </a:r>
            <a:r>
              <a:rPr lang="en-US" altLang="en-US" sz="2400" dirty="0"/>
              <a:t>result indicates that a patient has the disease when the patient has it.</a:t>
            </a:r>
          </a:p>
        </p:txBody>
      </p:sp>
      <p:sp>
        <p:nvSpPr>
          <p:cNvPr id="11" name="Rectangle 3">
            <a:extLst>
              <a:ext uri="{FF2B5EF4-FFF2-40B4-BE49-F238E27FC236}">
                <a16:creationId xmlns:a16="http://schemas.microsoft.com/office/drawing/2014/main" id="{ED07E689-208E-4CD8-94D3-43E533DDCF8D}"/>
              </a:ext>
            </a:extLst>
          </p:cNvPr>
          <p:cNvSpPr txBox="1">
            <a:spLocks noChangeArrowheads="1"/>
          </p:cNvSpPr>
          <p:nvPr/>
        </p:nvSpPr>
        <p:spPr>
          <a:xfrm>
            <a:off x="807522" y="2238835"/>
            <a:ext cx="9860478" cy="7535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When a test is designed to determine whether a patient has a certain disease:</a:t>
            </a:r>
          </a:p>
        </p:txBody>
      </p:sp>
    </p:spTree>
    <p:extLst>
      <p:ext uri="{BB962C8B-B14F-4D97-AF65-F5344CB8AC3E}">
        <p14:creationId xmlns:p14="http://schemas.microsoft.com/office/powerpoint/2010/main" val="239743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P spid="9" grpId="0"/>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 – Applying Bayes’ Theorem </a:t>
            </a:r>
            <a:endParaRPr lang="en-SG" sz="2000" dirty="0">
              <a:solidFill>
                <a:schemeClr val="bg1"/>
              </a:solidFill>
            </a:endParaRPr>
          </a:p>
        </p:txBody>
      </p:sp>
      <p:sp>
        <p:nvSpPr>
          <p:cNvPr id="30" name="Rectangle 3"/>
          <p:cNvSpPr txBox="1">
            <a:spLocks noChangeArrowheads="1"/>
          </p:cNvSpPr>
          <p:nvPr/>
        </p:nvSpPr>
        <p:spPr>
          <a:xfrm>
            <a:off x="1856425" y="1568775"/>
            <a:ext cx="8616553" cy="2445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Consider a medical test that screens for a disease found in 5 people in 1,000. Suppose that the false positive rate is 3% and the false negative rate is 1%.</a:t>
            </a:r>
            <a:r>
              <a:rPr lang="en-US" sz="2400" dirty="0"/>
              <a:t> </a:t>
            </a:r>
          </a:p>
          <a:p>
            <a:pPr marL="0" indent="0">
              <a:lnSpc>
                <a:spcPct val="100000"/>
              </a:lnSpc>
              <a:spcBef>
                <a:spcPts val="0"/>
              </a:spcBef>
              <a:spcAft>
                <a:spcPts val="600"/>
              </a:spcAft>
              <a:buNone/>
            </a:pPr>
            <a:r>
              <a:rPr lang="en-US" sz="2400" dirty="0"/>
              <a:t>That is, 3% of the time a person who does not has the condition tests positive for it, and 1% of the time a person who has the condition tests negative for it.</a:t>
            </a:r>
            <a:endParaRPr lang="en-US" altLang="en-US" sz="2400" dirty="0"/>
          </a:p>
        </p:txBody>
      </p:sp>
      <p:sp>
        <p:nvSpPr>
          <p:cNvPr id="20" name="Rectangle 3"/>
          <p:cNvSpPr txBox="1">
            <a:spLocks noChangeArrowheads="1"/>
          </p:cNvSpPr>
          <p:nvPr/>
        </p:nvSpPr>
        <p:spPr>
          <a:xfrm>
            <a:off x="1856425" y="4187738"/>
            <a:ext cx="8616553" cy="8699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that a randomly chosen person who tests positive for the disease actually has the disease?</a:t>
            </a:r>
          </a:p>
        </p:txBody>
      </p:sp>
      <p:sp>
        <p:nvSpPr>
          <p:cNvPr id="15" name="Rectangle 3"/>
          <p:cNvSpPr txBox="1">
            <a:spLocks noChangeArrowheads="1"/>
          </p:cNvSpPr>
          <p:nvPr/>
        </p:nvSpPr>
        <p:spPr>
          <a:xfrm>
            <a:off x="1856425" y="5231365"/>
            <a:ext cx="8616553" cy="8699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sz="2400" dirty="0"/>
              <a:t>What is the probability that a randomly chosen person who tests negative for the disease does not indeed have the disease</a:t>
            </a:r>
            <a:r>
              <a:rPr lang="en-US" altLang="en-US" sz="2400" dirty="0"/>
              <a:t>?</a:t>
            </a:r>
          </a:p>
        </p:txBody>
      </p:sp>
      <p:sp>
        <p:nvSpPr>
          <p:cNvPr id="16" name="TextBox 15">
            <a:extLst>
              <a:ext uri="{FF2B5EF4-FFF2-40B4-BE49-F238E27FC236}">
                <a16:creationId xmlns:a16="http://schemas.microsoft.com/office/drawing/2014/main" id="{D86E0002-202F-455F-AF32-B52D87D53516}"/>
              </a:ext>
            </a:extLst>
          </p:cNvPr>
          <p:cNvSpPr txBox="1"/>
          <p:nvPr/>
        </p:nvSpPr>
        <p:spPr>
          <a:xfrm>
            <a:off x="822861" y="48760"/>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405223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8" name="TextBox 27"/>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 – Applying Bayes’ Theorem </a:t>
            </a:r>
            <a:endParaRPr lang="en-SG" sz="2000" dirty="0">
              <a:solidFill>
                <a:schemeClr val="bg1"/>
              </a:solidFill>
            </a:endParaRPr>
          </a:p>
        </p:txBody>
      </p:sp>
      <p:sp>
        <p:nvSpPr>
          <p:cNvPr id="30" name="Rectangle 3"/>
          <p:cNvSpPr txBox="1">
            <a:spLocks noChangeArrowheads="1"/>
          </p:cNvSpPr>
          <p:nvPr/>
        </p:nvSpPr>
        <p:spPr>
          <a:xfrm>
            <a:off x="1856425" y="1568775"/>
            <a:ext cx="9144000" cy="22283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Consider a person chosen at random from among those screened. Let</a:t>
            </a:r>
          </a:p>
          <a:p>
            <a:pPr marL="357188">
              <a:lnSpc>
                <a:spcPct val="100000"/>
              </a:lnSpc>
              <a:spcBef>
                <a:spcPts val="0"/>
              </a:spcBef>
              <a:spcAft>
                <a:spcPts val="600"/>
              </a:spcAft>
              <a:buFont typeface="Wingdings" panose="05000000000000000000" pitchFamily="2" charset="2"/>
              <a:buChar char="§"/>
            </a:pPr>
            <a:r>
              <a:rPr lang="en-US" altLang="en-US" sz="2400" i="1" dirty="0"/>
              <a:t>A</a:t>
            </a:r>
            <a:r>
              <a:rPr lang="en-US" altLang="en-US" sz="2400" dirty="0"/>
              <a:t> be the event that the person tests positive for the disease,</a:t>
            </a:r>
          </a:p>
          <a:p>
            <a:pPr marL="357188">
              <a:lnSpc>
                <a:spcPct val="100000"/>
              </a:lnSpc>
              <a:spcBef>
                <a:spcPts val="0"/>
              </a:spcBef>
              <a:spcAft>
                <a:spcPts val="600"/>
              </a:spcAft>
              <a:buFont typeface="Wingdings" panose="05000000000000000000" pitchFamily="2" charset="2"/>
              <a:buChar char="§"/>
            </a:pPr>
            <a:r>
              <a:rPr lang="en-US" altLang="en-US" sz="2400" i="1" dirty="0"/>
              <a:t>B</a:t>
            </a:r>
            <a:r>
              <a:rPr lang="en-US" altLang="en-US" sz="2400" baseline="-25000" dirty="0"/>
              <a:t>1</a:t>
            </a:r>
            <a:r>
              <a:rPr lang="en-US" altLang="en-US" sz="2400" dirty="0"/>
              <a:t> the event that the person actually has the disease, and</a:t>
            </a:r>
          </a:p>
          <a:p>
            <a:pPr marL="357188">
              <a:lnSpc>
                <a:spcPct val="100000"/>
              </a:lnSpc>
              <a:spcBef>
                <a:spcPts val="0"/>
              </a:spcBef>
              <a:spcAft>
                <a:spcPts val="600"/>
              </a:spcAft>
              <a:buFont typeface="Wingdings" panose="05000000000000000000" pitchFamily="2" charset="2"/>
              <a:buChar char="§"/>
            </a:pPr>
            <a:r>
              <a:rPr lang="en-US" altLang="en-US" sz="2400" i="1" dirty="0"/>
              <a:t>B</a:t>
            </a:r>
            <a:r>
              <a:rPr lang="en-US" altLang="en-US" sz="2400" baseline="-25000" dirty="0"/>
              <a:t>2</a:t>
            </a:r>
            <a:r>
              <a:rPr lang="en-US" altLang="en-US" sz="2400" dirty="0"/>
              <a:t> the event that the person does not have the disease.</a:t>
            </a:r>
          </a:p>
          <a:p>
            <a:pPr marL="357188">
              <a:lnSpc>
                <a:spcPct val="100000"/>
              </a:lnSpc>
              <a:spcBef>
                <a:spcPts val="0"/>
              </a:spcBef>
              <a:spcAft>
                <a:spcPts val="600"/>
              </a:spcAft>
              <a:buFont typeface="Wingdings" panose="05000000000000000000" pitchFamily="2" charset="2"/>
              <a:buChar char="§"/>
            </a:pPr>
            <a:endParaRPr lang="en-US" altLang="en-US" sz="2400" dirty="0"/>
          </a:p>
          <a:p>
            <a:pPr marL="128588" indent="0">
              <a:lnSpc>
                <a:spcPct val="100000"/>
              </a:lnSpc>
              <a:spcBef>
                <a:spcPts val="0"/>
              </a:spcBef>
              <a:spcAft>
                <a:spcPts val="600"/>
              </a:spcAft>
              <a:buNone/>
            </a:pPr>
            <a:r>
              <a:rPr lang="en-US" altLang="en-US" sz="2400" dirty="0"/>
              <a:t>Then, P(A</a:t>
            </a:r>
            <a:r>
              <a:rPr lang="en-US" altLang="en-US" sz="2400" dirty="0">
                <a:sym typeface="Symbol" panose="05050102010706020507" pitchFamily="18" charset="2"/>
              </a:rPr>
              <a:t>B</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dirty="0">
                <a:sym typeface="Symbol"/>
              </a:rPr>
              <a:t> = 1 – P(</a:t>
            </a:r>
            <a:r>
              <a:rPr lang="en-US" altLang="en-US" sz="2400" dirty="0"/>
              <a:t>A</a:t>
            </a:r>
            <a:r>
              <a:rPr lang="en-US" altLang="en-US" sz="2400" baseline="30000" dirty="0"/>
              <a:t>C</a:t>
            </a:r>
            <a:r>
              <a:rPr lang="en-US" altLang="en-US" sz="2400" dirty="0">
                <a:sym typeface="Symbol" panose="05050102010706020507" pitchFamily="18" charset="2"/>
              </a:rPr>
              <a:t>B</a:t>
            </a:r>
            <a:r>
              <a:rPr lang="en-US" altLang="en-US" sz="2400" baseline="-25000" dirty="0">
                <a:sym typeface="Symbol" panose="05050102010706020507" pitchFamily="18" charset="2"/>
              </a:rPr>
              <a:t>1</a:t>
            </a:r>
            <a:r>
              <a:rPr lang="en-US" altLang="en-US" sz="2400" dirty="0">
                <a:sym typeface="Symbol"/>
              </a:rPr>
              <a:t>) and </a:t>
            </a:r>
            <a:r>
              <a:rPr lang="en-US" altLang="en-US" sz="2400" dirty="0"/>
              <a:t>P(A</a:t>
            </a:r>
            <a:r>
              <a:rPr lang="en-US" altLang="en-US" sz="2400" baseline="30000" dirty="0"/>
              <a:t>C</a:t>
            </a:r>
            <a:r>
              <a:rPr lang="en-US" altLang="en-US" sz="2400" dirty="0">
                <a:sym typeface="Symbol" panose="05050102010706020507" pitchFamily="18" charset="2"/>
              </a:rPr>
              <a:t>B</a:t>
            </a:r>
            <a:r>
              <a:rPr lang="en-US" altLang="en-US" sz="2400" baseline="-25000" dirty="0">
                <a:sym typeface="Symbol" panose="05050102010706020507" pitchFamily="18" charset="2"/>
              </a:rPr>
              <a:t>2</a:t>
            </a:r>
            <a:r>
              <a:rPr lang="en-US" altLang="en-US" sz="2400" dirty="0">
                <a:sym typeface="Symbol" panose="05050102010706020507" pitchFamily="18" charset="2"/>
              </a:rPr>
              <a:t>)</a:t>
            </a:r>
            <a:r>
              <a:rPr lang="en-US" altLang="en-US" sz="2400" dirty="0">
                <a:sym typeface="Symbol"/>
              </a:rPr>
              <a:t> = 1 – P(</a:t>
            </a:r>
            <a:r>
              <a:rPr lang="en-US" altLang="en-US" sz="2400" dirty="0"/>
              <a:t>A</a:t>
            </a:r>
            <a:r>
              <a:rPr lang="en-US" altLang="en-US" sz="2400" dirty="0">
                <a:sym typeface="Symbol" panose="05050102010706020507" pitchFamily="18" charset="2"/>
              </a:rPr>
              <a:t>B</a:t>
            </a:r>
            <a:r>
              <a:rPr lang="en-US" altLang="en-US" sz="2400" baseline="-25000" dirty="0">
                <a:sym typeface="Symbol" panose="05050102010706020507" pitchFamily="18" charset="2"/>
              </a:rPr>
              <a:t>2</a:t>
            </a:r>
            <a:r>
              <a:rPr lang="en-US" altLang="en-US" sz="2400" dirty="0">
                <a:sym typeface="Symbol"/>
              </a:rPr>
              <a:t>)</a:t>
            </a:r>
            <a:endParaRPr lang="en-US" sz="2400" dirty="0"/>
          </a:p>
          <a:p>
            <a:pPr marL="357188">
              <a:lnSpc>
                <a:spcPct val="100000"/>
              </a:lnSpc>
              <a:spcBef>
                <a:spcPts val="0"/>
              </a:spcBef>
              <a:spcAft>
                <a:spcPts val="600"/>
              </a:spcAft>
              <a:buFont typeface="Wingdings" panose="05000000000000000000" pitchFamily="2" charset="2"/>
              <a:buChar char="§"/>
            </a:pPr>
            <a:endParaRPr lang="en-US" altLang="en-US" sz="2400" dirty="0"/>
          </a:p>
        </p:txBody>
      </p:sp>
      <p:sp>
        <p:nvSpPr>
          <p:cNvPr id="20" name="Rectangle 3"/>
          <p:cNvSpPr txBox="1">
            <a:spLocks noChangeArrowheads="1"/>
          </p:cNvSpPr>
          <p:nvPr/>
        </p:nvSpPr>
        <p:spPr>
          <a:xfrm>
            <a:off x="1653169" y="4389393"/>
            <a:ext cx="1429200" cy="3997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Hence,</a:t>
            </a:r>
          </a:p>
        </p:txBody>
      </p:sp>
      <p:sp>
        <p:nvSpPr>
          <p:cNvPr id="15" name="Rectangle 3"/>
          <p:cNvSpPr txBox="1">
            <a:spLocks noChangeArrowheads="1"/>
          </p:cNvSpPr>
          <p:nvPr/>
        </p:nvSpPr>
        <p:spPr>
          <a:xfrm>
            <a:off x="1856425" y="5543837"/>
            <a:ext cx="8616553" cy="4902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Also, because 5 people in 1000 have the disease,</a:t>
            </a:r>
            <a:endParaRPr lang="en-US" altLang="en-US" sz="2400" dirty="0"/>
          </a:p>
        </p:txBody>
      </p:sp>
      <mc:AlternateContent xmlns:mc="http://schemas.openxmlformats.org/markup-compatibility/2006" xmlns:a14="http://schemas.microsoft.com/office/drawing/2010/main">
        <mc:Choice Requires="a14">
          <p:sp>
            <p:nvSpPr>
              <p:cNvPr id="2" name="TextBox 1"/>
              <p:cNvSpPr txBox="1"/>
              <p:nvPr/>
            </p:nvSpPr>
            <p:spPr>
              <a:xfrm>
                <a:off x="2842967" y="4954941"/>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r>
                            <a:rPr lang="en-SG" sz="2400" i="1">
                              <a:latin typeface="Cambria Math" panose="02040503050406030204" pitchFamily="18" charset="0"/>
                            </a:rPr>
                            <m:t>𝐴</m:t>
                          </m:r>
                        </m:e>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e>
                      </m:d>
                      <m:r>
                        <a:rPr lang="en-SG" sz="2400" i="1">
                          <a:latin typeface="Cambria Math" panose="02040503050406030204" pitchFamily="18" charset="0"/>
                        </a:rPr>
                        <m:t>=0.99</m:t>
                      </m:r>
                    </m:oMath>
                  </m:oMathPara>
                </a14:m>
                <a:endParaRPr lang="en-SG"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2842967" y="4954941"/>
                <a:ext cx="2369983" cy="461665"/>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842967" y="4439628"/>
                <a:ext cx="23699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p>
                            <m:sSupPr>
                              <m:ctrlPr>
                                <a:rPr lang="en-SG" sz="2400" i="1">
                                  <a:latin typeface="Cambria Math" panose="02040503050406030204" pitchFamily="18" charset="0"/>
                                </a:rPr>
                              </m:ctrlPr>
                            </m:sSupPr>
                            <m:e>
                              <m:r>
                                <a:rPr lang="en-SG" sz="2400" i="1">
                                  <a:latin typeface="Cambria Math" panose="02040503050406030204" pitchFamily="18" charset="0"/>
                                </a:rPr>
                                <m:t>𝐴</m:t>
                              </m:r>
                            </m:e>
                            <m:sup>
                              <m:r>
                                <a:rPr lang="en-SG" sz="2400" i="1">
                                  <a:latin typeface="Cambria Math" panose="02040503050406030204" pitchFamily="18" charset="0"/>
                                </a:rPr>
                                <m:t>𝑐</m:t>
                              </m:r>
                            </m:sup>
                          </m:sSup>
                        </m:e>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e>
                      </m:d>
                      <m:r>
                        <a:rPr lang="en-SG" sz="2400" i="1">
                          <a:latin typeface="Cambria Math" panose="02040503050406030204" pitchFamily="18" charset="0"/>
                        </a:rPr>
                        <m:t>=0.01</m:t>
                      </m:r>
                    </m:oMath>
                  </m:oMathPara>
                </a14:m>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842967" y="4439628"/>
                <a:ext cx="2369984" cy="461665"/>
              </a:xfrm>
              <a:prstGeom prst="rect">
                <a:avLst/>
              </a:prstGeom>
              <a:blipFill>
                <a:blip r:embed="rId4"/>
                <a:stretch>
                  <a:fillRect r="-257"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949599" y="4444031"/>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r>
                            <a:rPr lang="en-SG" sz="2400" i="1">
                              <a:latin typeface="Cambria Math" panose="02040503050406030204" pitchFamily="18" charset="0"/>
                            </a:rPr>
                            <m:t>𝐴</m:t>
                          </m:r>
                        </m:e>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2</m:t>
                              </m:r>
                            </m:sub>
                          </m:sSub>
                        </m:e>
                      </m:d>
                      <m:r>
                        <a:rPr lang="en-SG" sz="2400" i="1">
                          <a:latin typeface="Cambria Math" panose="02040503050406030204" pitchFamily="18" charset="0"/>
                        </a:rPr>
                        <m:t>=0.03</m:t>
                      </m:r>
                    </m:oMath>
                  </m:oMathPara>
                </a14:m>
                <a:endParaRPr lang="en-SG"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949599" y="4444031"/>
                <a:ext cx="2369983" cy="461665"/>
              </a:xfrm>
              <a:prstGeom prst="rect">
                <a:avLst/>
              </a:prstGeom>
              <a:blipFill>
                <a:blip r:embed="rId5"/>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080661" y="4898077"/>
                <a:ext cx="23699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p>
                            <m:sSupPr>
                              <m:ctrlPr>
                                <a:rPr lang="en-SG" sz="2400" i="1">
                                  <a:latin typeface="Cambria Math" panose="02040503050406030204" pitchFamily="18" charset="0"/>
                                </a:rPr>
                              </m:ctrlPr>
                            </m:sSupPr>
                            <m:e>
                              <m:r>
                                <a:rPr lang="en-SG" sz="2400" i="1">
                                  <a:latin typeface="Cambria Math" panose="02040503050406030204" pitchFamily="18" charset="0"/>
                                </a:rPr>
                                <m:t>𝐴</m:t>
                              </m:r>
                            </m:e>
                            <m:sup>
                              <m:r>
                                <a:rPr lang="en-SG" sz="2400" i="1">
                                  <a:latin typeface="Cambria Math" panose="02040503050406030204" pitchFamily="18" charset="0"/>
                                </a:rPr>
                                <m:t>𝑐</m:t>
                              </m:r>
                            </m:sup>
                          </m:sSup>
                        </m:e>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2</m:t>
                              </m:r>
                            </m:sub>
                          </m:sSub>
                        </m:e>
                      </m:d>
                      <m:r>
                        <a:rPr lang="en-SG" sz="2400" i="1">
                          <a:latin typeface="Cambria Math" panose="02040503050406030204" pitchFamily="18" charset="0"/>
                        </a:rPr>
                        <m:t>=0.97</m:t>
                      </m:r>
                    </m:oMath>
                  </m:oMathPara>
                </a14:m>
                <a:endParaRPr lang="en-SG"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6080661" y="4898077"/>
                <a:ext cx="2369984" cy="461665"/>
              </a:xfrm>
              <a:prstGeom prst="rect">
                <a:avLst/>
              </a:prstGeom>
              <a:blipFill>
                <a:blip r:embed="rId6"/>
                <a:stretch>
                  <a:fillRect r="-257"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102245" y="6073962"/>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r>
                        <a:rPr lang="en-SG" sz="2400" i="1">
                          <a:latin typeface="Cambria Math" panose="02040503050406030204" pitchFamily="18" charset="0"/>
                        </a:rPr>
                        <m:t>)=0.005</m:t>
                      </m:r>
                    </m:oMath>
                  </m:oMathPara>
                </a14:m>
                <a:endParaRPr lang="en-SG" sz="2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3102245" y="6073962"/>
                <a:ext cx="2369983" cy="461665"/>
              </a:xfrm>
              <a:prstGeom prst="rect">
                <a:avLst/>
              </a:prstGeom>
              <a:blipFill>
                <a:blip r:embed="rId7"/>
                <a:stretch>
                  <a:fillRect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096001" y="6073962"/>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2</m:t>
                          </m:r>
                        </m:sub>
                      </m:sSub>
                      <m:r>
                        <a:rPr lang="en-SG" sz="2400" i="1">
                          <a:latin typeface="Cambria Math" panose="02040503050406030204" pitchFamily="18" charset="0"/>
                        </a:rPr>
                        <m:t>)=0.995</m:t>
                      </m:r>
                    </m:oMath>
                  </m:oMathPara>
                </a14:m>
                <a:endParaRPr lang="en-SG"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096001" y="6073962"/>
                <a:ext cx="2369983" cy="461665"/>
              </a:xfrm>
              <a:prstGeom prst="rect">
                <a:avLst/>
              </a:prstGeom>
              <a:blipFill>
                <a:blip r:embed="rId8"/>
                <a:stretch>
                  <a:fillRect b="-17105"/>
                </a:stretch>
              </a:blipFill>
            </p:spPr>
            <p:txBody>
              <a:bodyPr/>
              <a:lstStyle/>
              <a:p>
                <a:r>
                  <a:rPr lang="en-SG">
                    <a:noFill/>
                  </a:rPr>
                  <a:t> </a:t>
                </a:r>
              </a:p>
            </p:txBody>
          </p:sp>
        </mc:Fallback>
      </mc:AlternateContent>
      <p:sp>
        <p:nvSpPr>
          <p:cNvPr id="23" name="TextBox 22">
            <a:extLst>
              <a:ext uri="{FF2B5EF4-FFF2-40B4-BE49-F238E27FC236}">
                <a16:creationId xmlns:a16="http://schemas.microsoft.com/office/drawing/2014/main" id="{73D95399-F40F-4548-9FC3-401EB604C1C9}"/>
              </a:ext>
            </a:extLst>
          </p:cNvPr>
          <p:cNvSpPr txBox="1"/>
          <p:nvPr/>
        </p:nvSpPr>
        <p:spPr>
          <a:xfrm>
            <a:off x="807522" y="57355"/>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189827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dissolve">
                                      <p:cBhvr>
                                        <p:cTn id="14" dur="500"/>
                                        <p:tgtEl>
                                          <p:spTgt spid="1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dissolv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dissolve">
                                      <p:cBhvr>
                                        <p:cTn id="29" dur="500"/>
                                        <p:tgtEl>
                                          <p:spTgt spid="21"/>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P spid="2" grpId="0"/>
      <p:bldP spid="16" grpId="0"/>
      <p:bldP spid="17" grpId="0"/>
      <p:bldP spid="18" grpId="0"/>
      <p:bldP spid="21"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28" name="TextBox 27"/>
          <p:cNvSpPr txBox="1"/>
          <p:nvPr/>
        </p:nvSpPr>
        <p:spPr>
          <a:xfrm>
            <a:off x="1508661" y="845509"/>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 – Applying Bayes’ Theorem </a:t>
            </a:r>
            <a:endParaRPr lang="en-SG" sz="2000" dirty="0">
              <a:solidFill>
                <a:schemeClr val="bg1"/>
              </a:solidFill>
            </a:endParaRPr>
          </a:p>
        </p:txBody>
      </p:sp>
      <p:sp>
        <p:nvSpPr>
          <p:cNvPr id="20" name="Rectangle 3"/>
          <p:cNvSpPr txBox="1">
            <a:spLocks noChangeArrowheads="1"/>
          </p:cNvSpPr>
          <p:nvPr/>
        </p:nvSpPr>
        <p:spPr>
          <a:xfrm>
            <a:off x="1856425" y="1679143"/>
            <a:ext cx="8616553" cy="869950"/>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that a randomly chosen person who tests positive for the disease actually has the disease?</a:t>
            </a:r>
          </a:p>
        </p:txBody>
      </p:sp>
      <p:sp>
        <p:nvSpPr>
          <p:cNvPr id="2" name="TextBox 1"/>
          <p:cNvSpPr txBox="1"/>
          <p:nvPr/>
        </p:nvSpPr>
        <p:spPr>
          <a:xfrm>
            <a:off x="1856424" y="2692125"/>
            <a:ext cx="8182926" cy="461665"/>
          </a:xfrm>
          <a:prstGeom prst="rect">
            <a:avLst/>
          </a:prstGeom>
          <a:noFill/>
        </p:spPr>
        <p:txBody>
          <a:bodyPr wrap="square" rtlCol="0">
            <a:spAutoFit/>
          </a:bodyPr>
          <a:lstStyle/>
          <a:p>
            <a:r>
              <a:rPr lang="en-SG" sz="2400" dirty="0"/>
              <a:t>By Bayes’ Theorem,</a:t>
            </a:r>
          </a:p>
        </p:txBody>
      </p:sp>
      <mc:AlternateContent xmlns:mc="http://schemas.openxmlformats.org/markup-compatibility/2006" xmlns:a14="http://schemas.microsoft.com/office/drawing/2010/main">
        <mc:Choice Requires="a14">
          <p:sp>
            <p:nvSpPr>
              <p:cNvPr id="16" name="TextBox 15"/>
              <p:cNvSpPr txBox="1"/>
              <p:nvPr/>
            </p:nvSpPr>
            <p:spPr>
              <a:xfrm>
                <a:off x="2794861" y="3016178"/>
                <a:ext cx="6602278"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e>
                        <m:e>
                          <m:r>
                            <a:rPr lang="en-SG" sz="2400" i="1">
                              <a:latin typeface="Cambria Math" panose="02040503050406030204" pitchFamily="18" charset="0"/>
                            </a:rPr>
                            <m:t>𝐴</m:t>
                          </m:r>
                        </m:e>
                      </m:d>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𝑃</m:t>
                          </m:r>
                          <m:r>
                            <a:rPr lang="en-SG" sz="2400" i="1">
                              <a:latin typeface="Cambria Math" panose="02040503050406030204" pitchFamily="18" charset="0"/>
                            </a:rPr>
                            <m:t>(</m:t>
                          </m:r>
                          <m:r>
                            <a:rPr lang="en-SG" sz="2400" i="1">
                              <a:latin typeface="Cambria Math" panose="02040503050406030204" pitchFamily="18" charset="0"/>
                            </a:rPr>
                            <m:t>𝐴</m:t>
                          </m:r>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r>
                            <a:rPr lang="en-SG"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r>
                            <a:rPr lang="en-SG" sz="2400" i="1">
                              <a:latin typeface="Cambria Math" panose="02040503050406030204" pitchFamily="18" charset="0"/>
                              <a:ea typeface="Cambria Math" panose="02040503050406030204" pitchFamily="18" charset="0"/>
                            </a:rPr>
                            <m:t>)</m:t>
                          </m:r>
                        </m:num>
                        <m:den>
                          <m:r>
                            <a:rPr lang="en-SG" sz="2400" i="1">
                              <a:latin typeface="Cambria Math" panose="02040503050406030204" pitchFamily="18" charset="0"/>
                            </a:rPr>
                            <m:t>𝑃</m:t>
                          </m:r>
                          <m:d>
                            <m:dPr>
                              <m:ctrlPr>
                                <a:rPr lang="en-SG" sz="2400" i="1">
                                  <a:latin typeface="Cambria Math" panose="02040503050406030204" pitchFamily="18" charset="0"/>
                                </a:rPr>
                              </m:ctrlPr>
                            </m:dPr>
                            <m:e>
                              <m:r>
                                <a:rPr lang="en-SG" sz="2400" i="1">
                                  <a:latin typeface="Cambria Math" panose="02040503050406030204" pitchFamily="18" charset="0"/>
                                </a:rPr>
                                <m:t>𝐴</m:t>
                              </m:r>
                            </m:e>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794861" y="3016178"/>
                <a:ext cx="6602278" cy="861326"/>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817749" y="3995111"/>
                <a:ext cx="5648090"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(0.99)</m:t>
                          </m:r>
                          <m:r>
                            <a:rPr lang="en-SG" sz="2400" i="1">
                              <a:latin typeface="Cambria Math" panose="02040503050406030204" pitchFamily="18" charset="0"/>
                              <a:ea typeface="Cambria Math" panose="02040503050406030204" pitchFamily="18" charset="0"/>
                            </a:rPr>
                            <m:t>∙(0.005)</m:t>
                          </m:r>
                        </m:num>
                        <m:den>
                          <m:r>
                            <a:rPr lang="en-SG" sz="2400" i="1">
                              <a:latin typeface="Cambria Math" panose="02040503050406030204" pitchFamily="18" charset="0"/>
                            </a:rPr>
                            <m:t>(0.99)</m:t>
                          </m:r>
                          <m:r>
                            <a:rPr lang="en-SG" sz="2400" i="1">
                              <a:latin typeface="Cambria Math" panose="02040503050406030204" pitchFamily="18" charset="0"/>
                              <a:ea typeface="Cambria Math" panose="02040503050406030204" pitchFamily="18" charset="0"/>
                            </a:rPr>
                            <m:t>∙(0.005)+</m:t>
                          </m:r>
                          <m:r>
                            <a:rPr lang="en-SG" sz="2400" i="1">
                              <a:latin typeface="Cambria Math" panose="02040503050406030204" pitchFamily="18" charset="0"/>
                            </a:rPr>
                            <m:t>(0.03)</m:t>
                          </m:r>
                          <m:r>
                            <a:rPr lang="en-SG" sz="2400" i="1">
                              <a:latin typeface="Cambria Math" panose="02040503050406030204" pitchFamily="18" charset="0"/>
                              <a:ea typeface="Cambria Math" panose="02040503050406030204" pitchFamily="18" charset="0"/>
                            </a:rPr>
                            <m:t>∙(0.995)</m:t>
                          </m:r>
                        </m:den>
                      </m:f>
                    </m:oMath>
                  </m:oMathPara>
                </a14:m>
                <a:endParaRPr lang="en-SG"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3817749" y="3995111"/>
                <a:ext cx="5648090" cy="861326"/>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7749" y="4971524"/>
                <a:ext cx="344062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≅0.1422 ≅</m:t>
                      </m:r>
                      <m:r>
                        <a:rPr lang="en-SG" sz="2400" b="1" i="1">
                          <a:solidFill>
                            <a:srgbClr val="0000FF"/>
                          </a:solidFill>
                          <a:latin typeface="Cambria Math" panose="02040503050406030204" pitchFamily="18" charset="0"/>
                          <a:ea typeface="Cambria Math" panose="02040503050406030204" pitchFamily="18" charset="0"/>
                        </a:rPr>
                        <m:t>𝟏𝟒</m:t>
                      </m:r>
                      <m:r>
                        <a:rPr lang="en-SG" sz="2400" b="1" i="1">
                          <a:solidFill>
                            <a:srgbClr val="0000FF"/>
                          </a:solidFill>
                          <a:latin typeface="Cambria Math" panose="02040503050406030204" pitchFamily="18" charset="0"/>
                          <a:ea typeface="Cambria Math" panose="02040503050406030204" pitchFamily="18" charset="0"/>
                        </a:rPr>
                        <m:t>.</m:t>
                      </m:r>
                      <m:r>
                        <a:rPr lang="en-SG" sz="2400" b="1" i="1">
                          <a:solidFill>
                            <a:srgbClr val="0000FF"/>
                          </a:solidFill>
                          <a:latin typeface="Cambria Math" panose="02040503050406030204" pitchFamily="18" charset="0"/>
                          <a:ea typeface="Cambria Math" panose="02040503050406030204" pitchFamily="18" charset="0"/>
                        </a:rPr>
                        <m:t>𝟐</m:t>
                      </m:r>
                      <m:r>
                        <a:rPr lang="en-SG" sz="2400" b="1" i="1">
                          <a:solidFill>
                            <a:srgbClr val="0000FF"/>
                          </a:solidFill>
                          <a:latin typeface="Cambria Math" panose="02040503050406030204" pitchFamily="18" charset="0"/>
                          <a:ea typeface="Cambria Math" panose="02040503050406030204" pitchFamily="18" charset="0"/>
                        </a:rPr>
                        <m:t>%</m:t>
                      </m:r>
                    </m:oMath>
                  </m:oMathPara>
                </a14:m>
                <a:endParaRPr lang="en-SG" sz="24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3817749" y="4971524"/>
                <a:ext cx="3440624" cy="461665"/>
              </a:xfrm>
              <a:prstGeom prst="rect">
                <a:avLst/>
              </a:prstGeom>
              <a:blipFill>
                <a:blip r:embed="rId5"/>
                <a:stretch>
                  <a:fillRect/>
                </a:stretch>
              </a:blipFill>
            </p:spPr>
            <p:txBody>
              <a:bodyPr/>
              <a:lstStyle/>
              <a:p>
                <a:r>
                  <a:rPr lang="en-SG">
                    <a:noFill/>
                  </a:rPr>
                  <a:t> </a:t>
                </a:r>
              </a:p>
            </p:txBody>
          </p:sp>
        </mc:Fallback>
      </mc:AlternateContent>
      <p:sp>
        <p:nvSpPr>
          <p:cNvPr id="22" name="TextBox 21"/>
          <p:cNvSpPr txBox="1"/>
          <p:nvPr/>
        </p:nvSpPr>
        <p:spPr>
          <a:xfrm>
            <a:off x="1856424" y="5548275"/>
            <a:ext cx="8182926" cy="830997"/>
          </a:xfrm>
          <a:prstGeom prst="rect">
            <a:avLst/>
          </a:prstGeom>
          <a:noFill/>
        </p:spPr>
        <p:txBody>
          <a:bodyPr wrap="square" rtlCol="0">
            <a:spAutoFit/>
          </a:bodyPr>
          <a:lstStyle/>
          <a:p>
            <a:r>
              <a:rPr lang="en-US" altLang="en-US" sz="2400" dirty="0"/>
              <a:t>Thus the probability that a person with a positive test result actually has the disease is approximately 14.2%</a:t>
            </a:r>
            <a:r>
              <a:rPr lang="en-SG" altLang="en-US" sz="2400" dirty="0"/>
              <a:t>.</a:t>
            </a:r>
            <a:endParaRPr lang="en-SG" sz="2400" dirty="0"/>
          </a:p>
        </p:txBody>
      </p:sp>
      <p:sp>
        <p:nvSpPr>
          <p:cNvPr id="23" name="TextBox 22">
            <a:extLst>
              <a:ext uri="{FF2B5EF4-FFF2-40B4-BE49-F238E27FC236}">
                <a16:creationId xmlns:a16="http://schemas.microsoft.com/office/drawing/2014/main" id="{7527B261-DE77-45A2-95A8-BE36FC65636B}"/>
              </a:ext>
            </a:extLst>
          </p:cNvPr>
          <p:cNvSpPr txBox="1"/>
          <p:nvPr/>
        </p:nvSpPr>
        <p:spPr>
          <a:xfrm>
            <a:off x="807522" y="44234"/>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859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8" grpId="0"/>
      <p:bldP spid="21" grpId="0"/>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8" name="TextBox 27"/>
          <p:cNvSpPr txBox="1"/>
          <p:nvPr/>
        </p:nvSpPr>
        <p:spPr>
          <a:xfrm>
            <a:off x="1524000" y="883823"/>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 – Applying Bayes’ Theorem </a:t>
            </a:r>
            <a:endParaRPr lang="en-SG" sz="2000" dirty="0">
              <a:solidFill>
                <a:schemeClr val="bg1"/>
              </a:solidFill>
            </a:endParaRPr>
          </a:p>
        </p:txBody>
      </p:sp>
      <p:sp>
        <p:nvSpPr>
          <p:cNvPr id="20" name="Rectangle 3"/>
          <p:cNvSpPr txBox="1">
            <a:spLocks noChangeArrowheads="1"/>
          </p:cNvSpPr>
          <p:nvPr/>
        </p:nvSpPr>
        <p:spPr>
          <a:xfrm>
            <a:off x="1856425" y="1679143"/>
            <a:ext cx="8616553" cy="869950"/>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that a randomly chosen person </a:t>
            </a:r>
            <a:r>
              <a:rPr lang="en-US" sz="2400" dirty="0"/>
              <a:t>who tests negative for the disease does not indeed have the disease</a:t>
            </a:r>
            <a:r>
              <a:rPr lang="en-US" altLang="en-US" sz="2400" dirty="0"/>
              <a:t>?</a:t>
            </a:r>
          </a:p>
        </p:txBody>
      </p:sp>
      <p:sp>
        <p:nvSpPr>
          <p:cNvPr id="2" name="TextBox 1"/>
          <p:cNvSpPr txBox="1"/>
          <p:nvPr/>
        </p:nvSpPr>
        <p:spPr>
          <a:xfrm>
            <a:off x="1856424" y="2692125"/>
            <a:ext cx="8182926" cy="461665"/>
          </a:xfrm>
          <a:prstGeom prst="rect">
            <a:avLst/>
          </a:prstGeom>
          <a:noFill/>
        </p:spPr>
        <p:txBody>
          <a:bodyPr wrap="square" rtlCol="0">
            <a:spAutoFit/>
          </a:bodyPr>
          <a:lstStyle/>
          <a:p>
            <a:r>
              <a:rPr lang="en-SG" sz="2400" dirty="0"/>
              <a:t>By Bayes’ Theorem,</a:t>
            </a:r>
          </a:p>
        </p:txBody>
      </p:sp>
      <mc:AlternateContent xmlns:mc="http://schemas.openxmlformats.org/markup-compatibility/2006" xmlns:a14="http://schemas.microsoft.com/office/drawing/2010/main">
        <mc:Choice Requires="a14">
          <p:sp>
            <p:nvSpPr>
              <p:cNvPr id="16" name="TextBox 15"/>
              <p:cNvSpPr txBox="1"/>
              <p:nvPr/>
            </p:nvSpPr>
            <p:spPr>
              <a:xfrm>
                <a:off x="2794861" y="3016178"/>
                <a:ext cx="6602278" cy="8688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2</m:t>
                              </m:r>
                            </m:sub>
                          </m:sSub>
                        </m:e>
                        <m:e>
                          <m:sSup>
                            <m:sSupPr>
                              <m:ctrlPr>
                                <a:rPr lang="en-SG" sz="2400" i="1">
                                  <a:latin typeface="Cambria Math" panose="02040503050406030204" pitchFamily="18" charset="0"/>
                                </a:rPr>
                              </m:ctrlPr>
                            </m:sSupPr>
                            <m:e>
                              <m:r>
                                <a:rPr lang="en-SG" sz="2400" i="1">
                                  <a:latin typeface="Cambria Math" panose="02040503050406030204" pitchFamily="18" charset="0"/>
                                </a:rPr>
                                <m:t>𝐴</m:t>
                              </m:r>
                            </m:e>
                            <m:sup>
                              <m:r>
                                <a:rPr lang="en-SG" sz="2400" i="1">
                                  <a:latin typeface="Cambria Math" panose="02040503050406030204" pitchFamily="18" charset="0"/>
                                </a:rPr>
                                <m:t>𝑐</m:t>
                              </m:r>
                            </m:sup>
                          </m:sSup>
                        </m:e>
                      </m:d>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𝑃</m:t>
                          </m:r>
                          <m:r>
                            <a:rPr lang="en-SG" sz="2400" i="1">
                              <a:latin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rPr>
                                <m:t>𝐴</m:t>
                              </m:r>
                            </m:e>
                            <m:sup>
                              <m:r>
                                <a:rPr lang="en-SG" sz="2400" i="1">
                                  <a:latin typeface="Cambria Math" panose="02040503050406030204" pitchFamily="18" charset="0"/>
                                </a:rPr>
                                <m:t>𝑐</m:t>
                              </m:r>
                            </m:sup>
                          </m:sSup>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2</m:t>
                              </m:r>
                            </m:sub>
                          </m:sSub>
                          <m:r>
                            <a:rPr lang="en-SG"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num>
                        <m:den>
                          <m:r>
                            <a:rPr lang="en-SG" sz="2400" i="1">
                              <a:latin typeface="Cambria Math" panose="02040503050406030204" pitchFamily="18" charset="0"/>
                            </a:rPr>
                            <m:t>𝑃</m:t>
                          </m:r>
                          <m:d>
                            <m:dPr>
                              <m:ctrlPr>
                                <a:rPr lang="en-SG" sz="2400" i="1">
                                  <a:latin typeface="Cambria Math" panose="02040503050406030204" pitchFamily="18" charset="0"/>
                                </a:rPr>
                              </m:ctrlPr>
                            </m:dPr>
                            <m:e>
                              <m:sSup>
                                <m:sSupPr>
                                  <m:ctrlPr>
                                    <a:rPr lang="en-SG" sz="2400" i="1">
                                      <a:latin typeface="Cambria Math" panose="02040503050406030204" pitchFamily="18" charset="0"/>
                                    </a:rPr>
                                  </m:ctrlPr>
                                </m:sSupPr>
                                <m:e>
                                  <m:r>
                                    <a:rPr lang="en-SG" sz="2400" i="1">
                                      <a:latin typeface="Cambria Math" panose="02040503050406030204" pitchFamily="18" charset="0"/>
                                    </a:rPr>
                                    <m:t>𝐴</m:t>
                                  </m:r>
                                </m:e>
                                <m:sup>
                                  <m:r>
                                    <a:rPr lang="en-SG" sz="2400" i="1">
                                      <a:latin typeface="Cambria Math" panose="02040503050406030204" pitchFamily="18" charset="0"/>
                                    </a:rPr>
                                    <m:t>𝑐</m:t>
                                  </m:r>
                                </m:sup>
                              </m:sSup>
                            </m:e>
                            <m:e>
                              <m:sSub>
                                <m:sSubPr>
                                  <m:ctrlPr>
                                    <a:rPr lang="en-SG" sz="2400" i="1">
                                      <a:latin typeface="Cambria Math" panose="02040503050406030204" pitchFamily="18" charset="0"/>
                                    </a:rPr>
                                  </m:ctrlPr>
                                </m:sSubPr>
                                <m:e>
                                  <m:r>
                                    <a:rPr lang="en-SG" sz="2400" i="1">
                                      <a:latin typeface="Cambria Math" panose="02040503050406030204" pitchFamily="18" charset="0"/>
                                    </a:rPr>
                                    <m:t>𝐵</m:t>
                                  </m:r>
                                </m:e>
                                <m:sub>
                                  <m:r>
                                    <a:rPr lang="en-SG" sz="2400" i="1">
                                      <a:latin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e>
                          </m:d>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rPr>
                                <m:t>𝐴</m:t>
                              </m:r>
                            </m:e>
                            <m:sup>
                              <m:r>
                                <a:rPr lang="en-SG" sz="2400" i="1">
                                  <a:latin typeface="Cambria Math" panose="02040503050406030204" pitchFamily="18" charset="0"/>
                                </a:rPr>
                                <m:t>𝑐</m:t>
                              </m:r>
                            </m:sup>
                          </m:sSup>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r>
                            <a:rPr lang="en-SG" sz="2400" i="1">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794861" y="3016178"/>
                <a:ext cx="6602278" cy="868892"/>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817749" y="3995111"/>
                <a:ext cx="5648090"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(0.97)</m:t>
                          </m:r>
                          <m:r>
                            <a:rPr lang="en-SG" sz="2400" i="1">
                              <a:latin typeface="Cambria Math" panose="02040503050406030204" pitchFamily="18" charset="0"/>
                              <a:ea typeface="Cambria Math" panose="02040503050406030204" pitchFamily="18" charset="0"/>
                            </a:rPr>
                            <m:t>∙(0.995)</m:t>
                          </m:r>
                        </m:num>
                        <m:den>
                          <m:r>
                            <a:rPr lang="en-SG" sz="2400" i="1">
                              <a:latin typeface="Cambria Math" panose="02040503050406030204" pitchFamily="18" charset="0"/>
                            </a:rPr>
                            <m:t>(0.01)</m:t>
                          </m:r>
                          <m:r>
                            <a:rPr lang="en-SG" sz="2400" i="1">
                              <a:latin typeface="Cambria Math" panose="02040503050406030204" pitchFamily="18" charset="0"/>
                              <a:ea typeface="Cambria Math" panose="02040503050406030204" pitchFamily="18" charset="0"/>
                            </a:rPr>
                            <m:t>∙(0.005)+</m:t>
                          </m:r>
                          <m:r>
                            <a:rPr lang="en-SG" sz="2400" i="1">
                              <a:latin typeface="Cambria Math" panose="02040503050406030204" pitchFamily="18" charset="0"/>
                            </a:rPr>
                            <m:t>(0.97)</m:t>
                          </m:r>
                          <m:r>
                            <a:rPr lang="en-SG" sz="2400" i="1">
                              <a:latin typeface="Cambria Math" panose="02040503050406030204" pitchFamily="18" charset="0"/>
                              <a:ea typeface="Cambria Math" panose="02040503050406030204" pitchFamily="18" charset="0"/>
                            </a:rPr>
                            <m:t>∙(0.995)</m:t>
                          </m:r>
                        </m:den>
                      </m:f>
                    </m:oMath>
                  </m:oMathPara>
                </a14:m>
                <a:endParaRPr lang="en-SG"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3817749" y="3995111"/>
                <a:ext cx="5648090" cy="861326"/>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086575" y="5001938"/>
                <a:ext cx="372262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a:latin typeface="Cambria Math" panose="02040503050406030204" pitchFamily="18" charset="0"/>
                          <a:ea typeface="Cambria Math" panose="02040503050406030204" pitchFamily="18" charset="0"/>
                        </a:rPr>
                        <m:t>≅0.999948 ≅</m:t>
                      </m:r>
                      <m:r>
                        <a:rPr lang="en-SG" sz="2400" b="1" i="1">
                          <a:solidFill>
                            <a:srgbClr val="0000FF"/>
                          </a:solidFill>
                          <a:latin typeface="Cambria Math" panose="02040503050406030204" pitchFamily="18" charset="0"/>
                          <a:ea typeface="Cambria Math" panose="02040503050406030204" pitchFamily="18" charset="0"/>
                        </a:rPr>
                        <m:t>𝟗𝟗</m:t>
                      </m:r>
                      <m:r>
                        <a:rPr lang="en-SG" sz="2400" b="1" i="1">
                          <a:solidFill>
                            <a:srgbClr val="0000FF"/>
                          </a:solidFill>
                          <a:latin typeface="Cambria Math" panose="02040503050406030204" pitchFamily="18" charset="0"/>
                          <a:ea typeface="Cambria Math" panose="02040503050406030204" pitchFamily="18" charset="0"/>
                        </a:rPr>
                        <m:t>.</m:t>
                      </m:r>
                      <m:r>
                        <a:rPr lang="en-SG" sz="2400" b="1" i="1">
                          <a:solidFill>
                            <a:srgbClr val="0000FF"/>
                          </a:solidFill>
                          <a:latin typeface="Cambria Math" panose="02040503050406030204" pitchFamily="18" charset="0"/>
                          <a:ea typeface="Cambria Math" panose="02040503050406030204" pitchFamily="18" charset="0"/>
                        </a:rPr>
                        <m:t>𝟗𝟗𝟓</m:t>
                      </m:r>
                      <m:r>
                        <a:rPr lang="en-SG" sz="2400" b="1" i="1">
                          <a:solidFill>
                            <a:srgbClr val="0000FF"/>
                          </a:solidFill>
                          <a:latin typeface="Cambria Math" panose="02040503050406030204" pitchFamily="18" charset="0"/>
                          <a:ea typeface="Cambria Math" panose="02040503050406030204" pitchFamily="18" charset="0"/>
                        </a:rPr>
                        <m:t>%</m:t>
                      </m:r>
                    </m:oMath>
                  </m:oMathPara>
                </a14:m>
                <a:endParaRPr lang="en-SG" sz="24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4086575" y="5001938"/>
                <a:ext cx="3722625" cy="461665"/>
              </a:xfrm>
              <a:prstGeom prst="rect">
                <a:avLst/>
              </a:prstGeom>
              <a:blipFill>
                <a:blip r:embed="rId5"/>
                <a:stretch>
                  <a:fillRect b="-1333"/>
                </a:stretch>
              </a:blipFill>
            </p:spPr>
            <p:txBody>
              <a:bodyPr/>
              <a:lstStyle/>
              <a:p>
                <a:r>
                  <a:rPr lang="en-SG">
                    <a:noFill/>
                  </a:rPr>
                  <a:t> </a:t>
                </a:r>
              </a:p>
            </p:txBody>
          </p:sp>
        </mc:Fallback>
      </mc:AlternateContent>
      <p:sp>
        <p:nvSpPr>
          <p:cNvPr id="22" name="TextBox 21"/>
          <p:cNvSpPr txBox="1"/>
          <p:nvPr/>
        </p:nvSpPr>
        <p:spPr>
          <a:xfrm>
            <a:off x="1856424" y="5548275"/>
            <a:ext cx="8182926" cy="830997"/>
          </a:xfrm>
          <a:prstGeom prst="rect">
            <a:avLst/>
          </a:prstGeom>
          <a:noFill/>
        </p:spPr>
        <p:txBody>
          <a:bodyPr wrap="square" rtlCol="0">
            <a:spAutoFit/>
          </a:bodyPr>
          <a:lstStyle/>
          <a:p>
            <a:r>
              <a:rPr lang="en-US" altLang="en-US" sz="2400" dirty="0"/>
              <a:t>Thus the probability that a person with a negative test result  does not have the disease is approximately 99.995%</a:t>
            </a:r>
            <a:r>
              <a:rPr lang="en-SG" altLang="en-US" sz="2400" dirty="0"/>
              <a:t>.</a:t>
            </a:r>
            <a:endParaRPr lang="en-SG" sz="2400" dirty="0"/>
          </a:p>
        </p:txBody>
      </p:sp>
      <p:sp>
        <p:nvSpPr>
          <p:cNvPr id="23" name="TextBox 22">
            <a:extLst>
              <a:ext uri="{FF2B5EF4-FFF2-40B4-BE49-F238E27FC236}">
                <a16:creationId xmlns:a16="http://schemas.microsoft.com/office/drawing/2014/main" id="{CA52FCC0-EAEE-48F7-BEB2-A2F05F3CCC8A}"/>
              </a:ext>
            </a:extLst>
          </p:cNvPr>
          <p:cNvSpPr txBox="1"/>
          <p:nvPr/>
        </p:nvSpPr>
        <p:spPr>
          <a:xfrm>
            <a:off x="807522" y="20903"/>
            <a:ext cx="10546278" cy="69774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Bayes’ Theorem</a:t>
            </a:r>
          </a:p>
        </p:txBody>
      </p:sp>
    </p:spTree>
    <p:extLst>
      <p:ext uri="{BB962C8B-B14F-4D97-AF65-F5344CB8AC3E}">
        <p14:creationId xmlns:p14="http://schemas.microsoft.com/office/powerpoint/2010/main" val="198742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8" grpId="0"/>
      <p:bldP spid="21" grpId="0"/>
      <p:bldP spid="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20" name="Rectangle 3"/>
          <p:cNvSpPr txBox="1">
            <a:spLocks noChangeArrowheads="1"/>
          </p:cNvSpPr>
          <p:nvPr/>
        </p:nvSpPr>
        <p:spPr>
          <a:xfrm>
            <a:off x="1856425" y="1618943"/>
            <a:ext cx="8616553" cy="12947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For convenience and to eliminate the requirement that the probabilities be nonzero, we use the following product formula to define independent events.</a:t>
            </a:r>
          </a:p>
        </p:txBody>
      </p:sp>
      <p:grpSp>
        <p:nvGrpSpPr>
          <p:cNvPr id="18" name="Group 17"/>
          <p:cNvGrpSpPr/>
          <p:nvPr/>
        </p:nvGrpSpPr>
        <p:grpSpPr>
          <a:xfrm>
            <a:off x="2490855" y="2929056"/>
            <a:ext cx="7176411" cy="1983907"/>
            <a:chOff x="993228" y="4598517"/>
            <a:chExt cx="7176411" cy="1983907"/>
          </a:xfrm>
        </p:grpSpPr>
        <p:sp>
          <p:nvSpPr>
            <p:cNvPr id="22" name="Rectangle 21"/>
            <p:cNvSpPr/>
            <p:nvPr/>
          </p:nvSpPr>
          <p:spPr>
            <a:xfrm>
              <a:off x="993228" y="4598517"/>
              <a:ext cx="7176411" cy="198390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542166" cy="461665"/>
            </a:xfrm>
            <a:prstGeom prst="rect">
              <a:avLst/>
            </a:prstGeom>
            <a:noFill/>
          </p:spPr>
          <p:txBody>
            <a:bodyPr wrap="square" rtlCol="0">
              <a:spAutoFit/>
            </a:bodyPr>
            <a:lstStyle/>
            <a:p>
              <a:r>
                <a:rPr lang="en-SG" sz="2400" dirty="0">
                  <a:solidFill>
                    <a:schemeClr val="bg1"/>
                  </a:solidFill>
                </a:rPr>
                <a:t>Definition: Independent Events</a:t>
              </a:r>
            </a:p>
          </p:txBody>
        </p:sp>
        <p:sp>
          <p:nvSpPr>
            <p:cNvPr id="25" name="TextBox 24"/>
            <p:cNvSpPr txBox="1"/>
            <p:nvPr/>
          </p:nvSpPr>
          <p:spPr>
            <a:xfrm>
              <a:off x="1109374" y="5193984"/>
              <a:ext cx="6925353" cy="1277273"/>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and </a:t>
              </a:r>
              <a:r>
                <a:rPr lang="en-SG" sz="2400" i="1" dirty="0"/>
                <a:t>B</a:t>
              </a:r>
              <a:r>
                <a:rPr lang="en-SG" sz="2400" dirty="0"/>
                <a:t> are events in a sample space </a:t>
              </a:r>
              <a:r>
                <a:rPr lang="en-SG" sz="2400" i="1" dirty="0"/>
                <a:t>S</a:t>
              </a:r>
              <a:r>
                <a:rPr lang="en-SG" sz="2400" dirty="0"/>
                <a:t>, then </a:t>
              </a:r>
              <a:r>
                <a:rPr lang="en-SG" sz="2400" i="1" dirty="0"/>
                <a:t>A</a:t>
              </a:r>
              <a:r>
                <a:rPr lang="en-SG" sz="2400" dirty="0"/>
                <a:t> and </a:t>
              </a:r>
              <a:r>
                <a:rPr lang="en-SG" sz="2400" i="1" dirty="0"/>
                <a:t>B</a:t>
              </a:r>
              <a:r>
                <a:rPr lang="en-SG" sz="2400" dirty="0"/>
                <a:t> are </a:t>
              </a:r>
              <a:r>
                <a:rPr lang="en-SG" sz="2400" b="1" dirty="0"/>
                <a:t>independent</a:t>
              </a:r>
              <a:r>
                <a:rPr lang="en-SG" sz="2400" dirty="0"/>
                <a:t>, if and only if,</a:t>
              </a:r>
            </a:p>
            <a:p>
              <a:pPr>
                <a:spcAft>
                  <a:spcPts val="600"/>
                </a:spcAft>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a:t>
              </a:r>
              <a:endParaRPr lang="en-SG" sz="2400" dirty="0"/>
            </a:p>
          </p:txBody>
        </p:sp>
      </p:grpSp>
      <p:sp>
        <p:nvSpPr>
          <p:cNvPr id="17" name="TextBox 16">
            <a:extLst>
              <a:ext uri="{FF2B5EF4-FFF2-40B4-BE49-F238E27FC236}">
                <a16:creationId xmlns:a16="http://schemas.microsoft.com/office/drawing/2014/main" id="{85337C95-40F5-4024-B2FB-CEFD91C13764}"/>
              </a:ext>
            </a:extLst>
          </p:cNvPr>
          <p:cNvSpPr txBox="1"/>
          <p:nvPr/>
        </p:nvSpPr>
        <p:spPr>
          <a:xfrm>
            <a:off x="668976" y="214322"/>
            <a:ext cx="10854047" cy="72286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Independent Events</a:t>
            </a:r>
          </a:p>
        </p:txBody>
      </p:sp>
    </p:spTree>
    <p:extLst>
      <p:ext uri="{BB962C8B-B14F-4D97-AF65-F5344CB8AC3E}">
        <p14:creationId xmlns:p14="http://schemas.microsoft.com/office/powerpoint/2010/main" val="1614079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0" name="Rectangle 3"/>
          <p:cNvSpPr txBox="1">
            <a:spLocks noChangeArrowheads="1"/>
          </p:cNvSpPr>
          <p:nvPr/>
        </p:nvSpPr>
        <p:spPr>
          <a:xfrm>
            <a:off x="1856425" y="1551961"/>
            <a:ext cx="8616553" cy="27050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coin is loaded so that the probability of heads is 0.6. Suppose the coin is tossed twice. Although the probability of heads is greater than the probability of tails, there is no reason to believe that whether the coin lands heads or tails on one toss will affect whether it lands heads or tails on the other toss. Thus it is reasonable to assume that the results of the tosses are independent.</a:t>
            </a:r>
          </a:p>
        </p:txBody>
      </p:sp>
      <p:sp>
        <p:nvSpPr>
          <p:cNvPr id="17" name="TextBox 16"/>
          <p:cNvSpPr txBox="1"/>
          <p:nvPr/>
        </p:nvSpPr>
        <p:spPr>
          <a:xfrm>
            <a:off x="1524000" y="884726"/>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3 – Computing Probabilities of Intersections of Two Independent Events</a:t>
            </a:r>
          </a:p>
        </p:txBody>
      </p:sp>
      <p:sp>
        <p:nvSpPr>
          <p:cNvPr id="21" name="Rectangle 3"/>
          <p:cNvSpPr txBox="1">
            <a:spLocks noChangeArrowheads="1"/>
          </p:cNvSpPr>
          <p:nvPr/>
        </p:nvSpPr>
        <p:spPr>
          <a:xfrm>
            <a:off x="1856425" y="4187738"/>
            <a:ext cx="6765800" cy="570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two heads?</a:t>
            </a:r>
          </a:p>
        </p:txBody>
      </p:sp>
      <p:sp>
        <p:nvSpPr>
          <p:cNvPr id="26" name="Rectangle 3"/>
          <p:cNvSpPr txBox="1">
            <a:spLocks noChangeArrowheads="1"/>
          </p:cNvSpPr>
          <p:nvPr/>
        </p:nvSpPr>
        <p:spPr>
          <a:xfrm>
            <a:off x="1856425" y="4699407"/>
            <a:ext cx="6765800" cy="503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one head?</a:t>
            </a:r>
          </a:p>
        </p:txBody>
      </p:sp>
      <p:sp>
        <p:nvSpPr>
          <p:cNvPr id="28" name="Rectangle 3"/>
          <p:cNvSpPr txBox="1">
            <a:spLocks noChangeArrowheads="1"/>
          </p:cNvSpPr>
          <p:nvPr/>
        </p:nvSpPr>
        <p:spPr>
          <a:xfrm>
            <a:off x="1856425" y="5202415"/>
            <a:ext cx="6765801" cy="570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3"/>
            </a:pPr>
            <a:r>
              <a:rPr lang="en-US" altLang="en-US" sz="2400" dirty="0"/>
              <a:t>What is the probability of obtaining no heads?</a:t>
            </a:r>
          </a:p>
        </p:txBody>
      </p:sp>
      <p:sp>
        <p:nvSpPr>
          <p:cNvPr id="30" name="Rectangle 3"/>
          <p:cNvSpPr txBox="1">
            <a:spLocks noChangeArrowheads="1"/>
          </p:cNvSpPr>
          <p:nvPr/>
        </p:nvSpPr>
        <p:spPr>
          <a:xfrm>
            <a:off x="1856425" y="5772657"/>
            <a:ext cx="7819684" cy="503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4"/>
            </a:pPr>
            <a:r>
              <a:rPr lang="en-US" altLang="en-US" sz="2400" dirty="0"/>
              <a:t>What is the probability of obtaining at least one head?</a:t>
            </a:r>
          </a:p>
        </p:txBody>
      </p:sp>
      <p:sp>
        <p:nvSpPr>
          <p:cNvPr id="18" name="TextBox 17">
            <a:extLst>
              <a:ext uri="{FF2B5EF4-FFF2-40B4-BE49-F238E27FC236}">
                <a16:creationId xmlns:a16="http://schemas.microsoft.com/office/drawing/2014/main" id="{872A6488-13F5-4896-9DBA-F0CA5F7E3C51}"/>
              </a:ext>
            </a:extLst>
          </p:cNvPr>
          <p:cNvSpPr txBox="1"/>
          <p:nvPr/>
        </p:nvSpPr>
        <p:spPr>
          <a:xfrm>
            <a:off x="668976" y="45603"/>
            <a:ext cx="10854047" cy="67222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Independent Events</a:t>
            </a:r>
          </a:p>
        </p:txBody>
      </p:sp>
    </p:spTree>
    <p:extLst>
      <p:ext uri="{BB962C8B-B14F-4D97-AF65-F5344CB8AC3E}">
        <p14:creationId xmlns:p14="http://schemas.microsoft.com/office/powerpoint/2010/main" val="108271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dissolv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8" grpId="0"/>
      <p:bldP spid="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0" name="Rectangle 3"/>
          <p:cNvSpPr txBox="1">
            <a:spLocks noChangeArrowheads="1"/>
          </p:cNvSpPr>
          <p:nvPr/>
        </p:nvSpPr>
        <p:spPr>
          <a:xfrm>
            <a:off x="1856425" y="1551961"/>
            <a:ext cx="8616553" cy="2705085"/>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Sample space </a:t>
            </a:r>
            <a:r>
              <a:rPr lang="en-US" altLang="en-US" sz="2400" i="1" dirty="0"/>
              <a:t>S</a:t>
            </a:r>
            <a:r>
              <a:rPr lang="en-US" altLang="en-US" sz="2400" dirty="0"/>
              <a:t> consists of the 4 outcomes {HH, HT, TH, TT} which are not equally likely.</a:t>
            </a:r>
          </a:p>
          <a:p>
            <a:pPr marL="0" indent="0">
              <a:lnSpc>
                <a:spcPct val="100000"/>
              </a:lnSpc>
              <a:spcBef>
                <a:spcPts val="0"/>
              </a:spcBef>
              <a:spcAft>
                <a:spcPts val="600"/>
              </a:spcAft>
              <a:buNone/>
            </a:pPr>
            <a:r>
              <a:rPr lang="en-US" altLang="en-US" sz="2400" dirty="0"/>
              <a:t>Let</a:t>
            </a:r>
          </a:p>
          <a:p>
            <a:pPr marL="357188">
              <a:lnSpc>
                <a:spcPct val="100000"/>
              </a:lnSpc>
              <a:spcBef>
                <a:spcPts val="0"/>
              </a:spcBef>
              <a:spcAft>
                <a:spcPts val="600"/>
              </a:spcAft>
              <a:buFont typeface="Wingdings" panose="05000000000000000000" pitchFamily="2" charset="2"/>
              <a:buChar char="§"/>
            </a:pPr>
            <a:r>
              <a:rPr lang="en-US" altLang="en-US" sz="2400" i="1" dirty="0"/>
              <a:t>E</a:t>
            </a:r>
            <a:r>
              <a:rPr lang="en-US" altLang="en-US" sz="2400" dirty="0"/>
              <a:t> be the event that a head is obtained on the first toss</a:t>
            </a:r>
          </a:p>
          <a:p>
            <a:pPr marL="357188">
              <a:lnSpc>
                <a:spcPct val="100000"/>
              </a:lnSpc>
              <a:spcBef>
                <a:spcPts val="0"/>
              </a:spcBef>
              <a:spcAft>
                <a:spcPts val="600"/>
              </a:spcAft>
              <a:buFont typeface="Wingdings" panose="05000000000000000000" pitchFamily="2" charset="2"/>
              <a:buChar char="§"/>
            </a:pPr>
            <a:r>
              <a:rPr lang="en-US" altLang="en-US" sz="2400" i="1" dirty="0"/>
              <a:t>F</a:t>
            </a:r>
            <a:r>
              <a:rPr lang="en-US" altLang="en-US" sz="2400" dirty="0"/>
              <a:t> be the event that a head is obtained on the second toss</a:t>
            </a:r>
          </a:p>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E</a:t>
            </a:r>
            <a:r>
              <a:rPr lang="en-US" altLang="en-US" sz="2400" dirty="0"/>
              <a:t>) = </a:t>
            </a:r>
            <a:r>
              <a:rPr lang="en-US" altLang="en-US" sz="2400" i="1" dirty="0"/>
              <a:t>P</a:t>
            </a:r>
            <a:r>
              <a:rPr lang="en-US" altLang="en-US" sz="2400" dirty="0"/>
              <a:t>(</a:t>
            </a:r>
            <a:r>
              <a:rPr lang="en-US" altLang="en-US" sz="2400" i="1" dirty="0"/>
              <a:t>F</a:t>
            </a:r>
            <a:r>
              <a:rPr lang="en-US" altLang="en-US" sz="2400" dirty="0"/>
              <a:t>) = 0.6.</a:t>
            </a:r>
          </a:p>
        </p:txBody>
      </p:sp>
      <p:sp>
        <p:nvSpPr>
          <p:cNvPr id="17" name="TextBox 16"/>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3 – Computing Probabilities of Intersections of Two Independent Events</a:t>
            </a:r>
          </a:p>
        </p:txBody>
      </p:sp>
      <p:sp>
        <p:nvSpPr>
          <p:cNvPr id="13" name="TextBox 12">
            <a:extLst>
              <a:ext uri="{FF2B5EF4-FFF2-40B4-BE49-F238E27FC236}">
                <a16:creationId xmlns:a16="http://schemas.microsoft.com/office/drawing/2014/main" id="{81C1C0BB-C99D-427E-845C-32FA0235A891}"/>
              </a:ext>
            </a:extLst>
          </p:cNvPr>
          <p:cNvSpPr txBox="1"/>
          <p:nvPr/>
        </p:nvSpPr>
        <p:spPr>
          <a:xfrm>
            <a:off x="668976" y="45603"/>
            <a:ext cx="10854047" cy="67222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Independent Events</a:t>
            </a:r>
          </a:p>
        </p:txBody>
      </p:sp>
    </p:spTree>
    <p:extLst>
      <p:ext uri="{BB962C8B-B14F-4D97-AF65-F5344CB8AC3E}">
        <p14:creationId xmlns:p14="http://schemas.microsoft.com/office/powerpoint/2010/main" val="3325402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0" name="Rectangle 3"/>
          <p:cNvSpPr txBox="1">
            <a:spLocks noChangeArrowheads="1"/>
          </p:cNvSpPr>
          <p:nvPr/>
        </p:nvSpPr>
        <p:spPr>
          <a:xfrm>
            <a:off x="1856425" y="2331372"/>
            <a:ext cx="8616553"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(two heads) = </a:t>
            </a:r>
            <a:r>
              <a:rPr lang="en-US" altLang="en-US" sz="2400" i="1" dirty="0"/>
              <a:t>P</a:t>
            </a:r>
            <a:r>
              <a:rPr lang="en-US" altLang="en-US" sz="2400" dirty="0"/>
              <a:t>(</a:t>
            </a:r>
            <a:r>
              <a:rPr lang="en-US" altLang="en-US" sz="2400" i="1" dirty="0"/>
              <a:t>E</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F</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E</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F</a:t>
            </a:r>
            <a:r>
              <a:rPr lang="en-US" altLang="en-US" sz="2400" dirty="0">
                <a:sym typeface="Symbol" panose="05050102010706020507" pitchFamily="18" charset="2"/>
              </a:rPr>
              <a:t>) = (0.6)(0.6) = 0.36 = </a:t>
            </a:r>
            <a:r>
              <a:rPr lang="en-US" altLang="en-US" sz="2400" b="1" dirty="0">
                <a:solidFill>
                  <a:srgbClr val="0000FF"/>
                </a:solidFill>
                <a:sym typeface="Symbol" panose="05050102010706020507" pitchFamily="18" charset="2"/>
              </a:rPr>
              <a:t>36%</a:t>
            </a:r>
            <a:endParaRPr lang="en-US" altLang="en-US" sz="2400" b="1" dirty="0">
              <a:solidFill>
                <a:srgbClr val="0000FF"/>
              </a:solidFill>
            </a:endParaRPr>
          </a:p>
        </p:txBody>
      </p:sp>
      <p:sp>
        <p:nvSpPr>
          <p:cNvPr id="17" name="TextBox 16"/>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3 – Computing Probabilities of Intersections of Two Independent Events</a:t>
            </a:r>
          </a:p>
        </p:txBody>
      </p:sp>
      <p:sp>
        <p:nvSpPr>
          <p:cNvPr id="13" name="Rectangle 3"/>
          <p:cNvSpPr txBox="1">
            <a:spLocks noChangeArrowheads="1"/>
          </p:cNvSpPr>
          <p:nvPr/>
        </p:nvSpPr>
        <p:spPr>
          <a:xfrm>
            <a:off x="1933917" y="1699039"/>
            <a:ext cx="6874286"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two heads?</a:t>
            </a:r>
          </a:p>
        </p:txBody>
      </p:sp>
      <p:sp>
        <p:nvSpPr>
          <p:cNvPr id="14" name="Rectangle 3"/>
          <p:cNvSpPr txBox="1">
            <a:spLocks noChangeArrowheads="1"/>
          </p:cNvSpPr>
          <p:nvPr/>
        </p:nvSpPr>
        <p:spPr>
          <a:xfrm>
            <a:off x="1933917" y="2991270"/>
            <a:ext cx="6874287" cy="503008"/>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one head?</a:t>
            </a:r>
          </a:p>
        </p:txBody>
      </p:sp>
      <p:sp>
        <p:nvSpPr>
          <p:cNvPr id="15" name="Rectangle 3"/>
          <p:cNvSpPr txBox="1">
            <a:spLocks noChangeArrowheads="1"/>
          </p:cNvSpPr>
          <p:nvPr/>
        </p:nvSpPr>
        <p:spPr>
          <a:xfrm>
            <a:off x="1856425" y="3556369"/>
            <a:ext cx="8616553"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(one head) = </a:t>
            </a:r>
            <a:r>
              <a:rPr lang="en-US" altLang="en-US" sz="2400" i="1" dirty="0"/>
              <a:t>P</a:t>
            </a:r>
            <a:r>
              <a:rPr lang="en-US" altLang="en-US" sz="2400" dirty="0"/>
              <a:t>((</a:t>
            </a:r>
            <a:r>
              <a:rPr lang="en-US" altLang="en-US" sz="2400" i="1" dirty="0"/>
              <a:t>E</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F</a:t>
            </a:r>
            <a:r>
              <a:rPr lang="en-US" altLang="en-US" sz="2400" i="1" baseline="30000" dirty="0">
                <a:sym typeface="Symbol" panose="05050102010706020507" pitchFamily="18" charset="2"/>
              </a:rPr>
              <a:t>c</a:t>
            </a:r>
            <a:r>
              <a:rPr lang="en-US" altLang="en-US" sz="2400" dirty="0">
                <a:sym typeface="Symbol" panose="05050102010706020507" pitchFamily="18" charset="2"/>
              </a:rPr>
              <a:t>) </a:t>
            </a:r>
            <a:r>
              <a:rPr lang="en-US" altLang="en-US" sz="2400" dirty="0"/>
              <a:t> (</a:t>
            </a:r>
            <a:r>
              <a:rPr lang="en-US" altLang="en-US" sz="2400" i="1" dirty="0" err="1"/>
              <a:t>E</a:t>
            </a:r>
            <a:r>
              <a:rPr lang="en-US" altLang="en-US" sz="2400" i="1" baseline="30000" dirty="0" err="1"/>
              <a:t>c</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F</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E</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F</a:t>
            </a:r>
            <a:r>
              <a:rPr lang="en-US" altLang="en-US" sz="2400" i="1" baseline="30000"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err="1">
                <a:sym typeface="Symbol" panose="05050102010706020507" pitchFamily="18" charset="2"/>
              </a:rPr>
              <a:t>E</a:t>
            </a:r>
            <a:r>
              <a:rPr lang="en-US" altLang="en-US" sz="2400" i="1" baseline="30000" dirty="0" err="1">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F</a:t>
            </a:r>
            <a:r>
              <a:rPr lang="en-US" altLang="en-US" sz="2400" dirty="0">
                <a:sym typeface="Symbol" panose="05050102010706020507" pitchFamily="18" charset="2"/>
              </a:rPr>
              <a:t>) </a:t>
            </a:r>
            <a:endParaRPr lang="en-US" altLang="en-US" sz="2400" dirty="0"/>
          </a:p>
        </p:txBody>
      </p:sp>
      <p:sp>
        <p:nvSpPr>
          <p:cNvPr id="16" name="Rectangle 3"/>
          <p:cNvSpPr txBox="1">
            <a:spLocks noChangeArrowheads="1"/>
          </p:cNvSpPr>
          <p:nvPr/>
        </p:nvSpPr>
        <p:spPr>
          <a:xfrm>
            <a:off x="3408849" y="4012608"/>
            <a:ext cx="5186468"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sym typeface="Symbol" panose="05050102010706020507" pitchFamily="18" charset="2"/>
              </a:rPr>
              <a:t>= (0.6)(0.4) + (0.4)(0.6) = 0.48 = </a:t>
            </a:r>
            <a:r>
              <a:rPr lang="en-US" altLang="en-US" sz="2400" b="1" dirty="0">
                <a:solidFill>
                  <a:srgbClr val="0000FF"/>
                </a:solidFill>
                <a:sym typeface="Symbol" panose="05050102010706020507" pitchFamily="18" charset="2"/>
              </a:rPr>
              <a:t>48%</a:t>
            </a:r>
            <a:endParaRPr lang="en-US" altLang="en-US" sz="2400" b="1" dirty="0">
              <a:solidFill>
                <a:srgbClr val="0000FF"/>
              </a:solidFill>
            </a:endParaRPr>
          </a:p>
        </p:txBody>
      </p:sp>
      <p:sp>
        <p:nvSpPr>
          <p:cNvPr id="18" name="Rectangle 3"/>
          <p:cNvSpPr txBox="1">
            <a:spLocks noChangeArrowheads="1"/>
          </p:cNvSpPr>
          <p:nvPr/>
        </p:nvSpPr>
        <p:spPr>
          <a:xfrm>
            <a:off x="1933917" y="4731363"/>
            <a:ext cx="6874287" cy="503008"/>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3"/>
            </a:pPr>
            <a:r>
              <a:rPr lang="en-US" altLang="en-US" sz="2400" dirty="0"/>
              <a:t>What is the probability of obtaining no heads?</a:t>
            </a:r>
          </a:p>
        </p:txBody>
      </p:sp>
      <p:sp>
        <p:nvSpPr>
          <p:cNvPr id="21" name="Rectangle 3"/>
          <p:cNvSpPr txBox="1">
            <a:spLocks noChangeArrowheads="1"/>
          </p:cNvSpPr>
          <p:nvPr/>
        </p:nvSpPr>
        <p:spPr>
          <a:xfrm>
            <a:off x="1848357" y="5370640"/>
            <a:ext cx="8616553"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(no heads) =</a:t>
            </a:r>
            <a:endParaRPr lang="en-US" altLang="en-US" sz="2400" b="1" dirty="0">
              <a:solidFill>
                <a:srgbClr val="0000FF"/>
              </a:solidFill>
            </a:endParaRPr>
          </a:p>
        </p:txBody>
      </p:sp>
      <p:sp>
        <p:nvSpPr>
          <p:cNvPr id="22" name="TextBox 21"/>
          <p:cNvSpPr txBox="1"/>
          <p:nvPr/>
        </p:nvSpPr>
        <p:spPr>
          <a:xfrm>
            <a:off x="1487897"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2" name="TextBox 1"/>
          <p:cNvSpPr txBox="1"/>
          <p:nvPr/>
        </p:nvSpPr>
        <p:spPr>
          <a:xfrm>
            <a:off x="3610416" y="5370640"/>
            <a:ext cx="6428935" cy="461665"/>
          </a:xfrm>
          <a:prstGeom prst="rect">
            <a:avLst/>
          </a:prstGeom>
          <a:noFill/>
        </p:spPr>
        <p:txBody>
          <a:bodyPr wrap="square" rtlCol="0">
            <a:spAutoFit/>
          </a:bodyPr>
          <a:lstStyle/>
          <a:p>
            <a:r>
              <a:rPr lang="en-US" altLang="en-US" sz="2400" i="1" dirty="0"/>
              <a:t>P</a:t>
            </a:r>
            <a:r>
              <a:rPr lang="en-US" altLang="en-US" sz="2400" dirty="0"/>
              <a:t>(</a:t>
            </a:r>
            <a:r>
              <a:rPr lang="en-US" altLang="en-US" sz="2400" i="1" dirty="0" err="1"/>
              <a:t>E</a:t>
            </a:r>
            <a:r>
              <a:rPr lang="en-US" altLang="en-US" sz="2400" i="1" baseline="30000" dirty="0" err="1"/>
              <a:t>c</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F</a:t>
            </a:r>
            <a:r>
              <a:rPr lang="en-US" altLang="en-US" sz="2400" i="1" baseline="30000"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err="1">
                <a:sym typeface="Symbol" panose="05050102010706020507" pitchFamily="18" charset="2"/>
              </a:rPr>
              <a:t>E</a:t>
            </a:r>
            <a:r>
              <a:rPr lang="en-US" altLang="en-US" sz="2400" i="1" baseline="30000" dirty="0" err="1">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F</a:t>
            </a:r>
            <a:r>
              <a:rPr lang="en-US" altLang="en-US" sz="2400" i="1" baseline="30000" dirty="0">
                <a:sym typeface="Symbol" panose="05050102010706020507" pitchFamily="18" charset="2"/>
              </a:rPr>
              <a:t>c</a:t>
            </a:r>
            <a:r>
              <a:rPr lang="en-US" altLang="en-US" sz="2400" dirty="0">
                <a:sym typeface="Symbol" panose="05050102010706020507" pitchFamily="18" charset="2"/>
              </a:rPr>
              <a:t>) = (0.4)(0.4) = 0.16 = </a:t>
            </a:r>
            <a:r>
              <a:rPr lang="en-US" altLang="en-US" sz="2400" b="1" dirty="0">
                <a:solidFill>
                  <a:srgbClr val="0000FF"/>
                </a:solidFill>
                <a:sym typeface="Symbol" panose="05050102010706020507" pitchFamily="18" charset="2"/>
              </a:rPr>
              <a:t>16% </a:t>
            </a:r>
            <a:endParaRPr lang="en-US" altLang="en-US" sz="2400" b="1" dirty="0">
              <a:solidFill>
                <a:srgbClr val="0000FF"/>
              </a:solidFill>
            </a:endParaRPr>
          </a:p>
        </p:txBody>
      </p:sp>
      <p:sp>
        <p:nvSpPr>
          <p:cNvPr id="23" name="TextBox 22">
            <a:extLst>
              <a:ext uri="{FF2B5EF4-FFF2-40B4-BE49-F238E27FC236}">
                <a16:creationId xmlns:a16="http://schemas.microsoft.com/office/drawing/2014/main" id="{1D66B9DF-F90D-4FE1-9101-9E17D7F6E29C}"/>
              </a:ext>
            </a:extLst>
          </p:cNvPr>
          <p:cNvSpPr txBox="1"/>
          <p:nvPr/>
        </p:nvSpPr>
        <p:spPr>
          <a:xfrm>
            <a:off x="668976" y="45603"/>
            <a:ext cx="10854047" cy="67222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Independent Events</a:t>
            </a:r>
          </a:p>
        </p:txBody>
      </p:sp>
    </p:spTree>
    <p:extLst>
      <p:ext uri="{BB962C8B-B14F-4D97-AF65-F5344CB8AC3E}">
        <p14:creationId xmlns:p14="http://schemas.microsoft.com/office/powerpoint/2010/main" val="239607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dissolv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dissolv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dissolv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4" grpId="0" animBg="1"/>
      <p:bldP spid="15" grpId="0"/>
      <p:bldP spid="16" grpId="0"/>
      <p:bldP spid="18" grpId="0" animBg="1"/>
      <p:bldP spid="21"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0" name="Rectangle 3"/>
          <p:cNvSpPr txBox="1">
            <a:spLocks noChangeArrowheads="1"/>
          </p:cNvSpPr>
          <p:nvPr/>
        </p:nvSpPr>
        <p:spPr>
          <a:xfrm>
            <a:off x="1856425" y="2433882"/>
            <a:ext cx="2007820"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Method 1:</a:t>
            </a:r>
          </a:p>
        </p:txBody>
      </p:sp>
      <p:sp>
        <p:nvSpPr>
          <p:cNvPr id="17" name="TextBox 16"/>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3 – Computing Probabilities of Intersections of Two Independent Events</a:t>
            </a:r>
          </a:p>
        </p:txBody>
      </p:sp>
      <p:sp>
        <p:nvSpPr>
          <p:cNvPr id="13" name="Rectangle 3"/>
          <p:cNvSpPr txBox="1">
            <a:spLocks noChangeArrowheads="1"/>
          </p:cNvSpPr>
          <p:nvPr/>
        </p:nvSpPr>
        <p:spPr>
          <a:xfrm>
            <a:off x="1933917" y="1699039"/>
            <a:ext cx="7649202"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4"/>
            </a:pPr>
            <a:r>
              <a:rPr lang="en-US" altLang="en-US" sz="2400" dirty="0"/>
              <a:t>What is the probability of obtaining at least one head?</a:t>
            </a:r>
          </a:p>
        </p:txBody>
      </p:sp>
      <p:sp>
        <p:nvSpPr>
          <p:cNvPr id="15" name="Rectangle 3"/>
          <p:cNvSpPr txBox="1">
            <a:spLocks noChangeArrowheads="1"/>
          </p:cNvSpPr>
          <p:nvPr/>
        </p:nvSpPr>
        <p:spPr>
          <a:xfrm>
            <a:off x="1856425" y="2868333"/>
            <a:ext cx="8616553" cy="5512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least one head) = </a:t>
            </a:r>
            <a:r>
              <a:rPr lang="en-US" altLang="en-US" sz="2400" i="1" dirty="0"/>
              <a:t>P</a:t>
            </a:r>
            <a:r>
              <a:rPr lang="en-US" altLang="en-US" sz="2400" dirty="0"/>
              <a:t>(one head</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(two heads) = 0.48 + 0.36 </a:t>
            </a:r>
            <a:endParaRPr lang="en-US" altLang="en-US" sz="2400" dirty="0"/>
          </a:p>
        </p:txBody>
      </p:sp>
      <p:sp>
        <p:nvSpPr>
          <p:cNvPr id="16" name="Rectangle 3"/>
          <p:cNvSpPr txBox="1">
            <a:spLocks noChangeArrowheads="1"/>
          </p:cNvSpPr>
          <p:nvPr/>
        </p:nvSpPr>
        <p:spPr>
          <a:xfrm>
            <a:off x="4392792" y="3261676"/>
            <a:ext cx="2090667"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sym typeface="Symbol" panose="05050102010706020507" pitchFamily="18" charset="2"/>
              </a:rPr>
              <a:t>= 0.84 = </a:t>
            </a:r>
            <a:r>
              <a:rPr lang="en-US" altLang="en-US" sz="2400" b="1" dirty="0">
                <a:solidFill>
                  <a:srgbClr val="0000FF"/>
                </a:solidFill>
                <a:sym typeface="Symbol" panose="05050102010706020507" pitchFamily="18" charset="2"/>
              </a:rPr>
              <a:t>84%</a:t>
            </a:r>
            <a:endParaRPr lang="en-US" altLang="en-US" sz="2400" b="1" dirty="0">
              <a:solidFill>
                <a:srgbClr val="0000FF"/>
              </a:solidFill>
            </a:endParaRPr>
          </a:p>
        </p:txBody>
      </p:sp>
      <p:sp>
        <p:nvSpPr>
          <p:cNvPr id="22" name="Rectangle 3"/>
          <p:cNvSpPr txBox="1">
            <a:spLocks noChangeArrowheads="1"/>
          </p:cNvSpPr>
          <p:nvPr/>
        </p:nvSpPr>
        <p:spPr>
          <a:xfrm>
            <a:off x="1856425" y="3728391"/>
            <a:ext cx="2007820"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Method 2:</a:t>
            </a:r>
          </a:p>
        </p:txBody>
      </p:sp>
      <p:sp>
        <p:nvSpPr>
          <p:cNvPr id="23" name="Rectangle 3"/>
          <p:cNvSpPr txBox="1">
            <a:spLocks noChangeArrowheads="1"/>
          </p:cNvSpPr>
          <p:nvPr/>
        </p:nvSpPr>
        <p:spPr>
          <a:xfrm>
            <a:off x="1856425" y="4162842"/>
            <a:ext cx="8616553" cy="5512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least one head) = 1 – </a:t>
            </a:r>
            <a:r>
              <a:rPr lang="en-US" altLang="en-US" sz="2400" i="1" dirty="0"/>
              <a:t>P</a:t>
            </a:r>
            <a:r>
              <a:rPr lang="en-US" altLang="en-US" sz="2400" dirty="0"/>
              <a:t>(no </a:t>
            </a:r>
            <a:r>
              <a:rPr lang="en-US" altLang="en-US" sz="2400" dirty="0">
                <a:sym typeface="Symbol" panose="05050102010706020507" pitchFamily="18" charset="2"/>
              </a:rPr>
              <a:t>heads) = 1 – 0.16 = 0.84 = </a:t>
            </a:r>
            <a:r>
              <a:rPr lang="en-US" altLang="en-US" sz="2400" b="1" dirty="0">
                <a:solidFill>
                  <a:srgbClr val="0000FF"/>
                </a:solidFill>
                <a:sym typeface="Symbol" panose="05050102010706020507" pitchFamily="18" charset="2"/>
              </a:rPr>
              <a:t>84%</a:t>
            </a:r>
            <a:endParaRPr lang="en-US" altLang="en-US" sz="2400" b="1" dirty="0">
              <a:solidFill>
                <a:srgbClr val="0000FF"/>
              </a:solidFill>
            </a:endParaRPr>
          </a:p>
        </p:txBody>
      </p:sp>
      <p:sp>
        <p:nvSpPr>
          <p:cNvPr id="18" name="TextBox 17">
            <a:extLst>
              <a:ext uri="{FF2B5EF4-FFF2-40B4-BE49-F238E27FC236}">
                <a16:creationId xmlns:a16="http://schemas.microsoft.com/office/drawing/2014/main" id="{4FFB0E93-77BE-4E93-AD8B-13C5C473689F}"/>
              </a:ext>
            </a:extLst>
          </p:cNvPr>
          <p:cNvSpPr txBox="1"/>
          <p:nvPr/>
        </p:nvSpPr>
        <p:spPr>
          <a:xfrm>
            <a:off x="668976" y="45603"/>
            <a:ext cx="10854047" cy="67222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Independent Events</a:t>
            </a:r>
          </a:p>
        </p:txBody>
      </p:sp>
    </p:spTree>
    <p:extLst>
      <p:ext uri="{BB962C8B-B14F-4D97-AF65-F5344CB8AC3E}">
        <p14:creationId xmlns:p14="http://schemas.microsoft.com/office/powerpoint/2010/main" val="32836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dissolve">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P spid="16" grpId="0"/>
      <p:bldP spid="22" grpId="0"/>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7" name="TextBox 26"/>
          <p:cNvSpPr txBox="1"/>
          <p:nvPr/>
        </p:nvSpPr>
        <p:spPr>
          <a:xfrm>
            <a:off x="498765" y="54767"/>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
        <p:nvSpPr>
          <p:cNvPr id="17" name="TextBox 16"/>
          <p:cNvSpPr txBox="1"/>
          <p:nvPr/>
        </p:nvSpPr>
        <p:spPr>
          <a:xfrm>
            <a:off x="152400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Pairwise Independent/Mutually Independent</a:t>
            </a:r>
          </a:p>
        </p:txBody>
      </p:sp>
      <p:sp>
        <p:nvSpPr>
          <p:cNvPr id="13" name="Rectangle 3"/>
          <p:cNvSpPr txBox="1">
            <a:spLocks noChangeArrowheads="1"/>
          </p:cNvSpPr>
          <p:nvPr/>
        </p:nvSpPr>
        <p:spPr>
          <a:xfrm>
            <a:off x="1933917" y="1602480"/>
            <a:ext cx="7649202" cy="860496"/>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We say three events </a:t>
            </a:r>
            <a:r>
              <a:rPr lang="en-US" altLang="en-US" sz="2400" i="1" dirty="0"/>
              <a:t>A</a:t>
            </a:r>
            <a:r>
              <a:rPr lang="en-US" altLang="en-US" sz="2400" dirty="0"/>
              <a:t>, </a:t>
            </a:r>
            <a:r>
              <a:rPr lang="en-US" altLang="en-US" sz="2400" i="1" dirty="0"/>
              <a:t>B</a:t>
            </a:r>
            <a:r>
              <a:rPr lang="en-US" altLang="en-US" sz="2400" dirty="0"/>
              <a:t>, and </a:t>
            </a:r>
            <a:r>
              <a:rPr lang="en-US" altLang="en-US" sz="2400" i="1" dirty="0"/>
              <a:t>C</a:t>
            </a:r>
            <a:r>
              <a:rPr lang="en-US" altLang="en-US" sz="2400" dirty="0"/>
              <a:t> are </a:t>
            </a:r>
            <a:r>
              <a:rPr lang="en-US" altLang="en-US" sz="2400" i="1" dirty="0"/>
              <a:t>pairwise independent</a:t>
            </a:r>
            <a:r>
              <a:rPr lang="en-US" altLang="en-US" sz="2400" dirty="0"/>
              <a:t> if, and only if,</a:t>
            </a:r>
          </a:p>
        </p:txBody>
      </p:sp>
      <p:sp>
        <p:nvSpPr>
          <p:cNvPr id="15" name="Rectangle 3"/>
          <p:cNvSpPr txBox="1">
            <a:spLocks noChangeArrowheads="1"/>
          </p:cNvSpPr>
          <p:nvPr/>
        </p:nvSpPr>
        <p:spPr>
          <a:xfrm>
            <a:off x="1856425" y="4077923"/>
            <a:ext cx="8182926" cy="12011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Events can be pairwise independent without satisfying the condition </a:t>
            </a:r>
            <a:br>
              <a:rPr lang="en-US" altLang="en-US" sz="2400" dirty="0"/>
            </a:br>
            <a:r>
              <a:rPr lang="en-US" altLang="en-US" sz="2400" i="1" dirty="0"/>
              <a:t>P</a:t>
            </a:r>
            <a:r>
              <a:rPr lang="en-US" altLang="en-US" sz="2400" dirty="0"/>
              <a:t>(</a:t>
            </a:r>
            <a:r>
              <a:rPr lang="en-US" altLang="en-US" sz="2400" i="1" dirty="0"/>
              <a:t>A</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B</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C</a:t>
            </a:r>
            <a:r>
              <a:rPr lang="en-US" altLang="en-US" sz="2400" dirty="0"/>
              <a:t>) =</a:t>
            </a:r>
            <a:r>
              <a:rPr lang="en-US" altLang="en-US" sz="2400" i="1" dirty="0"/>
              <a:t> P</a:t>
            </a:r>
            <a:r>
              <a:rPr lang="en-US" altLang="en-US" sz="2400" dirty="0"/>
              <a:t>(</a:t>
            </a:r>
            <a:r>
              <a:rPr lang="en-US" altLang="en-US" sz="2400" i="1" dirty="0"/>
              <a:t>A</a:t>
            </a:r>
            <a:r>
              <a:rPr lang="en-US" altLang="en-US" sz="2400" dirty="0"/>
              <a:t>)</a:t>
            </a:r>
            <a:r>
              <a:rPr lang="en-US" altLang="en-US" sz="2000" b="1" dirty="0">
                <a:sym typeface="Wingdings 2" panose="05020102010507070707" pitchFamily="18" charset="2"/>
              </a:rPr>
              <a:t> </a:t>
            </a:r>
            <a:r>
              <a:rPr lang="en-US" altLang="en-US" sz="2000" dirty="0">
                <a:sym typeface="Wingdings 2" panose="05020102010507070707" pitchFamily="18" charset="2"/>
              </a:rPr>
              <a:t></a:t>
            </a:r>
            <a:r>
              <a:rPr lang="en-US" altLang="en-US" sz="2000" b="1" dirty="0">
                <a:sym typeface="Wingdings 2" panose="05020102010507070707" pitchFamily="18" charset="2"/>
              </a:rPr>
              <a:t> </a:t>
            </a:r>
            <a:r>
              <a:rPr lang="en-US" altLang="en-US" sz="2400" i="1" dirty="0"/>
              <a:t>P</a:t>
            </a:r>
            <a:r>
              <a:rPr lang="en-US" altLang="en-US" sz="2400" dirty="0"/>
              <a:t>(</a:t>
            </a:r>
            <a:r>
              <a:rPr lang="en-US" altLang="en-US" sz="2400" i="1" dirty="0"/>
              <a:t>B</a:t>
            </a:r>
            <a:r>
              <a:rPr lang="en-US" altLang="en-US" sz="2400" dirty="0"/>
              <a:t>)</a:t>
            </a:r>
            <a:r>
              <a:rPr lang="en-US" altLang="en-US" sz="2000" b="1" dirty="0">
                <a:sym typeface="Wingdings 2" panose="05020102010507070707" pitchFamily="18" charset="2"/>
              </a:rPr>
              <a:t> </a:t>
            </a:r>
            <a:r>
              <a:rPr lang="en-US" altLang="en-US" sz="2000" dirty="0">
                <a:sym typeface="Wingdings 2" panose="05020102010507070707" pitchFamily="18" charset="2"/>
              </a:rPr>
              <a:t></a:t>
            </a:r>
            <a:r>
              <a:rPr lang="en-US" altLang="en-US" sz="2000" b="1" dirty="0">
                <a:sym typeface="Wingdings 2" panose="05020102010507070707" pitchFamily="18" charset="2"/>
              </a:rPr>
              <a:t> </a:t>
            </a:r>
            <a:r>
              <a:rPr lang="en-US" altLang="en-US" sz="2400" i="1" dirty="0"/>
              <a:t>P</a:t>
            </a:r>
            <a:r>
              <a:rPr lang="en-US" altLang="en-US" sz="2400" dirty="0"/>
              <a:t>(</a:t>
            </a:r>
            <a:r>
              <a:rPr lang="en-US" altLang="en-US" sz="2400" i="1" dirty="0"/>
              <a:t>C</a:t>
            </a:r>
            <a:r>
              <a:rPr lang="en-US" altLang="en-US" sz="2400" dirty="0"/>
              <a:t>).</a:t>
            </a:r>
          </a:p>
        </p:txBody>
      </p:sp>
      <p:sp>
        <p:nvSpPr>
          <p:cNvPr id="23" name="Rectangle 3"/>
          <p:cNvSpPr txBox="1">
            <a:spLocks noChangeArrowheads="1"/>
          </p:cNvSpPr>
          <p:nvPr/>
        </p:nvSpPr>
        <p:spPr>
          <a:xfrm>
            <a:off x="1856425" y="5340535"/>
            <a:ext cx="7277244" cy="11571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Conversely, they can satisfy the condition </a:t>
            </a:r>
            <a:br>
              <a:rPr lang="en-US" altLang="en-US" sz="2400" dirty="0"/>
            </a:br>
            <a:r>
              <a:rPr lang="en-US" altLang="en-US" sz="2400" i="1" dirty="0"/>
              <a:t>P</a:t>
            </a:r>
            <a:r>
              <a:rPr lang="en-US" altLang="en-US" sz="2400" dirty="0"/>
              <a:t>(</a:t>
            </a:r>
            <a:r>
              <a:rPr lang="en-US" altLang="en-US" sz="2400" i="1" dirty="0"/>
              <a:t>A</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B</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C</a:t>
            </a:r>
            <a:r>
              <a:rPr lang="en-US" altLang="en-US" sz="2400" dirty="0"/>
              <a:t>) = </a:t>
            </a:r>
            <a:r>
              <a:rPr lang="en-US" altLang="en-US" sz="2400" i="1" dirty="0"/>
              <a:t>P</a:t>
            </a:r>
            <a:r>
              <a:rPr lang="en-US" altLang="en-US" sz="2400" dirty="0"/>
              <a:t>(</a:t>
            </a:r>
            <a:r>
              <a:rPr lang="en-US" altLang="en-US" sz="2400" i="1" dirty="0"/>
              <a:t>A</a:t>
            </a:r>
            <a:r>
              <a:rPr lang="en-US" altLang="en-US" sz="2400" dirty="0"/>
              <a:t>)</a:t>
            </a:r>
            <a:r>
              <a:rPr lang="en-US" altLang="en-US" sz="2000" b="1" dirty="0"/>
              <a:t> </a:t>
            </a:r>
            <a:r>
              <a:rPr lang="en-US" altLang="en-US" sz="2000" dirty="0">
                <a:sym typeface="Wingdings 2" panose="05020102010507070707" pitchFamily="18" charset="2"/>
              </a:rPr>
              <a:t></a:t>
            </a:r>
            <a:r>
              <a:rPr lang="en-US" altLang="en-US" sz="2400" b="1" dirty="0">
                <a:sym typeface="Wingdings 2" panose="05020102010507070707" pitchFamily="18" charset="2"/>
              </a:rPr>
              <a:t> </a:t>
            </a:r>
            <a:r>
              <a:rPr lang="en-US" altLang="en-US" sz="2400" i="1" dirty="0"/>
              <a:t>P</a:t>
            </a:r>
            <a:r>
              <a:rPr lang="en-US" altLang="en-US" sz="2400" dirty="0"/>
              <a:t>(</a:t>
            </a:r>
            <a:r>
              <a:rPr lang="en-US" altLang="en-US" sz="2400" i="1" dirty="0"/>
              <a:t>B</a:t>
            </a:r>
            <a:r>
              <a:rPr lang="en-US" altLang="en-US" sz="2400" dirty="0"/>
              <a:t>)</a:t>
            </a:r>
            <a:r>
              <a:rPr lang="en-US" altLang="en-US" sz="2000" dirty="0">
                <a:sym typeface="Wingdings 2" panose="05020102010507070707" pitchFamily="18" charset="2"/>
              </a:rPr>
              <a:t>  </a:t>
            </a:r>
            <a:r>
              <a:rPr lang="en-US" altLang="en-US" sz="2400" i="1" dirty="0"/>
              <a:t>P</a:t>
            </a:r>
            <a:r>
              <a:rPr lang="en-US" altLang="en-US" sz="2400" dirty="0"/>
              <a:t>(</a:t>
            </a:r>
            <a:r>
              <a:rPr lang="en-US" altLang="en-US" sz="2400" i="1" dirty="0"/>
              <a:t>C</a:t>
            </a:r>
            <a:r>
              <a:rPr lang="en-US" altLang="en-US" sz="2400" dirty="0"/>
              <a:t>) without being pairwise independent.</a:t>
            </a:r>
          </a:p>
        </p:txBody>
      </p:sp>
      <p:grpSp>
        <p:nvGrpSpPr>
          <p:cNvPr id="2" name="Group 1"/>
          <p:cNvGrpSpPr/>
          <p:nvPr/>
        </p:nvGrpSpPr>
        <p:grpSpPr>
          <a:xfrm>
            <a:off x="2091523" y="2536556"/>
            <a:ext cx="7491596" cy="1278322"/>
            <a:chOff x="567523" y="2536556"/>
            <a:chExt cx="7491596" cy="1278322"/>
          </a:xfrm>
        </p:grpSpPr>
        <p:sp>
          <p:nvSpPr>
            <p:cNvPr id="20" name="Rectangle 3"/>
            <p:cNvSpPr txBox="1">
              <a:spLocks noChangeArrowheads="1"/>
            </p:cNvSpPr>
            <p:nvPr/>
          </p:nvSpPr>
          <p:spPr>
            <a:xfrm>
              <a:off x="567523" y="2536556"/>
              <a:ext cx="2947152" cy="597809"/>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A</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a:t>
              </a:r>
              <a:endParaRPr lang="en-US" altLang="en-US" sz="2400" i="1" dirty="0"/>
            </a:p>
          </p:txBody>
        </p:sp>
        <p:sp>
          <p:nvSpPr>
            <p:cNvPr id="18" name="Rectangle 3"/>
            <p:cNvSpPr txBox="1">
              <a:spLocks noChangeArrowheads="1"/>
            </p:cNvSpPr>
            <p:nvPr/>
          </p:nvSpPr>
          <p:spPr>
            <a:xfrm>
              <a:off x="3985784" y="2536556"/>
              <a:ext cx="2947152" cy="597809"/>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A</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endParaRPr lang="en-US" altLang="en-US" sz="2400" i="1" dirty="0"/>
            </a:p>
          </p:txBody>
        </p:sp>
        <p:sp>
          <p:nvSpPr>
            <p:cNvPr id="24" name="Rectangle 3"/>
            <p:cNvSpPr txBox="1">
              <a:spLocks noChangeArrowheads="1"/>
            </p:cNvSpPr>
            <p:nvPr/>
          </p:nvSpPr>
          <p:spPr>
            <a:xfrm>
              <a:off x="567523" y="3217069"/>
              <a:ext cx="2947152" cy="597809"/>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B</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endParaRPr lang="en-US" altLang="en-US" sz="2400" i="1" dirty="0"/>
            </a:p>
          </p:txBody>
        </p:sp>
        <p:sp>
          <p:nvSpPr>
            <p:cNvPr id="25" name="Rectangle 3"/>
            <p:cNvSpPr txBox="1">
              <a:spLocks noChangeArrowheads="1"/>
            </p:cNvSpPr>
            <p:nvPr/>
          </p:nvSpPr>
          <p:spPr>
            <a:xfrm>
              <a:off x="3552232" y="2536556"/>
              <a:ext cx="395995" cy="5830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t>
              </a:r>
            </a:p>
          </p:txBody>
        </p:sp>
        <p:sp>
          <p:nvSpPr>
            <p:cNvPr id="26" name="Rectangle 3"/>
            <p:cNvSpPr txBox="1">
              <a:spLocks noChangeArrowheads="1"/>
            </p:cNvSpPr>
            <p:nvPr/>
          </p:nvSpPr>
          <p:spPr>
            <a:xfrm>
              <a:off x="6987599" y="2536556"/>
              <a:ext cx="1071520" cy="5830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and</a:t>
              </a:r>
            </a:p>
          </p:txBody>
        </p:sp>
      </p:grpSp>
    </p:spTree>
    <p:extLst>
      <p:ext uri="{BB962C8B-B14F-4D97-AF65-F5344CB8AC3E}">
        <p14:creationId xmlns:p14="http://schemas.microsoft.com/office/powerpoint/2010/main" val="36402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13" name="Rectangle 3"/>
          <p:cNvSpPr txBox="1">
            <a:spLocks noChangeArrowheads="1"/>
          </p:cNvSpPr>
          <p:nvPr/>
        </p:nvSpPr>
        <p:spPr>
          <a:xfrm>
            <a:off x="1933917" y="1099057"/>
            <a:ext cx="7649202" cy="860496"/>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Four conditions must be included in the definition of independence for three events</a:t>
            </a:r>
          </a:p>
        </p:txBody>
      </p:sp>
      <p:grpSp>
        <p:nvGrpSpPr>
          <p:cNvPr id="21" name="Group 20"/>
          <p:cNvGrpSpPr/>
          <p:nvPr/>
        </p:nvGrpSpPr>
        <p:grpSpPr>
          <a:xfrm>
            <a:off x="1848357" y="2055991"/>
            <a:ext cx="8447685" cy="4203922"/>
            <a:chOff x="350730" y="4598517"/>
            <a:chExt cx="8447685" cy="4203922"/>
          </a:xfrm>
        </p:grpSpPr>
        <p:sp>
          <p:nvSpPr>
            <p:cNvPr id="22" name="Rectangle 21"/>
            <p:cNvSpPr/>
            <p:nvPr/>
          </p:nvSpPr>
          <p:spPr>
            <a:xfrm>
              <a:off x="350730" y="4598517"/>
              <a:ext cx="8447685" cy="420392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p:cNvSpPr/>
            <p:nvPr/>
          </p:nvSpPr>
          <p:spPr>
            <a:xfrm>
              <a:off x="350730" y="4598517"/>
              <a:ext cx="844768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TextBox 29"/>
            <p:cNvSpPr txBox="1"/>
            <p:nvPr/>
          </p:nvSpPr>
          <p:spPr>
            <a:xfrm>
              <a:off x="593897" y="4645644"/>
              <a:ext cx="7947827" cy="461665"/>
            </a:xfrm>
            <a:prstGeom prst="rect">
              <a:avLst/>
            </a:prstGeom>
            <a:noFill/>
          </p:spPr>
          <p:txBody>
            <a:bodyPr wrap="square" rtlCol="0">
              <a:spAutoFit/>
            </a:bodyPr>
            <a:lstStyle/>
            <a:p>
              <a:r>
                <a:rPr lang="en-SG" sz="2400" dirty="0">
                  <a:solidFill>
                    <a:schemeClr val="bg1"/>
                  </a:solidFill>
                </a:rPr>
                <a:t>Definition: Pairwise Independent and Mutually Independent</a:t>
              </a:r>
            </a:p>
          </p:txBody>
        </p:sp>
        <p:sp>
          <p:nvSpPr>
            <p:cNvPr id="31" name="TextBox 30"/>
            <p:cNvSpPr txBox="1"/>
            <p:nvPr/>
          </p:nvSpPr>
          <p:spPr>
            <a:xfrm>
              <a:off x="503129" y="5193984"/>
              <a:ext cx="8186797" cy="1569660"/>
            </a:xfrm>
            <a:prstGeom prst="rect">
              <a:avLst/>
            </a:prstGeom>
            <a:noFill/>
          </p:spPr>
          <p:txBody>
            <a:bodyPr wrap="square" rtlCol="0">
              <a:spAutoFit/>
            </a:bodyPr>
            <a:lstStyle/>
            <a:p>
              <a:pPr>
                <a:spcAft>
                  <a:spcPts val="600"/>
                </a:spcAft>
              </a:pPr>
              <a:r>
                <a:rPr lang="en-SG" sz="2400" dirty="0"/>
                <a:t>Let </a:t>
              </a:r>
              <a:r>
                <a:rPr lang="en-SG" sz="2400" i="1" dirty="0"/>
                <a:t>A</a:t>
              </a:r>
              <a:r>
                <a:rPr lang="en-SG" sz="2400" dirty="0"/>
                <a:t>, </a:t>
              </a:r>
              <a:r>
                <a:rPr lang="en-SG" sz="2400" i="1" dirty="0"/>
                <a:t>B</a:t>
              </a:r>
              <a:r>
                <a:rPr lang="en-SG" sz="2400" dirty="0"/>
                <a:t> and </a:t>
              </a:r>
              <a:r>
                <a:rPr lang="en-SG" sz="2400" i="1" dirty="0"/>
                <a:t>C</a:t>
              </a:r>
              <a:r>
                <a:rPr lang="en-SG" sz="2400" dirty="0"/>
                <a:t> be events in a sample space </a:t>
              </a:r>
              <a:r>
                <a:rPr lang="en-SG" sz="2400" i="1" dirty="0"/>
                <a:t>S</a:t>
              </a:r>
              <a:r>
                <a:rPr lang="en-SG" sz="2400" dirty="0"/>
                <a:t>. </a:t>
              </a:r>
              <a:r>
                <a:rPr lang="en-SG" sz="2400" i="1" dirty="0"/>
                <a:t>A</a:t>
              </a:r>
              <a:r>
                <a:rPr lang="en-SG" sz="2400" dirty="0"/>
                <a:t> , </a:t>
              </a:r>
              <a:r>
                <a:rPr lang="en-SG" sz="2400" i="1" dirty="0"/>
                <a:t>B</a:t>
              </a:r>
              <a:r>
                <a:rPr lang="en-SG" sz="2400" dirty="0"/>
                <a:t> and </a:t>
              </a:r>
              <a:r>
                <a:rPr lang="en-SG" sz="2400" i="1" dirty="0"/>
                <a:t>C</a:t>
              </a:r>
              <a:r>
                <a:rPr lang="en-SG" sz="2400" dirty="0"/>
                <a:t> are </a:t>
              </a:r>
              <a:r>
                <a:rPr lang="en-SG" sz="2400" b="1" dirty="0"/>
                <a:t>pairwise independent</a:t>
              </a:r>
              <a:r>
                <a:rPr lang="en-SG" sz="2400" dirty="0"/>
                <a:t>, if and only if, they satisfy conditions 1 – 3 below. They are </a:t>
              </a:r>
              <a:r>
                <a:rPr lang="en-SG" sz="2400" b="1" dirty="0"/>
                <a:t>mutually independent </a:t>
              </a:r>
              <a:r>
                <a:rPr lang="en-SG" sz="2400" dirty="0"/>
                <a:t>if, and only if, they satisfy all four conditions below.</a:t>
              </a:r>
            </a:p>
          </p:txBody>
        </p:sp>
      </p:grpSp>
      <p:sp>
        <p:nvSpPr>
          <p:cNvPr id="33" name="TextBox 32"/>
          <p:cNvSpPr txBox="1"/>
          <p:nvPr/>
        </p:nvSpPr>
        <p:spPr>
          <a:xfrm>
            <a:off x="2837663" y="4190866"/>
            <a:ext cx="5939545" cy="1800493"/>
          </a:xfrm>
          <a:prstGeom prst="rect">
            <a:avLst/>
          </a:prstGeom>
          <a:noFill/>
        </p:spPr>
        <p:txBody>
          <a:bodyPr wrap="square" rtlCol="0">
            <a:spAutoFit/>
          </a:bodyPr>
          <a:lstStyle/>
          <a:p>
            <a:pPr marL="457200" indent="-457200">
              <a:spcAft>
                <a:spcPts val="600"/>
              </a:spcAft>
              <a:buFont typeface="+mj-lt"/>
              <a:buAutoNum type="arabicPeriod"/>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a:t>
            </a:r>
          </a:p>
          <a:p>
            <a:pPr marL="457200" indent="-457200">
              <a:spcAft>
                <a:spcPts val="600"/>
              </a:spcAft>
              <a:buFont typeface="+mj-lt"/>
              <a:buAutoNum type="arabicPeriod"/>
              <a:tabLst>
                <a:tab pos="1874838" algn="l"/>
              </a:tabLst>
            </a:pPr>
            <a:r>
              <a:rPr 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p>
          <a:p>
            <a:pPr marL="457200" indent="-457200">
              <a:spcAft>
                <a:spcPts val="600"/>
              </a:spcAft>
              <a:buFont typeface="+mj-lt"/>
              <a:buAutoNum type="arabicPeriod"/>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p>
          <a:p>
            <a:pPr marL="457200" indent="-457200">
              <a:spcAft>
                <a:spcPts val="600"/>
              </a:spcAft>
              <a:buFont typeface="+mj-lt"/>
              <a:buAutoNum type="arabicPeriod"/>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B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p>
        </p:txBody>
      </p:sp>
      <p:sp>
        <p:nvSpPr>
          <p:cNvPr id="18" name="TextBox 17">
            <a:extLst>
              <a:ext uri="{FF2B5EF4-FFF2-40B4-BE49-F238E27FC236}">
                <a16:creationId xmlns:a16="http://schemas.microsoft.com/office/drawing/2014/main" id="{5B321C39-3AA4-4820-AD6A-FD62DBB6114A}"/>
              </a:ext>
            </a:extLst>
          </p:cNvPr>
          <p:cNvSpPr txBox="1"/>
          <p:nvPr/>
        </p:nvSpPr>
        <p:spPr>
          <a:xfrm>
            <a:off x="498765" y="54767"/>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Tree>
    <p:extLst>
      <p:ext uri="{BB962C8B-B14F-4D97-AF65-F5344CB8AC3E}">
        <p14:creationId xmlns:p14="http://schemas.microsoft.com/office/powerpoint/2010/main" val="2042894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13" name="Rectangle 3"/>
          <p:cNvSpPr txBox="1">
            <a:spLocks noChangeArrowheads="1"/>
          </p:cNvSpPr>
          <p:nvPr/>
        </p:nvSpPr>
        <p:spPr>
          <a:xfrm>
            <a:off x="1933917" y="1099057"/>
            <a:ext cx="7649202" cy="125668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 definition of mutual independence for any collection of </a:t>
            </a:r>
            <a:r>
              <a:rPr lang="en-US" altLang="en-US" sz="2400" i="1" dirty="0"/>
              <a:t>n</a:t>
            </a:r>
            <a:r>
              <a:rPr lang="en-US" altLang="en-US" sz="2400" dirty="0"/>
              <a:t> events with </a:t>
            </a:r>
            <a:r>
              <a:rPr lang="en-US" altLang="en-US" sz="2400" i="1" dirty="0"/>
              <a:t>n</a:t>
            </a:r>
            <a:r>
              <a:rPr lang="en-US" altLang="en-US" sz="2400" dirty="0"/>
              <a:t> </a:t>
            </a:r>
            <a:r>
              <a:rPr lang="en-US" altLang="en-US" sz="2400" b="1" dirty="0">
                <a:sym typeface="Symbol" panose="05050102010706020507" pitchFamily="18" charset="2"/>
              </a:rPr>
              <a:t> </a:t>
            </a:r>
            <a:r>
              <a:rPr lang="en-US" altLang="en-US" sz="2400" dirty="0"/>
              <a:t>2 generalizes the two definitions given previously.</a:t>
            </a:r>
          </a:p>
        </p:txBody>
      </p:sp>
      <p:grpSp>
        <p:nvGrpSpPr>
          <p:cNvPr id="21" name="Group 20"/>
          <p:cNvGrpSpPr/>
          <p:nvPr/>
        </p:nvGrpSpPr>
        <p:grpSpPr>
          <a:xfrm>
            <a:off x="1848357" y="2355742"/>
            <a:ext cx="8447685" cy="2165127"/>
            <a:chOff x="350730" y="4598517"/>
            <a:chExt cx="8447685" cy="2165127"/>
          </a:xfrm>
        </p:grpSpPr>
        <p:sp>
          <p:nvSpPr>
            <p:cNvPr id="22" name="Rectangle 21"/>
            <p:cNvSpPr/>
            <p:nvPr/>
          </p:nvSpPr>
          <p:spPr>
            <a:xfrm>
              <a:off x="350730" y="4598517"/>
              <a:ext cx="8447685" cy="216512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p:cNvSpPr/>
            <p:nvPr/>
          </p:nvSpPr>
          <p:spPr>
            <a:xfrm>
              <a:off x="350730" y="4598517"/>
              <a:ext cx="844768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TextBox 29"/>
            <p:cNvSpPr txBox="1"/>
            <p:nvPr/>
          </p:nvSpPr>
          <p:spPr>
            <a:xfrm>
              <a:off x="593897" y="4645644"/>
              <a:ext cx="7947827" cy="461665"/>
            </a:xfrm>
            <a:prstGeom prst="rect">
              <a:avLst/>
            </a:prstGeom>
            <a:noFill/>
          </p:spPr>
          <p:txBody>
            <a:bodyPr wrap="square" rtlCol="0">
              <a:spAutoFit/>
            </a:bodyPr>
            <a:lstStyle/>
            <a:p>
              <a:r>
                <a:rPr lang="en-SG" sz="2400" dirty="0">
                  <a:solidFill>
                    <a:schemeClr val="bg1"/>
                  </a:solidFill>
                </a:rPr>
                <a:t>Definition: Mutually Independent</a:t>
              </a:r>
            </a:p>
          </p:txBody>
        </p:sp>
        <p:sp>
          <p:nvSpPr>
            <p:cNvPr id="31" name="TextBox 30"/>
            <p:cNvSpPr txBox="1"/>
            <p:nvPr/>
          </p:nvSpPr>
          <p:spPr>
            <a:xfrm>
              <a:off x="503129" y="5193984"/>
              <a:ext cx="8186797" cy="1569660"/>
            </a:xfrm>
            <a:prstGeom prst="rect">
              <a:avLst/>
            </a:prstGeom>
            <a:noFill/>
          </p:spPr>
          <p:txBody>
            <a:bodyPr wrap="square" rtlCol="0">
              <a:spAutoFit/>
            </a:bodyPr>
            <a:lstStyle/>
            <a:p>
              <a:pPr>
                <a:spcAft>
                  <a:spcPts val="600"/>
                </a:spcAft>
              </a:pPr>
              <a:r>
                <a:rPr lang="en-SG" sz="2400" dirty="0"/>
                <a:t>Events </a:t>
              </a:r>
              <a:r>
                <a:rPr lang="en-SG" sz="2400" i="1" dirty="0"/>
                <a:t>A</a:t>
              </a:r>
              <a:r>
                <a:rPr lang="en-SG" sz="2400" baseline="-25000" dirty="0"/>
                <a:t>1</a:t>
              </a:r>
              <a:r>
                <a:rPr lang="en-SG" sz="2400" dirty="0"/>
                <a:t>, </a:t>
              </a:r>
              <a:r>
                <a:rPr lang="en-SG" sz="2400" i="1" dirty="0"/>
                <a:t>A</a:t>
              </a:r>
              <a:r>
                <a:rPr lang="en-SG" sz="2400" baseline="-25000" dirty="0"/>
                <a:t>2</a:t>
              </a:r>
              <a:r>
                <a:rPr lang="en-SG" sz="2400" dirty="0"/>
                <a:t>, …, </a:t>
              </a:r>
              <a:r>
                <a:rPr lang="en-SG" sz="2400" i="1" dirty="0"/>
                <a:t>A</a:t>
              </a:r>
              <a:r>
                <a:rPr lang="en-SG" sz="2400" i="1" baseline="-25000" dirty="0"/>
                <a:t>n</a:t>
              </a:r>
              <a:r>
                <a:rPr lang="en-SG" sz="2400" dirty="0"/>
                <a:t> in a sample space </a:t>
              </a:r>
              <a:r>
                <a:rPr lang="en-SG" sz="2400" i="1" dirty="0"/>
                <a:t>S</a:t>
              </a:r>
              <a:r>
                <a:rPr lang="en-SG" sz="2400" dirty="0"/>
                <a:t> are </a:t>
              </a:r>
              <a:r>
                <a:rPr lang="en-SG" sz="2400" b="1" dirty="0"/>
                <a:t>mutually independent </a:t>
              </a:r>
              <a:r>
                <a:rPr lang="en-SG" sz="2400" dirty="0"/>
                <a:t>if, and only if, the probability of the intersection of any subset of the events is the product of the probabilities of the events in the subset.</a:t>
              </a:r>
            </a:p>
          </p:txBody>
        </p:sp>
      </p:grpSp>
      <p:sp>
        <p:nvSpPr>
          <p:cNvPr id="17" name="TextBox 16">
            <a:extLst>
              <a:ext uri="{FF2B5EF4-FFF2-40B4-BE49-F238E27FC236}">
                <a16:creationId xmlns:a16="http://schemas.microsoft.com/office/drawing/2014/main" id="{FD76F665-A0BE-451E-B152-AA8CBA56EF73}"/>
              </a:ext>
            </a:extLst>
          </p:cNvPr>
          <p:cNvSpPr txBox="1"/>
          <p:nvPr/>
        </p:nvSpPr>
        <p:spPr>
          <a:xfrm>
            <a:off x="486889" y="277348"/>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Tree>
    <p:extLst>
      <p:ext uri="{BB962C8B-B14F-4D97-AF65-F5344CB8AC3E}">
        <p14:creationId xmlns:p14="http://schemas.microsoft.com/office/powerpoint/2010/main" val="15870405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13" name="Rectangle 3"/>
          <p:cNvSpPr txBox="1">
            <a:spLocks noChangeArrowheads="1"/>
          </p:cNvSpPr>
          <p:nvPr/>
        </p:nvSpPr>
        <p:spPr>
          <a:xfrm>
            <a:off x="1933917" y="1533009"/>
            <a:ext cx="8346625" cy="155115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A coin is loaded so that the probability of heads is 0.6 (and thus the probability of tails is 0.4). Suppose the coin is tossed ten times. As in Example 3, it is reasonable to assume that the results of the tosses are mutually independent</a:t>
            </a:r>
            <a:r>
              <a:rPr lang="en-US" altLang="en-US" sz="2400" dirty="0"/>
              <a:t>.</a:t>
            </a:r>
          </a:p>
        </p:txBody>
      </p:sp>
      <p:sp>
        <p:nvSpPr>
          <p:cNvPr id="17" name="TextBox 16"/>
          <p:cNvSpPr txBox="1"/>
          <p:nvPr/>
        </p:nvSpPr>
        <p:spPr>
          <a:xfrm>
            <a:off x="1524000" y="843633"/>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Tossing a Loaded Coin Ten Times</a:t>
            </a:r>
          </a:p>
        </p:txBody>
      </p:sp>
      <p:sp>
        <p:nvSpPr>
          <p:cNvPr id="18" name="Rectangle 3"/>
          <p:cNvSpPr txBox="1">
            <a:spLocks noChangeArrowheads="1"/>
          </p:cNvSpPr>
          <p:nvPr/>
        </p:nvSpPr>
        <p:spPr>
          <a:xfrm>
            <a:off x="1848356" y="3084163"/>
            <a:ext cx="7688269" cy="570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eight heads?</a:t>
            </a:r>
          </a:p>
        </p:txBody>
      </p:sp>
      <p:sp>
        <p:nvSpPr>
          <p:cNvPr id="20" name="Rectangle 3"/>
          <p:cNvSpPr txBox="1">
            <a:spLocks noChangeArrowheads="1"/>
          </p:cNvSpPr>
          <p:nvPr/>
        </p:nvSpPr>
        <p:spPr>
          <a:xfrm>
            <a:off x="1848356" y="3595832"/>
            <a:ext cx="7688268" cy="503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at least eight head?</a:t>
            </a:r>
          </a:p>
        </p:txBody>
      </p:sp>
      <p:sp>
        <p:nvSpPr>
          <p:cNvPr id="23" name="Rectangle 3"/>
          <p:cNvSpPr txBox="1">
            <a:spLocks noChangeArrowheads="1"/>
          </p:cNvSpPr>
          <p:nvPr/>
        </p:nvSpPr>
        <p:spPr>
          <a:xfrm>
            <a:off x="1933917" y="4234956"/>
            <a:ext cx="8346625" cy="1251445"/>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For each </a:t>
            </a:r>
            <a:r>
              <a:rPr lang="en-US" altLang="en-US" sz="2400" i="1" dirty="0" err="1"/>
              <a:t>i</a:t>
            </a:r>
            <a:r>
              <a:rPr lang="en-US" altLang="en-US" sz="2400" dirty="0"/>
              <a:t> = 1, 2, . . . , 10, let </a:t>
            </a:r>
            <a:r>
              <a:rPr lang="en-US" altLang="en-US" sz="2400" i="1" dirty="0"/>
              <a:t>H</a:t>
            </a:r>
            <a:r>
              <a:rPr lang="en-US" altLang="en-US" sz="2400" i="1" baseline="-25000" dirty="0"/>
              <a:t>i</a:t>
            </a:r>
            <a:r>
              <a:rPr lang="en-US" altLang="en-US" sz="2400" dirty="0"/>
              <a:t> be the event that a head is obtained on the </a:t>
            </a:r>
            <a:r>
              <a:rPr lang="en-US" altLang="en-US" sz="2400" i="1" dirty="0" err="1"/>
              <a:t>i</a:t>
            </a:r>
            <a:r>
              <a:rPr lang="en-US" altLang="en-US" sz="2400" i="1" dirty="0"/>
              <a:t>-</a:t>
            </a:r>
            <a:r>
              <a:rPr lang="en-US" altLang="en-US" sz="800" i="1" dirty="0"/>
              <a:t> </a:t>
            </a:r>
            <a:r>
              <a:rPr lang="en-US" altLang="en-US" sz="2400" dirty="0" err="1"/>
              <a:t>th</a:t>
            </a:r>
            <a:r>
              <a:rPr lang="en-US" altLang="en-US" sz="2400" dirty="0"/>
              <a:t> toss, and let </a:t>
            </a:r>
            <a:r>
              <a:rPr lang="en-US" altLang="en-US" sz="2400" i="1" dirty="0" err="1"/>
              <a:t>T</a:t>
            </a:r>
            <a:r>
              <a:rPr lang="en-US" altLang="en-US" sz="2400" i="1" baseline="-25000" dirty="0" err="1"/>
              <a:t>i</a:t>
            </a:r>
            <a:r>
              <a:rPr lang="en-US" altLang="en-US" sz="2400" dirty="0"/>
              <a:t> be the event that a tail is obtained on the </a:t>
            </a:r>
            <a:r>
              <a:rPr lang="en-US" altLang="en-US" sz="2400" i="1" dirty="0" err="1"/>
              <a:t>i</a:t>
            </a:r>
            <a:r>
              <a:rPr lang="en-US" altLang="en-US" sz="2400" i="1" dirty="0"/>
              <a:t>-</a:t>
            </a:r>
            <a:r>
              <a:rPr lang="en-US" altLang="en-US" sz="800" i="1" dirty="0"/>
              <a:t> </a:t>
            </a:r>
            <a:r>
              <a:rPr lang="en-US" altLang="en-US" sz="2400" dirty="0" err="1"/>
              <a:t>th</a:t>
            </a:r>
            <a:r>
              <a:rPr lang="en-US" altLang="en-US" sz="2400" dirty="0"/>
              <a:t> toss.</a:t>
            </a:r>
          </a:p>
        </p:txBody>
      </p:sp>
      <p:sp>
        <p:nvSpPr>
          <p:cNvPr id="16" name="TextBox 15">
            <a:extLst>
              <a:ext uri="{FF2B5EF4-FFF2-40B4-BE49-F238E27FC236}">
                <a16:creationId xmlns:a16="http://schemas.microsoft.com/office/drawing/2014/main" id="{0400B3C8-8E71-47F5-9B42-F97380EFCA55}"/>
              </a:ext>
            </a:extLst>
          </p:cNvPr>
          <p:cNvSpPr txBox="1"/>
          <p:nvPr/>
        </p:nvSpPr>
        <p:spPr>
          <a:xfrm>
            <a:off x="498765" y="54767"/>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Tree>
    <p:extLst>
      <p:ext uri="{BB962C8B-B14F-4D97-AF65-F5344CB8AC3E}">
        <p14:creationId xmlns:p14="http://schemas.microsoft.com/office/powerpoint/2010/main" val="215305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17" name="TextBox 16"/>
          <p:cNvSpPr txBox="1"/>
          <p:nvPr/>
        </p:nvSpPr>
        <p:spPr>
          <a:xfrm>
            <a:off x="1524000" y="835563"/>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Tossing a Loaded Coin Ten Times</a:t>
            </a:r>
          </a:p>
        </p:txBody>
      </p:sp>
      <p:sp>
        <p:nvSpPr>
          <p:cNvPr id="23" name="Rectangle 3"/>
          <p:cNvSpPr txBox="1">
            <a:spLocks noChangeArrowheads="1"/>
          </p:cNvSpPr>
          <p:nvPr/>
        </p:nvSpPr>
        <p:spPr>
          <a:xfrm>
            <a:off x="1933917" y="2227087"/>
            <a:ext cx="8346625" cy="173592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Suppose that the eight heads occur on the first eight tosses and that the remaining two tosses are tails. This </a:t>
            </a:r>
            <a:r>
              <a:rPr lang="pt-BR" altLang="en-US" sz="2400" dirty="0"/>
              <a:t>is the event</a:t>
            </a:r>
            <a:br>
              <a:rPr lang="pt-BR" altLang="en-US" sz="2400" dirty="0"/>
            </a:br>
            <a:r>
              <a:rPr lang="pt-BR" altLang="en-US" sz="2400" dirty="0"/>
              <a:t>      </a:t>
            </a:r>
            <a:r>
              <a:rPr lang="pt-BR" altLang="en-US" sz="2400" i="1" dirty="0"/>
              <a:t>H</a:t>
            </a:r>
            <a:r>
              <a:rPr lang="pt-BR" altLang="en-US" sz="2400" baseline="-25000" dirty="0"/>
              <a:t>1</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2</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3</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4</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5</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6</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7</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8</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T</a:t>
            </a:r>
            <a:r>
              <a:rPr lang="pt-BR" altLang="en-US" sz="2400" baseline="-25000" dirty="0"/>
              <a:t>9</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T</a:t>
            </a:r>
            <a:r>
              <a:rPr lang="pt-BR" altLang="en-US" sz="2400" baseline="-25000" dirty="0"/>
              <a:t>10</a:t>
            </a:r>
            <a:r>
              <a:rPr lang="pt-BR" altLang="en-US" sz="2400" dirty="0"/>
              <a:t>.</a:t>
            </a:r>
          </a:p>
          <a:p>
            <a:pPr marL="0" indent="0">
              <a:lnSpc>
                <a:spcPct val="100000"/>
              </a:lnSpc>
              <a:spcBef>
                <a:spcPts val="600"/>
              </a:spcBef>
              <a:buNone/>
            </a:pPr>
            <a:r>
              <a:rPr lang="pt-BR" altLang="en-US" sz="2400" dirty="0"/>
              <a:t>For simplicity, we </a:t>
            </a:r>
            <a:r>
              <a:rPr lang="en-US" altLang="en-US" sz="2400" dirty="0"/>
              <a:t>denote it as </a:t>
            </a:r>
            <a:r>
              <a:rPr lang="en-US" altLang="en-US" sz="2400" i="1" dirty="0"/>
              <a:t>HHHHHHHHTT</a:t>
            </a:r>
            <a:r>
              <a:rPr lang="en-US" altLang="en-US" sz="2400" dirty="0"/>
              <a:t>.</a:t>
            </a:r>
          </a:p>
          <a:p>
            <a:pPr marL="0" indent="0">
              <a:lnSpc>
                <a:spcPct val="100000"/>
              </a:lnSpc>
              <a:spcBef>
                <a:spcPts val="0"/>
              </a:spcBef>
              <a:buNone/>
            </a:pPr>
            <a:endParaRPr lang="en-US" altLang="en-US" sz="2400" dirty="0"/>
          </a:p>
        </p:txBody>
      </p:sp>
      <p:sp>
        <p:nvSpPr>
          <p:cNvPr id="21" name="Rectangle 3"/>
          <p:cNvSpPr txBox="1">
            <a:spLocks noChangeArrowheads="1"/>
          </p:cNvSpPr>
          <p:nvPr/>
        </p:nvSpPr>
        <p:spPr>
          <a:xfrm>
            <a:off x="1922688" y="3963008"/>
            <a:ext cx="8346625" cy="92846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By definition of mutually independent events,</a:t>
            </a:r>
          </a:p>
          <a:p>
            <a:pPr marL="0" indent="0">
              <a:lnSpc>
                <a:spcPct val="100000"/>
              </a:lnSpc>
              <a:spcBef>
                <a:spcPts val="0"/>
              </a:spcBef>
              <a:spcAft>
                <a:spcPts val="600"/>
              </a:spcAft>
              <a:buNone/>
              <a:tabLst>
                <a:tab pos="1797050" algn="l"/>
              </a:tabLst>
            </a:pPr>
            <a:r>
              <a:rPr lang="en-US" altLang="en-US" sz="2400" dirty="0"/>
              <a:t>	</a:t>
            </a:r>
            <a:r>
              <a:rPr lang="en-US" altLang="en-US" sz="2400" i="1" dirty="0"/>
              <a:t>P</a:t>
            </a:r>
            <a:r>
              <a:rPr lang="en-US" altLang="en-US" sz="2400" dirty="0"/>
              <a:t>(</a:t>
            </a:r>
            <a:r>
              <a:rPr lang="en-US" altLang="en-US" sz="2400" i="1" dirty="0"/>
              <a:t>HHHHHHHHTT</a:t>
            </a:r>
            <a:r>
              <a:rPr lang="en-US" altLang="en-US" sz="2400" dirty="0"/>
              <a:t>) = (0.6)</a:t>
            </a:r>
            <a:r>
              <a:rPr lang="en-US" altLang="en-US" sz="2400" baseline="30000" dirty="0"/>
              <a:t>8</a:t>
            </a:r>
            <a:r>
              <a:rPr lang="en-US" altLang="en-US" sz="2400" dirty="0"/>
              <a:t>(0.4)</a:t>
            </a:r>
            <a:r>
              <a:rPr lang="en-US" altLang="en-US" sz="2400" baseline="30000" dirty="0"/>
              <a:t>2</a:t>
            </a:r>
          </a:p>
        </p:txBody>
      </p:sp>
      <p:sp>
        <p:nvSpPr>
          <p:cNvPr id="24" name="Rectangle 3"/>
          <p:cNvSpPr txBox="1">
            <a:spLocks noChangeArrowheads="1"/>
          </p:cNvSpPr>
          <p:nvPr/>
        </p:nvSpPr>
        <p:spPr>
          <a:xfrm>
            <a:off x="1848356" y="1537468"/>
            <a:ext cx="7688269"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eight heads?</a:t>
            </a:r>
          </a:p>
        </p:txBody>
      </p:sp>
      <p:sp>
        <p:nvSpPr>
          <p:cNvPr id="15" name="Rectangle 3"/>
          <p:cNvSpPr txBox="1">
            <a:spLocks noChangeArrowheads="1"/>
          </p:cNvSpPr>
          <p:nvPr/>
        </p:nvSpPr>
        <p:spPr>
          <a:xfrm>
            <a:off x="1922688" y="4943002"/>
            <a:ext cx="8346625" cy="1356198"/>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By commutative law for multiplication, if the eight heads occur on any other of the ten tosses, the same number is obtained. </a:t>
            </a:r>
            <a:r>
              <a:rPr lang="en-US" altLang="en-US" sz="2400" dirty="0" err="1"/>
              <a:t>Eg</a:t>
            </a:r>
            <a:r>
              <a:rPr lang="en-US" altLang="en-US" sz="2400" dirty="0"/>
              <a:t>:</a:t>
            </a:r>
          </a:p>
          <a:p>
            <a:pPr marL="0" indent="0">
              <a:lnSpc>
                <a:spcPct val="100000"/>
              </a:lnSpc>
              <a:spcBef>
                <a:spcPts val="0"/>
              </a:spcBef>
              <a:spcAft>
                <a:spcPts val="600"/>
              </a:spcAft>
              <a:buNone/>
              <a:tabLst>
                <a:tab pos="457200" algn="l"/>
              </a:tabLst>
            </a:pPr>
            <a:r>
              <a:rPr lang="en-US" altLang="en-US" sz="2400" dirty="0"/>
              <a:t>	</a:t>
            </a:r>
            <a:r>
              <a:rPr lang="en-US" altLang="en-US" sz="2400" i="1" dirty="0"/>
              <a:t>P</a:t>
            </a:r>
            <a:r>
              <a:rPr lang="en-US" altLang="en-US" sz="2400" dirty="0"/>
              <a:t>(</a:t>
            </a:r>
            <a:r>
              <a:rPr lang="en-US" altLang="en-US" sz="2400" i="1" dirty="0"/>
              <a:t>HHTHHHHHTH</a:t>
            </a:r>
            <a:r>
              <a:rPr lang="en-US" altLang="en-US" sz="2400" dirty="0"/>
              <a:t>) = (0.6)</a:t>
            </a:r>
            <a:r>
              <a:rPr lang="en-US" altLang="en-US" sz="2400" baseline="30000" dirty="0"/>
              <a:t>2</a:t>
            </a:r>
            <a:r>
              <a:rPr lang="en-US" altLang="en-US" sz="2400" dirty="0"/>
              <a:t>(0.4)(0.6)</a:t>
            </a:r>
            <a:r>
              <a:rPr lang="en-US" altLang="en-US" sz="2400" baseline="30000" dirty="0"/>
              <a:t>5</a:t>
            </a:r>
            <a:r>
              <a:rPr lang="en-US" altLang="en-US" sz="2400" dirty="0"/>
              <a:t>(0.4)(0.6)</a:t>
            </a:r>
            <a:r>
              <a:rPr lang="en-US" altLang="en-US" sz="2400" baseline="30000" dirty="0"/>
              <a:t> </a:t>
            </a:r>
            <a:r>
              <a:rPr lang="en-US" altLang="en-US" sz="2400" dirty="0"/>
              <a:t>= (0.6)</a:t>
            </a:r>
            <a:r>
              <a:rPr lang="en-US" altLang="en-US" sz="2400" baseline="30000" dirty="0"/>
              <a:t>8</a:t>
            </a:r>
            <a:r>
              <a:rPr lang="en-US" altLang="en-US" sz="2400" dirty="0"/>
              <a:t>(0.4)</a:t>
            </a:r>
            <a:r>
              <a:rPr lang="en-US" altLang="en-US" sz="2400" baseline="30000" dirty="0"/>
              <a:t>2</a:t>
            </a:r>
          </a:p>
        </p:txBody>
      </p:sp>
      <p:sp>
        <p:nvSpPr>
          <p:cNvPr id="16" name="TextBox 15">
            <a:extLst>
              <a:ext uri="{FF2B5EF4-FFF2-40B4-BE49-F238E27FC236}">
                <a16:creationId xmlns:a16="http://schemas.microsoft.com/office/drawing/2014/main" id="{B9E46343-9E45-45BB-B4B3-836986CBE1C7}"/>
              </a:ext>
            </a:extLst>
          </p:cNvPr>
          <p:cNvSpPr txBox="1"/>
          <p:nvPr/>
        </p:nvSpPr>
        <p:spPr>
          <a:xfrm>
            <a:off x="498765" y="54767"/>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Tree>
    <p:extLst>
      <p:ext uri="{BB962C8B-B14F-4D97-AF65-F5344CB8AC3E}">
        <p14:creationId xmlns:p14="http://schemas.microsoft.com/office/powerpoint/2010/main" val="318513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1"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17" name="TextBox 16"/>
          <p:cNvSpPr txBox="1"/>
          <p:nvPr/>
        </p:nvSpPr>
        <p:spPr>
          <a:xfrm>
            <a:off x="1535229" y="834957"/>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Tossing a Loaded Coin Ten Times</a:t>
            </a:r>
          </a:p>
        </p:txBody>
      </p:sp>
      <mc:AlternateContent xmlns:mc="http://schemas.openxmlformats.org/markup-compatibility/2006" xmlns:a14="http://schemas.microsoft.com/office/drawing/2010/main">
        <mc:Choice Requires="a14">
          <p:sp>
            <p:nvSpPr>
              <p:cNvPr id="23" name="Rectangle 3"/>
              <p:cNvSpPr txBox="1">
                <a:spLocks noChangeArrowheads="1"/>
              </p:cNvSpPr>
              <p:nvPr/>
            </p:nvSpPr>
            <p:spPr>
              <a:xfrm>
                <a:off x="1933917" y="2227087"/>
                <a:ext cx="8346625" cy="173592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Now there are as many different ways to obtain eight heads in ten tosses as there are subsets of eight elements (the toss numbers on which heads are obtained) that can be chosen from a set of ten elements. This number is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8</m:t>
                            </m:r>
                          </m:den>
                        </m:f>
                      </m:e>
                    </m:d>
                  </m:oMath>
                </a14:m>
                <a:r>
                  <a:rPr lang="en-US" altLang="en-US" sz="2400" dirty="0"/>
                  <a:t>.</a:t>
                </a:r>
              </a:p>
              <a:p>
                <a:pPr marL="0" indent="0">
                  <a:lnSpc>
                    <a:spcPct val="100000"/>
                  </a:lnSpc>
                  <a:spcBef>
                    <a:spcPts val="0"/>
                  </a:spcBef>
                  <a:buNone/>
                </a:pPr>
                <a:endParaRPr lang="en-US" altLang="en-US" sz="2400" dirty="0"/>
              </a:p>
            </p:txBody>
          </p:sp>
        </mc:Choice>
        <mc:Fallback xmlns="">
          <p:sp>
            <p:nvSpPr>
              <p:cNvPr id="23" name="Rectangle 3"/>
              <p:cNvSpPr txBox="1">
                <a:spLocks noRot="1" noChangeAspect="1" noMove="1" noResize="1" noEditPoints="1" noAdjustHandles="1" noChangeArrowheads="1" noChangeShapeType="1" noTextEdit="1"/>
              </p:cNvSpPr>
              <p:nvPr/>
            </p:nvSpPr>
            <p:spPr>
              <a:xfrm>
                <a:off x="1933917" y="2227087"/>
                <a:ext cx="8346625" cy="1735921"/>
              </a:xfrm>
              <a:prstGeom prst="rect">
                <a:avLst/>
              </a:prstGeom>
              <a:blipFill>
                <a:blip r:embed="rId3"/>
                <a:stretch>
                  <a:fillRect l="-1096" t="-2807" r="-182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Rectangle 3"/>
              <p:cNvSpPr txBox="1">
                <a:spLocks noChangeArrowheads="1"/>
              </p:cNvSpPr>
              <p:nvPr/>
            </p:nvSpPr>
            <p:spPr>
              <a:xfrm>
                <a:off x="1922688" y="3963008"/>
                <a:ext cx="8346625" cy="114239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Hence</a:t>
                </a:r>
              </a:p>
              <a:p>
                <a:pPr marL="0" indent="0">
                  <a:lnSpc>
                    <a:spcPct val="100000"/>
                  </a:lnSpc>
                  <a:spcBef>
                    <a:spcPts val="0"/>
                  </a:spcBef>
                  <a:spcAft>
                    <a:spcPts val="600"/>
                  </a:spcAft>
                  <a:buNone/>
                  <a:tabLst>
                    <a:tab pos="1797050" algn="l"/>
                  </a:tabLst>
                </a:pPr>
                <a:r>
                  <a:rPr lang="en-US" altLang="en-US" sz="2400" dirty="0"/>
                  <a:t>	</a:t>
                </a:r>
                <a:r>
                  <a:rPr lang="en-US" altLang="en-US" sz="2400" i="1" dirty="0"/>
                  <a:t>P</a:t>
                </a:r>
                <a:r>
                  <a:rPr lang="en-US" altLang="en-US" sz="2400" dirty="0"/>
                  <a:t>(eight heads)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8</m:t>
                            </m:r>
                          </m:den>
                        </m:f>
                      </m:e>
                    </m:d>
                    <m:r>
                      <a:rPr lang="en-US" altLang="en-US" sz="2400" i="1">
                        <a:latin typeface="Cambria Math"/>
                      </a:rPr>
                      <m:t> </m:t>
                    </m:r>
                  </m:oMath>
                </a14:m>
                <a:r>
                  <a:rPr lang="en-US" altLang="en-US" sz="2400" dirty="0"/>
                  <a:t>(0.6)</a:t>
                </a:r>
                <a:r>
                  <a:rPr lang="en-US" altLang="en-US" sz="2400" baseline="30000" dirty="0"/>
                  <a:t>8</a:t>
                </a:r>
                <a:r>
                  <a:rPr lang="en-US" altLang="en-US" sz="2400" dirty="0"/>
                  <a:t>(0.4)</a:t>
                </a:r>
                <a:r>
                  <a:rPr lang="en-US" altLang="en-US" sz="2400" baseline="30000" dirty="0"/>
                  <a:t>2</a:t>
                </a:r>
              </a:p>
            </p:txBody>
          </p:sp>
        </mc:Choice>
        <mc:Fallback xmlns="">
          <p:sp>
            <p:nvSpPr>
              <p:cNvPr id="21" name="Rectangle 3"/>
              <p:cNvSpPr txBox="1">
                <a:spLocks noRot="1" noChangeAspect="1" noMove="1" noResize="1" noEditPoints="1" noAdjustHandles="1" noChangeArrowheads="1" noChangeShapeType="1" noTextEdit="1"/>
              </p:cNvSpPr>
              <p:nvPr/>
            </p:nvSpPr>
            <p:spPr>
              <a:xfrm>
                <a:off x="1922688" y="3963008"/>
                <a:ext cx="8346625" cy="1142393"/>
              </a:xfrm>
              <a:prstGeom prst="rect">
                <a:avLst/>
              </a:prstGeom>
              <a:blipFill>
                <a:blip r:embed="rId4"/>
                <a:stretch>
                  <a:fillRect l="-1095" t="-4255"/>
                </a:stretch>
              </a:blipFill>
            </p:spPr>
            <p:txBody>
              <a:bodyPr/>
              <a:lstStyle/>
              <a:p>
                <a:r>
                  <a:rPr lang="en-SG">
                    <a:noFill/>
                  </a:rPr>
                  <a:t> </a:t>
                </a:r>
              </a:p>
            </p:txBody>
          </p:sp>
        </mc:Fallback>
      </mc:AlternateContent>
      <p:sp>
        <p:nvSpPr>
          <p:cNvPr id="24" name="Rectangle 3"/>
          <p:cNvSpPr txBox="1">
            <a:spLocks noChangeArrowheads="1"/>
          </p:cNvSpPr>
          <p:nvPr/>
        </p:nvSpPr>
        <p:spPr>
          <a:xfrm>
            <a:off x="1848356" y="1537468"/>
            <a:ext cx="7688269"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eight heads?</a:t>
            </a:r>
          </a:p>
        </p:txBody>
      </p:sp>
      <p:sp>
        <p:nvSpPr>
          <p:cNvPr id="15" name="TextBox 14">
            <a:extLst>
              <a:ext uri="{FF2B5EF4-FFF2-40B4-BE49-F238E27FC236}">
                <a16:creationId xmlns:a16="http://schemas.microsoft.com/office/drawing/2014/main" id="{F833E32D-5AA7-46A7-A3BA-B460B2BB4E69}"/>
              </a:ext>
            </a:extLst>
          </p:cNvPr>
          <p:cNvSpPr txBox="1"/>
          <p:nvPr/>
        </p:nvSpPr>
        <p:spPr>
          <a:xfrm>
            <a:off x="498765" y="54767"/>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Tree>
    <p:extLst>
      <p:ext uri="{BB962C8B-B14F-4D97-AF65-F5344CB8AC3E}">
        <p14:creationId xmlns:p14="http://schemas.microsoft.com/office/powerpoint/2010/main" val="357803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p:sp>
        <p:nvSpPr>
          <p:cNvPr id="17" name="TextBox 16"/>
          <p:cNvSpPr txBox="1"/>
          <p:nvPr/>
        </p:nvSpPr>
        <p:spPr>
          <a:xfrm>
            <a:off x="1619002" y="834941"/>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Tossing a Loaded Coin Ten Times</a:t>
            </a:r>
          </a:p>
        </p:txBody>
      </p:sp>
      <mc:AlternateContent xmlns:mc="http://schemas.openxmlformats.org/markup-compatibility/2006" xmlns:a14="http://schemas.microsoft.com/office/drawing/2010/main">
        <mc:Choice Requires="a14">
          <p:sp>
            <p:nvSpPr>
              <p:cNvPr id="23" name="Rectangle 3"/>
              <p:cNvSpPr txBox="1">
                <a:spLocks noChangeArrowheads="1"/>
              </p:cNvSpPr>
              <p:nvPr/>
            </p:nvSpPr>
            <p:spPr>
              <a:xfrm>
                <a:off x="1933917" y="2163097"/>
                <a:ext cx="8346625" cy="173592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By similar reasoning,</a:t>
                </a:r>
              </a:p>
              <a:p>
                <a:pPr marL="0" indent="0">
                  <a:lnSpc>
                    <a:spcPct val="100000"/>
                  </a:lnSpc>
                  <a:spcBef>
                    <a:spcPts val="0"/>
                  </a:spcBef>
                  <a:buNone/>
                  <a:tabLst>
                    <a:tab pos="1371600" algn="l"/>
                  </a:tabLst>
                </a:pPr>
                <a:r>
                  <a:rPr lang="en-US" altLang="en-US" sz="2400" i="1" dirty="0"/>
                  <a:t>	P</a:t>
                </a:r>
                <a:r>
                  <a:rPr lang="en-US" altLang="en-US" sz="2400" dirty="0"/>
                  <a:t>(nine heads)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9</m:t>
                            </m:r>
                          </m:den>
                        </m:f>
                      </m:e>
                    </m:d>
                    <m:r>
                      <a:rPr lang="en-US" altLang="en-US" sz="2400" i="1">
                        <a:latin typeface="Cambria Math"/>
                      </a:rPr>
                      <m:t> </m:t>
                    </m:r>
                  </m:oMath>
                </a14:m>
                <a:r>
                  <a:rPr lang="en-US" altLang="en-US" sz="2400" dirty="0"/>
                  <a:t>(0.6)</a:t>
                </a:r>
                <a:r>
                  <a:rPr lang="en-US" altLang="en-US" sz="2400" baseline="30000" dirty="0"/>
                  <a:t>9</a:t>
                </a:r>
                <a:r>
                  <a:rPr lang="en-US" altLang="en-US" sz="2400" dirty="0"/>
                  <a:t>(0.4)</a:t>
                </a:r>
                <a:endParaRPr lang="en-US" altLang="en-US" sz="2400" baseline="30000" dirty="0"/>
              </a:p>
              <a:p>
                <a:pPr marL="0" indent="0">
                  <a:lnSpc>
                    <a:spcPct val="100000"/>
                  </a:lnSpc>
                  <a:spcBef>
                    <a:spcPts val="0"/>
                  </a:spcBef>
                  <a:buNone/>
                </a:pPr>
                <a:r>
                  <a:rPr lang="en-US" altLang="en-US" sz="2400" dirty="0"/>
                  <a:t>and</a:t>
                </a:r>
              </a:p>
              <a:p>
                <a:pPr marL="0" indent="0">
                  <a:lnSpc>
                    <a:spcPct val="100000"/>
                  </a:lnSpc>
                  <a:spcBef>
                    <a:spcPts val="0"/>
                  </a:spcBef>
                  <a:buNone/>
                  <a:tabLst>
                    <a:tab pos="1371600" algn="l"/>
                  </a:tabLst>
                </a:pPr>
                <a:r>
                  <a:rPr lang="en-US" altLang="en-US" sz="2400" i="1" dirty="0"/>
                  <a:t>	P</a:t>
                </a:r>
                <a:r>
                  <a:rPr lang="en-US" altLang="en-US" sz="2400" dirty="0"/>
                  <a:t>(ten heads)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10</m:t>
                            </m:r>
                          </m:den>
                        </m:f>
                      </m:e>
                    </m:d>
                    <m:r>
                      <a:rPr lang="en-US" altLang="en-US" sz="2400" i="1">
                        <a:latin typeface="Cambria Math"/>
                      </a:rPr>
                      <m:t> </m:t>
                    </m:r>
                  </m:oMath>
                </a14:m>
                <a:r>
                  <a:rPr lang="en-US" altLang="en-US" sz="2400" dirty="0"/>
                  <a:t>(0.6)</a:t>
                </a:r>
                <a:r>
                  <a:rPr lang="en-US" altLang="en-US" sz="2400" baseline="30000" dirty="0"/>
                  <a:t>10</a:t>
                </a:r>
                <a:endParaRPr lang="en-US" altLang="en-US" sz="2400" dirty="0"/>
              </a:p>
              <a:p>
                <a:pPr marL="0" indent="0">
                  <a:lnSpc>
                    <a:spcPct val="100000"/>
                  </a:lnSpc>
                  <a:spcBef>
                    <a:spcPts val="0"/>
                  </a:spcBef>
                  <a:buNone/>
                </a:pPr>
                <a:endParaRPr lang="en-US" altLang="en-US" sz="2400" dirty="0"/>
              </a:p>
            </p:txBody>
          </p:sp>
        </mc:Choice>
        <mc:Fallback xmlns="">
          <p:sp>
            <p:nvSpPr>
              <p:cNvPr id="23" name="Rectangle 3"/>
              <p:cNvSpPr txBox="1">
                <a:spLocks noRot="1" noChangeAspect="1" noMove="1" noResize="1" noEditPoints="1" noAdjustHandles="1" noChangeArrowheads="1" noChangeShapeType="1" noTextEdit="1"/>
              </p:cNvSpPr>
              <p:nvPr/>
            </p:nvSpPr>
            <p:spPr>
              <a:xfrm>
                <a:off x="1933917" y="2163097"/>
                <a:ext cx="8346625" cy="1735921"/>
              </a:xfrm>
              <a:prstGeom prst="rect">
                <a:avLst/>
              </a:prstGeom>
              <a:blipFill>
                <a:blip r:embed="rId3"/>
                <a:stretch>
                  <a:fillRect l="-1096" t="-2807" b="-4211"/>
                </a:stretch>
              </a:blipFill>
            </p:spPr>
            <p:txBody>
              <a:bodyPr/>
              <a:lstStyle/>
              <a:p>
                <a:r>
                  <a:rPr lang="en-SG">
                    <a:noFill/>
                  </a:rPr>
                  <a:t> </a:t>
                </a:r>
              </a:p>
            </p:txBody>
          </p:sp>
        </mc:Fallback>
      </mc:AlternateContent>
      <p:sp>
        <p:nvSpPr>
          <p:cNvPr id="24" name="Rectangle 3"/>
          <p:cNvSpPr txBox="1">
            <a:spLocks noChangeArrowheads="1"/>
          </p:cNvSpPr>
          <p:nvPr/>
        </p:nvSpPr>
        <p:spPr>
          <a:xfrm>
            <a:off x="1848356" y="1537468"/>
            <a:ext cx="7688269"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at least eight heads?</a:t>
            </a:r>
          </a:p>
        </p:txBody>
      </p:sp>
      <mc:AlternateContent xmlns:mc="http://schemas.openxmlformats.org/markup-compatibility/2006" xmlns:a14="http://schemas.microsoft.com/office/drawing/2010/main">
        <mc:Choice Requires="a14">
          <p:sp>
            <p:nvSpPr>
              <p:cNvPr id="15" name="Rectangle 3"/>
              <p:cNvSpPr txBox="1">
                <a:spLocks noChangeArrowheads="1"/>
              </p:cNvSpPr>
              <p:nvPr/>
            </p:nvSpPr>
            <p:spPr>
              <a:xfrm>
                <a:off x="1933917" y="3772508"/>
                <a:ext cx="8346625" cy="190439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Therefore,</a:t>
                </a:r>
              </a:p>
              <a:p>
                <a:pPr marL="0" indent="0">
                  <a:lnSpc>
                    <a:spcPct val="100000"/>
                  </a:lnSpc>
                  <a:spcBef>
                    <a:spcPts val="0"/>
                  </a:spcBef>
                  <a:spcAft>
                    <a:spcPts val="600"/>
                  </a:spcAft>
                  <a:buNone/>
                  <a:tabLst>
                    <a:tab pos="457200" algn="l"/>
                  </a:tabLst>
                </a:pPr>
                <a:r>
                  <a:rPr lang="en-US" altLang="en-US" sz="2400" i="1" dirty="0"/>
                  <a:t>	P</a:t>
                </a:r>
                <a:r>
                  <a:rPr lang="en-US" altLang="en-US" sz="2400" dirty="0"/>
                  <a:t>(at least 8 heads) = </a:t>
                </a:r>
                <a:r>
                  <a:rPr lang="en-US" altLang="en-US" sz="2400" i="1" dirty="0"/>
                  <a:t>P</a:t>
                </a:r>
                <a:r>
                  <a:rPr lang="en-US" altLang="en-US" sz="2400" dirty="0"/>
                  <a:t>(8 heads) +</a:t>
                </a:r>
                <a:r>
                  <a:rPr lang="en-US" altLang="en-US" sz="2400" i="1" dirty="0"/>
                  <a:t> P</a:t>
                </a:r>
                <a:r>
                  <a:rPr lang="en-US" altLang="en-US" sz="2400" dirty="0"/>
                  <a:t>(9 heads) +</a:t>
                </a:r>
                <a:r>
                  <a:rPr lang="en-US" altLang="en-US" sz="2400" i="1" dirty="0"/>
                  <a:t> P</a:t>
                </a:r>
                <a:r>
                  <a:rPr lang="en-US" altLang="en-US" sz="2400" dirty="0"/>
                  <a:t>(10 heads) </a:t>
                </a:r>
              </a:p>
              <a:p>
                <a:pPr marL="0" indent="0">
                  <a:lnSpc>
                    <a:spcPct val="100000"/>
                  </a:lnSpc>
                  <a:spcBef>
                    <a:spcPts val="0"/>
                  </a:spcBef>
                  <a:spcAft>
                    <a:spcPts val="600"/>
                  </a:spcAft>
                  <a:buNone/>
                  <a:tabLst>
                    <a:tab pos="914400" algn="l"/>
                  </a:tabLst>
                </a:pPr>
                <a:r>
                  <a:rPr lang="en-US" altLang="en-US" sz="2400" dirty="0"/>
                  <a:t>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8</m:t>
                            </m:r>
                          </m:den>
                        </m:f>
                      </m:e>
                    </m:d>
                    <m:r>
                      <a:rPr lang="en-US" altLang="en-US" sz="2400" i="1">
                        <a:latin typeface="Cambria Math"/>
                      </a:rPr>
                      <m:t> </m:t>
                    </m:r>
                  </m:oMath>
                </a14:m>
                <a:r>
                  <a:rPr lang="en-US" altLang="en-US" sz="2400" dirty="0"/>
                  <a:t>(0.6)</a:t>
                </a:r>
                <a:r>
                  <a:rPr lang="en-US" altLang="en-US" sz="2400" baseline="30000" dirty="0"/>
                  <a:t>8</a:t>
                </a:r>
                <a:r>
                  <a:rPr lang="en-US" altLang="en-US" sz="2400" dirty="0"/>
                  <a:t>(0.4)</a:t>
                </a:r>
                <a:r>
                  <a:rPr lang="en-US" altLang="en-US" sz="2400" baseline="30000" dirty="0"/>
                  <a:t>2</a:t>
                </a:r>
                <a:r>
                  <a:rPr lang="en-US" altLang="en-US" sz="2400" dirty="0"/>
                  <a:t>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9</m:t>
                            </m:r>
                          </m:den>
                        </m:f>
                      </m:e>
                    </m:d>
                    <m:r>
                      <a:rPr lang="en-US" altLang="en-US" sz="2400" i="1">
                        <a:latin typeface="Cambria Math"/>
                      </a:rPr>
                      <m:t> </m:t>
                    </m:r>
                  </m:oMath>
                </a14:m>
                <a:r>
                  <a:rPr lang="en-US" altLang="en-US" sz="2400" dirty="0"/>
                  <a:t>(0.6)</a:t>
                </a:r>
                <a:r>
                  <a:rPr lang="en-US" altLang="en-US" sz="2400" baseline="30000" dirty="0"/>
                  <a:t>9</a:t>
                </a:r>
                <a:r>
                  <a:rPr lang="en-US" altLang="en-US" sz="2400" dirty="0"/>
                  <a:t>(0.4)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10</m:t>
                            </m:r>
                          </m:den>
                        </m:f>
                      </m:e>
                    </m:d>
                    <m:r>
                      <a:rPr lang="en-US" altLang="en-US" sz="2400" i="1">
                        <a:latin typeface="Cambria Math"/>
                      </a:rPr>
                      <m:t> </m:t>
                    </m:r>
                  </m:oMath>
                </a14:m>
                <a:r>
                  <a:rPr lang="en-US" altLang="en-US" sz="2400" dirty="0"/>
                  <a:t>(0.6)</a:t>
                </a:r>
                <a:r>
                  <a:rPr lang="en-US" altLang="en-US" sz="2400" baseline="30000" dirty="0"/>
                  <a:t>10</a:t>
                </a:r>
              </a:p>
              <a:p>
                <a:pPr marL="0" indent="0">
                  <a:lnSpc>
                    <a:spcPct val="100000"/>
                  </a:lnSpc>
                  <a:spcBef>
                    <a:spcPts val="0"/>
                  </a:spcBef>
                  <a:spcAft>
                    <a:spcPts val="600"/>
                  </a:spcAft>
                  <a:buNone/>
                </a:pPr>
                <a:r>
                  <a:rPr lang="en-US" altLang="en-US" sz="2400" dirty="0"/>
                  <a:t>	</a:t>
                </a:r>
                <a14:m>
                  <m:oMath xmlns:m="http://schemas.openxmlformats.org/officeDocument/2006/math">
                    <m:r>
                      <a:rPr lang="en-US" altLang="en-US" sz="2400" i="1">
                        <a:latin typeface="Cambria Math"/>
                        <a:ea typeface="Cambria Math"/>
                      </a:rPr>
                      <m:t>≅</m:t>
                    </m:r>
                  </m:oMath>
                </a14:m>
                <a:r>
                  <a:rPr lang="en-US" altLang="en-US" sz="2400" dirty="0"/>
                  <a:t> 0.167 = </a:t>
                </a:r>
                <a:r>
                  <a:rPr lang="en-US" altLang="en-US" sz="2400" b="1" dirty="0">
                    <a:solidFill>
                      <a:srgbClr val="0000FF"/>
                    </a:solidFill>
                  </a:rPr>
                  <a:t>16.7%</a:t>
                </a:r>
              </a:p>
            </p:txBody>
          </p:sp>
        </mc:Choice>
        <mc:Fallback xmlns="">
          <p:sp>
            <p:nvSpPr>
              <p:cNvPr id="15" name="Rectangle 3"/>
              <p:cNvSpPr txBox="1">
                <a:spLocks noRot="1" noChangeAspect="1" noMove="1" noResize="1" noEditPoints="1" noAdjustHandles="1" noChangeArrowheads="1" noChangeShapeType="1" noTextEdit="1"/>
              </p:cNvSpPr>
              <p:nvPr/>
            </p:nvSpPr>
            <p:spPr>
              <a:xfrm>
                <a:off x="1933917" y="3772508"/>
                <a:ext cx="8346625" cy="1904393"/>
              </a:xfrm>
              <a:prstGeom prst="rect">
                <a:avLst/>
              </a:prstGeom>
              <a:blipFill>
                <a:blip r:embed="rId4"/>
                <a:stretch>
                  <a:fillRect l="-1096" t="-2564" b="-1282"/>
                </a:stretch>
              </a:blipFill>
            </p:spPr>
            <p:txBody>
              <a:bodyPr/>
              <a:lstStyle/>
              <a:p>
                <a:r>
                  <a:rPr lang="en-SG">
                    <a:noFill/>
                  </a:rPr>
                  <a:t> </a:t>
                </a:r>
              </a:p>
            </p:txBody>
          </p:sp>
        </mc:Fallback>
      </mc:AlternateContent>
      <p:sp>
        <p:nvSpPr>
          <p:cNvPr id="16" name="TextBox 15">
            <a:extLst>
              <a:ext uri="{FF2B5EF4-FFF2-40B4-BE49-F238E27FC236}">
                <a16:creationId xmlns:a16="http://schemas.microsoft.com/office/drawing/2014/main" id="{3272650E-7D23-45B6-A7D9-C7CEC84194F1}"/>
              </a:ext>
            </a:extLst>
          </p:cNvPr>
          <p:cNvSpPr txBox="1"/>
          <p:nvPr/>
        </p:nvSpPr>
        <p:spPr>
          <a:xfrm>
            <a:off x="498765" y="54767"/>
            <a:ext cx="11495314" cy="729271"/>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4400" dirty="0">
                <a:solidFill>
                  <a:schemeClr val="bg1"/>
                </a:solidFill>
              </a:rPr>
              <a:t>Pairwise Independent/Mutually Independent</a:t>
            </a:r>
          </a:p>
        </p:txBody>
      </p:sp>
    </p:spTree>
    <p:extLst>
      <p:ext uri="{BB962C8B-B14F-4D97-AF65-F5344CB8AC3E}">
        <p14:creationId xmlns:p14="http://schemas.microsoft.com/office/powerpoint/2010/main" val="237896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sp>
        <p:nvSpPr>
          <p:cNvPr id="6" name="TextBox 5">
            <a:extLst>
              <a:ext uri="{FF2B5EF4-FFF2-40B4-BE49-F238E27FC236}">
                <a16:creationId xmlns:a16="http://schemas.microsoft.com/office/drawing/2014/main" id="{A475D5C1-E8A6-49A4-BAC5-85ABEB9D2837}"/>
              </a:ext>
            </a:extLst>
          </p:cNvPr>
          <p:cNvSpPr txBox="1"/>
          <p:nvPr/>
        </p:nvSpPr>
        <p:spPr>
          <a:xfrm>
            <a:off x="4405076" y="2815914"/>
            <a:ext cx="4205524" cy="769441"/>
          </a:xfrm>
          <a:prstGeom prst="rect">
            <a:avLst/>
          </a:prstGeom>
          <a:noFill/>
        </p:spPr>
        <p:txBody>
          <a:bodyPr wrap="square" rtlCol="0">
            <a:spAutoFit/>
          </a:bodyPr>
          <a:lstStyle/>
          <a:p>
            <a:pPr algn="ctr"/>
            <a:r>
              <a:rPr lang="en-SG" sz="4400" b="1" dirty="0">
                <a:solidFill>
                  <a:srgbClr val="2429E4"/>
                </a:solidFill>
              </a:rPr>
              <a:t>End of Unit 11</a:t>
            </a:r>
            <a:endParaRPr lang="en-SG" sz="4400" b="1" dirty="0"/>
          </a:p>
        </p:txBody>
      </p:sp>
    </p:spTree>
    <p:extLst>
      <p:ext uri="{BB962C8B-B14F-4D97-AF65-F5344CB8AC3E}">
        <p14:creationId xmlns:p14="http://schemas.microsoft.com/office/powerpoint/2010/main" val="4188711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3923</Words>
  <Application>Microsoft Office PowerPoint</Application>
  <PresentationFormat>Widescreen</PresentationFormat>
  <Paragraphs>387</Paragraphs>
  <Slides>41</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Cambria Math</vt:lpstr>
      <vt:lpstr>Times New Roman</vt:lpstr>
      <vt:lpstr>Wingdings</vt:lpstr>
      <vt:lpstr>Office Theme</vt:lpstr>
      <vt:lpstr>MATH221 Mathematics for Computer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MATH221 Mathematics for Computer Science</dc:title>
  <dc:creator>Tan Hee Beng Kuan</dc:creator>
  <cp:lastModifiedBy>Hee Beng Kuan Tan</cp:lastModifiedBy>
  <cp:revision>36</cp:revision>
  <cp:lastPrinted>2020-06-18T05:38:22Z</cp:lastPrinted>
  <dcterms:created xsi:type="dcterms:W3CDTF">2020-03-10T04:27:06Z</dcterms:created>
  <dcterms:modified xsi:type="dcterms:W3CDTF">2020-10-19T09:30:51Z</dcterms:modified>
</cp:coreProperties>
</file>