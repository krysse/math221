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sldIdLst>
    <p:sldId id="589" r:id="rId2"/>
    <p:sldId id="677" r:id="rId3"/>
    <p:sldId id="516" r:id="rId4"/>
    <p:sldId id="679" r:id="rId5"/>
    <p:sldId id="533" r:id="rId6"/>
    <p:sldId id="534" r:id="rId7"/>
    <p:sldId id="535" r:id="rId8"/>
    <p:sldId id="536" r:id="rId9"/>
    <p:sldId id="537" r:id="rId10"/>
    <p:sldId id="538" r:id="rId11"/>
    <p:sldId id="680" r:id="rId12"/>
    <p:sldId id="539" r:id="rId13"/>
    <p:sldId id="540" r:id="rId14"/>
    <p:sldId id="547" r:id="rId15"/>
    <p:sldId id="548" r:id="rId16"/>
    <p:sldId id="559" r:id="rId17"/>
    <p:sldId id="549" r:id="rId18"/>
    <p:sldId id="550" r:id="rId19"/>
    <p:sldId id="398" r:id="rId20"/>
    <p:sldId id="551" r:id="rId21"/>
    <p:sldId id="552" r:id="rId22"/>
    <p:sldId id="518" r:id="rId23"/>
    <p:sldId id="519" r:id="rId24"/>
    <p:sldId id="553" r:id="rId25"/>
    <p:sldId id="554" r:id="rId26"/>
    <p:sldId id="555" r:id="rId27"/>
    <p:sldId id="544" r:id="rId28"/>
    <p:sldId id="557" r:id="rId29"/>
    <p:sldId id="558" r:id="rId30"/>
    <p:sldId id="412" r:id="rId31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ee Beng Kuan Tan" initials="HBKT" lastIdx="1" clrIdx="0">
    <p:extLst>
      <p:ext uri="{19B8F6BF-5375-455C-9EA6-DF929625EA0E}">
        <p15:presenceInfo xmlns:p15="http://schemas.microsoft.com/office/powerpoint/2012/main" userId="3aa298cb380b110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1B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8" autoAdjust="0"/>
    <p:restoredTop sz="94660"/>
  </p:normalViewPr>
  <p:slideViewPr>
    <p:cSldViewPr snapToGrid="0">
      <p:cViewPr varScale="1">
        <p:scale>
          <a:sx n="95" d="100"/>
          <a:sy n="95" d="100"/>
        </p:scale>
        <p:origin x="1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5EDE30-E61C-44D9-80B0-A27268B34339}" type="datetimeFigureOut">
              <a:rPr lang="en-SG" smtClean="0"/>
              <a:t>30/12/2020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C283E2-B821-4922-8B09-1B555FFD542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46938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7845988D-73BC-4BCE-97E0-8191B9728A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6F24F81-7E91-4702-BE61-7966DA9CF3A2}" type="slidenum">
              <a:rPr lang="en-GB" altLang="en-US" smtClean="0"/>
              <a:pPr>
                <a:spcBef>
                  <a:spcPct val="0"/>
                </a:spcBef>
              </a:pPr>
              <a:t>28</a:t>
            </a:fld>
            <a:endParaRPr lang="en-GB" altLang="en-US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DB39A0E4-FA15-49B5-920F-0AFB569830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F345D1BD-1698-4A75-ACD9-0B930638B9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Given any real number </a:t>
            </a:r>
            <a:r>
              <a:rPr lang="en-US" altLang="en-US" i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, the floor of </a:t>
            </a:r>
            <a:r>
              <a:rPr lang="en-US" altLang="en-US" i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, or greatest integer in </a:t>
            </a:r>
            <a:r>
              <a:rPr lang="en-US" altLang="en-US" i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, denoted </a:t>
            </a:r>
            <a:r>
              <a:rPr lang="en-GB" altLang="en-US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</a:t>
            </a:r>
            <a:r>
              <a:rPr lang="en-GB" altLang="en-US" i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n-GB" altLang="en-US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, is the largest integer that is less than or equal to </a:t>
            </a:r>
            <a:r>
              <a:rPr lang="en-GB" altLang="en-US" i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n-GB" altLang="en-US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  <a:endParaRPr lang="en-US" altLang="en-US" baseline="-2500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8092D-4212-41CF-BF58-D9DD36DA5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C2C51A-A0A3-4FD3-8F46-E03A7F11F7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S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172D8-D585-4692-9D91-2611A8123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792D4-042D-4750-B5E2-5B509CD17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64761-5428-44D3-9DE1-9809D14FF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6C4D71-B334-403F-B5E1-784B25D8624C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50482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4700C-F714-4CB9-A6DE-FAA2183FC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C0618-233F-4B2C-A1A2-ECE9BE94D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8E7D6-94D8-4184-BE5C-E4DB5077D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243B7-0D58-4351-A372-0F4C76382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C7699-4F3C-4117-85F4-C4207892A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11E565-5AAE-4302-9D71-D55C9A5ED4B5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14756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0F477-AFB0-4DE5-9B97-AB4AACC3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1F83BD-BAF6-4477-B5D5-28CD1A798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65DC7-745D-4A1A-8862-A0281CEAC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A01F5-1453-4310-A706-91F07CD2C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985D44-875F-4BE8-B893-12C1D9647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9A738D-4EDA-4D70-99E5-9A08BD4183DE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76547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85DFB-A478-4FFD-BF7D-5260955DA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3062F-1A40-45E0-ABDB-5EE1C9ADD9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2E0206-64F0-4280-8310-265D514CD4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B574C2-E648-49F7-8122-46DDA1647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77D6C3-A20E-4A9F-BE71-4F798A3F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E2BF6A-1001-4397-BF26-5B12A8AF1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F4DE9E-8CB3-4855-93F4-6FA7E56E3938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51971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BC1B0-64FF-4FE5-BC51-9D08A0B4F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1E9A8D-8032-45BA-ADBC-C26CB8D9E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37F984-43E2-481C-911A-724E9B0888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C9F5BD-2573-41D8-97C4-09499303EE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D28118-F8C2-4DA7-B2F9-E38D4A4F26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D3BB3-4B72-4958-BF80-8C2CBB7B3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E271BB-7CE0-47A6-9CB3-0B88610DB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7B3BB3-6B4F-4352-889B-265D07A15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3F6EF9-7981-486B-BC8C-C082F2CA500D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890020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14F70-B809-4C2A-AE89-BB4D9B050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62E6DB-76B6-4498-8D71-E62724108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62BBF7-993F-4B93-95AA-3BA6F4286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50F5F1-1BC0-476E-A4EF-23F19F2EB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89950C-F960-494B-8332-BACE3F02B25A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29879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3721A3-DE04-4B30-8C39-849471D97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908AA2-753B-4744-9783-BBF538498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D0A969-F139-4CD5-862F-947ED9781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EA832-A6AE-4E78-BBE9-18366D9CFBC2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23140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4E15D-2854-4C12-8F24-42FC98E76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6F1A4-6545-48F4-B4FE-67159C0E1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A9DA3A-931D-4C44-A363-880A26058E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8EE96C-9C19-4A39-A358-2C659C1D2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B4BB42-803B-496C-A4EE-FB9AB303B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42F4BC-E10F-4E6A-AC39-937C255BF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47A975-8FA5-4E55-960C-663ABF069E4B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98568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EB3B2-F5BE-4E8C-B534-BD05A9014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76A587-BD4A-4D67-9383-22E61D3E08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05BF78-BBA5-482E-881C-2BEFCEFE82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DED3DA-6328-42F7-9772-313E1945E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EF7E6-8603-4D2C-BC4B-39764680F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BDC209-97B1-4C28-A1B3-E345642DE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2F6AE3-965C-4549-B78A-B228D0AC5637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8530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49B95-54BB-4331-A774-CD8FC646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128831-7175-4364-A195-76AB238C5C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FB213-8116-4139-8B50-4A670938E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D4B3E-2958-4B36-84CE-BE7C429A8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40EC9-7377-4159-A79B-D9EAE3D8F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7B34FA-59D9-4ACB-BD9D-0D523E70916B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82281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F335B5-A253-40F7-86CA-16B24ADF53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8BFC03-01C4-415B-97CE-660BC35EF4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660B-5AAD-4620-85B5-5A444A1CF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E3F84-40D0-4C09-9912-EA5E78DB3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685B7-892C-432C-9751-CEAF3A553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805C72-34DF-4ED0-B468-302846DA4E88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32484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7062B0-CA3A-4DE4-BF60-A978F4734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684E3D-0147-49FB-810C-58630EEAC4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51C0C-74FC-4C9B-83FC-B62973961A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A19FD-2E16-43A8-B64C-C4F7B5010F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FD751-A9E0-47BE-89A1-15AA161B18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A8A0BD3-8906-4742-8599-DF7C93EAD45E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47595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5">
            <a:extLst>
              <a:ext uri="{FF2B5EF4-FFF2-40B4-BE49-F238E27FC236}">
                <a16:creationId xmlns:a16="http://schemas.microsoft.com/office/drawing/2014/main" id="{A7CFD8D2-76A8-4656-87F2-9BD95F4C4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AFDC763-F69E-47F2-9814-5F47EC779A96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918E50E4-9026-4C74-B0AF-C14CB01461A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014620" y="136523"/>
            <a:ext cx="9650411" cy="1995488"/>
          </a:xfrm>
        </p:spPr>
        <p:txBody>
          <a:bodyPr/>
          <a:lstStyle/>
          <a:p>
            <a:pPr eaLnBrk="1" hangingPunct="1"/>
            <a:r>
              <a:rPr lang="en-US" altLang="en-US" b="1" u="sng" dirty="0">
                <a:solidFill>
                  <a:srgbClr val="171B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MATH221</a:t>
            </a:r>
            <a:br>
              <a:rPr lang="en-US" altLang="en-US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b="1" dirty="0">
                <a:solidFill>
                  <a:srgbClr val="171B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Mathematics for Computer Science</a:t>
            </a:r>
            <a:endParaRPr lang="en-GB" altLang="en-US" b="1" dirty="0">
              <a:solidFill>
                <a:srgbClr val="171BA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39CEFFF-1C1A-4318-81FC-43EDFF823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9626" y="3619976"/>
            <a:ext cx="8783638" cy="14700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Arial" pitchFamily="-109" charset="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pitchFamily="-109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pitchFamily="-109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pitchFamily="-109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pitchFamily="-109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 7</a:t>
            </a:r>
          </a:p>
          <a:p>
            <a:pPr eaLnBrk="1" hangingPunct="1">
              <a:defRPr/>
            </a:pPr>
            <a:r>
              <a:rPr lang="en-US" altLang="en-US" sz="60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Induction</a:t>
            </a:r>
            <a:endParaRPr lang="en-GB" altLang="en-US" sz="6000" b="1" kern="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>
            <a:extLst>
              <a:ext uri="{FF2B5EF4-FFF2-40B4-BE49-F238E27FC236}">
                <a16:creationId xmlns:a16="http://schemas.microsoft.com/office/drawing/2014/main" id="{68E57801-F73A-4031-9F23-A51AD2E76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A1F3F9C-827F-44A1-907F-2009C8C4E729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B923B99-DD2B-4699-8FF6-A14748CE76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3AD585F1-97A3-430B-B052-977BC85177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/>
              <a:t>Understand and apply Mathematical Induction.</a:t>
            </a:r>
          </a:p>
          <a:p>
            <a:pPr eaLnBrk="1" hangingPunct="1"/>
            <a:r>
              <a:rPr lang="en-US" altLang="en-US" sz="2400" dirty="0"/>
              <a:t>Understand and apply the Generalized Principle of Mathematical Induction.</a:t>
            </a:r>
          </a:p>
          <a:p>
            <a:pPr eaLnBrk="1" hangingPunct="1"/>
            <a:r>
              <a:rPr lang="en-US" altLang="en-US" sz="2400" dirty="0"/>
              <a:t>Understand the Sigma Notation and Recursive Definitions.</a:t>
            </a:r>
          </a:p>
          <a:p>
            <a:pPr eaLnBrk="1" hangingPunct="1"/>
            <a:r>
              <a:rPr lang="en-US" altLang="en-US" sz="2400" dirty="0"/>
              <a:t>Understand and apply the Principle of Strong Mathematical Induction.</a:t>
            </a:r>
          </a:p>
          <a:p>
            <a:pPr eaLnBrk="1" hangingPunct="1"/>
            <a:endParaRPr lang="en-US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>
            <a:extLst>
              <a:ext uri="{FF2B5EF4-FFF2-40B4-BE49-F238E27FC236}">
                <a16:creationId xmlns:a16="http://schemas.microsoft.com/office/drawing/2014/main" id="{789AC8F9-F46D-4811-B4ED-7EAB3585D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8177313-CC3B-4949-BA13-1E6823BA4879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EE9E727E-5524-41C6-92FB-6BEA8A5F94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2509" y="449263"/>
            <a:ext cx="11649694" cy="114300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Basic Principle of Mathematical Induction: Example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9667" name="Rectangle 3">
            <a:extLst>
              <a:ext uri="{FF2B5EF4-FFF2-40B4-BE49-F238E27FC236}">
                <a16:creationId xmlns:a16="http://schemas.microsoft.com/office/drawing/2014/main" id="{A08B5F0D-53B1-4B4D-BA9B-4975BE13CA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8151" y="1771651"/>
            <a:ext cx="10010898" cy="453072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altLang="en-US" sz="2600" dirty="0"/>
              <a:t>Prove </a:t>
            </a:r>
            <a:r>
              <a:rPr lang="en-GB" altLang="en-US" sz="2600" i="1" dirty="0"/>
              <a:t>n</a:t>
            </a:r>
            <a:r>
              <a:rPr lang="en-GB" altLang="en-US" sz="2600" baseline="30000" dirty="0"/>
              <a:t>3</a:t>
            </a:r>
            <a:r>
              <a:rPr lang="en-GB" altLang="en-US" sz="2600" dirty="0"/>
              <a:t> &gt; 2</a:t>
            </a:r>
            <a:r>
              <a:rPr lang="en-GB" altLang="en-US" sz="2600" i="1" dirty="0"/>
              <a:t>n</a:t>
            </a:r>
            <a:r>
              <a:rPr lang="en-GB" altLang="en-US" sz="2600" dirty="0"/>
              <a:t> - 2 for all natural numbers, </a:t>
            </a:r>
            <a:r>
              <a:rPr lang="en-GB" altLang="en-US" sz="2600" i="1" dirty="0"/>
              <a:t>n</a:t>
            </a:r>
            <a:r>
              <a:rPr lang="en-GB" altLang="en-US" sz="2600" dirty="0"/>
              <a:t>.</a:t>
            </a:r>
            <a:endParaRPr lang="en-GB" altLang="en-US" sz="2600" dirty="0">
              <a:ea typeface="ＭＳ 明朝" panose="02020609040205080304" pitchFamily="49" charset="-128"/>
            </a:endParaRPr>
          </a:p>
          <a:p>
            <a:pPr marL="0" indent="0">
              <a:buNone/>
            </a:pPr>
            <a:r>
              <a:rPr lang="en-GB" altLang="en-US" sz="2600" dirty="0">
                <a:ea typeface="ＭＳ 明朝" panose="02020609040205080304" pitchFamily="49" charset="-128"/>
              </a:rPr>
              <a:t>			</a:t>
            </a:r>
          </a:p>
          <a:p>
            <a:pPr marL="0" indent="0">
              <a:buNone/>
            </a:pPr>
            <a:r>
              <a:rPr lang="en-GB" altLang="en-US" sz="2600" dirty="0">
                <a:ea typeface="ＭＳ 明朝" panose="02020609040205080304" pitchFamily="49" charset="-128"/>
              </a:rPr>
              <a:t>Can we use the exhaustive method to  prove this statement ? No.</a:t>
            </a:r>
          </a:p>
          <a:p>
            <a:pPr marL="0" indent="0">
              <a:buNone/>
            </a:pPr>
            <a:endParaRPr lang="en-GB" altLang="en-US" sz="2600" dirty="0">
              <a:ea typeface="ＭＳ 明朝" panose="02020609040205080304" pitchFamily="49" charset="-128"/>
            </a:endParaRPr>
          </a:p>
          <a:p>
            <a:pPr marL="0" indent="0">
              <a:buNone/>
            </a:pPr>
            <a:r>
              <a:rPr lang="en-GB" altLang="en-US" sz="2600" dirty="0">
                <a:ea typeface="ＭＳ 明朝" panose="02020609040205080304" pitchFamily="49" charset="-128"/>
              </a:rPr>
              <a:t>Let CLAIM(</a:t>
            </a:r>
            <a:r>
              <a:rPr lang="en-GB" altLang="en-US" sz="2600" i="1" dirty="0">
                <a:ea typeface="ＭＳ 明朝" panose="02020609040205080304" pitchFamily="49" charset="-128"/>
              </a:rPr>
              <a:t>n</a:t>
            </a:r>
            <a:r>
              <a:rPr lang="en-GB" altLang="en-US" sz="2600" dirty="0">
                <a:ea typeface="ＭＳ 明朝" panose="02020609040205080304" pitchFamily="49" charset="-128"/>
              </a:rPr>
              <a:t>) be “</a:t>
            </a:r>
            <a:r>
              <a:rPr lang="en-GB" altLang="en-US" sz="2600" i="1" dirty="0"/>
              <a:t>n</a:t>
            </a:r>
            <a:r>
              <a:rPr lang="en-GB" altLang="en-US" sz="2600" baseline="30000" dirty="0"/>
              <a:t>3</a:t>
            </a:r>
            <a:r>
              <a:rPr lang="en-GB" altLang="en-US" sz="2600" dirty="0"/>
              <a:t> &gt; 2</a:t>
            </a:r>
            <a:r>
              <a:rPr lang="en-GB" altLang="en-US" sz="2600" i="1" dirty="0"/>
              <a:t>n</a:t>
            </a:r>
            <a:r>
              <a:rPr lang="en-GB" altLang="en-US" sz="2600" dirty="0"/>
              <a:t> – 2”.</a:t>
            </a:r>
          </a:p>
          <a:p>
            <a:pPr marL="0" indent="0">
              <a:buNone/>
            </a:pPr>
            <a:r>
              <a:rPr lang="en-GB" altLang="en-US" sz="2600" dirty="0"/>
              <a:t>For </a:t>
            </a:r>
            <a:r>
              <a:rPr lang="en-GB" altLang="en-US" sz="2600" i="1" dirty="0"/>
              <a:t>n</a:t>
            </a:r>
            <a:r>
              <a:rPr lang="en-GB" altLang="en-US" sz="2600" dirty="0"/>
              <a:t> = 1:	</a:t>
            </a:r>
            <a:r>
              <a:rPr lang="en-GB" altLang="en-US" sz="2600" dirty="0">
                <a:ea typeface="ＭＳ 明朝" panose="02020609040205080304" pitchFamily="49" charset="-128"/>
              </a:rPr>
              <a:t>CLAIM(1) is </a:t>
            </a:r>
            <a:r>
              <a:rPr lang="en-GB" altLang="en-US" sz="2600" dirty="0"/>
              <a:t>1</a:t>
            </a:r>
            <a:r>
              <a:rPr lang="en-GB" altLang="en-US" sz="2600" baseline="30000" dirty="0"/>
              <a:t>3</a:t>
            </a:r>
            <a:r>
              <a:rPr lang="en-GB" altLang="en-US" sz="2600" dirty="0"/>
              <a:t> &gt; 2 </a:t>
            </a:r>
            <a:r>
              <a:rPr lang="en-US" altLang="en-US" sz="2600" dirty="0">
                <a:sym typeface="Symbol" panose="05050102010706020507" pitchFamily="18" charset="2"/>
              </a:rPr>
              <a:t> 1 </a:t>
            </a:r>
            <a:r>
              <a:rPr lang="en-GB" altLang="en-US" sz="2600" dirty="0"/>
              <a:t>– 2	</a:t>
            </a:r>
          </a:p>
          <a:p>
            <a:pPr marL="0" indent="0">
              <a:buNone/>
            </a:pPr>
            <a:r>
              <a:rPr lang="en-GB" altLang="en-US" sz="2600" dirty="0"/>
              <a:t>		LHS = 1; RHS = 0 </a:t>
            </a:r>
            <a:r>
              <a:rPr lang="en-US" altLang="en-US" sz="2600" dirty="0">
                <a:sym typeface="Symbol" panose="05050102010706020507" pitchFamily="18" charset="2"/>
              </a:rPr>
              <a:t></a:t>
            </a:r>
            <a:r>
              <a:rPr lang="en-GB" altLang="en-US" sz="2600" dirty="0"/>
              <a:t> LHS &gt; RHS.</a:t>
            </a:r>
          </a:p>
          <a:p>
            <a:pPr marL="0" indent="0">
              <a:buNone/>
            </a:pPr>
            <a:r>
              <a:rPr lang="en-GB" altLang="en-US" sz="2600" dirty="0"/>
              <a:t>For </a:t>
            </a:r>
            <a:r>
              <a:rPr lang="en-GB" altLang="en-US" sz="2600" i="1" dirty="0"/>
              <a:t>n</a:t>
            </a:r>
            <a:r>
              <a:rPr lang="en-GB" altLang="en-US" sz="2600" dirty="0"/>
              <a:t> = 2:	</a:t>
            </a:r>
            <a:r>
              <a:rPr lang="en-GB" altLang="en-US" sz="2600" dirty="0">
                <a:ea typeface="ＭＳ 明朝" panose="02020609040205080304" pitchFamily="49" charset="-128"/>
              </a:rPr>
              <a:t>CLAIM(2) is </a:t>
            </a:r>
            <a:r>
              <a:rPr lang="en-GB" altLang="en-US" sz="2600" dirty="0"/>
              <a:t>2</a:t>
            </a:r>
            <a:r>
              <a:rPr lang="en-GB" altLang="en-US" sz="2600" baseline="30000" dirty="0"/>
              <a:t>3</a:t>
            </a:r>
            <a:r>
              <a:rPr lang="en-GB" altLang="en-US" sz="2600" dirty="0"/>
              <a:t> &gt; 2 </a:t>
            </a:r>
            <a:r>
              <a:rPr lang="en-US" altLang="en-US" sz="2600" dirty="0">
                <a:sym typeface="Symbol" panose="05050102010706020507" pitchFamily="18" charset="2"/>
              </a:rPr>
              <a:t> 2 </a:t>
            </a:r>
            <a:r>
              <a:rPr lang="en-GB" altLang="en-US" sz="2600" dirty="0"/>
              <a:t>– 2	</a:t>
            </a:r>
          </a:p>
          <a:p>
            <a:pPr marL="0" indent="0">
              <a:buNone/>
            </a:pPr>
            <a:r>
              <a:rPr lang="en-GB" altLang="en-US" sz="2600" dirty="0"/>
              <a:t>		LHS = 8; RHS = 2 </a:t>
            </a:r>
            <a:r>
              <a:rPr lang="en-US" altLang="en-US" sz="2600" dirty="0">
                <a:sym typeface="Symbol" panose="05050102010706020507" pitchFamily="18" charset="2"/>
              </a:rPr>
              <a:t></a:t>
            </a:r>
            <a:r>
              <a:rPr lang="en-GB" altLang="en-US" sz="2600" dirty="0"/>
              <a:t> LHS &gt; RHS. </a:t>
            </a:r>
          </a:p>
          <a:p>
            <a:pPr marL="0" indent="0">
              <a:buNone/>
            </a:pPr>
            <a:r>
              <a:rPr lang="en-GB" altLang="en-US" sz="2600" dirty="0"/>
              <a:t>For </a:t>
            </a:r>
            <a:r>
              <a:rPr lang="en-GB" altLang="en-US" sz="2600" i="1" dirty="0"/>
              <a:t>n</a:t>
            </a:r>
            <a:r>
              <a:rPr lang="en-GB" altLang="en-US" sz="2600" dirty="0"/>
              <a:t> = 3:	</a:t>
            </a:r>
            <a:r>
              <a:rPr lang="en-GB" altLang="en-US" sz="2600" dirty="0">
                <a:ea typeface="ＭＳ 明朝" panose="02020609040205080304" pitchFamily="49" charset="-128"/>
              </a:rPr>
              <a:t>CLAIM(3) is </a:t>
            </a:r>
            <a:r>
              <a:rPr lang="en-GB" altLang="en-US" sz="2600" dirty="0"/>
              <a:t>…</a:t>
            </a:r>
          </a:p>
          <a:p>
            <a:pPr marL="0" indent="0">
              <a:buNone/>
            </a:pPr>
            <a:endParaRPr lang="en-GB" altLang="en-US" sz="2600" dirty="0"/>
          </a:p>
          <a:p>
            <a:pPr marL="0" indent="0">
              <a:buNone/>
            </a:pPr>
            <a:r>
              <a:rPr lang="en-GB" altLang="en-US" sz="2600" dirty="0"/>
              <a:t>The process above will NEVER prove the CLAIM for </a:t>
            </a:r>
            <a:r>
              <a:rPr lang="en-GB" altLang="en-US" sz="2600" b="1" dirty="0"/>
              <a:t>ALL</a:t>
            </a:r>
            <a:r>
              <a:rPr lang="en-GB" altLang="en-US" sz="2600" dirty="0"/>
              <a:t> natural number </a:t>
            </a:r>
            <a:r>
              <a:rPr lang="en-GB" altLang="en-US" sz="2600" i="1" dirty="0"/>
              <a:t>n</a:t>
            </a:r>
            <a:r>
              <a:rPr lang="en-GB" altLang="en-US" sz="2600" dirty="0"/>
              <a:t>.</a:t>
            </a:r>
            <a:r>
              <a:rPr lang="en-GB" altLang="en-US" sz="2400" dirty="0"/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69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696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696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696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696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696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3696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>
            <a:extLst>
              <a:ext uri="{FF2B5EF4-FFF2-40B4-BE49-F238E27FC236}">
                <a16:creationId xmlns:a16="http://schemas.microsoft.com/office/drawing/2014/main" id="{7AE4E70B-6003-4597-AC4B-2429AE8E1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69A253C-5A43-431C-8716-68136223D1C9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5777E7D2-E228-4F72-AC7C-25E426C6C8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36523"/>
            <a:ext cx="8229600" cy="1143000"/>
          </a:xfrm>
        </p:spPr>
        <p:txBody>
          <a:bodyPr/>
          <a:lstStyle/>
          <a:p>
            <a:pPr eaLnBrk="1" hangingPunct="1"/>
            <a:r>
              <a:rPr lang="en-GB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Principle of Mathematical Induction</a:t>
            </a:r>
          </a:p>
        </p:txBody>
      </p:sp>
      <p:sp>
        <p:nvSpPr>
          <p:cNvPr id="340995" name="Rectangle 3">
            <a:extLst>
              <a:ext uri="{FF2B5EF4-FFF2-40B4-BE49-F238E27FC236}">
                <a16:creationId xmlns:a16="http://schemas.microsoft.com/office/drawing/2014/main" id="{48A89279-6B28-42EC-B80F-C7FA04A9E4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623908"/>
            <a:ext cx="8229600" cy="3334739"/>
          </a:xfrm>
        </p:spPr>
        <p:txBody>
          <a:bodyPr/>
          <a:lstStyle/>
          <a:p>
            <a:pPr marL="0" indent="0">
              <a:buNone/>
            </a:pPr>
            <a:r>
              <a:rPr lang="en-GB" altLang="en-US" sz="2400" dirty="0">
                <a:sym typeface="Symbol" panose="05050102010706020507" pitchFamily="18" charset="2"/>
              </a:rPr>
              <a:t>For all natural numbers </a:t>
            </a:r>
            <a:r>
              <a:rPr lang="en-GB" altLang="en-US" sz="2400" i="1" dirty="0">
                <a:sym typeface="Symbol" panose="05050102010706020507" pitchFamily="18" charset="2"/>
              </a:rPr>
              <a:t>n</a:t>
            </a:r>
            <a:r>
              <a:rPr lang="en-GB" altLang="en-US" sz="2400" dirty="0">
                <a:sym typeface="Symbol" panose="05050102010706020507" pitchFamily="18" charset="2"/>
              </a:rPr>
              <a:t>, let CLAIM(</a:t>
            </a:r>
            <a:r>
              <a:rPr lang="en-GB" altLang="en-US" sz="2400" i="1" dirty="0">
                <a:sym typeface="Symbol" panose="05050102010706020507" pitchFamily="18" charset="2"/>
              </a:rPr>
              <a:t>n</a:t>
            </a:r>
            <a:r>
              <a:rPr lang="en-GB" altLang="en-US" sz="2400" dirty="0">
                <a:sym typeface="Symbol" panose="05050102010706020507" pitchFamily="18" charset="2"/>
              </a:rPr>
              <a:t>) be a statement. If</a:t>
            </a:r>
          </a:p>
          <a:p>
            <a:pPr marL="0" indent="0">
              <a:buNone/>
            </a:pPr>
            <a:r>
              <a:rPr lang="en-GB" altLang="en-US" sz="2400" dirty="0">
                <a:sym typeface="Symbol" panose="05050102010706020507" pitchFamily="18" charset="2"/>
              </a:rPr>
              <a:t>	1. CLAIM(1) is true, and		</a:t>
            </a:r>
            <a:endParaRPr lang="en-GB" altLang="en-US" sz="2400" dirty="0">
              <a:solidFill>
                <a:srgbClr val="FF3300"/>
              </a:solidFill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GB" altLang="en-US" sz="2400" dirty="0">
                <a:sym typeface="Symbol" panose="05050102010706020507" pitchFamily="18" charset="2"/>
              </a:rPr>
              <a:t>	</a:t>
            </a:r>
          </a:p>
          <a:p>
            <a:pPr marL="0" indent="0">
              <a:buNone/>
            </a:pPr>
            <a:r>
              <a:rPr lang="en-GB" altLang="en-US" sz="2400" dirty="0">
                <a:sym typeface="Symbol" panose="05050102010706020507" pitchFamily="18" charset="2"/>
              </a:rPr>
              <a:t>	2. the truth of </a:t>
            </a:r>
            <a:r>
              <a:rPr lang="en-US" altLang="en-US" sz="2400" dirty="0">
                <a:sym typeface="Symbol" panose="05050102010706020507" pitchFamily="18" charset="2"/>
              </a:rPr>
              <a:t>CLAIM(</a:t>
            </a:r>
            <a:r>
              <a:rPr lang="en-US" altLang="en-US" sz="2400" i="1" dirty="0">
                <a:sym typeface="Symbol" panose="05050102010706020507" pitchFamily="18" charset="2"/>
              </a:rPr>
              <a:t>k</a:t>
            </a:r>
            <a:r>
              <a:rPr lang="en-US" altLang="en-US" sz="2400" dirty="0">
                <a:sym typeface="Symbol" panose="05050102010706020507" pitchFamily="18" charset="2"/>
              </a:rPr>
              <a:t>) implies the truth of 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	CLAIM(</a:t>
            </a:r>
            <a:r>
              <a:rPr lang="en-US" altLang="en-US" sz="2400" i="1" dirty="0">
                <a:sym typeface="Symbol" panose="05050102010706020507" pitchFamily="18" charset="2"/>
              </a:rPr>
              <a:t>k</a:t>
            </a:r>
            <a:r>
              <a:rPr lang="en-US" altLang="en-US" sz="2400" dirty="0">
                <a:sym typeface="Symbol" panose="05050102010706020507" pitchFamily="18" charset="2"/>
              </a:rPr>
              <a:t> + 1) for all natural numbers </a:t>
            </a:r>
            <a:r>
              <a:rPr lang="en-US" altLang="en-US" sz="2400" i="1" dirty="0">
                <a:sym typeface="Symbol" panose="05050102010706020507" pitchFamily="18" charset="2"/>
              </a:rPr>
              <a:t>k</a:t>
            </a:r>
            <a:r>
              <a:rPr lang="en-US" altLang="en-US" sz="2400" dirty="0">
                <a:sym typeface="Symbol" panose="05050102010706020507" pitchFamily="18" charset="2"/>
              </a:rPr>
              <a:t>, 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    					</a:t>
            </a:r>
            <a:endParaRPr lang="en-US" altLang="en-US" sz="2400" dirty="0">
              <a:solidFill>
                <a:srgbClr val="FF3300"/>
              </a:solidFill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then</a:t>
            </a:r>
            <a:r>
              <a:rPr lang="en-GB" altLang="en-US" sz="2400" dirty="0">
                <a:sym typeface="Symbol" panose="05050102010706020507" pitchFamily="18" charset="2"/>
              </a:rPr>
              <a:t> CLAIM(</a:t>
            </a:r>
            <a:r>
              <a:rPr lang="en-GB" altLang="en-US" sz="2400" i="1" dirty="0">
                <a:sym typeface="Symbol" panose="05050102010706020507" pitchFamily="18" charset="2"/>
              </a:rPr>
              <a:t>n</a:t>
            </a:r>
            <a:r>
              <a:rPr lang="en-GB" altLang="en-US" sz="2400" dirty="0">
                <a:sym typeface="Symbol" panose="05050102010706020507" pitchFamily="18" charset="2"/>
              </a:rPr>
              <a:t>) is true for all natural numbers </a:t>
            </a:r>
            <a:r>
              <a:rPr lang="en-GB" altLang="en-US" sz="2400" i="1" dirty="0">
                <a:sym typeface="Symbol" panose="05050102010706020507" pitchFamily="18" charset="2"/>
              </a:rPr>
              <a:t>n</a:t>
            </a:r>
            <a:r>
              <a:rPr lang="en-GB" altLang="en-US" sz="2400" dirty="0">
                <a:ea typeface="ＭＳ 明朝" panose="02020609040205080304" pitchFamily="49" charset="-128"/>
              </a:rPr>
              <a:t>.</a:t>
            </a:r>
            <a:endParaRPr lang="en-GB" altLang="en-US" sz="24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40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40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340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340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>
            <a:extLst>
              <a:ext uri="{FF2B5EF4-FFF2-40B4-BE49-F238E27FC236}">
                <a16:creationId xmlns:a16="http://schemas.microsoft.com/office/drawing/2014/main" id="{6302E432-3482-4945-BAF3-78B547822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62026A9-AD84-405E-B07A-83BDD0ACA246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16564BC6-F713-4E5B-A977-EB903173DA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3143" y="449263"/>
            <a:ext cx="10616539" cy="1143000"/>
          </a:xfrm>
        </p:spPr>
        <p:txBody>
          <a:bodyPr/>
          <a:lstStyle/>
          <a:p>
            <a:pPr eaLnBrk="1" hangingPunct="1"/>
            <a:r>
              <a:rPr lang="en-GB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Principle of Mathematical Induction: Proof</a:t>
            </a:r>
          </a:p>
        </p:txBody>
      </p:sp>
      <p:sp>
        <p:nvSpPr>
          <p:cNvPr id="388099" name="Rectangle 3">
            <a:extLst>
              <a:ext uri="{FF2B5EF4-FFF2-40B4-BE49-F238E27FC236}">
                <a16:creationId xmlns:a16="http://schemas.microsoft.com/office/drawing/2014/main" id="{1915B8B5-502D-4BFC-BBEB-90D7E25860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GB" altLang="en-US" sz="2400" dirty="0">
                <a:sym typeface="Symbol" panose="05050102010706020507" pitchFamily="18" charset="2"/>
              </a:rPr>
              <a:t>Let </a:t>
            </a:r>
            <a:r>
              <a:rPr lang="en-GB" altLang="en-US" sz="2400" i="1" dirty="0">
                <a:sym typeface="Symbol" panose="05050102010706020507" pitchFamily="18" charset="2"/>
              </a:rPr>
              <a:t>T</a:t>
            </a:r>
            <a:r>
              <a:rPr lang="en-GB" altLang="en-US" sz="2400" dirty="0">
                <a:sym typeface="Symbol" panose="05050102010706020507" pitchFamily="18" charset="2"/>
              </a:rPr>
              <a:t> = {</a:t>
            </a:r>
            <a:r>
              <a:rPr lang="en-GB" altLang="en-US" sz="2400" i="1" dirty="0">
                <a:sym typeface="Symbol" panose="05050102010706020507" pitchFamily="18" charset="2"/>
              </a:rPr>
              <a:t>t</a:t>
            </a:r>
            <a:r>
              <a:rPr lang="en-GB" altLang="en-US" sz="2400" dirty="0">
                <a:sym typeface="Symbol" panose="05050102010706020507" pitchFamily="18" charset="2"/>
              </a:rPr>
              <a:t> </a:t>
            </a:r>
            <a:r>
              <a:rPr lang="en-GB" altLang="en-US" sz="2400" dirty="0">
                <a:ea typeface="ＭＳ 明朝" panose="02020609040205080304" pitchFamily="49" charset="-128"/>
                <a:sym typeface="Symbol" panose="05050102010706020507" pitchFamily="18" charset="2"/>
              </a:rPr>
              <a:t> </a:t>
            </a:r>
            <a:r>
              <a:rPr lang="en-GB" altLang="en-US" sz="2400" dirty="0">
                <a:ea typeface="ＭＳ 明朝" panose="02020609040205080304" pitchFamily="49" charset="-128"/>
              </a:rPr>
              <a:t>ℕ: </a:t>
            </a:r>
            <a:r>
              <a:rPr lang="en-GB" altLang="en-US" sz="2400" dirty="0">
                <a:sym typeface="Symbol" panose="05050102010706020507" pitchFamily="18" charset="2"/>
              </a:rPr>
              <a:t>CLAIM(</a:t>
            </a:r>
            <a:r>
              <a:rPr lang="en-GB" altLang="en-US" sz="2400" i="1" dirty="0">
                <a:sym typeface="Symbol" panose="05050102010706020507" pitchFamily="18" charset="2"/>
              </a:rPr>
              <a:t>t</a:t>
            </a:r>
            <a:r>
              <a:rPr lang="en-GB" altLang="en-US" sz="2400" dirty="0">
                <a:sym typeface="Symbol" panose="05050102010706020507" pitchFamily="18" charset="2"/>
              </a:rPr>
              <a:t>) is false}. </a:t>
            </a:r>
          </a:p>
          <a:p>
            <a:pPr marL="0" indent="0">
              <a:buNone/>
            </a:pPr>
            <a:r>
              <a:rPr lang="en-GB" altLang="en-US" sz="2400" dirty="0">
                <a:sym typeface="Symbol" panose="05050102010706020507" pitchFamily="18" charset="2"/>
              </a:rPr>
              <a:t>If we can show that </a:t>
            </a:r>
            <a:r>
              <a:rPr lang="en-GB" altLang="en-US" sz="2400" i="1" dirty="0">
                <a:sym typeface="Symbol" panose="05050102010706020507" pitchFamily="18" charset="2"/>
              </a:rPr>
              <a:t>T</a:t>
            </a:r>
            <a:r>
              <a:rPr lang="en-GB" altLang="en-US" sz="2400" dirty="0">
                <a:sym typeface="Symbol" panose="05050102010706020507" pitchFamily="18" charset="2"/>
              </a:rPr>
              <a:t> is empty, then CLAIM(</a:t>
            </a:r>
            <a:r>
              <a:rPr lang="en-GB" altLang="en-US" sz="2400" i="1" dirty="0">
                <a:sym typeface="Symbol" panose="05050102010706020507" pitchFamily="18" charset="2"/>
              </a:rPr>
              <a:t>n</a:t>
            </a:r>
            <a:r>
              <a:rPr lang="en-GB" altLang="en-US" sz="2400" dirty="0">
                <a:sym typeface="Symbol" panose="05050102010706020507" pitchFamily="18" charset="2"/>
              </a:rPr>
              <a:t>) is true for </a:t>
            </a:r>
            <a:r>
              <a:rPr lang="en-GB" altLang="en-US" sz="2400" i="1" dirty="0">
                <a:sym typeface="Symbol" panose="05050102010706020507" pitchFamily="18" charset="2"/>
              </a:rPr>
              <a:t>n</a:t>
            </a:r>
            <a:r>
              <a:rPr lang="en-GB" altLang="en-US" sz="2400" dirty="0">
                <a:sym typeface="Symbol" panose="05050102010706020507" pitchFamily="18" charset="2"/>
              </a:rPr>
              <a:t> </a:t>
            </a:r>
            <a:r>
              <a:rPr lang="en-GB" altLang="en-US" sz="2400" dirty="0">
                <a:ea typeface="ＭＳ 明朝" panose="02020609040205080304" pitchFamily="49" charset="-128"/>
                <a:sym typeface="Symbol" panose="05050102010706020507" pitchFamily="18" charset="2"/>
              </a:rPr>
              <a:t> </a:t>
            </a:r>
            <a:r>
              <a:rPr lang="en-GB" altLang="en-US" sz="2400" dirty="0">
                <a:ea typeface="ＭＳ 明朝" panose="02020609040205080304" pitchFamily="49" charset="-128"/>
              </a:rPr>
              <a:t>ℕ.</a:t>
            </a:r>
            <a:r>
              <a:rPr lang="en-GB" altLang="en-US" sz="2400" dirty="0">
                <a:sym typeface="Symbol" panose="05050102010706020507" pitchFamily="18" charset="2"/>
              </a:rPr>
              <a:t> </a:t>
            </a:r>
          </a:p>
          <a:p>
            <a:pPr marL="0" indent="0">
              <a:buNone/>
            </a:pPr>
            <a:r>
              <a:rPr lang="en-GB" altLang="en-US" sz="2400" dirty="0">
                <a:sym typeface="Symbol" panose="05050102010706020507" pitchFamily="18" charset="2"/>
              </a:rPr>
              <a:t>Note that </a:t>
            </a:r>
            <a:r>
              <a:rPr lang="en-GB" altLang="en-US" sz="2400" i="1" dirty="0">
                <a:sym typeface="Symbol" panose="05050102010706020507" pitchFamily="18" charset="2"/>
              </a:rPr>
              <a:t>T</a:t>
            </a:r>
            <a:r>
              <a:rPr lang="en-GB" altLang="en-US" sz="2400" dirty="0">
                <a:sym typeface="Symbol" panose="05050102010706020507" pitchFamily="18" charset="2"/>
              </a:rPr>
              <a:t> is a subset of </a:t>
            </a:r>
            <a:r>
              <a:rPr lang="en-GB" altLang="en-US" sz="2400" dirty="0">
                <a:ea typeface="ＭＳ 明朝" panose="02020609040205080304" pitchFamily="49" charset="-128"/>
              </a:rPr>
              <a:t>ℕ. Also, we know the following:</a:t>
            </a:r>
            <a:endParaRPr lang="en-GB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GB" altLang="en-US" sz="2400" dirty="0">
                <a:sym typeface="Symbol" panose="05050102010706020507" pitchFamily="18" charset="2"/>
              </a:rPr>
              <a:t>	1.	CLAIM(1) is true, and</a:t>
            </a:r>
          </a:p>
          <a:p>
            <a:pPr marL="0" indent="0">
              <a:buNone/>
            </a:pPr>
            <a:r>
              <a:rPr lang="en-GB" altLang="en-US" sz="2400" dirty="0">
                <a:sym typeface="Symbol" panose="05050102010706020507" pitchFamily="18" charset="2"/>
              </a:rPr>
              <a:t>	2.	the truth of </a:t>
            </a:r>
            <a:r>
              <a:rPr lang="en-US" altLang="en-US" sz="2400" dirty="0">
                <a:sym typeface="Symbol" panose="05050102010706020507" pitchFamily="18" charset="2"/>
              </a:rPr>
              <a:t>CLAIM(</a:t>
            </a:r>
            <a:r>
              <a:rPr lang="en-US" altLang="en-US" sz="2400" i="1" dirty="0">
                <a:sym typeface="Symbol" panose="05050102010706020507" pitchFamily="18" charset="2"/>
              </a:rPr>
              <a:t>k</a:t>
            </a:r>
            <a:r>
              <a:rPr lang="en-US" altLang="en-US" sz="2400" dirty="0">
                <a:sym typeface="Symbol" panose="05050102010706020507" pitchFamily="18" charset="2"/>
              </a:rPr>
              <a:t>) implies the truth of 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	CLAIM(</a:t>
            </a:r>
            <a:r>
              <a:rPr lang="en-US" altLang="en-US" sz="2400" i="1" dirty="0">
                <a:sym typeface="Symbol" panose="05050102010706020507" pitchFamily="18" charset="2"/>
              </a:rPr>
              <a:t>k</a:t>
            </a:r>
            <a:r>
              <a:rPr lang="en-US" altLang="en-US" sz="2400" dirty="0">
                <a:sym typeface="Symbol" panose="05050102010706020507" pitchFamily="18" charset="2"/>
              </a:rPr>
              <a:t> + 1) for all natural numbers </a:t>
            </a:r>
            <a:r>
              <a:rPr lang="en-US" altLang="en-US" sz="2400" i="1" dirty="0">
                <a:sym typeface="Symbol" panose="05050102010706020507" pitchFamily="18" charset="2"/>
              </a:rPr>
              <a:t>k</a:t>
            </a:r>
            <a:r>
              <a:rPr lang="en-US" altLang="en-US" sz="2400" dirty="0">
                <a:sym typeface="Symbol" panose="05050102010706020507" pitchFamily="18" charset="2"/>
              </a:rPr>
              <a:t>.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Assume </a:t>
            </a:r>
            <a:r>
              <a:rPr lang="en-US" altLang="en-US" sz="2400" i="1" dirty="0">
                <a:sym typeface="Symbol" panose="05050102010706020507" pitchFamily="18" charset="2"/>
              </a:rPr>
              <a:t>T</a:t>
            </a:r>
            <a:r>
              <a:rPr lang="en-US" altLang="en-US" sz="2400" dirty="0">
                <a:sym typeface="Symbol" panose="05050102010706020507" pitchFamily="18" charset="2"/>
              </a:rPr>
              <a:t> is not empty. 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Then </a:t>
            </a:r>
            <a:r>
              <a:rPr lang="en-US" altLang="en-US" sz="2400" i="1" dirty="0">
                <a:sym typeface="Symbol" panose="05050102010706020507" pitchFamily="18" charset="2"/>
              </a:rPr>
              <a:t>T</a:t>
            </a:r>
            <a:r>
              <a:rPr lang="en-US" altLang="en-US" sz="2400" dirty="0">
                <a:sym typeface="Symbol" panose="05050102010706020507" pitchFamily="18" charset="2"/>
              </a:rPr>
              <a:t> has a least element. 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[A result of well-ordering property on </a:t>
            </a:r>
            <a:r>
              <a:rPr lang="en-GB" altLang="en-US" sz="2400" dirty="0">
                <a:ea typeface="ＭＳ 明朝" panose="02020609040205080304" pitchFamily="49" charset="-128"/>
              </a:rPr>
              <a:t>ℕ]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88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88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88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88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388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388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388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388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>
            <a:extLst>
              <a:ext uri="{FF2B5EF4-FFF2-40B4-BE49-F238E27FC236}">
                <a16:creationId xmlns:a16="http://schemas.microsoft.com/office/drawing/2014/main" id="{CCCDD595-FAFF-4433-ACB1-76CE930D1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88BBF44-0DE2-49B3-9A69-83A6B8C304AE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04C6C450-F43E-46AE-91AC-5D38CD27A2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5023" y="449263"/>
            <a:ext cx="10640291" cy="1143000"/>
          </a:xfrm>
        </p:spPr>
        <p:txBody>
          <a:bodyPr/>
          <a:lstStyle/>
          <a:p>
            <a:pPr eaLnBrk="1" hangingPunct="1"/>
            <a:r>
              <a:rPr lang="en-GB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Principle of Mathematical Induction: Proof</a:t>
            </a:r>
          </a:p>
        </p:txBody>
      </p:sp>
      <p:sp>
        <p:nvSpPr>
          <p:cNvPr id="389123" name="Rectangle 3">
            <a:extLst>
              <a:ext uri="{FF2B5EF4-FFF2-40B4-BE49-F238E27FC236}">
                <a16:creationId xmlns:a16="http://schemas.microsoft.com/office/drawing/2014/main" id="{32E3F998-BB90-46CB-8A39-5F39A64495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Let this least element be </a:t>
            </a:r>
            <a:r>
              <a:rPr lang="en-US" altLang="en-US" sz="2400" i="1" dirty="0">
                <a:sym typeface="Symbol" panose="05050102010706020507" pitchFamily="18" charset="2"/>
              </a:rPr>
              <a:t>t</a:t>
            </a:r>
            <a:r>
              <a:rPr lang="en-US" altLang="en-US" sz="2400" baseline="-25000" dirty="0">
                <a:sym typeface="Symbol" panose="05050102010706020507" pitchFamily="18" charset="2"/>
              </a:rPr>
              <a:t>0</a:t>
            </a:r>
            <a:r>
              <a:rPr lang="en-US" altLang="en-US" sz="2400" dirty="0">
                <a:sym typeface="Symbol" panose="05050102010706020507" pitchFamily="18" charset="2"/>
              </a:rPr>
              <a:t>, so 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		CLAIM(</a:t>
            </a:r>
            <a:r>
              <a:rPr lang="en-US" altLang="en-US" sz="2400" i="1" dirty="0">
                <a:sym typeface="Symbol" panose="05050102010706020507" pitchFamily="18" charset="2"/>
              </a:rPr>
              <a:t>t</a:t>
            </a:r>
            <a:r>
              <a:rPr lang="en-US" altLang="en-US" sz="2400" baseline="-25000" dirty="0">
                <a:sym typeface="Symbol" panose="05050102010706020507" pitchFamily="18" charset="2"/>
              </a:rPr>
              <a:t>0</a:t>
            </a:r>
            <a:r>
              <a:rPr lang="en-US" altLang="en-US" sz="2400" dirty="0">
                <a:sym typeface="Symbol" panose="05050102010706020507" pitchFamily="18" charset="2"/>
              </a:rPr>
              <a:t>) is false.			(*) 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By statement 1 above </a:t>
            </a:r>
            <a:r>
              <a:rPr lang="en-US" altLang="en-US" sz="2400" i="1" dirty="0">
                <a:sym typeface="Symbol" panose="05050102010706020507" pitchFamily="18" charset="2"/>
              </a:rPr>
              <a:t>t</a:t>
            </a:r>
            <a:r>
              <a:rPr lang="en-US" altLang="en-US" sz="2400" baseline="-25000" dirty="0">
                <a:sym typeface="Symbol" panose="05050102010706020507" pitchFamily="18" charset="2"/>
              </a:rPr>
              <a:t>0</a:t>
            </a:r>
            <a:r>
              <a:rPr lang="en-US" altLang="en-US" sz="2400" dirty="0">
                <a:sym typeface="Symbol" panose="05050102010706020507" pitchFamily="18" charset="2"/>
              </a:rPr>
              <a:t>  1, so </a:t>
            </a:r>
            <a:r>
              <a:rPr lang="en-US" altLang="en-US" sz="2400" i="1" dirty="0">
                <a:sym typeface="Symbol" panose="05050102010706020507" pitchFamily="18" charset="2"/>
              </a:rPr>
              <a:t>t</a:t>
            </a:r>
            <a:r>
              <a:rPr lang="en-US" altLang="en-US" sz="2400" baseline="-25000" dirty="0">
                <a:sym typeface="Symbol" panose="05050102010706020507" pitchFamily="18" charset="2"/>
              </a:rPr>
              <a:t>0</a:t>
            </a:r>
            <a:r>
              <a:rPr lang="en-US" altLang="en-US" sz="2400" dirty="0">
                <a:sym typeface="Symbol" panose="05050102010706020507" pitchFamily="18" charset="2"/>
              </a:rPr>
              <a:t> - 1 is a natural number. 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Also, </a:t>
            </a:r>
            <a:r>
              <a:rPr lang="en-US" altLang="en-US" sz="2400" i="1" dirty="0">
                <a:sym typeface="Symbol" panose="05050102010706020507" pitchFamily="18" charset="2"/>
              </a:rPr>
              <a:t>t</a:t>
            </a:r>
            <a:r>
              <a:rPr lang="en-US" altLang="en-US" sz="2400" baseline="-25000" dirty="0">
                <a:sym typeface="Symbol" panose="05050102010706020507" pitchFamily="18" charset="2"/>
              </a:rPr>
              <a:t>0</a:t>
            </a:r>
            <a:r>
              <a:rPr lang="en-US" altLang="en-US" sz="2400" dirty="0">
                <a:sym typeface="Symbol" panose="05050102010706020507" pitchFamily="18" charset="2"/>
              </a:rPr>
              <a:t> – 1 is not in </a:t>
            </a:r>
            <a:r>
              <a:rPr lang="en-US" altLang="en-US" sz="2400" i="1" dirty="0">
                <a:sym typeface="Symbol" panose="05050102010706020507" pitchFamily="18" charset="2"/>
              </a:rPr>
              <a:t>T</a:t>
            </a:r>
            <a:r>
              <a:rPr lang="en-US" altLang="en-US" sz="2400" dirty="0">
                <a:sym typeface="Symbol" panose="05050102010706020507" pitchFamily="18" charset="2"/>
              </a:rPr>
              <a:t>. Therefore, CLAIM(</a:t>
            </a:r>
            <a:r>
              <a:rPr lang="en-US" altLang="en-US" sz="2400" i="1" dirty="0">
                <a:sym typeface="Symbol" panose="05050102010706020507" pitchFamily="18" charset="2"/>
              </a:rPr>
              <a:t>t</a:t>
            </a:r>
            <a:r>
              <a:rPr lang="en-US" altLang="en-US" sz="2400" baseline="-25000" dirty="0">
                <a:sym typeface="Symbol" panose="05050102010706020507" pitchFamily="18" charset="2"/>
              </a:rPr>
              <a:t>0</a:t>
            </a:r>
            <a:r>
              <a:rPr lang="en-US" altLang="en-US" sz="2400" dirty="0">
                <a:sym typeface="Symbol" panose="05050102010706020507" pitchFamily="18" charset="2"/>
              </a:rPr>
              <a:t> – 1) is true. However, by statement 2 above,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CLAIM(</a:t>
            </a:r>
            <a:r>
              <a:rPr lang="en-US" altLang="en-US" sz="2400" i="1" dirty="0">
                <a:sym typeface="Symbol" panose="05050102010706020507" pitchFamily="18" charset="2"/>
              </a:rPr>
              <a:t>t</a:t>
            </a:r>
            <a:r>
              <a:rPr lang="en-US" altLang="en-US" sz="2400" baseline="-25000" dirty="0">
                <a:sym typeface="Symbol" panose="05050102010706020507" pitchFamily="18" charset="2"/>
              </a:rPr>
              <a:t>0</a:t>
            </a:r>
            <a:r>
              <a:rPr lang="en-US" altLang="en-US" sz="2400" dirty="0">
                <a:sym typeface="Symbol" panose="05050102010706020507" pitchFamily="18" charset="2"/>
              </a:rPr>
              <a:t> – 1) true implies that 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	CLAIM(</a:t>
            </a:r>
            <a:r>
              <a:rPr lang="en-US" altLang="en-US" sz="2400" i="1" dirty="0">
                <a:sym typeface="Symbol" panose="05050102010706020507" pitchFamily="18" charset="2"/>
              </a:rPr>
              <a:t>t</a:t>
            </a:r>
            <a:r>
              <a:rPr lang="en-US" altLang="en-US" sz="2400" baseline="-25000" dirty="0">
                <a:sym typeface="Symbol" panose="05050102010706020507" pitchFamily="18" charset="2"/>
              </a:rPr>
              <a:t>0</a:t>
            </a:r>
            <a:r>
              <a:rPr lang="en-US" altLang="en-US" sz="2400" dirty="0">
                <a:sym typeface="Symbol" panose="05050102010706020507" pitchFamily="18" charset="2"/>
              </a:rPr>
              <a:t> – 1 + 1) = CLAIM(</a:t>
            </a:r>
            <a:r>
              <a:rPr lang="en-US" altLang="en-US" sz="2400" i="1" dirty="0">
                <a:sym typeface="Symbol" panose="05050102010706020507" pitchFamily="18" charset="2"/>
              </a:rPr>
              <a:t>t</a:t>
            </a:r>
            <a:r>
              <a:rPr lang="en-US" altLang="en-US" sz="2400" baseline="-25000" dirty="0">
                <a:sym typeface="Symbol" panose="05050102010706020507" pitchFamily="18" charset="2"/>
              </a:rPr>
              <a:t>0</a:t>
            </a:r>
            <a:r>
              <a:rPr lang="en-US" altLang="en-US" sz="2400" dirty="0">
                <a:sym typeface="Symbol" panose="05050102010706020507" pitchFamily="18" charset="2"/>
              </a:rPr>
              <a:t>) is true.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This is a contradiction with statement (*). 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So, our assumption that </a:t>
            </a:r>
            <a:r>
              <a:rPr lang="en-US" altLang="en-US" sz="2400" i="1" dirty="0">
                <a:sym typeface="Symbol" panose="05050102010706020507" pitchFamily="18" charset="2"/>
              </a:rPr>
              <a:t>T</a:t>
            </a:r>
            <a:r>
              <a:rPr lang="en-US" altLang="en-US" sz="2400" dirty="0">
                <a:sym typeface="Symbol" panose="05050102010706020507" pitchFamily="18" charset="2"/>
              </a:rPr>
              <a:t> is not empty must be </a:t>
            </a:r>
            <a:r>
              <a:rPr lang="en-US" altLang="en-US" sz="2400" b="1" dirty="0">
                <a:sym typeface="Symbol" panose="05050102010706020507" pitchFamily="18" charset="2"/>
              </a:rPr>
              <a:t>false</a:t>
            </a:r>
            <a:r>
              <a:rPr lang="en-US" altLang="en-US" sz="2400" dirty="0">
                <a:sym typeface="Symbol" panose="05050102010706020507" pitchFamily="18" charset="2"/>
              </a:rPr>
              <a:t>. 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Hence, </a:t>
            </a:r>
            <a:r>
              <a:rPr lang="en-US" altLang="en-US" sz="2400" i="1" dirty="0">
                <a:sym typeface="Symbol" panose="05050102010706020507" pitchFamily="18" charset="2"/>
              </a:rPr>
              <a:t>T</a:t>
            </a:r>
            <a:r>
              <a:rPr lang="en-US" altLang="en-US" sz="2400" dirty="0">
                <a:sym typeface="Symbol" panose="05050102010706020507" pitchFamily="18" charset="2"/>
              </a:rPr>
              <a:t> must be empty. 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Therefore, </a:t>
            </a:r>
            <a:r>
              <a:rPr lang="en-GB" altLang="en-US" sz="2400" dirty="0">
                <a:sym typeface="Symbol" panose="05050102010706020507" pitchFamily="18" charset="2"/>
              </a:rPr>
              <a:t> CLAIM(</a:t>
            </a:r>
            <a:r>
              <a:rPr lang="en-GB" altLang="en-US" sz="2400" i="1" dirty="0">
                <a:sym typeface="Symbol" panose="05050102010706020507" pitchFamily="18" charset="2"/>
              </a:rPr>
              <a:t>n</a:t>
            </a:r>
            <a:r>
              <a:rPr lang="en-GB" altLang="en-US" sz="2400" dirty="0">
                <a:sym typeface="Symbol" panose="05050102010706020507" pitchFamily="18" charset="2"/>
              </a:rPr>
              <a:t>) is true for all </a:t>
            </a:r>
            <a:r>
              <a:rPr lang="en-GB" altLang="en-US" sz="2400" i="1" dirty="0">
                <a:sym typeface="Symbol" panose="05050102010706020507" pitchFamily="18" charset="2"/>
              </a:rPr>
              <a:t>n</a:t>
            </a:r>
            <a:r>
              <a:rPr lang="en-GB" altLang="en-US" sz="2400" dirty="0">
                <a:sym typeface="Symbol" panose="05050102010706020507" pitchFamily="18" charset="2"/>
              </a:rPr>
              <a:t> </a:t>
            </a:r>
            <a:r>
              <a:rPr lang="en-GB" altLang="en-US" sz="2400" dirty="0">
                <a:ea typeface="ＭＳ 明朝" panose="02020609040205080304" pitchFamily="49" charset="-128"/>
                <a:sym typeface="Symbol" panose="05050102010706020507" pitchFamily="18" charset="2"/>
              </a:rPr>
              <a:t> </a:t>
            </a:r>
            <a:r>
              <a:rPr lang="en-GB" altLang="en-US" sz="2400" dirty="0">
                <a:ea typeface="ＭＳ 明朝" panose="02020609040205080304" pitchFamily="49" charset="-128"/>
              </a:rPr>
              <a:t>ℕ.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89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89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89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89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389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389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389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>
            <a:extLst>
              <a:ext uri="{FF2B5EF4-FFF2-40B4-BE49-F238E27FC236}">
                <a16:creationId xmlns:a16="http://schemas.microsoft.com/office/drawing/2014/main" id="{7E9B3F1C-33E2-4DA1-97F1-D0AC6976F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5AB274D-A0CB-4C90-9597-701670B047D8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76965CDF-7E21-409E-959D-66CAD0350C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GB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Principle of Mathematical Induction: Example</a:t>
            </a:r>
          </a:p>
        </p:txBody>
      </p:sp>
      <p:sp>
        <p:nvSpPr>
          <p:cNvPr id="391171" name="Rectangle 3">
            <a:extLst>
              <a:ext uri="{FF2B5EF4-FFF2-40B4-BE49-F238E27FC236}">
                <a16:creationId xmlns:a16="http://schemas.microsoft.com/office/drawing/2014/main" id="{9D66FA54-6FCA-40FB-9323-B5E46D2A65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13008" y="1781630"/>
            <a:ext cx="8229600" cy="4530725"/>
          </a:xfrm>
        </p:spPr>
        <p:txBody>
          <a:bodyPr/>
          <a:lstStyle/>
          <a:p>
            <a:pPr marL="0" indent="0">
              <a:buNone/>
            </a:pPr>
            <a:endParaRPr lang="en-US" altLang="en-US" sz="10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Prove 1 + 2 + … + </a:t>
            </a:r>
            <a:r>
              <a:rPr lang="en-US" altLang="en-US" sz="2400" i="1" dirty="0"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sym typeface="Symbol" panose="05050102010706020507" pitchFamily="18" charset="2"/>
              </a:rPr>
              <a:t>                           ,  for </a:t>
            </a:r>
            <a:r>
              <a:rPr lang="en-GB" altLang="en-US" sz="2400" i="1" dirty="0">
                <a:sym typeface="Symbol" panose="05050102010706020507" pitchFamily="18" charset="2"/>
              </a:rPr>
              <a:t>n</a:t>
            </a:r>
            <a:r>
              <a:rPr lang="en-GB" altLang="en-US" sz="2400" dirty="0">
                <a:sym typeface="Symbol" panose="05050102010706020507" pitchFamily="18" charset="2"/>
              </a:rPr>
              <a:t> </a:t>
            </a:r>
            <a:r>
              <a:rPr lang="en-GB" altLang="en-US" sz="2400" dirty="0">
                <a:ea typeface="ＭＳ 明朝" panose="02020609040205080304" pitchFamily="49" charset="-128"/>
                <a:sym typeface="Symbol" panose="05050102010706020507" pitchFamily="18" charset="2"/>
              </a:rPr>
              <a:t> </a:t>
            </a:r>
            <a:r>
              <a:rPr lang="en-GB" altLang="en-US" sz="2400" dirty="0">
                <a:ea typeface="ＭＳ 明朝" panose="02020609040205080304" pitchFamily="49" charset="-128"/>
              </a:rPr>
              <a:t>ℕ.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US" altLang="en-US" sz="20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Let CLAIM(</a:t>
            </a:r>
            <a:r>
              <a:rPr lang="en-US" altLang="en-US" sz="2400" i="1" dirty="0"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sym typeface="Symbol" panose="05050102010706020507" pitchFamily="18" charset="2"/>
              </a:rPr>
              <a:t>) be “1 + 2 + … + </a:t>
            </a:r>
            <a:r>
              <a:rPr lang="en-US" altLang="en-US" sz="2400" i="1" dirty="0"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sym typeface="Symbol" panose="05050102010706020507" pitchFamily="18" charset="2"/>
              </a:rPr>
              <a:t>                        ”.</a:t>
            </a:r>
          </a:p>
          <a:p>
            <a:pPr marL="0" indent="0">
              <a:buNone/>
            </a:pPr>
            <a:endParaRPr lang="en-US" altLang="en-US" sz="10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Does the claim satisfy the conditions of the Principle of Mathematical Induction?</a:t>
            </a:r>
          </a:p>
          <a:p>
            <a:pPr marL="0" indent="0">
              <a:buNone/>
            </a:pPr>
            <a:r>
              <a:rPr lang="en-GB" altLang="en-US" sz="2400" dirty="0">
                <a:sym typeface="Symbol" panose="05050102010706020507" pitchFamily="18" charset="2"/>
              </a:rPr>
              <a:t>1.	Is CLAIM(1) true?</a:t>
            </a:r>
          </a:p>
          <a:p>
            <a:pPr marL="0" indent="0">
              <a:buNone/>
            </a:pPr>
            <a:endParaRPr lang="en-GB" altLang="en-US" sz="10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GB" altLang="en-US" sz="2400" dirty="0">
                <a:sym typeface="Symbol" panose="05050102010706020507" pitchFamily="18" charset="2"/>
              </a:rPr>
              <a:t>	CLAIM(1) is                          . LHS = 1; RHS =             .	</a:t>
            </a:r>
          </a:p>
          <a:p>
            <a:pPr marL="0" indent="0">
              <a:buNone/>
            </a:pPr>
            <a:endParaRPr lang="en-GB" altLang="en-US" sz="10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GB" altLang="en-US" sz="2400" dirty="0">
                <a:sym typeface="Symbol" panose="05050102010706020507" pitchFamily="18" charset="2"/>
              </a:rPr>
              <a:t>	Therefore, LHS = RHS and so CLAIM(1) is true.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69" name="Object 4">
                <a:extLst>
                  <a:ext uri="{FF2B5EF4-FFF2-40B4-BE49-F238E27FC236}">
                    <a16:creationId xmlns:a16="http://schemas.microsoft.com/office/drawing/2014/main" id="{527CE0C4-9F0F-4818-AE58-85B5BB35D643}"/>
                  </a:ext>
                </a:extLst>
              </p:cNvPr>
              <p:cNvSpPr txBox="1"/>
              <p:nvPr/>
            </p:nvSpPr>
            <p:spPr bwMode="auto">
              <a:xfrm>
                <a:off x="4459793" y="1851024"/>
                <a:ext cx="1289050" cy="7889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SG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SG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num>
                        <m:den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11269" name="Object 4">
                <a:extLst>
                  <a:ext uri="{FF2B5EF4-FFF2-40B4-BE49-F238E27FC236}">
                    <a16:creationId xmlns:a16="http://schemas.microsoft.com/office/drawing/2014/main" id="{527CE0C4-9F0F-4818-AE58-85B5BB35D6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59793" y="1851024"/>
                <a:ext cx="1289050" cy="788988"/>
              </a:xfrm>
              <a:prstGeom prst="rect">
                <a:avLst/>
              </a:prstGeom>
              <a:blipFill>
                <a:blip r:embed="rId2"/>
                <a:stretch>
                  <a:fillRect r="-2037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1176" name="Object 8">
                <a:extLst>
                  <a:ext uri="{FF2B5EF4-FFF2-40B4-BE49-F238E27FC236}">
                    <a16:creationId xmlns:a16="http://schemas.microsoft.com/office/drawing/2014/main" id="{32ECA002-F8CC-4176-8F47-1AC243E62217}"/>
                  </a:ext>
                </a:extLst>
              </p:cNvPr>
              <p:cNvSpPr txBox="1"/>
              <p:nvPr/>
            </p:nvSpPr>
            <p:spPr bwMode="auto">
              <a:xfrm>
                <a:off x="4019294" y="4680875"/>
                <a:ext cx="1729549" cy="8951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SG" sz="2400" i="1">
                          <a:latin typeface="Cambria Math" panose="02040503050406030204" pitchFamily="18" charset="0"/>
                        </a:rPr>
                        <m:t>1=</m:t>
                      </m:r>
                      <m:f>
                        <m:fPr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1</m:t>
                          </m:r>
                          <m:d>
                            <m:dPr>
                              <m:ctrlPr>
                                <a:rPr lang="en-SG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1+1</m:t>
                              </m:r>
                            </m:e>
                          </m:d>
                        </m:num>
                        <m:den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391176" name="Object 8">
                <a:extLst>
                  <a:ext uri="{FF2B5EF4-FFF2-40B4-BE49-F238E27FC236}">
                    <a16:creationId xmlns:a16="http://schemas.microsoft.com/office/drawing/2014/main" id="{32ECA002-F8CC-4176-8F47-1AC243E622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19294" y="4680875"/>
                <a:ext cx="1729549" cy="8951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1178" name="Object 10">
                <a:extLst>
                  <a:ext uri="{FF2B5EF4-FFF2-40B4-BE49-F238E27FC236}">
                    <a16:creationId xmlns:a16="http://schemas.microsoft.com/office/drawing/2014/main" id="{FCA5BE4D-FEDE-47B3-9FDD-CAB25853934D}"/>
                  </a:ext>
                </a:extLst>
              </p:cNvPr>
              <p:cNvSpPr txBox="1"/>
              <p:nvPr/>
            </p:nvSpPr>
            <p:spPr bwMode="auto">
              <a:xfrm>
                <a:off x="7669669" y="4680875"/>
                <a:ext cx="940931" cy="8951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SG" sz="2400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391178" name="Object 10">
                <a:extLst>
                  <a:ext uri="{FF2B5EF4-FFF2-40B4-BE49-F238E27FC236}">
                    <a16:creationId xmlns:a16="http://schemas.microsoft.com/office/drawing/2014/main" id="{FCA5BE4D-FEDE-47B3-9FDD-CAB2585393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69669" y="4680875"/>
                <a:ext cx="940931" cy="8951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4">
                <a:extLst>
                  <a:ext uri="{FF2B5EF4-FFF2-40B4-BE49-F238E27FC236}">
                    <a16:creationId xmlns:a16="http://schemas.microsoft.com/office/drawing/2014/main" id="{F716C556-DB39-4C9F-9F2C-7519130EAA69}"/>
                  </a:ext>
                </a:extLst>
              </p:cNvPr>
              <p:cNvSpPr txBox="1"/>
              <p:nvPr/>
            </p:nvSpPr>
            <p:spPr bwMode="auto">
              <a:xfrm>
                <a:off x="5748843" y="2640012"/>
                <a:ext cx="1289050" cy="7889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SG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SG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num>
                        <m:den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2" name="Object 4">
                <a:extLst>
                  <a:ext uri="{FF2B5EF4-FFF2-40B4-BE49-F238E27FC236}">
                    <a16:creationId xmlns:a16="http://schemas.microsoft.com/office/drawing/2014/main" id="{F716C556-DB39-4C9F-9F2C-7519130EAA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48843" y="2640012"/>
                <a:ext cx="1289050" cy="788988"/>
              </a:xfrm>
              <a:prstGeom prst="rect">
                <a:avLst/>
              </a:prstGeom>
              <a:blipFill>
                <a:blip r:embed="rId5"/>
                <a:stretch>
                  <a:fillRect r="-202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91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391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391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391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391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391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3911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1176" grpId="0"/>
      <p:bldP spid="391178" grpId="0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>
            <a:extLst>
              <a:ext uri="{FF2B5EF4-FFF2-40B4-BE49-F238E27FC236}">
                <a16:creationId xmlns:a16="http://schemas.microsoft.com/office/drawing/2014/main" id="{42E2127B-A1EC-4B4B-8B95-758886573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0B596EA-4A2A-4E0A-8908-65308D9CC819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719B02ED-DBA0-43C9-A8D3-44410EF561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GB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Principle of Mathematical Induction: Example</a:t>
            </a:r>
          </a:p>
        </p:txBody>
      </p:sp>
      <p:sp>
        <p:nvSpPr>
          <p:cNvPr id="393219" name="Rectangle 3">
            <a:extLst>
              <a:ext uri="{FF2B5EF4-FFF2-40B4-BE49-F238E27FC236}">
                <a16:creationId xmlns:a16="http://schemas.microsoft.com/office/drawing/2014/main" id="{48F6D2DC-B3A4-4A49-919E-C4E572C836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GB" altLang="en-US" sz="2400" dirty="0">
                <a:sym typeface="Symbol" panose="05050102010706020507" pitchFamily="18" charset="2"/>
              </a:rPr>
              <a:t>2.	We must show that for </a:t>
            </a:r>
            <a:r>
              <a:rPr lang="en-GB" altLang="en-US" sz="2400" i="1" dirty="0">
                <a:sym typeface="Symbol" panose="05050102010706020507" pitchFamily="18" charset="2"/>
              </a:rPr>
              <a:t>k</a:t>
            </a:r>
            <a:r>
              <a:rPr lang="en-GB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 1, 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	CLAIM(</a:t>
            </a:r>
            <a:r>
              <a:rPr lang="en-US" altLang="en-US" sz="2400" i="1" dirty="0">
                <a:sym typeface="Symbol" panose="05050102010706020507" pitchFamily="18" charset="2"/>
              </a:rPr>
              <a:t>k</a:t>
            </a:r>
            <a:r>
              <a:rPr lang="en-US" altLang="en-US" sz="2400" dirty="0">
                <a:sym typeface="Symbol" panose="05050102010706020507" pitchFamily="18" charset="2"/>
              </a:rPr>
              <a:t>) is true  CLAIM(</a:t>
            </a:r>
            <a:r>
              <a:rPr lang="en-US" altLang="en-US" sz="2400" i="1" dirty="0">
                <a:sym typeface="Symbol" panose="05050102010706020507" pitchFamily="18" charset="2"/>
              </a:rPr>
              <a:t>k</a:t>
            </a:r>
            <a:r>
              <a:rPr lang="en-US" altLang="en-US" sz="2400" dirty="0">
                <a:sym typeface="Symbol" panose="05050102010706020507" pitchFamily="18" charset="2"/>
              </a:rPr>
              <a:t> + 1) is true.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Assume </a:t>
            </a:r>
            <a:r>
              <a:rPr lang="en-GB" altLang="en-US" sz="2400" dirty="0">
                <a:sym typeface="Symbol" panose="05050102010706020507" pitchFamily="18" charset="2"/>
              </a:rPr>
              <a:t>CLAIM(</a:t>
            </a:r>
            <a:r>
              <a:rPr lang="en-GB" altLang="en-US" sz="2400" i="1" dirty="0">
                <a:sym typeface="Symbol" panose="05050102010706020507" pitchFamily="18" charset="2"/>
              </a:rPr>
              <a:t>k</a:t>
            </a:r>
            <a:r>
              <a:rPr lang="en-GB" altLang="en-US" sz="2400" dirty="0">
                <a:sym typeface="Symbol" panose="05050102010706020507" pitchFamily="18" charset="2"/>
              </a:rPr>
              <a:t>) is true, that is, </a:t>
            </a:r>
          </a:p>
          <a:p>
            <a:pPr marL="0" indent="0">
              <a:buNone/>
            </a:pPr>
            <a:endParaRPr lang="en-GB" altLang="en-US" sz="10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GB" altLang="en-US" sz="2400" dirty="0">
                <a:sym typeface="Symbol" panose="05050102010706020507" pitchFamily="18" charset="2"/>
              </a:rPr>
              <a:t>		1 + 2 + … + </a:t>
            </a:r>
            <a:r>
              <a:rPr lang="en-GB" altLang="en-US" sz="2400" i="1" dirty="0">
                <a:sym typeface="Symbol" panose="05050102010706020507" pitchFamily="18" charset="2"/>
              </a:rPr>
              <a:t>k</a:t>
            </a:r>
            <a:r>
              <a:rPr lang="en-GB" altLang="en-US" sz="2400" dirty="0">
                <a:sym typeface="Symbol" panose="05050102010706020507" pitchFamily="18" charset="2"/>
              </a:rPr>
              <a:t>                       		(*)</a:t>
            </a:r>
          </a:p>
          <a:p>
            <a:pPr marL="0" indent="0">
              <a:buNone/>
            </a:pPr>
            <a:endParaRPr lang="en-GB" altLang="en-US" sz="10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GB" altLang="en-US" sz="2400" dirty="0">
                <a:sym typeface="Symbol" panose="05050102010706020507" pitchFamily="18" charset="2"/>
              </a:rPr>
              <a:t>	Prove CLAIM(</a:t>
            </a:r>
            <a:r>
              <a:rPr lang="en-GB" altLang="en-US" sz="2400" i="1" dirty="0">
                <a:sym typeface="Symbol" panose="05050102010706020507" pitchFamily="18" charset="2"/>
              </a:rPr>
              <a:t>k </a:t>
            </a:r>
            <a:r>
              <a:rPr lang="en-GB" altLang="en-US" sz="2400" dirty="0">
                <a:sym typeface="Symbol" panose="05050102010706020507" pitchFamily="18" charset="2"/>
              </a:rPr>
              <a:t>+ 1) is true, that is,</a:t>
            </a:r>
          </a:p>
          <a:p>
            <a:pPr marL="0" indent="0">
              <a:buNone/>
            </a:pPr>
            <a:endParaRPr lang="en-GB" altLang="en-US" sz="10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GB" altLang="en-US" sz="2400" dirty="0">
                <a:sym typeface="Symbol" panose="05050102010706020507" pitchFamily="18" charset="2"/>
              </a:rPr>
              <a:t>		 1 + 2 + … + </a:t>
            </a:r>
            <a:r>
              <a:rPr lang="en-GB" altLang="en-US" sz="2400" i="1" dirty="0">
                <a:sym typeface="Symbol" panose="05050102010706020507" pitchFamily="18" charset="2"/>
              </a:rPr>
              <a:t>k</a:t>
            </a:r>
            <a:r>
              <a:rPr lang="en-GB" altLang="en-US" sz="2400" dirty="0">
                <a:sym typeface="Symbol" panose="05050102010706020507" pitchFamily="18" charset="2"/>
              </a:rPr>
              <a:t> + (</a:t>
            </a:r>
            <a:r>
              <a:rPr lang="en-GB" altLang="en-US" sz="2400" i="1" dirty="0">
                <a:sym typeface="Symbol" panose="05050102010706020507" pitchFamily="18" charset="2"/>
              </a:rPr>
              <a:t>k</a:t>
            </a:r>
            <a:r>
              <a:rPr lang="en-GB" altLang="en-US" sz="2400" dirty="0">
                <a:sym typeface="Symbol" panose="05050102010706020507" pitchFamily="18" charset="2"/>
              </a:rPr>
              <a:t> + 1)                                      </a:t>
            </a:r>
          </a:p>
          <a:p>
            <a:pPr marL="0" indent="0">
              <a:buNone/>
            </a:pPr>
            <a:endParaRPr lang="en-GB" altLang="en-US" sz="1000" dirty="0">
              <a:sym typeface="Symbol" panose="05050102010706020507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3220" name="Object 4">
                <a:extLst>
                  <a:ext uri="{FF2B5EF4-FFF2-40B4-BE49-F238E27FC236}">
                    <a16:creationId xmlns:a16="http://schemas.microsoft.com/office/drawing/2014/main" id="{725A25C5-787B-4527-8522-1ABD45927A4B}"/>
                  </a:ext>
                </a:extLst>
              </p:cNvPr>
              <p:cNvSpPr txBox="1"/>
              <p:nvPr/>
            </p:nvSpPr>
            <p:spPr bwMode="auto">
              <a:xfrm>
                <a:off x="5672138" y="3117850"/>
                <a:ext cx="1563730" cy="8763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SG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d>
                            <m:dPr>
                              <m:ctrlPr>
                                <a:rPr lang="en-SG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num>
                        <m:den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393220" name="Object 4">
                <a:extLst>
                  <a:ext uri="{FF2B5EF4-FFF2-40B4-BE49-F238E27FC236}">
                    <a16:creationId xmlns:a16="http://schemas.microsoft.com/office/drawing/2014/main" id="{725A25C5-787B-4527-8522-1ABD45927A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72138" y="3117850"/>
                <a:ext cx="1563730" cy="87630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3222" name="Object 6">
                <a:extLst>
                  <a:ext uri="{FF2B5EF4-FFF2-40B4-BE49-F238E27FC236}">
                    <a16:creationId xmlns:a16="http://schemas.microsoft.com/office/drawing/2014/main" id="{0466023D-BAFD-4475-A200-8FB7BFFF2DF1}"/>
                  </a:ext>
                </a:extLst>
              </p:cNvPr>
              <p:cNvSpPr txBox="1"/>
              <p:nvPr/>
            </p:nvSpPr>
            <p:spPr bwMode="auto">
              <a:xfrm>
                <a:off x="6096000" y="4471196"/>
                <a:ext cx="2616157" cy="10048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SG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SG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d>
                            <m:dPr>
                              <m:ctrlPr>
                                <a:rPr lang="en-SG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+1+1</m:t>
                              </m:r>
                            </m:e>
                          </m:d>
                        </m:num>
                        <m:den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393222" name="Object 6">
                <a:extLst>
                  <a:ext uri="{FF2B5EF4-FFF2-40B4-BE49-F238E27FC236}">
                    <a16:creationId xmlns:a16="http://schemas.microsoft.com/office/drawing/2014/main" id="{0466023D-BAFD-4475-A200-8FB7BFFF2D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6000" y="4471196"/>
                <a:ext cx="2616157" cy="1004886"/>
              </a:xfrm>
              <a:prstGeom prst="rect">
                <a:avLst/>
              </a:prstGeom>
              <a:blipFill>
                <a:blip r:embed="rId3"/>
                <a:stretch>
                  <a:fillRect r="-46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3226" name="Object 10">
                <a:extLst>
                  <a:ext uri="{FF2B5EF4-FFF2-40B4-BE49-F238E27FC236}">
                    <a16:creationId xmlns:a16="http://schemas.microsoft.com/office/drawing/2014/main" id="{B3F34993-57C7-46C1-9FFF-06C4A5EE80C8}"/>
                  </a:ext>
                </a:extLst>
              </p:cNvPr>
              <p:cNvSpPr txBox="1"/>
              <p:nvPr/>
            </p:nvSpPr>
            <p:spPr bwMode="auto">
              <a:xfrm>
                <a:off x="6096000" y="5288361"/>
                <a:ext cx="2514600" cy="835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SG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SG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d>
                            <m:dPr>
                              <m:ctrlPr>
                                <a:rPr lang="en-SG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e>
                          </m:d>
                        </m:num>
                        <m:den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393226" name="Object 10">
                <a:extLst>
                  <a:ext uri="{FF2B5EF4-FFF2-40B4-BE49-F238E27FC236}">
                    <a16:creationId xmlns:a16="http://schemas.microsoft.com/office/drawing/2014/main" id="{B3F34993-57C7-46C1-9FFF-06C4A5EE80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6000" y="5288361"/>
                <a:ext cx="2514600" cy="8350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93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93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93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393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393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393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393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393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3220" grpId="0"/>
      <p:bldP spid="393222" grpId="0"/>
      <p:bldP spid="39322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>
            <a:extLst>
              <a:ext uri="{FF2B5EF4-FFF2-40B4-BE49-F238E27FC236}">
                <a16:creationId xmlns:a16="http://schemas.microsoft.com/office/drawing/2014/main" id="{46852541-12F7-4C37-9D83-25918CD42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399D1AC-A7A1-4B9C-A39B-AD6C5280D896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ADA219D3-AA92-4FBF-88E3-772DF4AEA6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GB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Principle of Mathematical Induction: Example</a:t>
            </a:r>
          </a:p>
        </p:txBody>
      </p:sp>
      <p:sp>
        <p:nvSpPr>
          <p:cNvPr id="394243" name="Rectangle 3">
            <a:extLst>
              <a:ext uri="{FF2B5EF4-FFF2-40B4-BE49-F238E27FC236}">
                <a16:creationId xmlns:a16="http://schemas.microsoft.com/office/drawing/2014/main" id="{C037804D-7EB8-452A-AB35-66F1363722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6261" y="1771650"/>
            <a:ext cx="11709070" cy="473602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altLang="en-US" sz="2400" dirty="0">
                <a:sym typeface="Symbol" panose="05050102010706020507" pitchFamily="18" charset="2"/>
              </a:rPr>
              <a:t>	LHS = 1 + 2 + … + </a:t>
            </a:r>
            <a:r>
              <a:rPr lang="en-GB" altLang="en-US" sz="2400" i="1" dirty="0">
                <a:sym typeface="Symbol" panose="05050102010706020507" pitchFamily="18" charset="2"/>
              </a:rPr>
              <a:t>k</a:t>
            </a:r>
            <a:r>
              <a:rPr lang="en-GB" altLang="en-US" sz="2400" dirty="0">
                <a:sym typeface="Symbol" panose="05050102010706020507" pitchFamily="18" charset="2"/>
              </a:rPr>
              <a:t> + (</a:t>
            </a:r>
            <a:r>
              <a:rPr lang="en-GB" altLang="en-US" sz="2400" i="1" dirty="0">
                <a:sym typeface="Symbol" panose="05050102010706020507" pitchFamily="18" charset="2"/>
              </a:rPr>
              <a:t>k</a:t>
            </a:r>
            <a:r>
              <a:rPr lang="en-GB" altLang="en-US" sz="2400" dirty="0">
                <a:sym typeface="Symbol" panose="05050102010706020507" pitchFamily="18" charset="2"/>
              </a:rPr>
              <a:t> + 1)</a:t>
            </a:r>
          </a:p>
          <a:p>
            <a:pPr marL="0" indent="0">
              <a:buNone/>
            </a:pPr>
            <a:r>
              <a:rPr lang="en-GB" altLang="en-US" sz="2400" dirty="0">
                <a:sym typeface="Symbol" panose="05050102010706020507" pitchFamily="18" charset="2"/>
              </a:rPr>
              <a:t>	</a:t>
            </a:r>
          </a:p>
          <a:p>
            <a:pPr marL="0" indent="0">
              <a:buNone/>
            </a:pPr>
            <a:endParaRPr lang="en-GB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GB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GB" altLang="en-US" sz="2400" dirty="0">
                <a:sym typeface="Symbol" panose="05050102010706020507" pitchFamily="18" charset="2"/>
              </a:rPr>
              <a:t>					</a:t>
            </a:r>
          </a:p>
          <a:p>
            <a:pPr marL="0" indent="0">
              <a:buNone/>
            </a:pPr>
            <a:endParaRPr lang="en-GB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GB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GB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GB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GB" altLang="en-US" sz="2400" dirty="0">
                <a:sym typeface="Symbol" panose="05050102010706020507" pitchFamily="18" charset="2"/>
              </a:rPr>
              <a:t>Therefore, LHS = RHS.</a:t>
            </a:r>
          </a:p>
          <a:p>
            <a:pPr marL="0" indent="0">
              <a:buNone/>
            </a:pPr>
            <a:r>
              <a:rPr lang="en-GB" altLang="en-US" sz="2400" dirty="0">
                <a:sym typeface="Symbol" panose="05050102010706020507" pitchFamily="18" charset="2"/>
              </a:rPr>
              <a:t>Therefore, CLAIM(</a:t>
            </a:r>
            <a:r>
              <a:rPr lang="en-GB" altLang="en-US" sz="2400" i="1" dirty="0">
                <a:sym typeface="Symbol" panose="05050102010706020507" pitchFamily="18" charset="2"/>
              </a:rPr>
              <a:t>k </a:t>
            </a:r>
            <a:r>
              <a:rPr lang="en-GB" altLang="en-US" sz="2400" dirty="0">
                <a:sym typeface="Symbol" panose="05050102010706020507" pitchFamily="18" charset="2"/>
              </a:rPr>
              <a:t>+ 1) is true. </a:t>
            </a:r>
          </a:p>
          <a:p>
            <a:pPr marL="0" indent="0">
              <a:buNone/>
            </a:pPr>
            <a:r>
              <a:rPr lang="en-GB" altLang="en-US" sz="2400" dirty="0">
                <a:sym typeface="Symbol" panose="05050102010706020507" pitchFamily="18" charset="2"/>
              </a:rPr>
              <a:t>So, CLAIM(</a:t>
            </a:r>
            <a:r>
              <a:rPr lang="en-GB" altLang="en-US" sz="2400" i="1" dirty="0">
                <a:sym typeface="Symbol" panose="05050102010706020507" pitchFamily="18" charset="2"/>
              </a:rPr>
              <a:t>n</a:t>
            </a:r>
            <a:r>
              <a:rPr lang="en-GB" altLang="en-US" sz="2400" dirty="0">
                <a:sym typeface="Symbol" panose="05050102010706020507" pitchFamily="18" charset="2"/>
              </a:rPr>
              <a:t>) satisfies both the conditions of the Principle of Mathematical Induction.</a:t>
            </a:r>
          </a:p>
          <a:p>
            <a:pPr marL="0" indent="0">
              <a:buNone/>
            </a:pPr>
            <a:r>
              <a:rPr lang="en-GB" altLang="en-US" sz="2400" dirty="0">
                <a:sym typeface="Symbol" panose="05050102010706020507" pitchFamily="18" charset="2"/>
              </a:rPr>
              <a:t>Therefore, by induction, CLAIM(</a:t>
            </a:r>
            <a:r>
              <a:rPr lang="en-GB" altLang="en-US" sz="2400" i="1" dirty="0">
                <a:sym typeface="Symbol" panose="05050102010706020507" pitchFamily="18" charset="2"/>
              </a:rPr>
              <a:t>n</a:t>
            </a:r>
            <a:r>
              <a:rPr lang="en-GB" altLang="en-US" sz="2400" dirty="0">
                <a:sym typeface="Symbol" panose="05050102010706020507" pitchFamily="18" charset="2"/>
              </a:rPr>
              <a:t>) is true for all </a:t>
            </a:r>
            <a:r>
              <a:rPr lang="en-GB" altLang="en-US" sz="2400" i="1" dirty="0">
                <a:sym typeface="Symbol" panose="05050102010706020507" pitchFamily="18" charset="2"/>
              </a:rPr>
              <a:t>n</a:t>
            </a:r>
            <a:r>
              <a:rPr lang="en-GB" altLang="en-US" sz="2400" dirty="0">
                <a:sym typeface="Symbol" panose="05050102010706020507" pitchFamily="18" charset="2"/>
              </a:rPr>
              <a:t> </a:t>
            </a:r>
            <a:r>
              <a:rPr lang="en-GB" altLang="en-US" sz="2400" dirty="0">
                <a:ea typeface="ＭＳ 明朝" panose="02020609040205080304" pitchFamily="49" charset="-128"/>
                <a:sym typeface="Symbol" panose="05050102010706020507" pitchFamily="18" charset="2"/>
              </a:rPr>
              <a:t> </a:t>
            </a:r>
            <a:r>
              <a:rPr lang="en-GB" altLang="en-US" sz="2400" dirty="0">
                <a:ea typeface="ＭＳ 明朝" panose="02020609040205080304" pitchFamily="49" charset="-128"/>
              </a:rPr>
              <a:t>ℕ.</a:t>
            </a:r>
            <a:endParaRPr lang="en-GB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GB" altLang="en-US" sz="2400" dirty="0">
              <a:sym typeface="Symbol" panose="05050102010706020507" pitchFamily="18" charset="2"/>
            </a:endParaRPr>
          </a:p>
        </p:txBody>
      </p:sp>
      <p:sp>
        <p:nvSpPr>
          <p:cNvPr id="13317" name="Rectangle 7">
            <a:extLst>
              <a:ext uri="{FF2B5EF4-FFF2-40B4-BE49-F238E27FC236}">
                <a16:creationId xmlns:a16="http://schemas.microsoft.com/office/drawing/2014/main" id="{43BAF3CD-4D0D-4584-8800-607FF95CAF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4907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4246" name="Object 6">
                <a:extLst>
                  <a:ext uri="{FF2B5EF4-FFF2-40B4-BE49-F238E27FC236}">
                    <a16:creationId xmlns:a16="http://schemas.microsoft.com/office/drawing/2014/main" id="{E9AB6BE5-A312-4721-A8A4-40D064E5CE91}"/>
                  </a:ext>
                </a:extLst>
              </p:cNvPr>
              <p:cNvSpPr txBox="1"/>
              <p:nvPr/>
            </p:nvSpPr>
            <p:spPr bwMode="auto">
              <a:xfrm>
                <a:off x="2207821" y="2097032"/>
                <a:ext cx="2664738" cy="8635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lang="en-SG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𝑘</m:t>
                        </m:r>
                        <m:d>
                          <m:dPr>
                            <m:ctrlPr>
                              <a:rPr lang="en-SG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SG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SG" sz="2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num>
                      <m:den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SG" sz="2400" dirty="0"/>
                  <a:t> + (K+1) </a:t>
                </a:r>
              </a:p>
            </p:txBody>
          </p:sp>
        </mc:Choice>
        <mc:Fallback xmlns="">
          <p:sp>
            <p:nvSpPr>
              <p:cNvPr id="394246" name="Object 6">
                <a:extLst>
                  <a:ext uri="{FF2B5EF4-FFF2-40B4-BE49-F238E27FC236}">
                    <a16:creationId xmlns:a16="http://schemas.microsoft.com/office/drawing/2014/main" id="{E9AB6BE5-A312-4721-A8A4-40D064E5CE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07821" y="2097032"/>
                <a:ext cx="2664738" cy="8635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4249" name="Object 9">
                <a:extLst>
                  <a:ext uri="{FF2B5EF4-FFF2-40B4-BE49-F238E27FC236}">
                    <a16:creationId xmlns:a16="http://schemas.microsoft.com/office/drawing/2014/main" id="{B511E88D-3001-4850-A37F-0A6BF1440173}"/>
                  </a:ext>
                </a:extLst>
              </p:cNvPr>
              <p:cNvSpPr txBox="1"/>
              <p:nvPr/>
            </p:nvSpPr>
            <p:spPr bwMode="auto">
              <a:xfrm>
                <a:off x="2207821" y="2886011"/>
                <a:ext cx="3081554" cy="9993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SG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d>
                            <m:dPr>
                              <m:ctrlPr>
                                <a:rPr lang="en-SG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num>
                        <m:den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SG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SG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num>
                        <m:den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394249" name="Object 9">
                <a:extLst>
                  <a:ext uri="{FF2B5EF4-FFF2-40B4-BE49-F238E27FC236}">
                    <a16:creationId xmlns:a16="http://schemas.microsoft.com/office/drawing/2014/main" id="{B511E88D-3001-4850-A37F-0A6BF14401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07821" y="2886011"/>
                <a:ext cx="3081554" cy="9993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4248" name="Object 8">
                <a:extLst>
                  <a:ext uri="{FF2B5EF4-FFF2-40B4-BE49-F238E27FC236}">
                    <a16:creationId xmlns:a16="http://schemas.microsoft.com/office/drawing/2014/main" id="{BEBE251F-546F-4F78-9816-5FE679B57069}"/>
                  </a:ext>
                </a:extLst>
              </p:cNvPr>
              <p:cNvSpPr txBox="1"/>
              <p:nvPr/>
            </p:nvSpPr>
            <p:spPr bwMode="auto">
              <a:xfrm>
                <a:off x="2216562" y="3713100"/>
                <a:ext cx="1919288" cy="78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SG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SG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d>
                            <m:dPr>
                              <m:ctrlPr>
                                <a:rPr lang="en-SG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e>
                          </m:d>
                        </m:num>
                        <m:den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394248" name="Object 8">
                <a:extLst>
                  <a:ext uri="{FF2B5EF4-FFF2-40B4-BE49-F238E27FC236}">
                    <a16:creationId xmlns:a16="http://schemas.microsoft.com/office/drawing/2014/main" id="{BEBE251F-546F-4F78-9816-5FE679B570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16562" y="3713100"/>
                <a:ext cx="1919288" cy="787400"/>
              </a:xfrm>
              <a:prstGeom prst="rect">
                <a:avLst/>
              </a:prstGeom>
              <a:blipFill>
                <a:blip r:embed="rId4"/>
                <a:stretch>
                  <a:fillRect r="-2133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21" name="Rectangle 10">
            <a:extLst>
              <a:ext uri="{FF2B5EF4-FFF2-40B4-BE49-F238E27FC236}">
                <a16:creationId xmlns:a16="http://schemas.microsoft.com/office/drawing/2014/main" id="{BAEFC2A0-2B2A-4540-9501-56C99BF937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85380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22" name="Rectangle 11">
            <a:extLst>
              <a:ext uri="{FF2B5EF4-FFF2-40B4-BE49-F238E27FC236}">
                <a16:creationId xmlns:a16="http://schemas.microsoft.com/office/drawing/2014/main" id="{596E93A0-F0E9-443E-9D13-D66930B149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2443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4253" name="Text Box 13">
            <a:extLst>
              <a:ext uri="{FF2B5EF4-FFF2-40B4-BE49-F238E27FC236}">
                <a16:creationId xmlns:a16="http://schemas.microsoft.com/office/drawing/2014/main" id="{5AB79573-0166-4A0E-93C0-7EEDAF3424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7027" y="2176392"/>
            <a:ext cx="1770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>
                <a:cs typeface="Arial" panose="020B0604020202020204" pitchFamily="34" charset="0"/>
              </a:rPr>
              <a:t>(Using *)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94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94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394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394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394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394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3942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3942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4246" grpId="0"/>
      <p:bldP spid="394249" grpId="0"/>
      <p:bldP spid="394248" grpId="0"/>
      <p:bldP spid="39425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>
            <a:extLst>
              <a:ext uri="{FF2B5EF4-FFF2-40B4-BE49-F238E27FC236}">
                <a16:creationId xmlns:a16="http://schemas.microsoft.com/office/drawing/2014/main" id="{228AD3E0-EB33-4060-9A51-A558D947D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DD76881-2BAC-4C37-B35D-7B5048252E98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C49CC74C-5807-4368-BE2A-445A0A7742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36525"/>
            <a:ext cx="8229600" cy="1143000"/>
          </a:xfrm>
        </p:spPr>
        <p:txBody>
          <a:bodyPr/>
          <a:lstStyle/>
          <a:p>
            <a:pPr eaLnBrk="1" hangingPunct="1"/>
            <a:r>
              <a:rPr lang="en-GB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Principle of Mathematical Induction: Summary</a:t>
            </a:r>
          </a:p>
        </p:txBody>
      </p:sp>
      <p:sp>
        <p:nvSpPr>
          <p:cNvPr id="395267" name="Rectangle 3">
            <a:extLst>
              <a:ext uri="{FF2B5EF4-FFF2-40B4-BE49-F238E27FC236}">
                <a16:creationId xmlns:a16="http://schemas.microsoft.com/office/drawing/2014/main" id="{292B5003-8714-4CC0-ABB7-FEAF966A09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497014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GB" altLang="en-US" sz="2400" dirty="0">
                <a:sym typeface="Symbol" panose="05050102010706020507" pitchFamily="18" charset="2"/>
              </a:rPr>
              <a:t>To establish an infinite family of claims, (CLAIM(1), CLAIM(2), CLAIM(3), …) using the Principle of Mathematical Induction, it is sufficient to carry out the following two steps:</a:t>
            </a:r>
          </a:p>
          <a:p>
            <a:pPr marL="0" indent="0">
              <a:buNone/>
            </a:pPr>
            <a:endParaRPr lang="en-GB" altLang="en-US" sz="2400" b="1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GB" altLang="en-US" sz="2400" b="1" dirty="0">
                <a:solidFill>
                  <a:srgbClr val="000B22"/>
                </a:solidFill>
                <a:sym typeface="Symbol" panose="05050102010706020507" pitchFamily="18" charset="2"/>
              </a:rPr>
              <a:t>Step 1</a:t>
            </a:r>
            <a:r>
              <a:rPr lang="en-GB" altLang="en-US" sz="2400" dirty="0">
                <a:sym typeface="Symbol" panose="05050102010706020507" pitchFamily="18" charset="2"/>
              </a:rPr>
              <a:t>: Prove that the first claim, CLAIM(1) is true.</a:t>
            </a:r>
          </a:p>
          <a:p>
            <a:pPr marL="0" indent="0">
              <a:buNone/>
            </a:pPr>
            <a:endParaRPr lang="en-GB" altLang="en-US" sz="2400" b="1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GB" altLang="en-US" sz="2400" b="1" dirty="0">
                <a:solidFill>
                  <a:srgbClr val="000B22"/>
                </a:solidFill>
                <a:sym typeface="Symbol" panose="05050102010706020507" pitchFamily="18" charset="2"/>
              </a:rPr>
              <a:t>Step 2</a:t>
            </a:r>
            <a:r>
              <a:rPr lang="en-GB" altLang="en-US" sz="2400" dirty="0">
                <a:sym typeface="Symbol" panose="05050102010706020507" pitchFamily="18" charset="2"/>
              </a:rPr>
              <a:t>: Give a </a:t>
            </a:r>
            <a:r>
              <a:rPr lang="en-GB" altLang="en-US" sz="2400" b="1" i="1" dirty="0">
                <a:solidFill>
                  <a:schemeClr val="hlink"/>
                </a:solidFill>
                <a:sym typeface="Symbol" panose="05050102010706020507" pitchFamily="18" charset="2"/>
              </a:rPr>
              <a:t>general proof</a:t>
            </a:r>
            <a:r>
              <a:rPr lang="en-GB" altLang="en-US" sz="2400" dirty="0">
                <a:sym typeface="Symbol" panose="05050102010706020507" pitchFamily="18" charset="2"/>
              </a:rPr>
              <a:t> that if</a:t>
            </a:r>
            <a:r>
              <a:rPr lang="en-US" altLang="en-US" sz="2400" dirty="0">
                <a:sym typeface="Symbol" panose="05050102010706020507" pitchFamily="18" charset="2"/>
              </a:rPr>
              <a:t> CLAIM(</a:t>
            </a:r>
            <a:r>
              <a:rPr lang="en-US" altLang="en-US" sz="2400" i="1" dirty="0">
                <a:sym typeface="Symbol" panose="05050102010706020507" pitchFamily="18" charset="2"/>
              </a:rPr>
              <a:t>k</a:t>
            </a:r>
            <a:r>
              <a:rPr lang="en-US" altLang="en-US" sz="2400" dirty="0">
                <a:sym typeface="Symbol" panose="05050102010706020507" pitchFamily="18" charset="2"/>
              </a:rPr>
              <a:t>) is true then 	CLAIM(</a:t>
            </a:r>
            <a:r>
              <a:rPr lang="en-US" altLang="en-US" sz="2400" i="1" dirty="0">
                <a:sym typeface="Symbol" panose="05050102010706020507" pitchFamily="18" charset="2"/>
              </a:rPr>
              <a:t>k</a:t>
            </a:r>
            <a:r>
              <a:rPr lang="en-US" altLang="en-US" sz="2400" dirty="0">
                <a:sym typeface="Symbol" panose="05050102010706020507" pitchFamily="18" charset="2"/>
              </a:rPr>
              <a:t> + 1) is also true, whatever the value of</a:t>
            </a:r>
            <a:r>
              <a:rPr lang="en-GB" altLang="en-US" sz="2400" dirty="0">
                <a:sym typeface="Symbol" panose="05050102010706020507" pitchFamily="18" charset="2"/>
              </a:rPr>
              <a:t> </a:t>
            </a:r>
            <a:r>
              <a:rPr lang="en-GB" altLang="en-US" sz="2400" i="1" dirty="0">
                <a:sym typeface="Symbol" panose="05050102010706020507" pitchFamily="18" charset="2"/>
              </a:rPr>
              <a:t>k</a:t>
            </a:r>
            <a:r>
              <a:rPr lang="en-GB" altLang="en-US" sz="2400" dirty="0">
                <a:sym typeface="Symbol" panose="05050102010706020507" pitchFamily="18" charset="2"/>
              </a:rPr>
              <a:t> </a:t>
            </a:r>
            <a:r>
              <a:rPr lang="en-GB" altLang="en-US" sz="2400" dirty="0">
                <a:ea typeface="ＭＳ 明朝" panose="02020609040205080304" pitchFamily="49" charset="-128"/>
                <a:sym typeface="Symbol" panose="05050102010706020507" pitchFamily="18" charset="2"/>
              </a:rPr>
              <a:t> </a:t>
            </a:r>
            <a:r>
              <a:rPr lang="en-GB" altLang="en-US" sz="2400" dirty="0">
                <a:ea typeface="ＭＳ 明朝" panose="02020609040205080304" pitchFamily="49" charset="-128"/>
              </a:rPr>
              <a:t>ℕ.</a:t>
            </a:r>
          </a:p>
          <a:p>
            <a:pPr marL="0" indent="0">
              <a:buNone/>
            </a:pPr>
            <a:endParaRPr lang="en-GB" altLang="en-US" sz="2400" dirty="0">
              <a:ea typeface="ＭＳ 明朝" panose="02020609040205080304" pitchFamily="49" charset="-128"/>
            </a:endParaRPr>
          </a:p>
          <a:p>
            <a:pPr marL="0" indent="0">
              <a:buNone/>
            </a:pPr>
            <a:r>
              <a:rPr lang="en-GB" altLang="en-US" sz="2400" dirty="0">
                <a:ea typeface="ＭＳ 明朝" panose="02020609040205080304" pitchFamily="49" charset="-128"/>
              </a:rPr>
              <a:t>The first step is called the </a:t>
            </a:r>
            <a:r>
              <a:rPr lang="en-GB" altLang="en-US" sz="2400" b="1" dirty="0">
                <a:solidFill>
                  <a:srgbClr val="0070C0"/>
                </a:solidFill>
                <a:ea typeface="ＭＳ 明朝" panose="02020609040205080304" pitchFamily="49" charset="-128"/>
              </a:rPr>
              <a:t>basis step </a:t>
            </a:r>
            <a:r>
              <a:rPr lang="en-GB" altLang="en-US" sz="2400" dirty="0">
                <a:ea typeface="ＭＳ 明朝" panose="02020609040205080304" pitchFamily="49" charset="-128"/>
              </a:rPr>
              <a:t>and the second step is called the </a:t>
            </a:r>
            <a:r>
              <a:rPr lang="en-GB" altLang="en-US" sz="2400" b="1" dirty="0">
                <a:solidFill>
                  <a:srgbClr val="0070C0"/>
                </a:solidFill>
                <a:ea typeface="ＭＳ 明朝" panose="02020609040205080304" pitchFamily="49" charset="-128"/>
              </a:rPr>
              <a:t>inductive step</a:t>
            </a:r>
            <a:r>
              <a:rPr lang="en-GB" altLang="en-US" sz="2400" dirty="0">
                <a:ea typeface="ＭＳ 明朝" panose="02020609040205080304" pitchFamily="49" charset="-128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95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95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95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Content Placeholder 2">
            <a:extLst>
              <a:ext uri="{FF2B5EF4-FFF2-40B4-BE49-F238E27FC236}">
                <a16:creationId xmlns:a16="http://schemas.microsoft.com/office/drawing/2014/main" id="{C6B7E9CA-1CA0-4568-98E3-26BB31E782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altLang="en-US" dirty="0"/>
              <a:t>(x + y)</a:t>
            </a:r>
            <a:r>
              <a:rPr lang="pt-BR" altLang="en-US" baseline="30000" dirty="0"/>
              <a:t>2</a:t>
            </a:r>
            <a:r>
              <a:rPr lang="pt-BR" altLang="en-US" dirty="0"/>
              <a:t> = x</a:t>
            </a:r>
            <a:r>
              <a:rPr lang="pt-BR" altLang="en-US" baseline="30000" dirty="0"/>
              <a:t>2</a:t>
            </a:r>
            <a:r>
              <a:rPr lang="pt-BR" altLang="en-US" dirty="0"/>
              <a:t> + y</a:t>
            </a:r>
            <a:r>
              <a:rPr lang="pt-BR" altLang="en-US" baseline="30000" dirty="0"/>
              <a:t>2</a:t>
            </a:r>
            <a:r>
              <a:rPr lang="pt-BR" altLang="en-US" dirty="0"/>
              <a:t> + 2xy</a:t>
            </a:r>
            <a:endParaRPr lang="en-SG" altLang="en-US" dirty="0"/>
          </a:p>
          <a:p>
            <a:pPr marL="0" indent="0">
              <a:buNone/>
            </a:pPr>
            <a:endParaRPr lang="pt-BR" altLang="en-US" dirty="0"/>
          </a:p>
          <a:p>
            <a:pPr marL="0" indent="0">
              <a:buNone/>
            </a:pPr>
            <a:r>
              <a:rPr lang="pt-BR" altLang="en-US" dirty="0"/>
              <a:t>(x + y)</a:t>
            </a:r>
            <a:r>
              <a:rPr lang="pt-BR" altLang="en-US" baseline="30000" dirty="0"/>
              <a:t>3</a:t>
            </a:r>
            <a:r>
              <a:rPr lang="pt-BR" altLang="en-US" dirty="0"/>
              <a:t> = x</a:t>
            </a:r>
            <a:r>
              <a:rPr lang="pt-BR" altLang="en-US" baseline="30000" dirty="0"/>
              <a:t>3</a:t>
            </a:r>
            <a:r>
              <a:rPr lang="pt-BR" altLang="en-US" dirty="0"/>
              <a:t> + y</a:t>
            </a:r>
            <a:r>
              <a:rPr lang="pt-BR" altLang="en-US" baseline="30000" dirty="0"/>
              <a:t>3</a:t>
            </a:r>
            <a:r>
              <a:rPr lang="pt-BR" altLang="en-US" dirty="0"/>
              <a:t> + 3xy(x + y)</a:t>
            </a:r>
            <a:endParaRPr lang="en-SG" altLang="en-US" dirty="0"/>
          </a:p>
        </p:txBody>
      </p:sp>
      <p:sp>
        <p:nvSpPr>
          <p:cNvPr id="39940" name="Slide Number Placeholder 3">
            <a:extLst>
              <a:ext uri="{FF2B5EF4-FFF2-40B4-BE49-F238E27FC236}">
                <a16:creationId xmlns:a16="http://schemas.microsoft.com/office/drawing/2014/main" id="{6D8CA4B2-13FA-43F7-B57C-CCEAD1CEB3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2CFB70B-2E05-4101-9339-248E1F493AD0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09DC97F-8420-49B7-AFB2-10ABE5FE928B}"/>
              </a:ext>
            </a:extLst>
          </p:cNvPr>
          <p:cNvSpPr txBox="1">
            <a:spLocks noChangeArrowheads="1"/>
          </p:cNvSpPr>
          <p:nvPr/>
        </p:nvSpPr>
        <p:spPr>
          <a:xfrm>
            <a:off x="983673" y="283008"/>
            <a:ext cx="1071352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Aside: Note on Formula for Algebraic Expansion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771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>
            <a:extLst>
              <a:ext uri="{FF2B5EF4-FFF2-40B4-BE49-F238E27FC236}">
                <a16:creationId xmlns:a16="http://schemas.microsoft.com/office/drawing/2014/main" id="{73663B7C-963A-4FBA-85E7-38B3E3E61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F671F3B-B55E-4766-ABBA-BBB4BA2D5FED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7A292372-2024-4688-99C3-3A452BCF1E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Principle of Mathematical Induction: Example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6291" name="Rectangle 3">
            <a:extLst>
              <a:ext uri="{FF2B5EF4-FFF2-40B4-BE49-F238E27FC236}">
                <a16:creationId xmlns:a16="http://schemas.microsoft.com/office/drawing/2014/main" id="{A15D0C8D-4A66-44D5-A4C1-4F80288EC6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altLang="en-US" sz="2400" dirty="0"/>
              <a:t>Prove </a:t>
            </a:r>
            <a:r>
              <a:rPr lang="en-GB" altLang="en-US" sz="2400" i="1" dirty="0"/>
              <a:t>n</a:t>
            </a:r>
            <a:r>
              <a:rPr lang="en-GB" altLang="en-US" sz="2400" baseline="30000" dirty="0"/>
              <a:t>3</a:t>
            </a:r>
            <a:r>
              <a:rPr lang="en-GB" altLang="en-US" sz="2400" dirty="0"/>
              <a:t> &gt; 2</a:t>
            </a:r>
            <a:r>
              <a:rPr lang="en-GB" altLang="en-US" sz="2400" i="1" dirty="0"/>
              <a:t>n</a:t>
            </a:r>
            <a:r>
              <a:rPr lang="en-GB" altLang="en-US" sz="2400" dirty="0"/>
              <a:t> - 2 for all natural numbers, </a:t>
            </a:r>
            <a:r>
              <a:rPr lang="en-GB" altLang="en-US" sz="2400" i="1" dirty="0"/>
              <a:t>n</a:t>
            </a:r>
            <a:r>
              <a:rPr lang="en-GB" altLang="en-US" sz="2400" dirty="0"/>
              <a:t>.</a:t>
            </a:r>
            <a:endParaRPr lang="en-GB" altLang="en-US" sz="2400" dirty="0">
              <a:ea typeface="ＭＳ 明朝" panose="02020609040205080304" pitchFamily="49" charset="-128"/>
            </a:endParaRPr>
          </a:p>
          <a:p>
            <a:pPr marL="0" indent="0">
              <a:buNone/>
            </a:pPr>
            <a:r>
              <a:rPr lang="en-GB" altLang="en-US" sz="2400" dirty="0">
                <a:ea typeface="ＭＳ 明朝" panose="02020609040205080304" pitchFamily="49" charset="-128"/>
              </a:rPr>
              <a:t>			</a:t>
            </a:r>
          </a:p>
          <a:p>
            <a:pPr marL="0" indent="0">
              <a:buNone/>
            </a:pPr>
            <a:r>
              <a:rPr lang="en-GB" altLang="en-US" sz="2400" dirty="0">
                <a:ea typeface="ＭＳ 明朝" panose="02020609040205080304" pitchFamily="49" charset="-128"/>
              </a:rPr>
              <a:t>Let CLAIM(</a:t>
            </a:r>
            <a:r>
              <a:rPr lang="en-GB" altLang="en-US" sz="2400" i="1" dirty="0">
                <a:ea typeface="ＭＳ 明朝" panose="02020609040205080304" pitchFamily="49" charset="-128"/>
              </a:rPr>
              <a:t>n</a:t>
            </a:r>
            <a:r>
              <a:rPr lang="en-GB" altLang="en-US" sz="2400" dirty="0">
                <a:ea typeface="ＭＳ 明朝" panose="02020609040205080304" pitchFamily="49" charset="-128"/>
              </a:rPr>
              <a:t>) be “</a:t>
            </a:r>
            <a:r>
              <a:rPr lang="en-GB" altLang="en-US" sz="2400" i="1" dirty="0"/>
              <a:t>n</a:t>
            </a:r>
            <a:r>
              <a:rPr lang="en-GB" altLang="en-US" sz="2400" baseline="30000" dirty="0"/>
              <a:t>3</a:t>
            </a:r>
            <a:r>
              <a:rPr lang="en-GB" altLang="en-US" sz="2400" dirty="0"/>
              <a:t> &gt; 2</a:t>
            </a:r>
            <a:r>
              <a:rPr lang="en-GB" altLang="en-US" sz="2400" i="1" dirty="0"/>
              <a:t>n</a:t>
            </a:r>
            <a:r>
              <a:rPr lang="en-GB" altLang="en-US" sz="2400" dirty="0"/>
              <a:t> – 2”.</a:t>
            </a:r>
          </a:p>
          <a:p>
            <a:pPr marL="0" indent="0">
              <a:buNone/>
            </a:pPr>
            <a:r>
              <a:rPr lang="en-GB" altLang="en-US" sz="2400" dirty="0"/>
              <a:t>Step 1:	</a:t>
            </a:r>
            <a:r>
              <a:rPr lang="en-GB" altLang="en-US" sz="2400" dirty="0">
                <a:ea typeface="ＭＳ 明朝" panose="02020609040205080304" pitchFamily="49" charset="-128"/>
              </a:rPr>
              <a:t>CLAIM(1) is </a:t>
            </a:r>
            <a:r>
              <a:rPr lang="en-GB" altLang="en-US" sz="2400" dirty="0"/>
              <a:t>1</a:t>
            </a:r>
            <a:r>
              <a:rPr lang="en-GB" altLang="en-US" sz="2400" baseline="30000" dirty="0"/>
              <a:t>3</a:t>
            </a:r>
            <a:r>
              <a:rPr lang="en-GB" altLang="en-US" sz="2400" dirty="0"/>
              <a:t> &gt; 2 </a:t>
            </a:r>
            <a:r>
              <a:rPr lang="en-US" altLang="en-US" sz="2400" dirty="0">
                <a:sym typeface="Symbol" panose="05050102010706020507" pitchFamily="18" charset="2"/>
              </a:rPr>
              <a:t> 1 </a:t>
            </a:r>
            <a:r>
              <a:rPr lang="en-GB" altLang="en-US" sz="2400" dirty="0"/>
              <a:t>– 2.	</a:t>
            </a:r>
          </a:p>
          <a:p>
            <a:pPr marL="0" indent="0">
              <a:buNone/>
            </a:pPr>
            <a:r>
              <a:rPr lang="en-GB" altLang="en-US" sz="2400" dirty="0"/>
              <a:t>		LHS = 1; RHS = 0.</a:t>
            </a:r>
          </a:p>
          <a:p>
            <a:pPr marL="0" indent="0">
              <a:buNone/>
            </a:pPr>
            <a:r>
              <a:rPr lang="en-GB" altLang="en-US" sz="2400" dirty="0"/>
              <a:t> 		Therefore, LHS &gt; RHS and so CLAIM(1) is true.</a:t>
            </a:r>
          </a:p>
          <a:p>
            <a:pPr marL="0" indent="0">
              <a:buNone/>
            </a:pPr>
            <a:r>
              <a:rPr lang="en-GB" altLang="en-US" sz="2400" dirty="0"/>
              <a:t>Step 2: Assume </a:t>
            </a:r>
            <a:r>
              <a:rPr lang="en-US" altLang="en-US" sz="2400" dirty="0">
                <a:sym typeface="Symbol" panose="05050102010706020507" pitchFamily="18" charset="2"/>
              </a:rPr>
              <a:t>CLAIM(</a:t>
            </a:r>
            <a:r>
              <a:rPr lang="en-US" altLang="en-US" sz="2400" i="1" dirty="0">
                <a:sym typeface="Symbol" panose="05050102010706020507" pitchFamily="18" charset="2"/>
              </a:rPr>
              <a:t>k</a:t>
            </a:r>
            <a:r>
              <a:rPr lang="en-US" altLang="en-US" sz="2400" dirty="0">
                <a:sym typeface="Symbol" panose="05050102010706020507" pitchFamily="18" charset="2"/>
              </a:rPr>
              <a:t>) is true</a:t>
            </a:r>
            <a:r>
              <a:rPr lang="en-GB" altLang="en-US" sz="2400" dirty="0">
                <a:sym typeface="Symbol" panose="05050102010706020507" pitchFamily="18" charset="2"/>
              </a:rPr>
              <a:t> for some </a:t>
            </a:r>
            <a:r>
              <a:rPr lang="en-GB" altLang="en-US" sz="2400" i="1" dirty="0">
                <a:sym typeface="Symbol" panose="05050102010706020507" pitchFamily="18" charset="2"/>
              </a:rPr>
              <a:t>k</a:t>
            </a:r>
            <a:r>
              <a:rPr lang="en-GB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 ℕ, that is, </a:t>
            </a:r>
          </a:p>
          <a:p>
            <a:pPr marL="0" indent="0">
              <a:buNone/>
            </a:pPr>
            <a:r>
              <a:rPr lang="en-US" altLang="en-US" sz="2400" i="1" dirty="0">
                <a:sym typeface="Symbol" panose="05050102010706020507" pitchFamily="18" charset="2"/>
              </a:rPr>
              <a:t>		k</a:t>
            </a:r>
            <a:r>
              <a:rPr lang="en-US" altLang="en-US" sz="2400" baseline="30000" dirty="0">
                <a:sym typeface="Symbol" panose="05050102010706020507" pitchFamily="18" charset="2"/>
              </a:rPr>
              <a:t>3</a:t>
            </a:r>
            <a:r>
              <a:rPr lang="en-US" altLang="en-US" sz="2400" dirty="0">
                <a:sym typeface="Symbol" panose="05050102010706020507" pitchFamily="18" charset="2"/>
              </a:rPr>
              <a:t> &gt; 2</a:t>
            </a:r>
            <a:r>
              <a:rPr lang="en-US" altLang="en-US" sz="2400" i="1" dirty="0">
                <a:sym typeface="Symbol" panose="05050102010706020507" pitchFamily="18" charset="2"/>
              </a:rPr>
              <a:t>k</a:t>
            </a:r>
            <a:r>
              <a:rPr lang="en-US" altLang="en-US" sz="2400" dirty="0">
                <a:sym typeface="Symbol" panose="05050102010706020507" pitchFamily="18" charset="2"/>
              </a:rPr>
              <a:t> – 2. 					(*)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Prove CLAIM(</a:t>
            </a:r>
            <a:r>
              <a:rPr lang="en-US" altLang="en-US" sz="2400" i="1" dirty="0">
                <a:sym typeface="Symbol" panose="05050102010706020507" pitchFamily="18" charset="2"/>
              </a:rPr>
              <a:t>k </a:t>
            </a:r>
            <a:r>
              <a:rPr lang="en-US" altLang="en-US" sz="2400" dirty="0">
                <a:sym typeface="Symbol" panose="05050102010706020507" pitchFamily="18" charset="2"/>
              </a:rPr>
              <a:t>+ 1) is true, that is, prove that </a:t>
            </a:r>
          </a:p>
          <a:p>
            <a:pPr marL="0" indent="0">
              <a:buNone/>
            </a:pPr>
            <a:r>
              <a:rPr lang="en-GB" altLang="en-US" sz="2400" dirty="0"/>
              <a:t> 		(</a:t>
            </a:r>
            <a:r>
              <a:rPr lang="en-US" altLang="en-US" sz="2400" i="1" dirty="0">
                <a:sym typeface="Symbol" panose="05050102010706020507" pitchFamily="18" charset="2"/>
              </a:rPr>
              <a:t>k </a:t>
            </a:r>
            <a:r>
              <a:rPr lang="en-US" altLang="en-US" sz="2400" dirty="0">
                <a:sym typeface="Symbol" panose="05050102010706020507" pitchFamily="18" charset="2"/>
              </a:rPr>
              <a:t>+ 1)</a:t>
            </a:r>
            <a:r>
              <a:rPr lang="en-US" altLang="en-US" sz="2400" baseline="30000" dirty="0">
                <a:sym typeface="Symbol" panose="05050102010706020507" pitchFamily="18" charset="2"/>
              </a:rPr>
              <a:t>3</a:t>
            </a:r>
            <a:r>
              <a:rPr lang="en-US" altLang="en-US" sz="2400" dirty="0">
                <a:sym typeface="Symbol" panose="05050102010706020507" pitchFamily="18" charset="2"/>
              </a:rPr>
              <a:t> &gt; 2(</a:t>
            </a:r>
            <a:r>
              <a:rPr lang="en-US" altLang="en-US" sz="2400" i="1" dirty="0">
                <a:sym typeface="Symbol" panose="05050102010706020507" pitchFamily="18" charset="2"/>
              </a:rPr>
              <a:t>k</a:t>
            </a:r>
            <a:r>
              <a:rPr lang="en-US" altLang="en-US" sz="2400" dirty="0">
                <a:sym typeface="Symbol" panose="05050102010706020507" pitchFamily="18" charset="2"/>
              </a:rPr>
              <a:t> + 1) – 2.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        that is, to prove that </a:t>
            </a:r>
            <a:r>
              <a:rPr lang="en-GB" altLang="en-US" sz="2400" dirty="0"/>
              <a:t>(</a:t>
            </a:r>
            <a:r>
              <a:rPr lang="en-US" altLang="en-US" sz="2400" i="1" dirty="0">
                <a:sym typeface="Symbol" panose="05050102010706020507" pitchFamily="18" charset="2"/>
              </a:rPr>
              <a:t>k </a:t>
            </a:r>
            <a:r>
              <a:rPr lang="en-US" altLang="en-US" sz="2400" dirty="0">
                <a:sym typeface="Symbol" panose="05050102010706020507" pitchFamily="18" charset="2"/>
              </a:rPr>
              <a:t>+ 1)</a:t>
            </a:r>
            <a:r>
              <a:rPr lang="en-US" altLang="en-US" sz="2400" baseline="30000" dirty="0">
                <a:sym typeface="Symbol" panose="05050102010706020507" pitchFamily="18" charset="2"/>
              </a:rPr>
              <a:t>3</a:t>
            </a:r>
            <a:r>
              <a:rPr lang="en-US" altLang="en-US" sz="2400" dirty="0">
                <a:sym typeface="Symbol" panose="05050102010706020507" pitchFamily="18" charset="2"/>
              </a:rPr>
              <a:t> &gt; 2</a:t>
            </a:r>
            <a:r>
              <a:rPr lang="en-US" altLang="en-US" sz="2400" i="1" dirty="0">
                <a:sym typeface="Symbol" panose="05050102010706020507" pitchFamily="18" charset="2"/>
              </a:rPr>
              <a:t>k</a:t>
            </a:r>
            <a:r>
              <a:rPr lang="en-US" altLang="en-US" sz="2400" dirty="0">
                <a:sym typeface="Symbol" panose="05050102010706020507" pitchFamily="18" charset="2"/>
              </a:rPr>
              <a:t>.</a:t>
            </a:r>
          </a:p>
          <a:p>
            <a:pPr marL="0" indent="0">
              <a:buNone/>
            </a:pPr>
            <a:endParaRPr lang="en-GB" altLang="en-US" sz="24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96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96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96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96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96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96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396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396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396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>
            <a:extLst>
              <a:ext uri="{FF2B5EF4-FFF2-40B4-BE49-F238E27FC236}">
                <a16:creationId xmlns:a16="http://schemas.microsoft.com/office/drawing/2014/main" id="{354A84E9-0A34-4D75-822B-74993B9D4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B301424-4A7E-4CB3-B774-6F08D1AAA34A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B52390ED-2D8C-4384-8343-FD8FA07657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62447" y="76417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Principle of Mathematical Induction: Example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7315" name="Rectangle 3">
            <a:extLst>
              <a:ext uri="{FF2B5EF4-FFF2-40B4-BE49-F238E27FC236}">
                <a16:creationId xmlns:a16="http://schemas.microsoft.com/office/drawing/2014/main" id="{6D357D46-49A6-4185-B720-C5BC6CBA24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1" y="1421196"/>
            <a:ext cx="9829799" cy="5267708"/>
          </a:xfrm>
        </p:spPr>
        <p:txBody>
          <a:bodyPr/>
          <a:lstStyle/>
          <a:p>
            <a:pPr marL="0" indent="0">
              <a:buNone/>
              <a:tabLst>
                <a:tab pos="177800" algn="l"/>
              </a:tabLst>
            </a:pPr>
            <a:r>
              <a:rPr lang="en-US" altLang="en-US" sz="2400" dirty="0">
                <a:sym typeface="Symbol" panose="05050102010706020507" pitchFamily="18" charset="2"/>
              </a:rPr>
              <a:t>	LHS 	= (</a:t>
            </a:r>
            <a:r>
              <a:rPr lang="en-US" altLang="en-US" sz="2400" i="1" dirty="0">
                <a:sym typeface="Symbol" panose="05050102010706020507" pitchFamily="18" charset="2"/>
              </a:rPr>
              <a:t>k</a:t>
            </a:r>
            <a:r>
              <a:rPr lang="en-US" altLang="en-US" sz="2400" dirty="0">
                <a:sym typeface="Symbol" panose="05050102010706020507" pitchFamily="18" charset="2"/>
              </a:rPr>
              <a:t> + 1)</a:t>
            </a:r>
            <a:r>
              <a:rPr lang="en-US" altLang="en-US" sz="2400" baseline="30000" dirty="0">
                <a:sym typeface="Symbol" panose="05050102010706020507" pitchFamily="18" charset="2"/>
              </a:rPr>
              <a:t>3</a:t>
            </a:r>
            <a:r>
              <a:rPr lang="en-US" altLang="en-US" sz="2400" i="1" dirty="0">
                <a:sym typeface="Symbol" panose="05050102010706020507" pitchFamily="18" charset="2"/>
              </a:rPr>
              <a:t>		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buNone/>
              <a:tabLst>
                <a:tab pos="177800" algn="l"/>
              </a:tabLst>
            </a:pPr>
            <a:r>
              <a:rPr lang="en-US" altLang="en-US" sz="2400" dirty="0">
                <a:sym typeface="Symbol" panose="05050102010706020507" pitchFamily="18" charset="2"/>
              </a:rPr>
              <a:t>	        	= </a:t>
            </a:r>
            <a:r>
              <a:rPr lang="en-US" altLang="en-US" sz="2400" i="1" dirty="0">
                <a:sym typeface="Symbol" panose="05050102010706020507" pitchFamily="18" charset="2"/>
              </a:rPr>
              <a:t>k</a:t>
            </a:r>
            <a:r>
              <a:rPr lang="en-US" altLang="en-US" sz="2400" baseline="30000" dirty="0">
                <a:sym typeface="Symbol" panose="05050102010706020507" pitchFamily="18" charset="2"/>
              </a:rPr>
              <a:t>3</a:t>
            </a:r>
            <a:r>
              <a:rPr lang="en-US" altLang="en-US" sz="2400" dirty="0">
                <a:sym typeface="Symbol" panose="05050102010706020507" pitchFamily="18" charset="2"/>
              </a:rPr>
              <a:t> + 3</a:t>
            </a:r>
            <a:r>
              <a:rPr lang="en-US" altLang="en-US" sz="2400" i="1" dirty="0">
                <a:sym typeface="Symbol" panose="05050102010706020507" pitchFamily="18" charset="2"/>
              </a:rPr>
              <a:t>k</a:t>
            </a:r>
            <a:r>
              <a:rPr lang="en-US" altLang="en-US" sz="2400" baseline="30000" dirty="0">
                <a:sym typeface="Symbol" panose="05050102010706020507" pitchFamily="18" charset="2"/>
              </a:rPr>
              <a:t>2</a:t>
            </a:r>
            <a:r>
              <a:rPr lang="en-US" altLang="en-US" sz="2400" dirty="0">
                <a:sym typeface="Symbol" panose="05050102010706020507" pitchFamily="18" charset="2"/>
              </a:rPr>
              <a:t> + 3</a:t>
            </a:r>
            <a:r>
              <a:rPr lang="en-US" altLang="en-US" sz="2400" i="1" dirty="0">
                <a:sym typeface="Symbol" panose="05050102010706020507" pitchFamily="18" charset="2"/>
              </a:rPr>
              <a:t>k</a:t>
            </a:r>
            <a:r>
              <a:rPr lang="en-US" altLang="en-US" sz="2400" dirty="0">
                <a:sym typeface="Symbol" panose="05050102010706020507" pitchFamily="18" charset="2"/>
              </a:rPr>
              <a:t> + 1             (refer to the Appendix for the formula)</a:t>
            </a:r>
          </a:p>
          <a:p>
            <a:pPr marL="0" indent="0">
              <a:buNone/>
              <a:tabLst>
                <a:tab pos="177800" algn="l"/>
              </a:tabLst>
            </a:pPr>
            <a:r>
              <a:rPr lang="en-US" altLang="en-US" sz="2400" dirty="0">
                <a:sym typeface="Symbol" panose="05050102010706020507" pitchFamily="18" charset="2"/>
              </a:rPr>
              <a:t>	         	&gt; (2</a:t>
            </a:r>
            <a:r>
              <a:rPr lang="en-US" altLang="en-US" sz="2400" i="1" dirty="0">
                <a:sym typeface="Symbol" panose="05050102010706020507" pitchFamily="18" charset="2"/>
              </a:rPr>
              <a:t>k</a:t>
            </a:r>
            <a:r>
              <a:rPr lang="en-US" altLang="en-US" sz="2400" dirty="0">
                <a:sym typeface="Symbol" panose="05050102010706020507" pitchFamily="18" charset="2"/>
              </a:rPr>
              <a:t> – 2) + 3</a:t>
            </a:r>
            <a:r>
              <a:rPr lang="en-US" altLang="en-US" sz="2400" i="1" dirty="0">
                <a:sym typeface="Symbol" panose="05050102010706020507" pitchFamily="18" charset="2"/>
              </a:rPr>
              <a:t>k</a:t>
            </a:r>
            <a:r>
              <a:rPr lang="en-US" altLang="en-US" sz="2400" baseline="30000" dirty="0">
                <a:sym typeface="Symbol" panose="05050102010706020507" pitchFamily="18" charset="2"/>
              </a:rPr>
              <a:t>2</a:t>
            </a:r>
            <a:r>
              <a:rPr lang="en-US" altLang="en-US" sz="2400" dirty="0">
                <a:sym typeface="Symbol" panose="05050102010706020507" pitchFamily="18" charset="2"/>
              </a:rPr>
              <a:t> + 3</a:t>
            </a:r>
            <a:r>
              <a:rPr lang="en-US" altLang="en-US" sz="2400" i="1" dirty="0">
                <a:sym typeface="Symbol" panose="05050102010706020507" pitchFamily="18" charset="2"/>
              </a:rPr>
              <a:t>k</a:t>
            </a:r>
            <a:r>
              <a:rPr lang="en-US" altLang="en-US" sz="2400" dirty="0">
                <a:sym typeface="Symbol" panose="05050102010706020507" pitchFamily="18" charset="2"/>
              </a:rPr>
              <a:t> + 1    (using *)</a:t>
            </a:r>
          </a:p>
          <a:p>
            <a:pPr marL="0" indent="0">
              <a:buNone/>
              <a:tabLst>
                <a:tab pos="177800" algn="l"/>
              </a:tabLst>
            </a:pPr>
            <a:r>
              <a:rPr lang="en-US" altLang="en-US" sz="2400" dirty="0">
                <a:sym typeface="Symbol" panose="05050102010706020507" pitchFamily="18" charset="2"/>
              </a:rPr>
              <a:t>	         	 2</a:t>
            </a:r>
            <a:r>
              <a:rPr lang="en-US" altLang="en-US" sz="2400" i="1" dirty="0">
                <a:sym typeface="Symbol" panose="05050102010706020507" pitchFamily="18" charset="2"/>
              </a:rPr>
              <a:t>k</a:t>
            </a:r>
            <a:r>
              <a:rPr lang="en-US" altLang="en-US" sz="2400" dirty="0">
                <a:sym typeface="Symbol" panose="05050102010706020507" pitchFamily="18" charset="2"/>
              </a:rPr>
              <a:t> – 2 + 3 + 3 + 1	       (since </a:t>
            </a:r>
            <a:r>
              <a:rPr lang="en-US" altLang="en-US" sz="2400" i="1" dirty="0">
                <a:sym typeface="Symbol" panose="05050102010706020507" pitchFamily="18" charset="2"/>
              </a:rPr>
              <a:t>k</a:t>
            </a:r>
            <a:r>
              <a:rPr lang="en-US" altLang="en-US" sz="2400" dirty="0">
                <a:sym typeface="Symbol" panose="05050102010706020507" pitchFamily="18" charset="2"/>
              </a:rPr>
              <a:t>  1)</a:t>
            </a:r>
          </a:p>
          <a:p>
            <a:pPr marL="0" indent="0">
              <a:buNone/>
              <a:tabLst>
                <a:tab pos="177800" algn="l"/>
              </a:tabLst>
            </a:pPr>
            <a:r>
              <a:rPr lang="en-US" altLang="en-US" sz="2400" dirty="0">
                <a:sym typeface="Symbol" panose="05050102010706020507" pitchFamily="18" charset="2"/>
              </a:rPr>
              <a:t>	         	= 2</a:t>
            </a:r>
            <a:r>
              <a:rPr lang="en-US" altLang="en-US" sz="2400" i="1" dirty="0">
                <a:sym typeface="Symbol" panose="05050102010706020507" pitchFamily="18" charset="2"/>
              </a:rPr>
              <a:t>k</a:t>
            </a:r>
            <a:r>
              <a:rPr lang="en-US" altLang="en-US" sz="2400" dirty="0">
                <a:sym typeface="Symbol" panose="05050102010706020507" pitchFamily="18" charset="2"/>
              </a:rPr>
              <a:t> + 5</a:t>
            </a:r>
          </a:p>
          <a:p>
            <a:pPr marL="0" indent="0">
              <a:buNone/>
              <a:tabLst>
                <a:tab pos="177800" algn="l"/>
              </a:tabLst>
            </a:pPr>
            <a:r>
              <a:rPr lang="en-US" altLang="en-US" sz="2400" dirty="0">
                <a:sym typeface="Symbol" panose="05050102010706020507" pitchFamily="18" charset="2"/>
              </a:rPr>
              <a:t>			&gt; 2</a:t>
            </a:r>
            <a:r>
              <a:rPr lang="en-US" altLang="en-US" sz="2400" i="1" dirty="0">
                <a:sym typeface="Symbol" panose="05050102010706020507" pitchFamily="18" charset="2"/>
              </a:rPr>
              <a:t>k</a:t>
            </a:r>
          </a:p>
          <a:p>
            <a:pPr marL="0" indent="0">
              <a:buNone/>
              <a:tabLst>
                <a:tab pos="177800" algn="l"/>
              </a:tabLst>
            </a:pPr>
            <a:r>
              <a:rPr lang="en-US" altLang="en-US" sz="2400" dirty="0">
                <a:sym typeface="Symbol" panose="05050102010706020507" pitchFamily="18" charset="2"/>
              </a:rPr>
              <a:t>			= RHS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Therefore, </a:t>
            </a:r>
            <a:r>
              <a:rPr lang="en-GB" altLang="en-US" sz="2400" dirty="0"/>
              <a:t>(</a:t>
            </a:r>
            <a:r>
              <a:rPr lang="en-US" altLang="en-US" sz="2400" i="1" dirty="0">
                <a:sym typeface="Symbol" panose="05050102010706020507" pitchFamily="18" charset="2"/>
              </a:rPr>
              <a:t>k </a:t>
            </a:r>
            <a:r>
              <a:rPr lang="en-US" altLang="en-US" sz="2400" dirty="0">
                <a:sym typeface="Symbol" panose="05050102010706020507" pitchFamily="18" charset="2"/>
              </a:rPr>
              <a:t>+ 1)</a:t>
            </a:r>
            <a:r>
              <a:rPr lang="en-US" altLang="en-US" sz="2400" baseline="30000" dirty="0">
                <a:sym typeface="Symbol" panose="05050102010706020507" pitchFamily="18" charset="2"/>
              </a:rPr>
              <a:t>3</a:t>
            </a:r>
            <a:r>
              <a:rPr lang="en-US" altLang="en-US" sz="2400" dirty="0">
                <a:sym typeface="Symbol" panose="05050102010706020507" pitchFamily="18" charset="2"/>
              </a:rPr>
              <a:t> &gt; 2(</a:t>
            </a:r>
            <a:r>
              <a:rPr lang="en-US" altLang="en-US" sz="2400" i="1" dirty="0">
                <a:sym typeface="Symbol" panose="05050102010706020507" pitchFamily="18" charset="2"/>
              </a:rPr>
              <a:t>k</a:t>
            </a:r>
            <a:r>
              <a:rPr lang="en-US" altLang="en-US" sz="2400" dirty="0">
                <a:sym typeface="Symbol" panose="05050102010706020507" pitchFamily="18" charset="2"/>
              </a:rPr>
              <a:t> + 1) – 2 and so CLAIM(</a:t>
            </a:r>
            <a:r>
              <a:rPr lang="en-US" altLang="en-US" sz="2400" i="1" dirty="0">
                <a:sym typeface="Symbol" panose="05050102010706020507" pitchFamily="18" charset="2"/>
              </a:rPr>
              <a:t>k </a:t>
            </a:r>
            <a:r>
              <a:rPr lang="en-US" altLang="en-US" sz="2400" dirty="0">
                <a:sym typeface="Symbol" panose="05050102010706020507" pitchFamily="18" charset="2"/>
              </a:rPr>
              <a:t>+ 1) is true.</a:t>
            </a:r>
          </a:p>
          <a:p>
            <a:pPr marL="0" indent="0">
              <a:buNone/>
            </a:pPr>
            <a:r>
              <a:rPr lang="en-GB" altLang="en-US" sz="2400" dirty="0">
                <a:sym typeface="Symbol" panose="05050102010706020507" pitchFamily="18" charset="2"/>
              </a:rPr>
              <a:t>Therefore, by induction, CLAIM(</a:t>
            </a:r>
            <a:r>
              <a:rPr lang="en-GB" altLang="en-US" sz="2400" i="1" dirty="0">
                <a:sym typeface="Symbol" panose="05050102010706020507" pitchFamily="18" charset="2"/>
              </a:rPr>
              <a:t>n</a:t>
            </a:r>
            <a:r>
              <a:rPr lang="en-GB" altLang="en-US" sz="2400" dirty="0">
                <a:sym typeface="Symbol" panose="05050102010706020507" pitchFamily="18" charset="2"/>
              </a:rPr>
              <a:t>) is true for all </a:t>
            </a:r>
            <a:r>
              <a:rPr lang="en-GB" altLang="en-US" sz="2400" i="1" dirty="0">
                <a:sym typeface="Symbol" panose="05050102010706020507" pitchFamily="18" charset="2"/>
              </a:rPr>
              <a:t>n</a:t>
            </a:r>
            <a:r>
              <a:rPr lang="en-GB" altLang="en-US" sz="2400" dirty="0">
                <a:sym typeface="Symbol" panose="05050102010706020507" pitchFamily="18" charset="2"/>
              </a:rPr>
              <a:t> </a:t>
            </a:r>
            <a:r>
              <a:rPr lang="en-GB" altLang="en-US" sz="2400" dirty="0">
                <a:ea typeface="ＭＳ 明朝" panose="02020609040205080304" pitchFamily="49" charset="-128"/>
                <a:sym typeface="Symbol" panose="05050102010706020507" pitchFamily="18" charset="2"/>
              </a:rPr>
              <a:t> </a:t>
            </a:r>
            <a:r>
              <a:rPr lang="en-GB" altLang="en-US" sz="2400" dirty="0">
                <a:ea typeface="ＭＳ 明朝" panose="02020609040205080304" pitchFamily="49" charset="-128"/>
              </a:rPr>
              <a:t>ℕ.</a:t>
            </a:r>
          </a:p>
          <a:p>
            <a:pPr marL="0" indent="0">
              <a:buNone/>
            </a:pPr>
            <a:endParaRPr lang="en-GB" altLang="en-US" sz="2400" dirty="0">
              <a:ea typeface="ＭＳ 明朝" panose="02020609040205080304" pitchFamily="49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97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97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97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97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97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97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397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397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>
            <a:extLst>
              <a:ext uri="{FF2B5EF4-FFF2-40B4-BE49-F238E27FC236}">
                <a16:creationId xmlns:a16="http://schemas.microsoft.com/office/drawing/2014/main" id="{771E47E2-DFA3-462F-9535-EF1545D16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B950A52-F6FF-4C2C-A292-55E1783618FC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80CDEEB3-933B-4E0E-861E-07E10BD099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Generalized Principle of Induction: Example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4483" name="Rectangle 3">
            <a:extLst>
              <a:ext uri="{FF2B5EF4-FFF2-40B4-BE49-F238E27FC236}">
                <a16:creationId xmlns:a16="http://schemas.microsoft.com/office/drawing/2014/main" id="{41FBE34D-063C-42DD-91F9-D8F2AD20DF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>
            <a:normAutofit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GB" altLang="en-US" sz="2400" dirty="0"/>
              <a:t>Prove that 2</a:t>
            </a:r>
            <a:r>
              <a:rPr lang="en-GB" altLang="en-US" sz="2400" i="1" baseline="30000" dirty="0"/>
              <a:t>n</a:t>
            </a:r>
            <a:r>
              <a:rPr lang="en-GB" altLang="en-US" sz="2400" dirty="0"/>
              <a:t> &gt; 2</a:t>
            </a:r>
            <a:r>
              <a:rPr lang="en-GB" altLang="en-US" sz="2400" i="1" dirty="0"/>
              <a:t>n</a:t>
            </a:r>
            <a:r>
              <a:rPr lang="en-GB" altLang="en-US" sz="2400" dirty="0"/>
              <a:t> + 1 by induction.</a:t>
            </a:r>
            <a:endParaRPr lang="en-GB" altLang="en-US" sz="2400" dirty="0">
              <a:ea typeface="ＭＳ 明朝" panose="02020609040205080304" pitchFamily="49" charset="-128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GB" altLang="en-US" sz="2400" dirty="0">
                <a:ea typeface="ＭＳ 明朝" panose="02020609040205080304" pitchFamily="49" charset="-128"/>
              </a:rPr>
              <a:t>			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GB" altLang="en-US" sz="2400" dirty="0">
                <a:ea typeface="ＭＳ 明朝" panose="02020609040205080304" pitchFamily="49" charset="-128"/>
              </a:rPr>
              <a:t>Let CLAIM(</a:t>
            </a:r>
            <a:r>
              <a:rPr lang="en-GB" altLang="en-US" sz="2400" i="1" dirty="0">
                <a:ea typeface="ＭＳ 明朝" panose="02020609040205080304" pitchFamily="49" charset="-128"/>
              </a:rPr>
              <a:t>n</a:t>
            </a:r>
            <a:r>
              <a:rPr lang="en-GB" altLang="en-US" sz="2400" dirty="0">
                <a:ea typeface="ＭＳ 明朝" panose="02020609040205080304" pitchFamily="49" charset="-128"/>
              </a:rPr>
              <a:t>) be </a:t>
            </a:r>
            <a:r>
              <a:rPr lang="en-GB" altLang="en-US" sz="2400" dirty="0"/>
              <a:t>2</a:t>
            </a:r>
            <a:r>
              <a:rPr lang="en-GB" altLang="en-US" sz="2400" i="1" baseline="30000" dirty="0"/>
              <a:t>n</a:t>
            </a:r>
            <a:r>
              <a:rPr lang="en-GB" altLang="en-US" sz="2400" dirty="0"/>
              <a:t> &gt; 2</a:t>
            </a:r>
            <a:r>
              <a:rPr lang="en-GB" altLang="en-US" sz="2400" i="1" dirty="0"/>
              <a:t>n</a:t>
            </a:r>
            <a:r>
              <a:rPr lang="en-GB" altLang="en-US" sz="2400" dirty="0"/>
              <a:t> + 1 for </a:t>
            </a:r>
            <a:r>
              <a:rPr lang="en-GB" altLang="en-US" sz="2400" i="1" dirty="0"/>
              <a:t>n</a:t>
            </a:r>
            <a:r>
              <a:rPr lang="en-GB" altLang="en-US" sz="2400" dirty="0"/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 ℕ</a:t>
            </a:r>
            <a:r>
              <a:rPr lang="en-GB" altLang="en-US" sz="2400" dirty="0"/>
              <a:t>.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GB" altLang="en-US" sz="2400" dirty="0"/>
              <a:t>Step 1:	</a:t>
            </a:r>
            <a:r>
              <a:rPr lang="en-GB" altLang="en-US" sz="2400" dirty="0">
                <a:ea typeface="ＭＳ 明朝" panose="02020609040205080304" pitchFamily="49" charset="-128"/>
              </a:rPr>
              <a:t>CLAIM(1) is </a:t>
            </a:r>
            <a:r>
              <a:rPr lang="en-GB" altLang="en-US" sz="2400" dirty="0"/>
              <a:t>2</a:t>
            </a:r>
            <a:r>
              <a:rPr lang="en-GB" altLang="en-US" sz="2400" baseline="30000" dirty="0"/>
              <a:t>1</a:t>
            </a:r>
            <a:r>
              <a:rPr lang="en-GB" altLang="en-US" sz="2400" dirty="0"/>
              <a:t> &gt; 2(1) + 1.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GB" altLang="en-US" sz="2400" dirty="0"/>
              <a:t>		LHS = 2; RHS = 3.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GB" altLang="en-US" sz="2400" dirty="0"/>
              <a:t>	LHS &lt; RHS!!!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GB" altLang="en-US" sz="2400" dirty="0"/>
              <a:t>The fact is that 2</a:t>
            </a:r>
            <a:r>
              <a:rPr lang="en-GB" altLang="en-US" sz="2400" i="1" baseline="30000" dirty="0"/>
              <a:t>n</a:t>
            </a:r>
            <a:r>
              <a:rPr lang="en-GB" altLang="en-US" sz="2400" dirty="0"/>
              <a:t> &gt; 2</a:t>
            </a:r>
            <a:r>
              <a:rPr lang="en-GB" altLang="en-US" sz="2400" i="1" dirty="0"/>
              <a:t>n</a:t>
            </a:r>
            <a:r>
              <a:rPr lang="en-GB" altLang="en-US" sz="2400" dirty="0"/>
              <a:t> + 1 is true for </a:t>
            </a:r>
            <a:r>
              <a:rPr lang="en-GB" altLang="en-US" sz="2400" i="1" dirty="0"/>
              <a:t>n</a:t>
            </a:r>
            <a:r>
              <a:rPr lang="en-GB" altLang="en-US" sz="2400" dirty="0"/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 3,</a:t>
            </a:r>
            <a:r>
              <a:rPr lang="en-GB" altLang="en-US" sz="2400" dirty="0"/>
              <a:t> </a:t>
            </a:r>
            <a:r>
              <a:rPr lang="en-GB" altLang="en-US" sz="2400" i="1" dirty="0"/>
              <a:t>n</a:t>
            </a:r>
            <a:r>
              <a:rPr lang="en-GB" altLang="en-US" sz="2400" dirty="0"/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 ℕ</a:t>
            </a:r>
            <a:r>
              <a:rPr lang="en-GB" altLang="en-US" sz="2400" dirty="0"/>
              <a:t>.</a:t>
            </a:r>
          </a:p>
          <a:p>
            <a:pPr marL="0" indent="0">
              <a:lnSpc>
                <a:spcPct val="80000"/>
              </a:lnSpc>
              <a:buNone/>
            </a:pPr>
            <a:endParaRPr lang="en-GB" altLang="en-US" sz="2400" dirty="0"/>
          </a:p>
          <a:p>
            <a:pPr marL="0" indent="0">
              <a:lnSpc>
                <a:spcPct val="80000"/>
              </a:lnSpc>
              <a:buNone/>
            </a:pPr>
            <a:r>
              <a:rPr lang="en-GB" altLang="en-US" sz="2400" dirty="0"/>
              <a:t>Sometimes we would like to prove a CLAIM that only works for values greater than 4, say.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GB" altLang="en-US" sz="2400" dirty="0"/>
              <a:t>The Principle of Mathematical Induction can be generalized to “accommodate” this type of problem.		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04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04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04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04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04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04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404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>
            <a:extLst>
              <a:ext uri="{FF2B5EF4-FFF2-40B4-BE49-F238E27FC236}">
                <a16:creationId xmlns:a16="http://schemas.microsoft.com/office/drawing/2014/main" id="{FB1B15AC-1204-442A-AF39-1A53219ED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EFBAC93-A60C-484F-AF98-A87E3BA23E74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64D2EADD-08F1-4A18-9ED8-0BA35B2783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GB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Generalized Principle of Induction</a:t>
            </a:r>
          </a:p>
        </p:txBody>
      </p:sp>
      <p:sp>
        <p:nvSpPr>
          <p:cNvPr id="405507" name="Rectangle 3">
            <a:extLst>
              <a:ext uri="{FF2B5EF4-FFF2-40B4-BE49-F238E27FC236}">
                <a16:creationId xmlns:a16="http://schemas.microsoft.com/office/drawing/2014/main" id="{A89FAEE4-8FD3-447D-9598-7159037142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r>
              <a:rPr lang="en-GB" altLang="en-US" sz="2400" dirty="0">
                <a:sym typeface="Symbol" panose="05050102010706020507" pitchFamily="18" charset="2"/>
              </a:rPr>
              <a:t>Suppose that </a:t>
            </a:r>
            <a:r>
              <a:rPr lang="en-GB" altLang="en-US" sz="2400" i="1" dirty="0">
                <a:sym typeface="Symbol" panose="05050102010706020507" pitchFamily="18" charset="2"/>
              </a:rPr>
              <a:t>q</a:t>
            </a:r>
            <a:r>
              <a:rPr lang="en-GB" altLang="en-US" sz="2400" dirty="0">
                <a:sym typeface="Symbol" panose="05050102010706020507" pitchFamily="18" charset="2"/>
              </a:rPr>
              <a:t> is some integer. For all integers </a:t>
            </a:r>
            <a:r>
              <a:rPr lang="en-GB" altLang="en-US" sz="2400" i="1" dirty="0">
                <a:sym typeface="Symbol" panose="05050102010706020507" pitchFamily="18" charset="2"/>
              </a:rPr>
              <a:t>n</a:t>
            </a:r>
            <a:r>
              <a:rPr lang="en-GB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 </a:t>
            </a:r>
            <a:r>
              <a:rPr lang="en-US" altLang="en-US" sz="2400" i="1" dirty="0">
                <a:sym typeface="Symbol" panose="05050102010706020507" pitchFamily="18" charset="2"/>
              </a:rPr>
              <a:t>q</a:t>
            </a:r>
            <a:r>
              <a:rPr lang="en-GB" altLang="en-US" sz="2400" dirty="0">
                <a:sym typeface="Symbol" panose="05050102010706020507" pitchFamily="18" charset="2"/>
              </a:rPr>
              <a:t>, let CLAIM(</a:t>
            </a:r>
            <a:r>
              <a:rPr lang="en-GB" altLang="en-US" sz="2400" i="1" dirty="0">
                <a:sym typeface="Symbol" panose="05050102010706020507" pitchFamily="18" charset="2"/>
              </a:rPr>
              <a:t>n</a:t>
            </a:r>
            <a:r>
              <a:rPr lang="en-GB" altLang="en-US" sz="2400" dirty="0">
                <a:sym typeface="Symbol" panose="05050102010706020507" pitchFamily="18" charset="2"/>
              </a:rPr>
              <a:t>) be a statement. If</a:t>
            </a:r>
          </a:p>
          <a:p>
            <a:pPr marL="0" indent="0">
              <a:lnSpc>
                <a:spcPct val="80000"/>
              </a:lnSpc>
              <a:buNone/>
            </a:pPr>
            <a:endParaRPr lang="en-GB" altLang="en-US" sz="2400" dirty="0">
              <a:sym typeface="Symbol" panose="05050102010706020507" pitchFamily="18" charset="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GB" altLang="en-US" sz="2400" dirty="0">
                <a:sym typeface="Symbol" panose="05050102010706020507" pitchFamily="18" charset="2"/>
              </a:rPr>
              <a:t>	1. CLAIM(</a:t>
            </a:r>
            <a:r>
              <a:rPr lang="en-GB" altLang="en-US" sz="2400" i="1" dirty="0">
                <a:sym typeface="Symbol" panose="05050102010706020507" pitchFamily="18" charset="2"/>
              </a:rPr>
              <a:t>q</a:t>
            </a:r>
            <a:r>
              <a:rPr lang="en-GB" altLang="en-US" sz="2400" dirty="0">
                <a:sym typeface="Symbol" panose="05050102010706020507" pitchFamily="18" charset="2"/>
              </a:rPr>
              <a:t>) is true, and		</a:t>
            </a:r>
            <a:endParaRPr lang="en-GB" altLang="en-US" sz="2400" dirty="0">
              <a:solidFill>
                <a:srgbClr val="FF3300"/>
              </a:solidFill>
              <a:sym typeface="Symbol" panose="05050102010706020507" pitchFamily="18" charset="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GB" altLang="en-US" sz="2400" dirty="0">
                <a:sym typeface="Symbol" panose="05050102010706020507" pitchFamily="18" charset="2"/>
              </a:rPr>
              <a:t>	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GB" altLang="en-US" sz="2400" dirty="0">
                <a:sym typeface="Symbol" panose="05050102010706020507" pitchFamily="18" charset="2"/>
              </a:rPr>
              <a:t>	2. the truth of </a:t>
            </a:r>
            <a:r>
              <a:rPr lang="en-US" altLang="en-US" sz="2400" dirty="0">
                <a:sym typeface="Symbol" panose="05050102010706020507" pitchFamily="18" charset="2"/>
              </a:rPr>
              <a:t>CLAIM(</a:t>
            </a:r>
            <a:r>
              <a:rPr lang="en-US" altLang="en-US" sz="2400" i="1" dirty="0">
                <a:sym typeface="Symbol" panose="05050102010706020507" pitchFamily="18" charset="2"/>
              </a:rPr>
              <a:t>k</a:t>
            </a:r>
            <a:r>
              <a:rPr lang="en-US" altLang="en-US" sz="2400" dirty="0">
                <a:sym typeface="Symbol" panose="05050102010706020507" pitchFamily="18" charset="2"/>
              </a:rPr>
              <a:t>) implies the truth of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CLAIM(</a:t>
            </a:r>
            <a:r>
              <a:rPr lang="en-US" altLang="en-US" sz="2400" i="1" dirty="0">
                <a:sym typeface="Symbol" panose="05050102010706020507" pitchFamily="18" charset="2"/>
              </a:rPr>
              <a:t>k</a:t>
            </a:r>
            <a:r>
              <a:rPr lang="en-US" altLang="en-US" sz="2400" dirty="0">
                <a:sym typeface="Symbol" panose="05050102010706020507" pitchFamily="18" charset="2"/>
              </a:rPr>
              <a:t> + 1) </a:t>
            </a:r>
            <a:r>
              <a:rPr lang="en-GB" altLang="en-US" sz="2400" dirty="0">
                <a:sym typeface="Symbol" panose="05050102010706020507" pitchFamily="18" charset="2"/>
              </a:rPr>
              <a:t>for all integers </a:t>
            </a:r>
            <a:r>
              <a:rPr lang="en-GB" altLang="en-US" sz="2400" i="1" dirty="0">
                <a:sym typeface="Symbol" panose="05050102010706020507" pitchFamily="18" charset="2"/>
              </a:rPr>
              <a:t>k</a:t>
            </a:r>
            <a:r>
              <a:rPr lang="en-GB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 </a:t>
            </a:r>
            <a:r>
              <a:rPr lang="en-US" altLang="en-US" sz="2400" i="1" dirty="0">
                <a:sym typeface="Symbol" panose="05050102010706020507" pitchFamily="18" charset="2"/>
              </a:rPr>
              <a:t>q</a:t>
            </a:r>
            <a:r>
              <a:rPr lang="en-US" altLang="en-US" sz="2400" dirty="0">
                <a:sym typeface="Symbol" panose="05050102010706020507" pitchFamily="18" charset="2"/>
              </a:rPr>
              <a:t>, 	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				</a:t>
            </a:r>
            <a:endParaRPr lang="en-US" altLang="en-US" sz="2400" dirty="0">
              <a:solidFill>
                <a:srgbClr val="FF3300"/>
              </a:solidFill>
              <a:sym typeface="Symbol" panose="05050102010706020507" pitchFamily="18" charset="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then</a:t>
            </a:r>
            <a:r>
              <a:rPr lang="en-GB" altLang="en-US" sz="2400" dirty="0">
                <a:sym typeface="Symbol" panose="05050102010706020507" pitchFamily="18" charset="2"/>
              </a:rPr>
              <a:t> CLAIM(</a:t>
            </a:r>
            <a:r>
              <a:rPr lang="en-GB" altLang="en-US" sz="2400" i="1" dirty="0">
                <a:sym typeface="Symbol" panose="05050102010706020507" pitchFamily="18" charset="2"/>
              </a:rPr>
              <a:t>n</a:t>
            </a:r>
            <a:r>
              <a:rPr lang="en-GB" altLang="en-US" sz="2400" dirty="0">
                <a:sym typeface="Symbol" panose="05050102010706020507" pitchFamily="18" charset="2"/>
              </a:rPr>
              <a:t>) is true for all integers </a:t>
            </a:r>
            <a:r>
              <a:rPr lang="en-GB" altLang="en-US" sz="2400" i="1" dirty="0">
                <a:sym typeface="Symbol" panose="05050102010706020507" pitchFamily="18" charset="2"/>
              </a:rPr>
              <a:t>n </a:t>
            </a:r>
            <a:r>
              <a:rPr lang="en-US" altLang="en-US" sz="2400" dirty="0">
                <a:sym typeface="Symbol" panose="05050102010706020507" pitchFamily="18" charset="2"/>
              </a:rPr>
              <a:t> </a:t>
            </a:r>
            <a:r>
              <a:rPr lang="en-US" altLang="en-US" sz="2400" i="1" dirty="0">
                <a:sym typeface="Symbol" panose="05050102010706020507" pitchFamily="18" charset="2"/>
              </a:rPr>
              <a:t>q</a:t>
            </a:r>
            <a:r>
              <a:rPr lang="en-GB" altLang="en-US" sz="2400" dirty="0">
                <a:sym typeface="Symbol" panose="05050102010706020507" pitchFamily="18" charset="2"/>
              </a:rPr>
              <a:t>.</a:t>
            </a:r>
          </a:p>
          <a:p>
            <a:pPr marL="0" indent="0">
              <a:lnSpc>
                <a:spcPct val="80000"/>
              </a:lnSpc>
              <a:buNone/>
            </a:pPr>
            <a:endParaRPr lang="en-GB" altLang="en-US" sz="2400" dirty="0">
              <a:sym typeface="Symbol" panose="05050102010706020507" pitchFamily="18" charset="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GB" altLang="en-US" sz="2400" dirty="0">
                <a:sym typeface="Symbol" panose="05050102010706020507" pitchFamily="18" charset="2"/>
              </a:rPr>
              <a:t>Note that the proof is almost identical to the proof to that for the Principle of Mathematical Induction.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05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05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405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405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4055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>
            <a:extLst>
              <a:ext uri="{FF2B5EF4-FFF2-40B4-BE49-F238E27FC236}">
                <a16:creationId xmlns:a16="http://schemas.microsoft.com/office/drawing/2014/main" id="{6A30C24C-4FC3-49D0-A497-B8EDFFBC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BEA35C7-729D-4B21-9AED-36793C00DBF8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F69C4398-3516-439E-9711-C97DC75210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GB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Generalized Principle of Induction: Note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39C96F19-7D08-4FBE-A6D4-FC234F2162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GB" altLang="en-US" sz="2400" dirty="0">
                <a:sym typeface="Symbol" panose="05050102010706020507" pitchFamily="18" charset="2"/>
              </a:rPr>
              <a:t>This generalized principle is applied in the same way as before, except that at </a:t>
            </a:r>
          </a:p>
          <a:p>
            <a:pPr marL="0" indent="0">
              <a:buNone/>
            </a:pPr>
            <a:endParaRPr lang="en-GB" altLang="en-US" sz="2400" i="1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GB" altLang="en-US" sz="2400" dirty="0">
                <a:sym typeface="Symbol" panose="05050102010706020507" pitchFamily="18" charset="2"/>
              </a:rPr>
              <a:t>Step 1: we prove</a:t>
            </a:r>
            <a:r>
              <a:rPr lang="en-GB" altLang="en-US" sz="2400" i="1" dirty="0">
                <a:sym typeface="Symbol" panose="05050102010706020507" pitchFamily="18" charset="2"/>
              </a:rPr>
              <a:t> CLAIM(q) </a:t>
            </a:r>
            <a:r>
              <a:rPr lang="en-GB" altLang="en-US" sz="2400" dirty="0">
                <a:sym typeface="Symbol" panose="05050102010706020507" pitchFamily="18" charset="2"/>
              </a:rPr>
              <a:t>instead of</a:t>
            </a:r>
            <a:r>
              <a:rPr lang="en-GB" altLang="en-US" sz="2400" i="1" dirty="0">
                <a:sym typeface="Symbol" panose="05050102010706020507" pitchFamily="18" charset="2"/>
              </a:rPr>
              <a:t> </a:t>
            </a:r>
            <a:r>
              <a:rPr lang="en-GB" altLang="en-US" sz="2400" dirty="0">
                <a:sym typeface="Symbol" panose="05050102010706020507" pitchFamily="18" charset="2"/>
              </a:rPr>
              <a:t>CLAIM(1), and</a:t>
            </a:r>
            <a:r>
              <a:rPr lang="en-GB" altLang="en-US" sz="2400" i="1" dirty="0">
                <a:sym typeface="Symbol" panose="05050102010706020507" pitchFamily="18" charset="2"/>
              </a:rPr>
              <a:t> </a:t>
            </a:r>
          </a:p>
          <a:p>
            <a:pPr marL="0" indent="0">
              <a:buNone/>
            </a:pPr>
            <a:r>
              <a:rPr lang="en-GB" altLang="en-US" sz="2400" dirty="0">
                <a:sym typeface="Symbol" panose="05050102010706020507" pitchFamily="18" charset="2"/>
              </a:rPr>
              <a:t>Step 2: we may need the information that</a:t>
            </a:r>
            <a:r>
              <a:rPr lang="en-GB" altLang="en-US" sz="2400" i="1" dirty="0">
                <a:sym typeface="Symbol" panose="05050102010706020507" pitchFamily="18" charset="2"/>
              </a:rPr>
              <a:t> k</a:t>
            </a:r>
            <a:r>
              <a:rPr lang="en-GB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 </a:t>
            </a:r>
            <a:r>
              <a:rPr lang="en-US" altLang="en-US" sz="2400" i="1" dirty="0">
                <a:sym typeface="Symbol" panose="05050102010706020507" pitchFamily="18" charset="2"/>
              </a:rPr>
              <a:t>q </a:t>
            </a:r>
            <a:r>
              <a:rPr lang="en-US" altLang="en-US" sz="2400" dirty="0">
                <a:sym typeface="Symbol" panose="05050102010706020507" pitchFamily="18" charset="2"/>
              </a:rPr>
              <a:t>instead of </a:t>
            </a:r>
            <a:r>
              <a:rPr lang="en-GB" altLang="en-US" sz="2400" i="1" dirty="0">
                <a:sym typeface="Symbol" panose="05050102010706020507" pitchFamily="18" charset="2"/>
              </a:rPr>
              <a:t>k</a:t>
            </a:r>
            <a:r>
              <a:rPr lang="en-GB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 1. 					</a:t>
            </a:r>
            <a:endParaRPr lang="en-US" altLang="en-US" sz="2400" dirty="0">
              <a:solidFill>
                <a:srgbClr val="FF3300"/>
              </a:solidFill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Note that </a:t>
            </a:r>
            <a:r>
              <a:rPr lang="en-US" altLang="en-US" sz="2400" i="1" dirty="0">
                <a:sym typeface="Symbol" panose="05050102010706020507" pitchFamily="18" charset="2"/>
              </a:rPr>
              <a:t>q</a:t>
            </a:r>
            <a:r>
              <a:rPr lang="en-US" altLang="en-US" sz="2400" dirty="0">
                <a:sym typeface="Symbol" panose="05050102010706020507" pitchFamily="18" charset="2"/>
              </a:rPr>
              <a:t> can be any integer: positive, negative or zero.</a:t>
            </a:r>
            <a:endParaRPr lang="en-GB" altLang="en-US" sz="24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5">
            <a:extLst>
              <a:ext uri="{FF2B5EF4-FFF2-40B4-BE49-F238E27FC236}">
                <a16:creationId xmlns:a16="http://schemas.microsoft.com/office/drawing/2014/main" id="{94E9517C-FDEF-4740-98A4-E34580292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E22E3BB-C649-4B9F-9DE2-03F5F8D4550F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8C494E88-E2DE-4390-AB32-4EB4E2C93E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Exercise: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6531" name="Rectangle 3">
            <a:extLst>
              <a:ext uri="{FF2B5EF4-FFF2-40B4-BE49-F238E27FC236}">
                <a16:creationId xmlns:a16="http://schemas.microsoft.com/office/drawing/2014/main" id="{0ED363F8-E66C-40F1-AAA3-131C69CEB0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GB" altLang="en-US" sz="2400" dirty="0"/>
              <a:t>Prove that 2</a:t>
            </a:r>
            <a:r>
              <a:rPr lang="en-GB" altLang="en-US" sz="2400" i="1" baseline="30000" dirty="0"/>
              <a:t>n</a:t>
            </a:r>
            <a:r>
              <a:rPr lang="en-GB" altLang="en-US" sz="2400" dirty="0"/>
              <a:t> &gt; 2</a:t>
            </a:r>
            <a:r>
              <a:rPr lang="en-GB" altLang="en-US" sz="2400" i="1" dirty="0"/>
              <a:t>n</a:t>
            </a:r>
            <a:r>
              <a:rPr lang="en-GB" altLang="en-US" sz="2400" dirty="0"/>
              <a:t> + 1 for </a:t>
            </a:r>
            <a:r>
              <a:rPr lang="en-GB" altLang="en-US" sz="2400" i="1" dirty="0"/>
              <a:t>n</a:t>
            </a:r>
            <a:r>
              <a:rPr lang="en-GB" altLang="en-US" sz="2400" dirty="0"/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 3, </a:t>
            </a:r>
            <a:r>
              <a:rPr lang="en-GB" altLang="en-US" sz="2400" i="1" dirty="0"/>
              <a:t>n</a:t>
            </a:r>
            <a:r>
              <a:rPr lang="en-GB" altLang="en-US" sz="2400" dirty="0"/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 ℕ</a:t>
            </a:r>
            <a:r>
              <a:rPr lang="en-GB" altLang="en-US" sz="2400" dirty="0"/>
              <a:t>.</a:t>
            </a:r>
            <a:endParaRPr lang="en-GB" altLang="en-US" sz="2400" dirty="0">
              <a:ea typeface="ＭＳ 明朝" panose="02020609040205080304" pitchFamily="49" charset="-128"/>
            </a:endParaRPr>
          </a:p>
          <a:p>
            <a:pPr marL="0" indent="0">
              <a:buNone/>
            </a:pPr>
            <a:r>
              <a:rPr lang="en-GB" altLang="en-US" sz="2400" dirty="0">
                <a:ea typeface="ＭＳ 明朝" panose="02020609040205080304" pitchFamily="49" charset="-128"/>
              </a:rPr>
              <a:t>			</a:t>
            </a:r>
          </a:p>
          <a:p>
            <a:pPr marL="0" indent="0">
              <a:buNone/>
            </a:pPr>
            <a:r>
              <a:rPr lang="en-GB" altLang="en-US" sz="2400" dirty="0">
                <a:ea typeface="ＭＳ 明朝" panose="02020609040205080304" pitchFamily="49" charset="-128"/>
              </a:rPr>
              <a:t>Let CLAIM(</a:t>
            </a:r>
            <a:r>
              <a:rPr lang="en-GB" altLang="en-US" sz="2400" i="1" dirty="0">
                <a:ea typeface="ＭＳ 明朝" panose="02020609040205080304" pitchFamily="49" charset="-128"/>
              </a:rPr>
              <a:t>n</a:t>
            </a:r>
            <a:r>
              <a:rPr lang="en-GB" altLang="en-US" sz="2400" dirty="0">
                <a:ea typeface="ＭＳ 明朝" panose="02020609040205080304" pitchFamily="49" charset="-128"/>
              </a:rPr>
              <a:t>) be </a:t>
            </a:r>
            <a:r>
              <a:rPr lang="en-GB" altLang="en-US" sz="2400" dirty="0"/>
              <a:t>2</a:t>
            </a:r>
            <a:r>
              <a:rPr lang="en-GB" altLang="en-US" sz="2400" i="1" baseline="30000" dirty="0"/>
              <a:t>n</a:t>
            </a:r>
            <a:r>
              <a:rPr lang="en-GB" altLang="en-US" sz="2400" dirty="0"/>
              <a:t> &gt; 2</a:t>
            </a:r>
            <a:r>
              <a:rPr lang="en-GB" altLang="en-US" sz="2400" i="1" dirty="0"/>
              <a:t>n</a:t>
            </a:r>
            <a:r>
              <a:rPr lang="en-GB" altLang="en-US" sz="2400" dirty="0"/>
              <a:t> + 1.</a:t>
            </a:r>
          </a:p>
          <a:p>
            <a:pPr marL="0" indent="0">
              <a:buNone/>
            </a:pPr>
            <a:r>
              <a:rPr lang="en-GB" altLang="en-US" sz="2400" dirty="0"/>
              <a:t>Step 1:	</a:t>
            </a:r>
            <a:r>
              <a:rPr lang="en-GB" altLang="en-US" sz="2400" dirty="0">
                <a:ea typeface="ＭＳ 明朝" panose="02020609040205080304" pitchFamily="49" charset="-128"/>
              </a:rPr>
              <a:t>CLAIM(3) is </a:t>
            </a:r>
            <a:r>
              <a:rPr lang="en-GB" altLang="en-US" sz="2400" dirty="0"/>
              <a:t>2</a:t>
            </a:r>
            <a:r>
              <a:rPr lang="en-GB" altLang="en-US" sz="2400" baseline="30000" dirty="0"/>
              <a:t>3</a:t>
            </a:r>
            <a:r>
              <a:rPr lang="en-GB" altLang="en-US" sz="2400" dirty="0"/>
              <a:t> &gt; 2(3) + 1. </a:t>
            </a:r>
          </a:p>
          <a:p>
            <a:pPr marL="0" indent="0">
              <a:buNone/>
            </a:pPr>
            <a:r>
              <a:rPr lang="en-GB" altLang="en-US" sz="2400" dirty="0"/>
              <a:t>		LHS = 8; RHS = 7.</a:t>
            </a:r>
          </a:p>
          <a:p>
            <a:pPr marL="0" indent="0">
              <a:buNone/>
            </a:pPr>
            <a:r>
              <a:rPr lang="en-GB" altLang="en-US" sz="2400" dirty="0"/>
              <a:t>		Therefore, LHS &gt; RHS and so CLAIM(3) is true.</a:t>
            </a:r>
          </a:p>
          <a:p>
            <a:pPr marL="0" indent="0">
              <a:buNone/>
            </a:pPr>
            <a:r>
              <a:rPr lang="en-GB" altLang="en-US" sz="2400" dirty="0"/>
              <a:t>Step 2: Assume </a:t>
            </a:r>
            <a:r>
              <a:rPr lang="en-US" altLang="en-US" sz="2400" dirty="0">
                <a:sym typeface="Symbol" panose="05050102010706020507" pitchFamily="18" charset="2"/>
              </a:rPr>
              <a:t>CLAIM(</a:t>
            </a:r>
            <a:r>
              <a:rPr lang="en-US" altLang="en-US" sz="2400" i="1" dirty="0">
                <a:sym typeface="Symbol" panose="05050102010706020507" pitchFamily="18" charset="2"/>
              </a:rPr>
              <a:t>k</a:t>
            </a:r>
            <a:r>
              <a:rPr lang="en-US" altLang="en-US" sz="2400" dirty="0">
                <a:sym typeface="Symbol" panose="05050102010706020507" pitchFamily="18" charset="2"/>
              </a:rPr>
              <a:t>) is true</a:t>
            </a:r>
            <a:r>
              <a:rPr lang="en-GB" altLang="en-US" sz="2400" dirty="0">
                <a:sym typeface="Symbol" panose="05050102010706020507" pitchFamily="18" charset="2"/>
              </a:rPr>
              <a:t> for some </a:t>
            </a:r>
            <a:r>
              <a:rPr lang="en-GB" altLang="en-US" sz="2400" i="1" dirty="0">
                <a:sym typeface="Symbol" panose="05050102010706020507" pitchFamily="18" charset="2"/>
              </a:rPr>
              <a:t>k</a:t>
            </a:r>
            <a:r>
              <a:rPr lang="en-GB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 3, </a:t>
            </a:r>
            <a:r>
              <a:rPr lang="en-GB" altLang="en-US" sz="2400" i="1" dirty="0"/>
              <a:t>k</a:t>
            </a:r>
            <a:r>
              <a:rPr lang="en-GB" altLang="en-US" sz="2400" dirty="0"/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 ℕ, that is, </a:t>
            </a:r>
          </a:p>
          <a:p>
            <a:pPr marL="0" indent="0">
              <a:buNone/>
            </a:pPr>
            <a:r>
              <a:rPr lang="en-US" altLang="en-US" sz="2400" i="1" dirty="0">
                <a:sym typeface="Symbol" panose="05050102010706020507" pitchFamily="18" charset="2"/>
              </a:rPr>
              <a:t>		 </a:t>
            </a:r>
            <a:r>
              <a:rPr lang="en-GB" altLang="en-US" sz="2400" dirty="0"/>
              <a:t>2</a:t>
            </a:r>
            <a:r>
              <a:rPr lang="en-GB" altLang="en-US" sz="2400" i="1" baseline="30000" dirty="0"/>
              <a:t>k</a:t>
            </a:r>
            <a:r>
              <a:rPr lang="en-GB" altLang="en-US" sz="2400" dirty="0"/>
              <a:t> &gt; 2</a:t>
            </a:r>
            <a:r>
              <a:rPr lang="en-GB" altLang="en-US" sz="2400" i="1" dirty="0"/>
              <a:t>k</a:t>
            </a:r>
            <a:r>
              <a:rPr lang="en-GB" altLang="en-US" sz="2400" dirty="0"/>
              <a:t> + 1</a:t>
            </a:r>
            <a:r>
              <a:rPr lang="en-US" altLang="en-US" sz="2400" i="1" dirty="0">
                <a:sym typeface="Symbol" panose="05050102010706020507" pitchFamily="18" charset="2"/>
              </a:rPr>
              <a:t>.</a:t>
            </a:r>
            <a:r>
              <a:rPr lang="en-US" altLang="en-US" sz="2400" dirty="0">
                <a:sym typeface="Symbol" panose="05050102010706020507" pitchFamily="18" charset="2"/>
              </a:rPr>
              <a:t> 					(*)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Prove CLAIM(</a:t>
            </a:r>
            <a:r>
              <a:rPr lang="en-US" altLang="en-US" sz="2400" i="1" dirty="0">
                <a:sym typeface="Symbol" panose="05050102010706020507" pitchFamily="18" charset="2"/>
              </a:rPr>
              <a:t>k </a:t>
            </a:r>
            <a:r>
              <a:rPr lang="en-US" altLang="en-US" sz="2400" dirty="0">
                <a:sym typeface="Symbol" panose="05050102010706020507" pitchFamily="18" charset="2"/>
              </a:rPr>
              <a:t>+ 1) is true, that is, prove that </a:t>
            </a:r>
          </a:p>
          <a:p>
            <a:pPr marL="0" indent="0">
              <a:buNone/>
            </a:pPr>
            <a:r>
              <a:rPr lang="en-GB" altLang="en-US" sz="2400" dirty="0"/>
              <a:t> 		 2</a:t>
            </a:r>
            <a:r>
              <a:rPr lang="en-GB" altLang="en-US" sz="2400" i="1" baseline="30000" dirty="0"/>
              <a:t>k </a:t>
            </a:r>
            <a:r>
              <a:rPr lang="en-GB" altLang="en-US" sz="2400" baseline="30000" dirty="0"/>
              <a:t>+ 1</a:t>
            </a:r>
            <a:r>
              <a:rPr lang="en-GB" altLang="en-US" sz="2400" dirty="0"/>
              <a:t> &gt; 2(</a:t>
            </a:r>
            <a:r>
              <a:rPr lang="en-GB" altLang="en-US" sz="2400" i="1" dirty="0"/>
              <a:t>k</a:t>
            </a:r>
            <a:r>
              <a:rPr lang="en-GB" altLang="en-US" sz="2400" dirty="0"/>
              <a:t> + 1) + 1 = 2</a:t>
            </a:r>
            <a:r>
              <a:rPr lang="en-GB" altLang="en-US" sz="2400" i="1" dirty="0"/>
              <a:t>k</a:t>
            </a:r>
            <a:r>
              <a:rPr lang="en-GB" altLang="en-US" sz="2400" dirty="0"/>
              <a:t> + 3</a:t>
            </a:r>
            <a:r>
              <a:rPr lang="en-US" altLang="en-US" sz="2400" dirty="0">
                <a:sym typeface="Symbol" panose="05050102010706020507" pitchFamily="18" charset="2"/>
              </a:rPr>
              <a:t>.</a:t>
            </a:r>
            <a:endParaRPr lang="en-GB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06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06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06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06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06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06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406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406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>
            <a:extLst>
              <a:ext uri="{FF2B5EF4-FFF2-40B4-BE49-F238E27FC236}">
                <a16:creationId xmlns:a16="http://schemas.microsoft.com/office/drawing/2014/main" id="{890DD873-F794-42A7-BAC8-D93511E62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3868C7B-1D9E-49F8-9A24-086230048D82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8DE92040-893C-4F09-87D9-A3D17630A4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Exercise: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8579" name="Rectangle 3">
            <a:extLst>
              <a:ext uri="{FF2B5EF4-FFF2-40B4-BE49-F238E27FC236}">
                <a16:creationId xmlns:a16="http://schemas.microsoft.com/office/drawing/2014/main" id="{70933F70-AC15-4104-AAE4-73EA321575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327151"/>
            <a:ext cx="8229600" cy="49752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LHS 	= </a:t>
            </a:r>
            <a:r>
              <a:rPr lang="en-GB" altLang="en-US" sz="2400" dirty="0"/>
              <a:t>2</a:t>
            </a:r>
            <a:r>
              <a:rPr lang="en-GB" altLang="en-US" sz="2400" i="1" baseline="30000" dirty="0"/>
              <a:t>k </a:t>
            </a:r>
            <a:r>
              <a:rPr lang="en-GB" altLang="en-US" sz="2400" baseline="30000" dirty="0"/>
              <a:t>+ 1</a:t>
            </a:r>
            <a:r>
              <a:rPr lang="en-GB" altLang="en-US" sz="2400" dirty="0"/>
              <a:t> </a:t>
            </a:r>
            <a:r>
              <a:rPr lang="en-US" altLang="en-US" sz="2400" i="1" dirty="0">
                <a:sym typeface="Symbol" panose="05050102010706020507" pitchFamily="18" charset="2"/>
              </a:rPr>
              <a:t>		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        	= 2</a:t>
            </a:r>
            <a:r>
              <a:rPr lang="en-US" altLang="en-US" sz="2400" i="1" baseline="30000" dirty="0">
                <a:sym typeface="Symbol" panose="05050102010706020507" pitchFamily="18" charset="2"/>
              </a:rPr>
              <a:t>k</a:t>
            </a:r>
            <a:r>
              <a:rPr lang="en-US" altLang="en-US" sz="2400" dirty="0">
                <a:sym typeface="Symbol" panose="05050102010706020507" pitchFamily="18" charset="2"/>
              </a:rPr>
              <a:t>(2)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         	&gt; (2</a:t>
            </a:r>
            <a:r>
              <a:rPr lang="en-US" altLang="en-US" sz="2400" i="1" dirty="0">
                <a:sym typeface="Symbol" panose="05050102010706020507" pitchFamily="18" charset="2"/>
              </a:rPr>
              <a:t>k </a:t>
            </a:r>
            <a:r>
              <a:rPr lang="en-US" altLang="en-US" sz="2400" dirty="0">
                <a:sym typeface="Symbol" panose="05050102010706020507" pitchFamily="18" charset="2"/>
              </a:rPr>
              <a:t>+ 1)(2)			(using *)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         	= 4</a:t>
            </a:r>
            <a:r>
              <a:rPr lang="en-US" altLang="en-US" sz="2400" i="1" dirty="0">
                <a:sym typeface="Symbol" panose="05050102010706020507" pitchFamily="18" charset="2"/>
              </a:rPr>
              <a:t>k</a:t>
            </a:r>
            <a:r>
              <a:rPr lang="en-US" altLang="en-US" sz="2400" dirty="0">
                <a:sym typeface="Symbol" panose="05050102010706020507" pitchFamily="18" charset="2"/>
              </a:rPr>
              <a:t> + 2				         	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	= 2</a:t>
            </a:r>
            <a:r>
              <a:rPr lang="en-US" altLang="en-US" sz="2400" i="1" dirty="0">
                <a:sym typeface="Symbol" panose="05050102010706020507" pitchFamily="18" charset="2"/>
              </a:rPr>
              <a:t>k</a:t>
            </a:r>
            <a:r>
              <a:rPr lang="en-US" altLang="en-US" sz="2400" i="1" baseline="30000" dirty="0"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 + 2</a:t>
            </a:r>
            <a:r>
              <a:rPr lang="en-US" altLang="en-US" sz="2400" i="1" dirty="0">
                <a:sym typeface="Symbol" panose="05050102010706020507" pitchFamily="18" charset="2"/>
              </a:rPr>
              <a:t>k</a:t>
            </a:r>
            <a:r>
              <a:rPr lang="en-US" altLang="en-US" sz="2400" dirty="0">
                <a:sym typeface="Symbol" panose="05050102010706020507" pitchFamily="18" charset="2"/>
              </a:rPr>
              <a:t> + 2</a:t>
            </a:r>
            <a:endParaRPr lang="en-US" altLang="en-US" sz="2400" i="1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	&gt; 2</a:t>
            </a:r>
            <a:r>
              <a:rPr lang="en-US" altLang="en-US" sz="2400" i="1" dirty="0">
                <a:sym typeface="Symbol" panose="05050102010706020507" pitchFamily="18" charset="2"/>
              </a:rPr>
              <a:t>k</a:t>
            </a:r>
            <a:r>
              <a:rPr lang="en-US" altLang="en-US" sz="2400" i="1" baseline="30000" dirty="0"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 + 1 + 2			(since </a:t>
            </a:r>
            <a:r>
              <a:rPr lang="en-US" altLang="en-US" sz="2400" i="1" dirty="0">
                <a:sym typeface="Symbol" panose="05050102010706020507" pitchFamily="18" charset="2"/>
              </a:rPr>
              <a:t>k</a:t>
            </a:r>
            <a:r>
              <a:rPr lang="en-US" altLang="en-US" sz="2400" dirty="0">
                <a:sym typeface="Symbol" panose="05050102010706020507" pitchFamily="18" charset="2"/>
              </a:rPr>
              <a:t>  3,  2</a:t>
            </a:r>
            <a:r>
              <a:rPr lang="en-US" altLang="en-US" sz="2400" i="1" dirty="0">
                <a:sym typeface="Symbol" panose="05050102010706020507" pitchFamily="18" charset="2"/>
              </a:rPr>
              <a:t>k</a:t>
            </a:r>
            <a:r>
              <a:rPr lang="en-US" altLang="en-US" sz="2400" dirty="0">
                <a:sym typeface="Symbol" panose="05050102010706020507" pitchFamily="18" charset="2"/>
              </a:rPr>
              <a:t> &gt; 1)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	= 2</a:t>
            </a:r>
            <a:r>
              <a:rPr lang="en-US" altLang="en-US" sz="2400" i="1" dirty="0">
                <a:sym typeface="Symbol" panose="05050102010706020507" pitchFamily="18" charset="2"/>
              </a:rPr>
              <a:t>k</a:t>
            </a:r>
            <a:r>
              <a:rPr lang="en-US" altLang="en-US" sz="2400" dirty="0">
                <a:sym typeface="Symbol" panose="05050102010706020507" pitchFamily="18" charset="2"/>
              </a:rPr>
              <a:t> + 3					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                        = RHS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Therefore, </a:t>
            </a:r>
            <a:r>
              <a:rPr lang="en-GB" altLang="en-US" sz="2400" dirty="0"/>
              <a:t>2</a:t>
            </a:r>
            <a:r>
              <a:rPr lang="en-GB" altLang="en-US" sz="2400" i="1" baseline="30000" dirty="0"/>
              <a:t>k </a:t>
            </a:r>
            <a:r>
              <a:rPr lang="en-GB" altLang="en-US" sz="2400" baseline="30000" dirty="0"/>
              <a:t>+ 1</a:t>
            </a:r>
            <a:r>
              <a:rPr lang="en-GB" altLang="en-US" sz="2400" dirty="0"/>
              <a:t> &gt; 2</a:t>
            </a:r>
            <a:r>
              <a:rPr lang="en-GB" altLang="en-US" sz="2400" i="1" dirty="0"/>
              <a:t>k</a:t>
            </a:r>
            <a:r>
              <a:rPr lang="en-GB" altLang="en-US" sz="2400" dirty="0"/>
              <a:t> + 3</a:t>
            </a:r>
            <a:r>
              <a:rPr lang="en-US" altLang="en-US" sz="2400" dirty="0">
                <a:sym typeface="Symbol" panose="05050102010706020507" pitchFamily="18" charset="2"/>
              </a:rPr>
              <a:t> and so CLAIM(</a:t>
            </a:r>
            <a:r>
              <a:rPr lang="en-US" altLang="en-US" sz="2400" i="1" dirty="0">
                <a:sym typeface="Symbol" panose="05050102010706020507" pitchFamily="18" charset="2"/>
              </a:rPr>
              <a:t>k </a:t>
            </a:r>
            <a:r>
              <a:rPr lang="en-US" altLang="en-US" sz="2400" dirty="0">
                <a:sym typeface="Symbol" panose="05050102010706020507" pitchFamily="18" charset="2"/>
              </a:rPr>
              <a:t>+ 1) is true.</a:t>
            </a:r>
          </a:p>
          <a:p>
            <a:pPr marL="0" indent="0">
              <a:buNone/>
            </a:pPr>
            <a:r>
              <a:rPr lang="en-GB" altLang="en-US" sz="2400" dirty="0">
                <a:sym typeface="Symbol" panose="05050102010706020507" pitchFamily="18" charset="2"/>
              </a:rPr>
              <a:t>Therefore, by induction, CLAIM(</a:t>
            </a:r>
            <a:r>
              <a:rPr lang="en-GB" altLang="en-US" sz="2400" i="1" dirty="0">
                <a:sym typeface="Symbol" panose="05050102010706020507" pitchFamily="18" charset="2"/>
              </a:rPr>
              <a:t>n</a:t>
            </a:r>
            <a:r>
              <a:rPr lang="en-GB" altLang="en-US" sz="2400" dirty="0">
                <a:sym typeface="Symbol" panose="05050102010706020507" pitchFamily="18" charset="2"/>
              </a:rPr>
              <a:t>) is true for all natural numbers </a:t>
            </a:r>
            <a:r>
              <a:rPr lang="en-GB" altLang="en-US" sz="2400" i="1" dirty="0">
                <a:sym typeface="Symbol" panose="05050102010706020507" pitchFamily="18" charset="2"/>
              </a:rPr>
              <a:t>n</a:t>
            </a:r>
            <a:r>
              <a:rPr lang="en-GB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 3</a:t>
            </a:r>
            <a:r>
              <a:rPr lang="en-GB" altLang="en-US" sz="2400" dirty="0">
                <a:ea typeface="ＭＳ 明朝" panose="02020609040205080304" pitchFamily="49" charset="-128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08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08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08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08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08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08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408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408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408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5">
            <a:extLst>
              <a:ext uri="{FF2B5EF4-FFF2-40B4-BE49-F238E27FC236}">
                <a16:creationId xmlns:a16="http://schemas.microsoft.com/office/drawing/2014/main" id="{8F9FD336-DA4E-47CD-B85E-2EAE074D9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1F8C503-A056-4FAE-AD42-BC1736EABB7C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4CB46F08-B226-49B1-9105-A6E345E2B4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Sigma Notation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EA6B2E50-1D12-42A9-BEF2-596BE679F0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GB" altLang="en-US" sz="2400" dirty="0"/>
              <a:t>The notation             denotes the</a:t>
            </a:r>
            <a:r>
              <a:rPr lang="en-GB" altLang="en-US" sz="2400" b="1" dirty="0"/>
              <a:t> </a:t>
            </a:r>
            <a:r>
              <a:rPr lang="en-GB" altLang="en-US" sz="2400" b="1" dirty="0">
                <a:solidFill>
                  <a:schemeClr val="hlink"/>
                </a:solidFill>
              </a:rPr>
              <a:t>sum</a:t>
            </a:r>
            <a:r>
              <a:rPr lang="en-GB" altLang="en-US" sz="2400" b="1" dirty="0"/>
              <a:t> </a:t>
            </a:r>
            <a:r>
              <a:rPr lang="en-GB" altLang="en-US" sz="2400" dirty="0"/>
              <a:t>of the numbers</a:t>
            </a:r>
            <a:r>
              <a:rPr lang="en-GB" altLang="en-US" sz="2400" b="1" dirty="0"/>
              <a:t> </a:t>
            </a:r>
          </a:p>
          <a:p>
            <a:pPr marL="0" indent="0">
              <a:buNone/>
            </a:pPr>
            <a:endParaRPr lang="en-GB" altLang="en-US" sz="2400" b="1" i="1" dirty="0"/>
          </a:p>
          <a:p>
            <a:pPr marL="0" indent="0">
              <a:buNone/>
            </a:pPr>
            <a:r>
              <a:rPr lang="en-GB" altLang="en-US" sz="2400" i="1" dirty="0"/>
              <a:t>a</a:t>
            </a:r>
            <a:r>
              <a:rPr lang="en-GB" altLang="en-US" sz="2400" baseline="-25000" dirty="0"/>
              <a:t>1</a:t>
            </a:r>
            <a:r>
              <a:rPr lang="en-GB" altLang="en-US" sz="2400" dirty="0"/>
              <a:t>, </a:t>
            </a:r>
            <a:r>
              <a:rPr lang="en-GB" altLang="en-US" sz="2400" i="1" dirty="0"/>
              <a:t>a</a:t>
            </a:r>
            <a:r>
              <a:rPr lang="en-GB" altLang="en-US" sz="2400" baseline="-25000" dirty="0"/>
              <a:t>2</a:t>
            </a:r>
            <a:r>
              <a:rPr lang="en-GB" altLang="en-US" sz="2400" dirty="0"/>
              <a:t>, </a:t>
            </a:r>
            <a:r>
              <a:rPr lang="en-GB" altLang="en-US" sz="2400" i="1" dirty="0"/>
              <a:t>a</a:t>
            </a:r>
            <a:r>
              <a:rPr lang="en-GB" altLang="en-US" sz="2400" baseline="-25000" dirty="0"/>
              <a:t>3</a:t>
            </a:r>
            <a:r>
              <a:rPr lang="en-GB" altLang="en-US" sz="2400" dirty="0"/>
              <a:t>, …, </a:t>
            </a:r>
            <a:r>
              <a:rPr lang="en-GB" altLang="en-US" sz="2400" i="1" dirty="0"/>
              <a:t>a</a:t>
            </a:r>
            <a:r>
              <a:rPr lang="en-GB" altLang="en-US" sz="2400" i="1" baseline="-25000" dirty="0"/>
              <a:t>n</a:t>
            </a:r>
            <a:r>
              <a:rPr lang="en-GB" altLang="en-US" sz="2400" dirty="0"/>
              <a:t>;</a:t>
            </a:r>
            <a:r>
              <a:rPr lang="en-GB" altLang="en-US" sz="2400" b="1" dirty="0"/>
              <a:t> </a:t>
            </a:r>
            <a:r>
              <a:rPr lang="en-GB" altLang="en-US" sz="2400" dirty="0"/>
              <a:t>that is</a:t>
            </a:r>
            <a:r>
              <a:rPr lang="en-GB" altLang="en-US" sz="2400" b="1" dirty="0"/>
              <a:t> </a:t>
            </a:r>
            <a:endParaRPr lang="en-US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677" name="Object 5">
                <a:extLst>
                  <a:ext uri="{FF2B5EF4-FFF2-40B4-BE49-F238E27FC236}">
                    <a16:creationId xmlns:a16="http://schemas.microsoft.com/office/drawing/2014/main" id="{F78412A3-E9FD-46A7-8CDC-671BF51F4E01}"/>
                  </a:ext>
                </a:extLst>
              </p:cNvPr>
              <p:cNvSpPr txBox="1"/>
              <p:nvPr/>
            </p:nvSpPr>
            <p:spPr bwMode="auto">
              <a:xfrm>
                <a:off x="3634700" y="1368427"/>
                <a:ext cx="712788" cy="866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SG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28677" name="Object 5">
                <a:extLst>
                  <a:ext uri="{FF2B5EF4-FFF2-40B4-BE49-F238E27FC236}">
                    <a16:creationId xmlns:a16="http://schemas.microsoft.com/office/drawing/2014/main" id="{F78412A3-E9FD-46A7-8CDC-671BF51F4E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34700" y="1368427"/>
                <a:ext cx="712788" cy="866775"/>
              </a:xfrm>
              <a:prstGeom prst="rect">
                <a:avLst/>
              </a:prstGeom>
              <a:blipFill>
                <a:blip r:embed="rId2"/>
                <a:stretch>
                  <a:fillRect r="-11966" b="-2028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678" name="Object 7">
                <a:extLst>
                  <a:ext uri="{FF2B5EF4-FFF2-40B4-BE49-F238E27FC236}">
                    <a16:creationId xmlns:a16="http://schemas.microsoft.com/office/drawing/2014/main" id="{109172ED-BB2A-41BE-A408-C1B030D3BFB6}"/>
                  </a:ext>
                </a:extLst>
              </p:cNvPr>
              <p:cNvSpPr txBox="1"/>
              <p:nvPr/>
            </p:nvSpPr>
            <p:spPr bwMode="auto">
              <a:xfrm>
                <a:off x="3798432" y="3205162"/>
                <a:ext cx="4278769" cy="1141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SG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SG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SG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SG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SG" sz="2400" i="1">
                          <a:latin typeface="Cambria Math" panose="02040503050406030204" pitchFamily="18" charset="0"/>
                        </a:rPr>
                        <m:t>+...+</m:t>
                      </m:r>
                      <m:sSub>
                        <m:sSubPr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28678" name="Object 7">
                <a:extLst>
                  <a:ext uri="{FF2B5EF4-FFF2-40B4-BE49-F238E27FC236}">
                    <a16:creationId xmlns:a16="http://schemas.microsoft.com/office/drawing/2014/main" id="{109172ED-BB2A-41BE-A408-C1B030D3BF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98432" y="3205162"/>
                <a:ext cx="4278769" cy="11413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>
            <a:extLst>
              <a:ext uri="{FF2B5EF4-FFF2-40B4-BE49-F238E27FC236}">
                <a16:creationId xmlns:a16="http://schemas.microsoft.com/office/drawing/2014/main" id="{CF799662-025E-4CB7-A2BA-C509388E3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24CF025-6701-4AA0-B6B2-C4AA32794FC1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A917B4C6-A10E-4537-9136-CAB8F6FD80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Sigma Notation: Examples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700" name="Object 6">
                <a:extLst>
                  <a:ext uri="{FF2B5EF4-FFF2-40B4-BE49-F238E27FC236}">
                    <a16:creationId xmlns:a16="http://schemas.microsoft.com/office/drawing/2014/main" id="{BD36C1C2-D813-4E64-857E-4EF11F82AB2A}"/>
                  </a:ext>
                </a:extLst>
              </p:cNvPr>
              <p:cNvSpPr txBox="1"/>
              <p:nvPr/>
            </p:nvSpPr>
            <p:spPr bwMode="auto">
              <a:xfrm>
                <a:off x="2179342" y="1754187"/>
                <a:ext cx="8722206" cy="24819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SG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SG" sz="240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)	</m:t>
                      </m:r>
                      <m:nary>
                        <m:naryPr>
                          <m:chr m:val="∑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nary>
                      <m:r>
                        <m:rPr>
                          <m:aln/>
                        </m:rPr>
                        <a:rPr lang="en-SG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2×1</m:t>
                          </m:r>
                        </m:e>
                      </m:d>
                      <m:r>
                        <a:rPr lang="en-SG" sz="24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2×2</m:t>
                          </m:r>
                        </m:e>
                      </m:d>
                      <m:r>
                        <a:rPr lang="en-SG" sz="24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2×3</m:t>
                          </m:r>
                        </m:e>
                      </m:d>
                      <m:r>
                        <a:rPr lang="en-SG" sz="24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2×4</m:t>
                          </m:r>
                        </m:e>
                      </m:d>
                    </m:oMath>
                  </m:oMathPara>
                </a14:m>
                <a:br>
                  <a:rPr lang="en-SG" sz="2400" i="1" dirty="0">
                    <a:latin typeface="Cambria Math" panose="02040503050406030204" pitchFamily="18" charset="0"/>
                  </a:rPr>
                </a:br>
                <a:endParaRPr lang="en-SG" sz="2400" i="1" dirty="0">
                  <a:latin typeface="Cambria Math" panose="02040503050406030204" pitchFamily="18" charset="0"/>
                </a:endParaRPr>
              </a:p>
              <a:p>
                <a:endParaRPr lang="en-SG" sz="2400" i="1" dirty="0">
                  <a:latin typeface="Cambria Math" panose="02040503050406030204" pitchFamily="18" charset="0"/>
                </a:endParaRPr>
              </a:p>
              <a:p>
                <a:pPr lvl="2" defTabSz="896938">
                  <a:tabLst>
                    <a:tab pos="1887538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SG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2+4+6+8</m:t>
                      </m:r>
                    </m:oMath>
                  </m:oMathPara>
                </a14:m>
                <a:br>
                  <a:rPr lang="en-SG" sz="2400" i="1" dirty="0">
                    <a:latin typeface="Cambria Math" panose="02040503050406030204" pitchFamily="18" charset="0"/>
                  </a:rPr>
                </a:br>
                <a:endParaRPr lang="en-SG" sz="2400" i="1" dirty="0">
                  <a:latin typeface="Cambria Math" panose="02040503050406030204" pitchFamily="18" charset="0"/>
                </a:endParaRPr>
              </a:p>
              <a:p>
                <a:endParaRPr lang="en-SG" sz="2400" i="1" dirty="0">
                  <a:latin typeface="Cambria Math" panose="02040503050406030204" pitchFamily="18" charset="0"/>
                </a:endParaRPr>
              </a:p>
              <a:p>
                <a:pPr lvl="2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SG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29700" name="Object 6">
                <a:extLst>
                  <a:ext uri="{FF2B5EF4-FFF2-40B4-BE49-F238E27FC236}">
                    <a16:creationId xmlns:a16="http://schemas.microsoft.com/office/drawing/2014/main" id="{BD36C1C2-D813-4E64-857E-4EF11F82AB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79342" y="1754187"/>
                <a:ext cx="8722206" cy="24819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701" name="Rectangle 9">
            <a:extLst>
              <a:ext uri="{FF2B5EF4-FFF2-40B4-BE49-F238E27FC236}">
                <a16:creationId xmlns:a16="http://schemas.microsoft.com/office/drawing/2014/main" id="{F026C358-B2BD-4CC4-BEDC-3DDE22B24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9608" name="Object 8">
                <a:extLst>
                  <a:ext uri="{FF2B5EF4-FFF2-40B4-BE49-F238E27FC236}">
                    <a16:creationId xmlns:a16="http://schemas.microsoft.com/office/drawing/2014/main" id="{F9A90A30-684B-4250-882F-16BCD13CCAE2}"/>
                  </a:ext>
                </a:extLst>
              </p:cNvPr>
              <p:cNvSpPr txBox="1"/>
              <p:nvPr/>
            </p:nvSpPr>
            <p:spPr bwMode="auto">
              <a:xfrm>
                <a:off x="2333722" y="4320972"/>
                <a:ext cx="6544914" cy="19505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SG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SG" sz="2400">
                          <a:latin typeface="Cambria Math" panose="02040503050406030204" pitchFamily="18" charset="0"/>
                        </a:rPr>
                        <m:t>ii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)	</m:t>
                      </m:r>
                      <m:nary>
                        <m:naryPr>
                          <m:chr m:val="∑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=4</m:t>
                          </m:r>
                        </m:sub>
                        <m:sup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12</m:t>
                          </m:r>
                        </m:sup>
                        <m:e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nary>
                      <m:r>
                        <m:rPr>
                          <m:aln/>
                        </m:rPr>
                        <a:rPr lang="en-SG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1+1+1+1+1+1+1+1+1</m:t>
                      </m:r>
                    </m:oMath>
                  </m:oMathPara>
                </a14:m>
                <a:br>
                  <a:rPr lang="en-SG" sz="2400" i="1" dirty="0">
                    <a:latin typeface="Cambria Math" panose="02040503050406030204" pitchFamily="18" charset="0"/>
                  </a:rPr>
                </a:br>
                <a:endParaRPr lang="en-SG" sz="2400" i="1" dirty="0">
                  <a:latin typeface="Cambria Math" panose="02040503050406030204" pitchFamily="18" charset="0"/>
                </a:endParaRPr>
              </a:p>
              <a:p>
                <a:endParaRPr lang="en-SG" sz="2400" i="1" dirty="0">
                  <a:latin typeface="Cambria Math" panose="02040503050406030204" pitchFamily="18" charset="0"/>
                </a:endParaRPr>
              </a:p>
              <a:p>
                <a:pPr lvl="2">
                  <a:tabLst>
                    <a:tab pos="1614488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SG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409608" name="Object 8">
                <a:extLst>
                  <a:ext uri="{FF2B5EF4-FFF2-40B4-BE49-F238E27FC236}">
                    <a16:creationId xmlns:a16="http://schemas.microsoft.com/office/drawing/2014/main" id="{F9A90A30-684B-4250-882F-16BCD13CCA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33722" y="4320972"/>
                <a:ext cx="6544914" cy="19505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0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>
            <a:extLst>
              <a:ext uri="{FF2B5EF4-FFF2-40B4-BE49-F238E27FC236}">
                <a16:creationId xmlns:a16="http://schemas.microsoft.com/office/drawing/2014/main" id="{E234E817-7EF8-471E-9E40-EB7382620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7EB5BD5-885C-49E8-8A65-C55F27FC6E9F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FCB19B11-EC2B-4D07-94E2-877D090726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Sigma Notation: Equalities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24" name="Object 10">
                <a:extLst>
                  <a:ext uri="{FF2B5EF4-FFF2-40B4-BE49-F238E27FC236}">
                    <a16:creationId xmlns:a16="http://schemas.microsoft.com/office/drawing/2014/main" id="{5CB19097-F0EE-4021-9880-18BA841CF6C3}"/>
                  </a:ext>
                </a:extLst>
              </p:cNvPr>
              <p:cNvSpPr txBox="1"/>
              <p:nvPr/>
            </p:nvSpPr>
            <p:spPr bwMode="auto">
              <a:xfrm>
                <a:off x="2265123" y="909943"/>
                <a:ext cx="3181350" cy="866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SG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SG" sz="240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)	</m:t>
                      </m:r>
                      <m:nary>
                        <m:naryPr>
                          <m:chr m:val="∑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SG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SG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SG" sz="24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  <m:sup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SG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30724" name="Object 10">
                <a:extLst>
                  <a:ext uri="{FF2B5EF4-FFF2-40B4-BE49-F238E27FC236}">
                    <a16:creationId xmlns:a16="http://schemas.microsoft.com/office/drawing/2014/main" id="{5CB19097-F0EE-4021-9880-18BA841CF6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65123" y="909943"/>
                <a:ext cx="3181350" cy="866775"/>
              </a:xfrm>
              <a:prstGeom prst="rect">
                <a:avLst/>
              </a:prstGeom>
              <a:blipFill>
                <a:blip r:embed="rId2"/>
                <a:stretch>
                  <a:fillRect b="-2112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0633" name="Object 9">
                <a:extLst>
                  <a:ext uri="{FF2B5EF4-FFF2-40B4-BE49-F238E27FC236}">
                    <a16:creationId xmlns:a16="http://schemas.microsoft.com/office/drawing/2014/main" id="{75D01A1C-9F71-467F-A932-9442603B50BF}"/>
                  </a:ext>
                </a:extLst>
              </p:cNvPr>
              <p:cNvSpPr txBox="1"/>
              <p:nvPr/>
            </p:nvSpPr>
            <p:spPr bwMode="auto">
              <a:xfrm>
                <a:off x="2144365" y="1935804"/>
                <a:ext cx="5579171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SG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SG" sz="2400">
                          <a:latin typeface="Cambria Math" panose="02040503050406030204" pitchFamily="18" charset="0"/>
                        </a:rPr>
                        <m:t>ii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)	</m:t>
                      </m:r>
                      <m:nary>
                        <m:naryPr>
                          <m:chr m:val="∑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SG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SG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SG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SG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410633" name="Object 9">
                <a:extLst>
                  <a:ext uri="{FF2B5EF4-FFF2-40B4-BE49-F238E27FC236}">
                    <a16:creationId xmlns:a16="http://schemas.microsoft.com/office/drawing/2014/main" id="{75D01A1C-9F71-467F-A932-9442603B50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44365" y="1935804"/>
                <a:ext cx="5579171" cy="1143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0632" name="Object 8">
                <a:extLst>
                  <a:ext uri="{FF2B5EF4-FFF2-40B4-BE49-F238E27FC236}">
                    <a16:creationId xmlns:a16="http://schemas.microsoft.com/office/drawing/2014/main" id="{B04C5FCD-5227-4FB1-9737-4F4473AF0CD0}"/>
                  </a:ext>
                </a:extLst>
              </p:cNvPr>
              <p:cNvSpPr txBox="1"/>
              <p:nvPr/>
            </p:nvSpPr>
            <p:spPr bwMode="auto">
              <a:xfrm>
                <a:off x="2188947" y="3078805"/>
                <a:ext cx="3999129" cy="1142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SG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SG" sz="2400">
                          <a:latin typeface="Cambria Math" panose="02040503050406030204" pitchFamily="18" charset="0"/>
                        </a:rPr>
                        <m:t>iii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)	</m:t>
                      </m:r>
                      <m:nary>
                        <m:naryPr>
                          <m:chr m:val="∑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SG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SG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SG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410632" name="Object 8">
                <a:extLst>
                  <a:ext uri="{FF2B5EF4-FFF2-40B4-BE49-F238E27FC236}">
                    <a16:creationId xmlns:a16="http://schemas.microsoft.com/office/drawing/2014/main" id="{B04C5FCD-5227-4FB1-9737-4F4473AF0C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88947" y="3078805"/>
                <a:ext cx="3999129" cy="1142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0631" name="Object 7">
                <a:extLst>
                  <a:ext uri="{FF2B5EF4-FFF2-40B4-BE49-F238E27FC236}">
                    <a16:creationId xmlns:a16="http://schemas.microsoft.com/office/drawing/2014/main" id="{1091F674-016F-49A6-8526-47F47CF3C5F0}"/>
                  </a:ext>
                </a:extLst>
              </p:cNvPr>
              <p:cNvSpPr txBox="1"/>
              <p:nvPr/>
            </p:nvSpPr>
            <p:spPr bwMode="auto">
              <a:xfrm>
                <a:off x="2097186" y="4221804"/>
                <a:ext cx="6698575" cy="1142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SG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SG" sz="2400">
                          <a:latin typeface="Cambria Math" panose="02040503050406030204" pitchFamily="18" charset="0"/>
                        </a:rPr>
                        <m:t>iv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)	</m:t>
                      </m:r>
                      <m:nary>
                        <m:naryPr>
                          <m:chr m:val="∑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SG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SG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SG" sz="24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SG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SG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SG" sz="24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SG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SG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SG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SG" sz="24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SG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SG" sz="2400" i="1">
                          <a:latin typeface="Cambria Math" panose="02040503050406030204" pitchFamily="18" charset="0"/>
                        </a:rPr>
                        <m:t>,  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410631" name="Object 7">
                <a:extLst>
                  <a:ext uri="{FF2B5EF4-FFF2-40B4-BE49-F238E27FC236}">
                    <a16:creationId xmlns:a16="http://schemas.microsoft.com/office/drawing/2014/main" id="{1091F674-016F-49A6-8526-47F47CF3C5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97186" y="4221804"/>
                <a:ext cx="6698575" cy="1142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0630" name="Object 6">
                <a:extLst>
                  <a:ext uri="{FF2B5EF4-FFF2-40B4-BE49-F238E27FC236}">
                    <a16:creationId xmlns:a16="http://schemas.microsoft.com/office/drawing/2014/main" id="{84891475-5CD3-42AB-867C-3F0FB5E6E748}"/>
                  </a:ext>
                </a:extLst>
              </p:cNvPr>
              <p:cNvSpPr txBox="1"/>
              <p:nvPr/>
            </p:nvSpPr>
            <p:spPr bwMode="auto">
              <a:xfrm>
                <a:off x="2144365" y="5376559"/>
                <a:ext cx="5410547" cy="1142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SG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SG" sz="240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)	</m:t>
                      </m:r>
                      <m:nary>
                        <m:naryPr>
                          <m:chr m:val="∑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sSub>
                            <m:sSubPr>
                              <m:ctrlPr>
                                <a:rPr lang="en-SG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SG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𝑘</m:t>
                      </m:r>
                      <m:nary>
                        <m:naryPr>
                          <m:chr m:val="∑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SG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SG" sz="2400" i="1">
                          <a:latin typeface="Cambria Math" panose="02040503050406030204" pitchFamily="18" charset="0"/>
                        </a:rPr>
                        <m:t>,  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410630" name="Object 6">
                <a:extLst>
                  <a:ext uri="{FF2B5EF4-FFF2-40B4-BE49-F238E27FC236}">
                    <a16:creationId xmlns:a16="http://schemas.microsoft.com/office/drawing/2014/main" id="{84891475-5CD3-42AB-867C-3F0FB5E6E7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44365" y="5376559"/>
                <a:ext cx="5410547" cy="1142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5">
            <a:extLst>
              <a:ext uri="{FF2B5EF4-FFF2-40B4-BE49-F238E27FC236}">
                <a16:creationId xmlns:a16="http://schemas.microsoft.com/office/drawing/2014/main" id="{0B2E2C73-0093-4A39-AF32-988DCE9BE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EBE2EA7-9B2D-44E0-9DBB-086939A22DDE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9ECAAB27-A9ED-46A1-B83C-14FE92B34C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Discussion: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BD04C128-B43B-4DE8-B6E4-2F3BA4BF3C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GB" altLang="en-US" sz="2400" dirty="0">
                <a:ea typeface="ＭＳ 明朝" panose="02020609040205080304" pitchFamily="49" charset="-128"/>
                <a:sym typeface="Symbol" panose="05050102010706020507" pitchFamily="18" charset="2"/>
              </a:rPr>
              <a:t>True or False?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749" name="Object 4">
                <a:extLst>
                  <a:ext uri="{FF2B5EF4-FFF2-40B4-BE49-F238E27FC236}">
                    <a16:creationId xmlns:a16="http://schemas.microsoft.com/office/drawing/2014/main" id="{C716341E-DB9D-4F56-AD00-228ADE578555}"/>
                  </a:ext>
                </a:extLst>
              </p:cNvPr>
              <p:cNvSpPr txBox="1"/>
              <p:nvPr/>
            </p:nvSpPr>
            <p:spPr bwMode="auto">
              <a:xfrm>
                <a:off x="4222750" y="1536700"/>
                <a:ext cx="3050697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nary>
                      <m:r>
                        <a:rPr lang="en-SG" sz="2400" i="1">
                          <a:latin typeface="Cambria Math" panose="02040503050406030204" pitchFamily="18" charset="0"/>
                        </a:rPr>
                        <m:t>−1=9</m:t>
                      </m:r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31749" name="Object 4">
                <a:extLst>
                  <a:ext uri="{FF2B5EF4-FFF2-40B4-BE49-F238E27FC236}">
                    <a16:creationId xmlns:a16="http://schemas.microsoft.com/office/drawing/2014/main" id="{C716341E-DB9D-4F56-AD00-228ADE578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22750" y="1536700"/>
                <a:ext cx="3050697" cy="1143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1718" name="Object 6">
                <a:extLst>
                  <a:ext uri="{FF2B5EF4-FFF2-40B4-BE49-F238E27FC236}">
                    <a16:creationId xmlns:a16="http://schemas.microsoft.com/office/drawing/2014/main" id="{01B04E32-5041-4E27-8CC6-3E58182282FC}"/>
                  </a:ext>
                </a:extLst>
              </p:cNvPr>
              <p:cNvSpPr txBox="1"/>
              <p:nvPr/>
            </p:nvSpPr>
            <p:spPr bwMode="auto">
              <a:xfrm>
                <a:off x="4354612" y="3016251"/>
                <a:ext cx="2315901" cy="10382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SG" sz="2400" i="1">
                          <a:latin typeface="Cambria Math" panose="02040503050406030204" pitchFamily="18" charset="0"/>
                        </a:rPr>
                        <m:t>=2</m:t>
                      </m:r>
                      <m:nary>
                        <m:naryPr>
                          <m:chr m:val="∑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nary>
                      <m:r>
                        <a:rPr lang="en-SG" sz="2400" i="1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371718" name="Object 6">
                <a:extLst>
                  <a:ext uri="{FF2B5EF4-FFF2-40B4-BE49-F238E27FC236}">
                    <a16:creationId xmlns:a16="http://schemas.microsoft.com/office/drawing/2014/main" id="{01B04E32-5041-4E27-8CC6-3E58182282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54612" y="3016251"/>
                <a:ext cx="2315901" cy="1038224"/>
              </a:xfrm>
              <a:prstGeom prst="rect">
                <a:avLst/>
              </a:prstGeom>
              <a:blipFill>
                <a:blip r:embed="rId3"/>
                <a:stretch>
                  <a:fillRect b="-35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1720" name="Object 8">
                <a:extLst>
                  <a:ext uri="{FF2B5EF4-FFF2-40B4-BE49-F238E27FC236}">
                    <a16:creationId xmlns:a16="http://schemas.microsoft.com/office/drawing/2014/main" id="{6E1DB381-E81B-4652-843A-BD3DF40B3883}"/>
                  </a:ext>
                </a:extLst>
              </p:cNvPr>
              <p:cNvSpPr txBox="1"/>
              <p:nvPr/>
            </p:nvSpPr>
            <p:spPr bwMode="auto">
              <a:xfrm>
                <a:off x="2938463" y="3046413"/>
                <a:ext cx="1616836" cy="97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nary>
                      <m:r>
                        <a:rPr lang="en-SG" sz="2400" i="1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371720" name="Object 8">
                <a:extLst>
                  <a:ext uri="{FF2B5EF4-FFF2-40B4-BE49-F238E27FC236}">
                    <a16:creationId xmlns:a16="http://schemas.microsoft.com/office/drawing/2014/main" id="{6E1DB381-E81B-4652-843A-BD3DF40B3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38463" y="3046413"/>
                <a:ext cx="1616836" cy="977900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1722" name="Text Box 10">
            <a:extLst>
              <a:ext uri="{FF2B5EF4-FFF2-40B4-BE49-F238E27FC236}">
                <a16:creationId xmlns:a16="http://schemas.microsoft.com/office/drawing/2014/main" id="{D92D8EC3-56A6-40E9-817A-9313F5EE31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4612" y="4345781"/>
            <a:ext cx="2873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>
                <a:cs typeface="Arial" panose="020B0604020202020204" pitchFamily="34" charset="0"/>
              </a:rPr>
              <a:t>= 2(1 + 2 + 3) - 1</a:t>
            </a:r>
          </a:p>
        </p:txBody>
      </p:sp>
      <p:sp>
        <p:nvSpPr>
          <p:cNvPr id="371723" name="Text Box 11">
            <a:extLst>
              <a:ext uri="{FF2B5EF4-FFF2-40B4-BE49-F238E27FC236}">
                <a16:creationId xmlns:a16="http://schemas.microsoft.com/office/drawing/2014/main" id="{CE74E76A-A9B6-4D30-A130-0681734C4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4611" y="5173021"/>
            <a:ext cx="1944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>
                <a:cs typeface="Arial" panose="020B0604020202020204" pitchFamily="34" charset="0"/>
              </a:rPr>
              <a:t>= 11	(</a:t>
            </a:r>
            <a:r>
              <a:rPr lang="en-US" altLang="en-US" sz="2400" dirty="0">
                <a:cs typeface="Arial" panose="020B0604020202020204" pitchFamily="34" charset="0"/>
                <a:sym typeface="Symbol" panose="05050102010706020507" pitchFamily="18" charset="2"/>
              </a:rPr>
              <a:t> 9)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71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71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1722" grpId="0"/>
      <p:bldP spid="37172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5">
            <a:extLst>
              <a:ext uri="{FF2B5EF4-FFF2-40B4-BE49-F238E27FC236}">
                <a16:creationId xmlns:a16="http://schemas.microsoft.com/office/drawing/2014/main" id="{B89D1BD2-B0D2-4463-A13C-6CE0B3557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3801E4C-7310-47FC-9C4E-842AEB17320F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A3FC48D1-0852-42B6-8DEB-4E8067B0F4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Recursive Definitions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33A87CE9-5E49-4DEF-A469-CA5C306C73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 dirty="0"/>
              <a:t>Sequences of numbers are defined </a:t>
            </a:r>
            <a:r>
              <a:rPr lang="en-US" altLang="en-US" sz="2400" b="1" i="1" dirty="0">
                <a:solidFill>
                  <a:schemeClr val="hlink"/>
                </a:solidFill>
              </a:rPr>
              <a:t>recursively</a:t>
            </a:r>
            <a:r>
              <a:rPr lang="en-US" altLang="en-US" sz="2400" dirty="0">
                <a:solidFill>
                  <a:schemeClr val="hlink"/>
                </a:solidFill>
              </a:rPr>
              <a:t> </a:t>
            </a:r>
            <a:r>
              <a:rPr lang="en-US" altLang="en-US" sz="2400" dirty="0"/>
              <a:t>if each </a:t>
            </a:r>
            <a:r>
              <a:rPr lang="en-US" altLang="en-US" sz="2400" u="sng" dirty="0"/>
              <a:t>new number depends on previous values</a:t>
            </a:r>
            <a:r>
              <a:rPr lang="en-US" altLang="en-US" sz="2400" dirty="0"/>
              <a:t>.</a:t>
            </a:r>
            <a:endParaRPr lang="en-US" altLang="en-US" sz="2400" i="1" dirty="0"/>
          </a:p>
          <a:p>
            <a:pPr marL="0" indent="0">
              <a:buNone/>
            </a:pPr>
            <a:endParaRPr lang="en-US" altLang="en-US" sz="2400" i="1" dirty="0"/>
          </a:p>
          <a:p>
            <a:pPr marL="0" indent="0">
              <a:buNone/>
            </a:pPr>
            <a:endParaRPr lang="en-GB" altLang="en-US" sz="2400" dirty="0">
              <a:ea typeface="ＭＳ 明朝" panose="02020609040205080304" pitchFamily="49" charset="-128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5">
            <a:extLst>
              <a:ext uri="{FF2B5EF4-FFF2-40B4-BE49-F238E27FC236}">
                <a16:creationId xmlns:a16="http://schemas.microsoft.com/office/drawing/2014/main" id="{5BFA55A2-CEB2-48E7-A5E6-F7546C827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6D1E1EC-972C-42DD-8BD1-40A43D637461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CB54C6AA-FEFC-47DA-9861-3B9769C44B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Recursive Definitions: Example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1651" name="Rectangle 3">
            <a:extLst>
              <a:ext uri="{FF2B5EF4-FFF2-40B4-BE49-F238E27FC236}">
                <a16:creationId xmlns:a16="http://schemas.microsoft.com/office/drawing/2014/main" id="{BC8E3F7F-C998-4426-90AE-6C041A919B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US" altLang="en-US" sz="2400" dirty="0"/>
              <a:t>Let </a:t>
            </a:r>
            <a:r>
              <a:rPr lang="en-US" altLang="en-US" sz="2400" i="1" dirty="0"/>
              <a:t>u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</a:t>
            </a:r>
            <a:r>
              <a:rPr lang="en-US" altLang="en-US" sz="2400" i="1" dirty="0"/>
              <a:t>u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, …, </a:t>
            </a:r>
            <a:r>
              <a:rPr lang="en-US" altLang="en-US" sz="2400" i="1" dirty="0"/>
              <a:t>u</a:t>
            </a:r>
            <a:r>
              <a:rPr lang="en-US" altLang="en-US" sz="2400" i="1" baseline="-25000" dirty="0"/>
              <a:t>n</a:t>
            </a:r>
            <a:r>
              <a:rPr lang="en-US" altLang="en-US" sz="2400" dirty="0"/>
              <a:t>, … be real numbers defined by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2400" dirty="0"/>
              <a:t>		 </a:t>
            </a:r>
            <a:r>
              <a:rPr lang="en-US" altLang="en-US" sz="2400" i="1" dirty="0"/>
              <a:t>u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 = 2 		and 	</a:t>
            </a:r>
            <a:r>
              <a:rPr lang="en-US" altLang="en-US" sz="2400" i="1" dirty="0"/>
              <a:t>u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= 4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2400" dirty="0"/>
              <a:t>and</a:t>
            </a:r>
            <a:endParaRPr lang="en-US" altLang="en-US" sz="2400" i="1" dirty="0"/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2400" i="1" dirty="0"/>
              <a:t>		u</a:t>
            </a:r>
            <a:r>
              <a:rPr lang="en-US" altLang="en-US" sz="2400" i="1" baseline="-25000" dirty="0"/>
              <a:t>n</a:t>
            </a:r>
            <a:r>
              <a:rPr lang="en-US" altLang="en-US" sz="2400" dirty="0"/>
              <a:t> = 5</a:t>
            </a:r>
            <a:r>
              <a:rPr lang="en-US" altLang="en-US" sz="2400" i="1" dirty="0"/>
              <a:t>u</a:t>
            </a:r>
            <a:r>
              <a:rPr lang="en-US" altLang="en-US" sz="2400" i="1" baseline="-25000" dirty="0"/>
              <a:t>n</a:t>
            </a:r>
            <a:r>
              <a:rPr lang="en-US" altLang="en-US" sz="2400" baseline="-25000" dirty="0"/>
              <a:t> - 1</a:t>
            </a:r>
            <a:r>
              <a:rPr lang="en-US" altLang="en-US" sz="2400" dirty="0"/>
              <a:t> - 6</a:t>
            </a:r>
            <a:r>
              <a:rPr lang="en-US" altLang="en-US" sz="2400" i="1" dirty="0"/>
              <a:t>u</a:t>
            </a:r>
            <a:r>
              <a:rPr lang="en-US" altLang="en-US" sz="2400" i="1" baseline="-25000" dirty="0"/>
              <a:t>n </a:t>
            </a:r>
            <a:r>
              <a:rPr lang="en-US" altLang="en-US" sz="2400" baseline="-25000" dirty="0"/>
              <a:t>- 2</a:t>
            </a:r>
            <a:r>
              <a:rPr lang="en-US" altLang="en-US" sz="2400" dirty="0"/>
              <a:t>, 	for </a:t>
            </a:r>
            <a:r>
              <a:rPr lang="en-US" altLang="en-US" sz="2400" i="1" dirty="0"/>
              <a:t>n</a:t>
            </a:r>
            <a:r>
              <a:rPr lang="en-US" altLang="en-US" sz="2400" dirty="0"/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 3.</a:t>
            </a:r>
            <a:endParaRPr lang="en-US" altLang="en-US" sz="2400" dirty="0"/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2400" dirty="0"/>
              <a:t>Find </a:t>
            </a:r>
            <a:r>
              <a:rPr lang="en-US" altLang="en-US" sz="2400" i="1" dirty="0"/>
              <a:t>u</a:t>
            </a:r>
            <a:r>
              <a:rPr lang="en-US" altLang="en-US" sz="2400" baseline="-25000" dirty="0"/>
              <a:t>4</a:t>
            </a:r>
            <a:r>
              <a:rPr lang="en-US" altLang="en-US" sz="2400" dirty="0"/>
              <a:t>: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2400" dirty="0"/>
              <a:t>		      </a:t>
            </a:r>
            <a:r>
              <a:rPr lang="en-US" altLang="en-US" sz="2400" i="1" dirty="0"/>
              <a:t>u</a:t>
            </a:r>
            <a:r>
              <a:rPr lang="en-US" altLang="en-US" sz="2400" baseline="-25000" dirty="0"/>
              <a:t>3</a:t>
            </a:r>
            <a:r>
              <a:rPr lang="en-US" altLang="en-US" sz="2400" dirty="0"/>
              <a:t> 	= 5</a:t>
            </a:r>
            <a:r>
              <a:rPr lang="en-US" altLang="en-US" sz="2400" i="1" dirty="0"/>
              <a:t>u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 - 6</a:t>
            </a:r>
            <a:r>
              <a:rPr lang="en-US" altLang="en-US" sz="2400" i="1" dirty="0"/>
              <a:t>u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   		(</a:t>
            </a:r>
            <a:r>
              <a:rPr lang="en-US" altLang="en-US" sz="2400" i="1" dirty="0"/>
              <a:t>n</a:t>
            </a:r>
            <a:r>
              <a:rPr lang="en-US" altLang="en-US" sz="2400" dirty="0"/>
              <a:t> = 3)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2400" dirty="0"/>
              <a:t>			= 5 </a:t>
            </a:r>
            <a:r>
              <a:rPr lang="en-US" altLang="en-US" sz="2400" dirty="0">
                <a:sym typeface="Symbol" panose="05050102010706020507" pitchFamily="18" charset="2"/>
              </a:rPr>
              <a:t></a:t>
            </a:r>
            <a:r>
              <a:rPr lang="en-US" altLang="en-US" sz="2400" dirty="0"/>
              <a:t> 4 – 6 </a:t>
            </a:r>
            <a:r>
              <a:rPr lang="en-US" altLang="en-US" sz="2400" dirty="0">
                <a:sym typeface="Symbol" panose="05050102010706020507" pitchFamily="18" charset="2"/>
              </a:rPr>
              <a:t></a:t>
            </a:r>
            <a:r>
              <a:rPr lang="en-US" altLang="en-US" sz="2400" dirty="0"/>
              <a:t> 2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2400" dirty="0"/>
              <a:t>			= 8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2400" dirty="0"/>
              <a:t>	</a:t>
            </a:r>
            <a:endParaRPr lang="en-US" altLang="en-US" sz="2400" i="1" dirty="0"/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2400" i="1" dirty="0"/>
              <a:t>		      u</a:t>
            </a:r>
            <a:r>
              <a:rPr lang="en-US" altLang="en-US" sz="2400" baseline="-25000" dirty="0"/>
              <a:t>4</a:t>
            </a:r>
            <a:r>
              <a:rPr lang="en-US" altLang="en-US" sz="2400" dirty="0"/>
              <a:t> 	= 5</a:t>
            </a:r>
            <a:r>
              <a:rPr lang="en-US" altLang="en-US" sz="2400" i="1" dirty="0"/>
              <a:t>u</a:t>
            </a:r>
            <a:r>
              <a:rPr lang="en-US" altLang="en-US" sz="2400" baseline="-25000" dirty="0"/>
              <a:t>3</a:t>
            </a:r>
            <a:r>
              <a:rPr lang="en-US" altLang="en-US" sz="2400" dirty="0"/>
              <a:t> - 6</a:t>
            </a:r>
            <a:r>
              <a:rPr lang="en-US" altLang="en-US" sz="2400" i="1" dirty="0"/>
              <a:t>u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   		(</a:t>
            </a:r>
            <a:r>
              <a:rPr lang="en-US" altLang="en-US" sz="2400" i="1" dirty="0"/>
              <a:t>n</a:t>
            </a:r>
            <a:r>
              <a:rPr lang="en-US" altLang="en-US" sz="2400" dirty="0"/>
              <a:t> = 4)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2400" dirty="0"/>
              <a:t>			= 5 </a:t>
            </a:r>
            <a:r>
              <a:rPr lang="en-US" altLang="en-US" sz="2400" dirty="0">
                <a:sym typeface="Symbol" panose="05050102010706020507" pitchFamily="18" charset="2"/>
              </a:rPr>
              <a:t></a:t>
            </a:r>
            <a:r>
              <a:rPr lang="en-US" altLang="en-US" sz="2400" dirty="0"/>
              <a:t> 8 – 6 </a:t>
            </a:r>
            <a:r>
              <a:rPr lang="en-US" altLang="en-US" sz="2400" dirty="0">
                <a:sym typeface="Symbol" panose="05050102010706020507" pitchFamily="18" charset="2"/>
              </a:rPr>
              <a:t></a:t>
            </a:r>
            <a:r>
              <a:rPr lang="en-US" altLang="en-US" sz="2400" dirty="0"/>
              <a:t> 4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2400" dirty="0"/>
              <a:t>			= 16.	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11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11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11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11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11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116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4116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5">
            <a:extLst>
              <a:ext uri="{FF2B5EF4-FFF2-40B4-BE49-F238E27FC236}">
                <a16:creationId xmlns:a16="http://schemas.microsoft.com/office/drawing/2014/main" id="{9305D27C-67D4-43D7-A81A-8786BD740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434C9FD-E6D7-4F26-AB49-882FA8DE05AF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E793789D-6DD7-4AA3-A56C-C7F2BE5FFC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Recursive Definitions: Note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2675" name="Rectangle 3">
            <a:extLst>
              <a:ext uri="{FF2B5EF4-FFF2-40B4-BE49-F238E27FC236}">
                <a16:creationId xmlns:a16="http://schemas.microsoft.com/office/drawing/2014/main" id="{DC2E369B-2D60-49BA-802A-34FB939C7B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r>
              <a:rPr lang="en-US" altLang="en-US" sz="2400" dirty="0"/>
              <a:t>The numbers can often be defined directly. </a:t>
            </a:r>
          </a:p>
          <a:p>
            <a:pPr marL="0" indent="0">
              <a:lnSpc>
                <a:spcPct val="80000"/>
              </a:lnSpc>
              <a:buNone/>
            </a:pPr>
            <a:endParaRPr lang="en-US" altLang="en-US" sz="2400" dirty="0"/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2400" dirty="0"/>
              <a:t>For example, </a:t>
            </a:r>
            <a:r>
              <a:rPr lang="en-US" altLang="en-US" sz="2400" i="1" dirty="0"/>
              <a:t>u</a:t>
            </a:r>
            <a:r>
              <a:rPr lang="en-US" altLang="en-US" sz="2400" i="1" baseline="-25000" dirty="0"/>
              <a:t>n</a:t>
            </a:r>
            <a:r>
              <a:rPr lang="en-US" altLang="en-US" sz="2400" dirty="0"/>
              <a:t> = 2</a:t>
            </a:r>
            <a:r>
              <a:rPr lang="en-US" altLang="en-US" sz="2400" i="1" baseline="30000" dirty="0"/>
              <a:t>n</a:t>
            </a:r>
            <a:r>
              <a:rPr lang="en-US" altLang="en-US" sz="2400" dirty="0"/>
              <a:t> in the previous example.</a:t>
            </a:r>
            <a:r>
              <a:rPr lang="en-US" altLang="en-US" sz="2400" baseline="-25000" dirty="0"/>
              <a:t> </a:t>
            </a:r>
            <a:endParaRPr lang="en-GB" altLang="en-US" sz="2400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12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5">
            <a:extLst>
              <a:ext uri="{FF2B5EF4-FFF2-40B4-BE49-F238E27FC236}">
                <a16:creationId xmlns:a16="http://schemas.microsoft.com/office/drawing/2014/main" id="{3C049146-95D1-48FA-A8C2-77C4F9E0A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746D8DA-8C34-4CCE-A731-8FBC0654499F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GB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56B313B2-6D09-4696-B4EC-AAD498E066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209550"/>
            <a:ext cx="9144000" cy="1143000"/>
          </a:xfrm>
        </p:spPr>
        <p:txBody>
          <a:bodyPr/>
          <a:lstStyle/>
          <a:p>
            <a:pPr eaLnBrk="1" hangingPunct="1"/>
            <a:r>
              <a:rPr lang="en-GB" altLang="en-US" sz="34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Principle of Strong Mathematical Induction</a:t>
            </a:r>
          </a:p>
        </p:txBody>
      </p:sp>
      <p:sp>
        <p:nvSpPr>
          <p:cNvPr id="413699" name="Rectangle 3">
            <a:extLst>
              <a:ext uri="{FF2B5EF4-FFF2-40B4-BE49-F238E27FC236}">
                <a16:creationId xmlns:a16="http://schemas.microsoft.com/office/drawing/2014/main" id="{85079CDE-67B0-44E0-90D7-77D26F02AE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0" y="1533526"/>
            <a:ext cx="9005888" cy="4530725"/>
          </a:xfrm>
        </p:spPr>
        <p:txBody>
          <a:bodyPr/>
          <a:lstStyle/>
          <a:p>
            <a:pPr marL="0" indent="0">
              <a:buNone/>
            </a:pPr>
            <a:r>
              <a:rPr lang="en-GB" altLang="en-US" sz="2400" dirty="0">
                <a:sym typeface="Symbol" panose="05050102010706020507" pitchFamily="18" charset="2"/>
              </a:rPr>
              <a:t>For integer </a:t>
            </a:r>
            <a:r>
              <a:rPr lang="en-GB" altLang="en-US" sz="2400" i="1" dirty="0">
                <a:sym typeface="Symbol" panose="05050102010706020507" pitchFamily="18" charset="2"/>
              </a:rPr>
              <a:t>n</a:t>
            </a:r>
            <a:r>
              <a:rPr lang="en-GB" altLang="en-US" sz="2400" dirty="0">
                <a:sym typeface="Symbol" panose="05050102010706020507" pitchFamily="18" charset="2"/>
              </a:rPr>
              <a:t>, let CLAIM(</a:t>
            </a:r>
            <a:r>
              <a:rPr lang="en-GB" altLang="en-US" sz="2400" i="1" dirty="0">
                <a:sym typeface="Symbol" panose="05050102010706020507" pitchFamily="18" charset="2"/>
              </a:rPr>
              <a:t>n</a:t>
            </a:r>
            <a:r>
              <a:rPr lang="en-GB" altLang="en-US" sz="2400" dirty="0">
                <a:sym typeface="Symbol" panose="05050102010706020507" pitchFamily="18" charset="2"/>
              </a:rPr>
              <a:t>) be a statement and let </a:t>
            </a:r>
            <a:r>
              <a:rPr lang="en-GB" altLang="en-US" sz="2400" i="1" dirty="0">
                <a:sym typeface="Symbol" panose="05050102010706020507" pitchFamily="18" charset="2"/>
              </a:rPr>
              <a:t>a</a:t>
            </a:r>
            <a:r>
              <a:rPr lang="en-GB" altLang="en-US" sz="2400" dirty="0">
                <a:sym typeface="Symbol" panose="05050102010706020507" pitchFamily="18" charset="2"/>
              </a:rPr>
              <a:t> and </a:t>
            </a:r>
            <a:r>
              <a:rPr lang="en-GB" altLang="en-US" sz="2400" i="1" dirty="0">
                <a:sym typeface="Symbol" panose="05050102010706020507" pitchFamily="18" charset="2"/>
              </a:rPr>
              <a:t>b</a:t>
            </a:r>
            <a:r>
              <a:rPr lang="en-GB" altLang="en-US" sz="2400" dirty="0">
                <a:sym typeface="Symbol" panose="05050102010706020507" pitchFamily="18" charset="2"/>
              </a:rPr>
              <a:t> be fixed integers with </a:t>
            </a:r>
            <a:r>
              <a:rPr lang="en-GB" altLang="en-US" sz="2400" i="1" dirty="0">
                <a:sym typeface="Symbol" panose="05050102010706020507" pitchFamily="18" charset="2"/>
              </a:rPr>
              <a:t>a</a:t>
            </a:r>
            <a:r>
              <a:rPr lang="en-GB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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. </a:t>
            </a:r>
            <a:r>
              <a:rPr lang="en-GB" altLang="en-US" sz="2400" dirty="0">
                <a:sym typeface="Symbol" panose="05050102010706020507" pitchFamily="18" charset="2"/>
              </a:rPr>
              <a:t>If</a:t>
            </a:r>
          </a:p>
          <a:p>
            <a:pPr marL="0" indent="0">
              <a:buNone/>
            </a:pPr>
            <a:endParaRPr lang="en-GB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GB" altLang="en-US" sz="2400" dirty="0">
                <a:sym typeface="Symbol" panose="05050102010706020507" pitchFamily="18" charset="2"/>
              </a:rPr>
              <a:t>	1. CLAIM(</a:t>
            </a:r>
            <a:r>
              <a:rPr lang="en-GB" altLang="en-US" sz="2400" i="1" dirty="0">
                <a:sym typeface="Symbol" panose="05050102010706020507" pitchFamily="18" charset="2"/>
              </a:rPr>
              <a:t>a</a:t>
            </a:r>
            <a:r>
              <a:rPr lang="en-GB" altLang="en-US" sz="2400" dirty="0">
                <a:sym typeface="Symbol" panose="05050102010706020507" pitchFamily="18" charset="2"/>
              </a:rPr>
              <a:t>), …, CLAIM(</a:t>
            </a:r>
            <a:r>
              <a:rPr lang="en-GB" altLang="en-US" sz="2400" i="1" dirty="0">
                <a:sym typeface="Symbol" panose="05050102010706020507" pitchFamily="18" charset="2"/>
              </a:rPr>
              <a:t>b</a:t>
            </a:r>
            <a:r>
              <a:rPr lang="en-GB" altLang="en-US" sz="2400" dirty="0">
                <a:sym typeface="Symbol" panose="05050102010706020507" pitchFamily="18" charset="2"/>
              </a:rPr>
              <a:t>) are true, and</a:t>
            </a:r>
            <a:endParaRPr lang="en-GB" altLang="en-US" sz="2400" dirty="0">
              <a:solidFill>
                <a:srgbClr val="FF3300"/>
              </a:solidFill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GB" altLang="en-US" sz="2400" dirty="0">
                <a:sym typeface="Symbol" panose="05050102010706020507" pitchFamily="18" charset="2"/>
              </a:rPr>
              <a:t>	</a:t>
            </a:r>
          </a:p>
          <a:p>
            <a:pPr marL="0" indent="0">
              <a:buNone/>
            </a:pPr>
            <a:r>
              <a:rPr lang="en-GB" altLang="en-US" sz="2400" dirty="0">
                <a:sym typeface="Symbol" panose="05050102010706020507" pitchFamily="18" charset="2"/>
              </a:rPr>
              <a:t>	2. the truth of </a:t>
            </a:r>
            <a:r>
              <a:rPr lang="en-US" altLang="en-US" sz="2400" dirty="0">
                <a:sym typeface="Symbol" panose="05050102010706020507" pitchFamily="18" charset="2"/>
              </a:rPr>
              <a:t>CLAIM(</a:t>
            </a:r>
            <a:r>
              <a:rPr lang="en-US" altLang="en-US" sz="2400" i="1" dirty="0" err="1"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ym typeface="Symbol" panose="05050102010706020507" pitchFamily="18" charset="2"/>
              </a:rPr>
              <a:t>) for all integers </a:t>
            </a:r>
            <a:r>
              <a:rPr lang="en-US" altLang="en-US" sz="2400" i="1" dirty="0" err="1"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ym typeface="Symbol" panose="05050102010706020507" pitchFamily="18" charset="2"/>
              </a:rPr>
              <a:t> with </a:t>
            </a:r>
          </a:p>
          <a:p>
            <a:pPr marL="0" indent="0">
              <a:buNone/>
            </a:pPr>
            <a:r>
              <a:rPr lang="en-US" altLang="en-US" sz="2400" i="1" dirty="0">
                <a:sym typeface="Symbol" panose="05050102010706020507" pitchFamily="18" charset="2"/>
              </a:rPr>
              <a:t>    	a</a:t>
            </a:r>
            <a:r>
              <a:rPr lang="en-US" altLang="en-US" sz="2400" dirty="0">
                <a:sym typeface="Symbol" panose="05050102010706020507" pitchFamily="18" charset="2"/>
              </a:rPr>
              <a:t>  </a:t>
            </a:r>
            <a:r>
              <a:rPr lang="en-US" altLang="en-US" sz="2400" i="1" dirty="0" err="1"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ym typeface="Symbol" panose="05050102010706020507" pitchFamily="18" charset="2"/>
              </a:rPr>
              <a:t> &lt; </a:t>
            </a:r>
            <a:r>
              <a:rPr lang="en-US" altLang="en-US" sz="2400" i="1" dirty="0">
                <a:sym typeface="Symbol" panose="05050102010706020507" pitchFamily="18" charset="2"/>
              </a:rPr>
              <a:t>k </a:t>
            </a:r>
            <a:r>
              <a:rPr lang="en-US" altLang="en-US" sz="2400" dirty="0">
                <a:sym typeface="Symbol" panose="05050102010706020507" pitchFamily="18" charset="2"/>
              </a:rPr>
              <a:t>implies the truth of CLAIM(</a:t>
            </a:r>
            <a:r>
              <a:rPr lang="en-US" altLang="en-US" sz="2400" i="1" dirty="0">
                <a:sym typeface="Symbol" panose="05050102010706020507" pitchFamily="18" charset="2"/>
              </a:rPr>
              <a:t>k</a:t>
            </a:r>
            <a:r>
              <a:rPr lang="en-US" altLang="en-US" sz="2400" dirty="0">
                <a:sym typeface="Symbol" panose="05050102010706020507" pitchFamily="18" charset="2"/>
              </a:rPr>
              <a:t>) </a:t>
            </a:r>
            <a:r>
              <a:rPr lang="en-GB" altLang="en-US" sz="2400" dirty="0">
                <a:sym typeface="Symbol" panose="05050102010706020507" pitchFamily="18" charset="2"/>
              </a:rPr>
              <a:t>for all integers </a:t>
            </a:r>
            <a:r>
              <a:rPr lang="en-GB" altLang="en-US" sz="2400" i="1" dirty="0">
                <a:sym typeface="Symbol" panose="05050102010706020507" pitchFamily="18" charset="2"/>
              </a:rPr>
              <a:t>k</a:t>
            </a:r>
            <a:r>
              <a:rPr lang="en-GB" altLang="en-US" sz="2400" dirty="0">
                <a:sym typeface="Symbol" panose="05050102010706020507" pitchFamily="18" charset="2"/>
              </a:rPr>
              <a:t> &gt;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,   </a:t>
            </a:r>
            <a:endParaRPr lang="en-US" altLang="en-US" sz="2400" dirty="0">
              <a:solidFill>
                <a:srgbClr val="FF3300"/>
              </a:solidFill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    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then</a:t>
            </a:r>
            <a:r>
              <a:rPr lang="en-GB" altLang="en-US" sz="2400" dirty="0">
                <a:sym typeface="Symbol" panose="05050102010706020507" pitchFamily="18" charset="2"/>
              </a:rPr>
              <a:t> CLAIM(</a:t>
            </a:r>
            <a:r>
              <a:rPr lang="en-GB" altLang="en-US" sz="2400" i="1" dirty="0">
                <a:sym typeface="Symbol" panose="05050102010706020507" pitchFamily="18" charset="2"/>
              </a:rPr>
              <a:t>n</a:t>
            </a:r>
            <a:r>
              <a:rPr lang="en-GB" altLang="en-US" sz="2400" dirty="0">
                <a:sym typeface="Symbol" panose="05050102010706020507" pitchFamily="18" charset="2"/>
              </a:rPr>
              <a:t>) is true for all integers </a:t>
            </a:r>
            <a:r>
              <a:rPr lang="en-GB" altLang="en-US" sz="2400" i="1" dirty="0">
                <a:sym typeface="Symbol" panose="05050102010706020507" pitchFamily="18" charset="2"/>
              </a:rPr>
              <a:t>n </a:t>
            </a:r>
            <a:r>
              <a:rPr lang="en-US" altLang="en-US" sz="2400" dirty="0">
                <a:sym typeface="Symbol" panose="05050102010706020507" pitchFamily="18" charset="2"/>
              </a:rPr>
              <a:t>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GB" altLang="en-US" sz="2400" dirty="0"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13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13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413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413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>
            <a:extLst>
              <a:ext uri="{FF2B5EF4-FFF2-40B4-BE49-F238E27FC236}">
                <a16:creationId xmlns:a16="http://schemas.microsoft.com/office/drawing/2014/main" id="{FA07B4AC-8097-412B-887C-3CE65A508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0E09DAE-8934-43BD-BBCC-8AB904A3EE6D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AD0C543B-2B63-444D-AA6D-762161F3A9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Aside: Notes on Divisibility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1411" name="Rectangle 3">
            <a:extLst>
              <a:ext uri="{FF2B5EF4-FFF2-40B4-BE49-F238E27FC236}">
                <a16:creationId xmlns:a16="http://schemas.microsoft.com/office/drawing/2014/main" id="{CC5379A8-89D7-4551-90B5-5D304A7667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altLang="en-US" sz="2400" dirty="0"/>
              <a:t>The expression “</a:t>
            </a:r>
            <a:r>
              <a:rPr lang="en-GB" altLang="en-US" sz="2400" i="1" dirty="0"/>
              <a:t>a</a:t>
            </a:r>
            <a:r>
              <a:rPr lang="en-GB" altLang="en-US" sz="2400" dirty="0"/>
              <a:t> | </a:t>
            </a:r>
            <a:r>
              <a:rPr lang="en-GB" altLang="en-US" sz="2400" i="1" dirty="0"/>
              <a:t>b</a:t>
            </a:r>
            <a:r>
              <a:rPr lang="en-GB" altLang="en-US" sz="2400" dirty="0"/>
              <a:t>” reads “</a:t>
            </a:r>
            <a:r>
              <a:rPr lang="en-GB" altLang="en-US" sz="2400" i="1" dirty="0"/>
              <a:t>a</a:t>
            </a:r>
            <a:r>
              <a:rPr lang="en-GB" altLang="en-US" sz="2400" dirty="0"/>
              <a:t> divides </a:t>
            </a:r>
            <a:r>
              <a:rPr lang="en-GB" altLang="en-US" sz="2400" i="1" dirty="0"/>
              <a:t>b</a:t>
            </a:r>
            <a:r>
              <a:rPr lang="en-GB" altLang="en-US" sz="2400" dirty="0"/>
              <a:t>”, or, “</a:t>
            </a:r>
            <a:r>
              <a:rPr lang="en-GB" altLang="en-US" sz="2400" i="1" dirty="0"/>
              <a:t>a</a:t>
            </a:r>
            <a:r>
              <a:rPr lang="en-GB" altLang="en-US" sz="2400" dirty="0"/>
              <a:t> is a factor of </a:t>
            </a:r>
            <a:r>
              <a:rPr lang="en-GB" altLang="en-US" sz="2400" i="1" dirty="0"/>
              <a:t>b</a:t>
            </a:r>
            <a:r>
              <a:rPr lang="en-GB" altLang="en-US" sz="2400" dirty="0"/>
              <a:t>”, or, “</a:t>
            </a:r>
            <a:r>
              <a:rPr lang="en-GB" altLang="en-US" sz="2400" i="1" dirty="0"/>
              <a:t>a</a:t>
            </a:r>
            <a:r>
              <a:rPr lang="en-GB" altLang="en-US" sz="2400" dirty="0"/>
              <a:t> is a divisor of </a:t>
            </a:r>
            <a:r>
              <a:rPr lang="en-GB" altLang="en-US" sz="2400" i="1" dirty="0"/>
              <a:t>b</a:t>
            </a:r>
            <a:r>
              <a:rPr lang="en-GB" altLang="en-US" sz="2400" dirty="0"/>
              <a:t>”. </a:t>
            </a:r>
          </a:p>
          <a:p>
            <a:pPr marL="0" indent="0">
              <a:buNone/>
            </a:pPr>
            <a:r>
              <a:rPr lang="en-GB" altLang="en-US" sz="2400" dirty="0"/>
              <a:t>It means “</a:t>
            </a:r>
            <a:r>
              <a:rPr lang="en-GB" altLang="en-US" sz="2400" i="1" dirty="0"/>
              <a:t>b</a:t>
            </a:r>
            <a:r>
              <a:rPr lang="en-GB" altLang="en-US" sz="2400" dirty="0"/>
              <a:t> is divisible by </a:t>
            </a:r>
            <a:r>
              <a:rPr lang="en-GB" altLang="en-US" sz="2400" i="1" dirty="0"/>
              <a:t>a</a:t>
            </a:r>
            <a:r>
              <a:rPr lang="en-GB" altLang="en-US" sz="2400" dirty="0"/>
              <a:t>”, or, “</a:t>
            </a:r>
            <a:r>
              <a:rPr lang="en-GB" altLang="en-US" sz="2400" i="1" dirty="0"/>
              <a:t>b</a:t>
            </a:r>
            <a:r>
              <a:rPr lang="en-GB" altLang="en-US" sz="2400" dirty="0"/>
              <a:t> is a multiple of </a:t>
            </a:r>
            <a:r>
              <a:rPr lang="en-GB" altLang="en-US" sz="2400" i="1" dirty="0"/>
              <a:t>a</a:t>
            </a:r>
            <a:r>
              <a:rPr lang="en-GB" altLang="en-US" sz="2400" dirty="0"/>
              <a:t>”, or more formally, there is an </a:t>
            </a:r>
            <a:r>
              <a:rPr lang="en-GB" altLang="en-US" sz="2400" i="1" dirty="0"/>
              <a:t>l</a:t>
            </a:r>
            <a:r>
              <a:rPr lang="en-GB" altLang="en-US" sz="2400" dirty="0"/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 </a:t>
            </a:r>
            <a:r>
              <a:rPr lang="en-US" altLang="en-US" sz="2400" dirty="0">
                <a:latin typeface="ＭＳ 明朝" panose="02020609040205080304" pitchFamily="49" charset="-128"/>
                <a:ea typeface="ＭＳ 明朝" panose="02020609040205080304" pitchFamily="49" charset="-128"/>
                <a:sym typeface="Symbol" panose="05050102010706020507" pitchFamily="18" charset="2"/>
              </a:rPr>
              <a:t>ℤ</a:t>
            </a:r>
            <a:r>
              <a:rPr lang="en-US" altLang="en-US" sz="2400" dirty="0">
                <a:sym typeface="Symbol" panose="05050102010706020507" pitchFamily="18" charset="2"/>
              </a:rPr>
              <a:t> so that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= </a:t>
            </a:r>
            <a:r>
              <a:rPr lang="en-US" altLang="en-US" sz="2400" i="1" dirty="0">
                <a:sym typeface="Symbol" panose="05050102010706020507" pitchFamily="18" charset="2"/>
              </a:rPr>
              <a:t>al</a:t>
            </a:r>
            <a:r>
              <a:rPr lang="en-US" altLang="en-US" sz="2400" dirty="0">
                <a:sym typeface="Symbol" panose="05050102010706020507" pitchFamily="18" charset="2"/>
              </a:rPr>
              <a:t>.</a:t>
            </a:r>
            <a:endParaRPr lang="en-GB" altLang="en-US" sz="2400" dirty="0"/>
          </a:p>
          <a:p>
            <a:pPr marL="0" indent="0">
              <a:buNone/>
            </a:pPr>
            <a:endParaRPr lang="en-US" altLang="en-US" sz="10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Examples.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(</a:t>
            </a:r>
            <a:r>
              <a:rPr lang="en-US" altLang="en-US" sz="2400" dirty="0" err="1"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ym typeface="Symbol" panose="05050102010706020507" pitchFamily="18" charset="2"/>
              </a:rPr>
              <a:t>)	6 | 12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(ii)	7 | (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baseline="30000" dirty="0">
                <a:sym typeface="Symbol" panose="05050102010706020507" pitchFamily="18" charset="2"/>
              </a:rPr>
              <a:t>2</a:t>
            </a:r>
            <a:r>
              <a:rPr lang="en-US" altLang="en-US" sz="2400" dirty="0">
                <a:sym typeface="Symbol" panose="05050102010706020507" pitchFamily="18" charset="2"/>
              </a:rPr>
              <a:t> – 2) 	 	there is </a:t>
            </a:r>
            <a:r>
              <a:rPr lang="en-GB" altLang="en-US" sz="2400" i="1" dirty="0"/>
              <a:t>l</a:t>
            </a:r>
            <a:r>
              <a:rPr lang="en-GB" altLang="en-US" sz="2400" dirty="0"/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 </a:t>
            </a:r>
            <a:r>
              <a:rPr lang="en-US" altLang="en-US" sz="2400" dirty="0">
                <a:latin typeface="ＭＳ 明朝" panose="02020609040205080304" pitchFamily="49" charset="-128"/>
                <a:ea typeface="ＭＳ 明朝" panose="02020609040205080304" pitchFamily="49" charset="-128"/>
                <a:sym typeface="Symbol" panose="05050102010706020507" pitchFamily="18" charset="2"/>
              </a:rPr>
              <a:t>ℤ</a:t>
            </a:r>
            <a:r>
              <a:rPr lang="en-US" altLang="en-US" sz="2400" dirty="0">
                <a:sym typeface="Symbol" panose="05050102010706020507" pitchFamily="18" charset="2"/>
              </a:rPr>
              <a:t>,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baseline="30000" dirty="0">
                <a:sym typeface="Symbol" panose="05050102010706020507" pitchFamily="18" charset="2"/>
              </a:rPr>
              <a:t>2</a:t>
            </a:r>
            <a:r>
              <a:rPr lang="en-US" altLang="en-US" sz="2400" dirty="0">
                <a:sym typeface="Symbol" panose="05050102010706020507" pitchFamily="18" charset="2"/>
              </a:rPr>
              <a:t> – 2 = 7</a:t>
            </a:r>
            <a:r>
              <a:rPr lang="en-US" altLang="en-US" sz="2400" i="1" dirty="0">
                <a:sym typeface="Symbol" panose="05050102010706020507" pitchFamily="18" charset="2"/>
              </a:rPr>
              <a:t>l</a:t>
            </a:r>
            <a:r>
              <a:rPr lang="en-US" altLang="en-US" sz="2400" dirty="0">
                <a:sym typeface="Symbol" panose="05050102010706020507" pitchFamily="18" charset="2"/>
              </a:rPr>
              <a:t>.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(iii)	6 | 25 	reads 	“6 does not divide 25”.</a:t>
            </a:r>
          </a:p>
          <a:p>
            <a:pPr marL="0" indent="0">
              <a:buNone/>
            </a:pPr>
            <a:endParaRPr lang="en-US" altLang="en-US" sz="10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When a proof involves showing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|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, you need to express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as a multiple of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, that is, </a:t>
            </a:r>
            <a:r>
              <a:rPr lang="en-US" altLang="en-US" sz="2400" b="1" i="1" dirty="0">
                <a:sym typeface="Symbol" panose="05050102010706020507" pitchFamily="18" charset="2"/>
              </a:rPr>
              <a:t>find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GB" altLang="en-US" sz="2400" i="1" dirty="0"/>
              <a:t>l</a:t>
            </a:r>
            <a:r>
              <a:rPr lang="en-GB" altLang="en-US" sz="2400" dirty="0"/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 </a:t>
            </a:r>
            <a:r>
              <a:rPr lang="en-US" altLang="en-US" sz="2400" dirty="0">
                <a:latin typeface="ＭＳ 明朝" panose="02020609040205080304" pitchFamily="49" charset="-128"/>
                <a:ea typeface="ＭＳ 明朝" panose="02020609040205080304" pitchFamily="49" charset="-128"/>
                <a:sym typeface="Symbol" panose="05050102010706020507" pitchFamily="18" charset="2"/>
              </a:rPr>
              <a:t>ℤ</a:t>
            </a:r>
            <a:r>
              <a:rPr lang="en-US" altLang="en-US" sz="2400" dirty="0">
                <a:sym typeface="Symbol" panose="05050102010706020507" pitchFamily="18" charset="2"/>
              </a:rPr>
              <a:t> so that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dirty="0">
                <a:sym typeface="Symbol" panose="05050102010706020507" pitchFamily="18" charset="2"/>
              </a:rPr>
              <a:t> = </a:t>
            </a:r>
            <a:r>
              <a:rPr lang="en-US" altLang="en-US" sz="2400" i="1" dirty="0">
                <a:sym typeface="Symbol" panose="05050102010706020507" pitchFamily="18" charset="2"/>
              </a:rPr>
              <a:t>al</a:t>
            </a:r>
            <a:r>
              <a:rPr lang="en-US" altLang="en-US" sz="2400" dirty="0">
                <a:sym typeface="Symbol" panose="05050102010706020507" pitchFamily="18" charset="2"/>
              </a:rPr>
              <a:t>.</a:t>
            </a:r>
          </a:p>
        </p:txBody>
      </p:sp>
      <p:sp>
        <p:nvSpPr>
          <p:cNvPr id="401412" name="Text Box 4">
            <a:extLst>
              <a:ext uri="{FF2B5EF4-FFF2-40B4-BE49-F238E27FC236}">
                <a16:creationId xmlns:a16="http://schemas.microsoft.com/office/drawing/2014/main" id="{2A88D999-E8CF-4CD1-A641-A449B0264B3B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2909455" y="4790519"/>
            <a:ext cx="24319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>
                <a:cs typeface="Arial" panose="020B0604020202020204" pitchFamily="34" charset="0"/>
              </a:rPr>
              <a:t>/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01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01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01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01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01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401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401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141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5">
            <a:extLst>
              <a:ext uri="{FF2B5EF4-FFF2-40B4-BE49-F238E27FC236}">
                <a16:creationId xmlns:a16="http://schemas.microsoft.com/office/drawing/2014/main" id="{4EB1FDD8-0EB2-47B3-9840-167BFFC63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BFF92B9-66A7-4DD8-B2D1-C1C3E6FE2D67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42EF6639-2543-4590-8AD8-678459F9A5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311150"/>
            <a:ext cx="9144000" cy="1143000"/>
          </a:xfrm>
        </p:spPr>
        <p:txBody>
          <a:bodyPr/>
          <a:lstStyle/>
          <a:p>
            <a:pPr eaLnBrk="1" hangingPunct="1"/>
            <a:r>
              <a:rPr lang="en-GB" altLang="en-US" sz="32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Principle of Strong Mathematical Induction: Example</a:t>
            </a:r>
          </a:p>
        </p:txBody>
      </p:sp>
      <p:sp>
        <p:nvSpPr>
          <p:cNvPr id="415747" name="Rectangle 3">
            <a:extLst>
              <a:ext uri="{FF2B5EF4-FFF2-40B4-BE49-F238E27FC236}">
                <a16:creationId xmlns:a16="http://schemas.microsoft.com/office/drawing/2014/main" id="{EF237C37-EF3B-424B-8219-D0B5EB2B8A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r>
              <a:rPr lang="en-GB" altLang="en-US" sz="2400" dirty="0">
                <a:sym typeface="Symbol" panose="05050102010706020507" pitchFamily="18" charset="2"/>
              </a:rPr>
              <a:t>Suppose that </a:t>
            </a:r>
            <a:r>
              <a:rPr lang="en-GB" altLang="en-US" sz="2400" i="1" dirty="0">
                <a:sym typeface="Symbol" panose="05050102010706020507" pitchFamily="18" charset="2"/>
              </a:rPr>
              <a:t>b</a:t>
            </a:r>
            <a:r>
              <a:rPr lang="en-GB" altLang="en-US" sz="2400" baseline="-25000" dirty="0">
                <a:sym typeface="Symbol" panose="05050102010706020507" pitchFamily="18" charset="2"/>
              </a:rPr>
              <a:t>1</a:t>
            </a:r>
            <a:r>
              <a:rPr lang="en-GB" altLang="en-US" sz="2400" dirty="0">
                <a:sym typeface="Symbol" panose="05050102010706020507" pitchFamily="18" charset="2"/>
              </a:rPr>
              <a:t>, </a:t>
            </a:r>
            <a:r>
              <a:rPr lang="en-GB" altLang="en-US" sz="2400" i="1" dirty="0">
                <a:sym typeface="Symbol" panose="05050102010706020507" pitchFamily="18" charset="2"/>
              </a:rPr>
              <a:t>b</a:t>
            </a:r>
            <a:r>
              <a:rPr lang="en-GB" altLang="en-US" sz="2400" baseline="-25000" dirty="0">
                <a:sym typeface="Symbol" panose="05050102010706020507" pitchFamily="18" charset="2"/>
              </a:rPr>
              <a:t>2</a:t>
            </a:r>
            <a:r>
              <a:rPr lang="en-GB" altLang="en-US" sz="2400" dirty="0">
                <a:sym typeface="Symbol" panose="05050102010706020507" pitchFamily="18" charset="2"/>
              </a:rPr>
              <a:t>, </a:t>
            </a:r>
            <a:r>
              <a:rPr lang="en-GB" altLang="en-US" sz="2400" i="1" dirty="0">
                <a:sym typeface="Symbol" panose="05050102010706020507" pitchFamily="18" charset="2"/>
              </a:rPr>
              <a:t>b</a:t>
            </a:r>
            <a:r>
              <a:rPr lang="en-GB" altLang="en-US" sz="2400" baseline="-25000" dirty="0">
                <a:sym typeface="Symbol" panose="05050102010706020507" pitchFamily="18" charset="2"/>
              </a:rPr>
              <a:t>3</a:t>
            </a:r>
            <a:r>
              <a:rPr lang="en-GB" altLang="en-US" sz="2400" dirty="0">
                <a:sym typeface="Symbol" panose="05050102010706020507" pitchFamily="18" charset="2"/>
              </a:rPr>
              <a:t>, … is a sequence defined as follows: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GB" altLang="en-US" sz="2400" dirty="0">
                <a:sym typeface="Symbol" panose="05050102010706020507" pitchFamily="18" charset="2"/>
              </a:rPr>
              <a:t>		</a:t>
            </a:r>
            <a:r>
              <a:rPr lang="en-GB" altLang="en-US" sz="2400" i="1" dirty="0">
                <a:sym typeface="Symbol" panose="05050102010706020507" pitchFamily="18" charset="2"/>
              </a:rPr>
              <a:t>b</a:t>
            </a:r>
            <a:r>
              <a:rPr lang="en-GB" altLang="en-US" sz="2400" baseline="-25000" dirty="0">
                <a:sym typeface="Symbol" panose="05050102010706020507" pitchFamily="18" charset="2"/>
              </a:rPr>
              <a:t>1</a:t>
            </a:r>
            <a:r>
              <a:rPr lang="en-GB" altLang="en-US" sz="2400" dirty="0">
                <a:sym typeface="Symbol" panose="05050102010706020507" pitchFamily="18" charset="2"/>
              </a:rPr>
              <a:t> = 4,	</a:t>
            </a:r>
            <a:r>
              <a:rPr lang="en-GB" altLang="en-US" sz="2400" i="1" dirty="0">
                <a:sym typeface="Symbol" panose="05050102010706020507" pitchFamily="18" charset="2"/>
              </a:rPr>
              <a:t>b</a:t>
            </a:r>
            <a:r>
              <a:rPr lang="en-GB" altLang="en-US" sz="2400" baseline="-25000" dirty="0">
                <a:sym typeface="Symbol" panose="05050102010706020507" pitchFamily="18" charset="2"/>
              </a:rPr>
              <a:t>2</a:t>
            </a:r>
            <a:r>
              <a:rPr lang="en-GB" altLang="en-US" sz="2400" dirty="0">
                <a:sym typeface="Symbol" panose="05050102010706020507" pitchFamily="18" charset="2"/>
              </a:rPr>
              <a:t> = 12,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GB" altLang="en-US" sz="2400" dirty="0">
                <a:sym typeface="Symbol" panose="05050102010706020507" pitchFamily="18" charset="2"/>
              </a:rPr>
              <a:t>		</a:t>
            </a:r>
            <a:r>
              <a:rPr lang="en-GB" altLang="en-US" sz="2400" i="1" dirty="0">
                <a:sym typeface="Symbol" panose="05050102010706020507" pitchFamily="18" charset="2"/>
              </a:rPr>
              <a:t>b</a:t>
            </a:r>
            <a:r>
              <a:rPr lang="en-GB" altLang="en-US" sz="2400" i="1" baseline="-25000" dirty="0">
                <a:sym typeface="Symbol" panose="05050102010706020507" pitchFamily="18" charset="2"/>
              </a:rPr>
              <a:t>k</a:t>
            </a:r>
            <a:r>
              <a:rPr lang="en-GB" altLang="en-US" sz="2400" dirty="0">
                <a:sym typeface="Symbol" panose="05050102010706020507" pitchFamily="18" charset="2"/>
              </a:rPr>
              <a:t> = </a:t>
            </a:r>
            <a:r>
              <a:rPr lang="en-GB" altLang="en-US" sz="2400" i="1" dirty="0">
                <a:sym typeface="Symbol" panose="05050102010706020507" pitchFamily="18" charset="2"/>
              </a:rPr>
              <a:t>b</a:t>
            </a:r>
            <a:r>
              <a:rPr lang="en-GB" altLang="en-US" sz="2400" i="1" baseline="-25000" dirty="0">
                <a:sym typeface="Symbol" panose="05050102010706020507" pitchFamily="18" charset="2"/>
              </a:rPr>
              <a:t>k </a:t>
            </a:r>
            <a:r>
              <a:rPr lang="en-GB" altLang="en-US" sz="2400" baseline="-25000" dirty="0">
                <a:sym typeface="Symbol" panose="05050102010706020507" pitchFamily="18" charset="2"/>
              </a:rPr>
              <a:t>- 2 </a:t>
            </a:r>
            <a:r>
              <a:rPr lang="en-GB" altLang="en-US" sz="2400" dirty="0">
                <a:sym typeface="Symbol" panose="05050102010706020507" pitchFamily="18" charset="2"/>
              </a:rPr>
              <a:t>+ </a:t>
            </a:r>
            <a:r>
              <a:rPr lang="en-GB" altLang="en-US" sz="2400" i="1" dirty="0">
                <a:sym typeface="Symbol" panose="05050102010706020507" pitchFamily="18" charset="2"/>
              </a:rPr>
              <a:t>b</a:t>
            </a:r>
            <a:r>
              <a:rPr lang="en-GB" altLang="en-US" sz="2400" i="1" baseline="-25000" dirty="0">
                <a:sym typeface="Symbol" panose="05050102010706020507" pitchFamily="18" charset="2"/>
              </a:rPr>
              <a:t>k </a:t>
            </a:r>
            <a:r>
              <a:rPr lang="en-GB" altLang="en-US" sz="2400" baseline="-25000" dirty="0">
                <a:sym typeface="Symbol" panose="05050102010706020507" pitchFamily="18" charset="2"/>
              </a:rPr>
              <a:t>- 1</a:t>
            </a:r>
            <a:r>
              <a:rPr lang="en-GB" altLang="en-US" sz="2400" dirty="0">
                <a:sym typeface="Symbol" panose="05050102010706020507" pitchFamily="18" charset="2"/>
              </a:rPr>
              <a:t> for all integers </a:t>
            </a:r>
            <a:r>
              <a:rPr lang="en-GB" altLang="en-US" sz="2400" i="1" dirty="0">
                <a:sym typeface="Symbol" panose="05050102010706020507" pitchFamily="18" charset="2"/>
              </a:rPr>
              <a:t>k</a:t>
            </a:r>
            <a:r>
              <a:rPr lang="en-GB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 3.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Prove that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i="1" baseline="-25000" dirty="0"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sym typeface="Symbol" panose="05050102010706020507" pitchFamily="18" charset="2"/>
              </a:rPr>
              <a:t> is divisible by 4 for all integers </a:t>
            </a:r>
            <a:r>
              <a:rPr lang="en-US" altLang="en-US" sz="2400" i="1" dirty="0"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sym typeface="Symbol" panose="05050102010706020507" pitchFamily="18" charset="2"/>
              </a:rPr>
              <a:t>  1.</a:t>
            </a:r>
            <a:endParaRPr lang="en-GB" altLang="en-US" sz="2400" dirty="0">
              <a:sym typeface="Symbol" panose="05050102010706020507" pitchFamily="18" charset="2"/>
            </a:endParaRPr>
          </a:p>
          <a:p>
            <a:pPr marL="0" indent="0">
              <a:lnSpc>
                <a:spcPct val="80000"/>
              </a:lnSpc>
              <a:buNone/>
            </a:pPr>
            <a:endParaRPr lang="en-GB" altLang="en-US" sz="2400" dirty="0">
              <a:ea typeface="ＭＳ 明朝" panose="02020609040205080304" pitchFamily="49" charset="-128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GB" altLang="en-US" sz="2400" dirty="0">
                <a:ea typeface="ＭＳ 明朝" panose="02020609040205080304" pitchFamily="49" charset="-128"/>
              </a:rPr>
              <a:t>Let CLAIM(</a:t>
            </a:r>
            <a:r>
              <a:rPr lang="en-GB" altLang="en-US" sz="2400" i="1" dirty="0">
                <a:ea typeface="ＭＳ 明朝" panose="02020609040205080304" pitchFamily="49" charset="-128"/>
              </a:rPr>
              <a:t>n</a:t>
            </a:r>
            <a:r>
              <a:rPr lang="en-GB" altLang="en-US" sz="2400" dirty="0">
                <a:ea typeface="ＭＳ 明朝" panose="02020609040205080304" pitchFamily="49" charset="-128"/>
              </a:rPr>
              <a:t>) be </a:t>
            </a:r>
            <a:r>
              <a:rPr lang="en-US" altLang="en-US" sz="2400" i="1" dirty="0">
                <a:sym typeface="Symbol" panose="05050102010706020507" pitchFamily="18" charset="2"/>
              </a:rPr>
              <a:t>b</a:t>
            </a:r>
            <a:r>
              <a:rPr lang="en-US" altLang="en-US" sz="2400" i="1" baseline="-25000" dirty="0"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sym typeface="Symbol" panose="05050102010706020507" pitchFamily="18" charset="2"/>
              </a:rPr>
              <a:t> is divisible by 4. </a:t>
            </a:r>
            <a:endParaRPr lang="en-GB" altLang="en-US" sz="2400" dirty="0"/>
          </a:p>
          <a:p>
            <a:pPr marL="0" indent="0">
              <a:lnSpc>
                <a:spcPct val="80000"/>
              </a:lnSpc>
              <a:buNone/>
            </a:pPr>
            <a:r>
              <a:rPr lang="en-GB" altLang="en-US" sz="2400" dirty="0"/>
              <a:t>Step 1:	</a:t>
            </a:r>
            <a:r>
              <a:rPr lang="en-GB" altLang="en-US" sz="2400" dirty="0">
                <a:ea typeface="ＭＳ 明朝" panose="02020609040205080304" pitchFamily="49" charset="-128"/>
              </a:rPr>
              <a:t>CLAIM(1) is </a:t>
            </a:r>
            <a:r>
              <a:rPr lang="en-GB" altLang="en-US" sz="2400" i="1" dirty="0">
                <a:sym typeface="Symbol" panose="05050102010706020507" pitchFamily="18" charset="2"/>
              </a:rPr>
              <a:t>b</a:t>
            </a:r>
            <a:r>
              <a:rPr lang="en-GB" altLang="en-US" sz="2400" baseline="-25000" dirty="0">
                <a:sym typeface="Symbol" panose="05050102010706020507" pitchFamily="18" charset="2"/>
              </a:rPr>
              <a:t>1</a:t>
            </a:r>
            <a:r>
              <a:rPr lang="en-GB" altLang="en-US" sz="2400" dirty="0">
                <a:sym typeface="Symbol" panose="05050102010706020507" pitchFamily="18" charset="2"/>
              </a:rPr>
              <a:t> = 4 is divisible by 4</a:t>
            </a:r>
            <a:r>
              <a:rPr lang="en-GB" altLang="en-US" sz="2400" dirty="0"/>
              <a:t>.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GB" altLang="en-US" sz="2400" dirty="0"/>
              <a:t>	</a:t>
            </a:r>
            <a:r>
              <a:rPr lang="en-GB" altLang="en-US" sz="2400" dirty="0">
                <a:ea typeface="ＭＳ 明朝" panose="02020609040205080304" pitchFamily="49" charset="-128"/>
              </a:rPr>
              <a:t>CLAIM(2) is </a:t>
            </a:r>
            <a:r>
              <a:rPr lang="en-GB" altLang="en-US" sz="2400" i="1" dirty="0">
                <a:sym typeface="Symbol" panose="05050102010706020507" pitchFamily="18" charset="2"/>
              </a:rPr>
              <a:t>b</a:t>
            </a:r>
            <a:r>
              <a:rPr lang="en-GB" altLang="en-US" sz="2400" baseline="-25000" dirty="0">
                <a:sym typeface="Symbol" panose="05050102010706020507" pitchFamily="18" charset="2"/>
              </a:rPr>
              <a:t>2</a:t>
            </a:r>
            <a:r>
              <a:rPr lang="en-GB" altLang="en-US" sz="2400" dirty="0">
                <a:sym typeface="Symbol" panose="05050102010706020507" pitchFamily="18" charset="2"/>
              </a:rPr>
              <a:t> =12 is divisible by 4. </a:t>
            </a:r>
          </a:p>
          <a:p>
            <a:pPr marL="712788" indent="-712788">
              <a:lnSpc>
                <a:spcPct val="80000"/>
              </a:lnSpc>
              <a:buNone/>
            </a:pPr>
            <a:r>
              <a:rPr lang="en-GB" altLang="en-US" sz="2400" dirty="0">
                <a:sym typeface="Symbol" panose="05050102010706020507" pitchFamily="18" charset="2"/>
              </a:rPr>
              <a:t>	</a:t>
            </a:r>
            <a:r>
              <a:rPr lang="en-GB" altLang="en-US" sz="2400" dirty="0"/>
              <a:t>Since 4 and 12 are divisible by 4, CLAIM(1) and CLAIM(2) are true.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15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15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15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15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5">
            <a:extLst>
              <a:ext uri="{FF2B5EF4-FFF2-40B4-BE49-F238E27FC236}">
                <a16:creationId xmlns:a16="http://schemas.microsoft.com/office/drawing/2014/main" id="{4993FE07-45C2-4D00-8CBF-24A827329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DEF2A4A-96E0-43FD-BA76-248C53CFFF7F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B0D15BCE-1526-4884-AA8E-53DEF7AB69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136525"/>
            <a:ext cx="9144000" cy="1143000"/>
          </a:xfrm>
        </p:spPr>
        <p:txBody>
          <a:bodyPr/>
          <a:lstStyle/>
          <a:p>
            <a:pPr eaLnBrk="1" hangingPunct="1"/>
            <a:r>
              <a:rPr lang="en-GB" altLang="en-US" sz="32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Principle of Strong Mathematical Induction: Example</a:t>
            </a:r>
          </a:p>
        </p:txBody>
      </p:sp>
      <p:sp>
        <p:nvSpPr>
          <p:cNvPr id="416771" name="Rectangle 3">
            <a:extLst>
              <a:ext uri="{FF2B5EF4-FFF2-40B4-BE49-F238E27FC236}">
                <a16:creationId xmlns:a16="http://schemas.microsoft.com/office/drawing/2014/main" id="{23C8A412-79A5-4069-BD00-F1F48FD301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1" y="1497012"/>
            <a:ext cx="10942122" cy="5224463"/>
          </a:xfrm>
        </p:spPr>
        <p:txBody>
          <a:bodyPr>
            <a:normAutofit/>
          </a:bodyPr>
          <a:lstStyle/>
          <a:p>
            <a:pPr marL="903288" indent="-903288">
              <a:lnSpc>
                <a:spcPct val="80000"/>
              </a:lnSpc>
              <a:buNone/>
            </a:pPr>
            <a:r>
              <a:rPr lang="en-GB" altLang="en-US" sz="2400" dirty="0"/>
              <a:t>Step 2: Let </a:t>
            </a:r>
            <a:r>
              <a:rPr lang="en-GB" altLang="en-US" sz="2400" i="1" dirty="0"/>
              <a:t>k</a:t>
            </a:r>
            <a:r>
              <a:rPr lang="en-GB" altLang="en-US" sz="2400" dirty="0"/>
              <a:t> &gt; 2 be an integer, and suppose </a:t>
            </a:r>
            <a:r>
              <a:rPr lang="en-US" altLang="en-US" sz="2400" dirty="0">
                <a:sym typeface="Symbol" panose="05050102010706020507" pitchFamily="18" charset="2"/>
              </a:rPr>
              <a:t>Claim(</a:t>
            </a:r>
            <a:r>
              <a:rPr lang="en-US" altLang="en-US" sz="2400" dirty="0" err="1"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ym typeface="Symbol" panose="05050102010706020507" pitchFamily="18" charset="2"/>
              </a:rPr>
              <a:t>) is true for all integers </a:t>
            </a:r>
            <a:r>
              <a:rPr lang="en-US" altLang="en-US" sz="2400" dirty="0" err="1">
                <a:sym typeface="Symbol" panose="05050102010706020507" pitchFamily="18" charset="2"/>
              </a:rPr>
              <a:t>i</a:t>
            </a:r>
            <a:r>
              <a:rPr lang="en-US" altLang="en-US" sz="2400" i="1" dirty="0">
                <a:sym typeface="Symbol" panose="05050102010706020507" pitchFamily="18" charset="2"/>
              </a:rPr>
              <a:t> with </a:t>
            </a:r>
            <a:r>
              <a:rPr lang="en-US" altLang="en-US" sz="2400" dirty="0">
                <a:sym typeface="Symbol" panose="05050102010706020507" pitchFamily="18" charset="2"/>
              </a:rPr>
              <a:t>1  </a:t>
            </a:r>
            <a:r>
              <a:rPr lang="en-US" altLang="en-US" sz="2400" i="1" dirty="0" err="1"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ym typeface="Symbol" panose="05050102010706020507" pitchFamily="18" charset="2"/>
              </a:rPr>
              <a:t> &lt; </a:t>
            </a:r>
            <a:r>
              <a:rPr lang="en-US" altLang="en-US" sz="2400" i="1" dirty="0">
                <a:sym typeface="Symbol" panose="05050102010706020507" pitchFamily="18" charset="2"/>
              </a:rPr>
              <a:t>k</a:t>
            </a:r>
            <a:r>
              <a:rPr lang="en-US" altLang="en-US" sz="2400" dirty="0">
                <a:sym typeface="Symbol" panose="05050102010706020507" pitchFamily="18" charset="2"/>
              </a:rPr>
              <a:t>. That is, </a:t>
            </a:r>
            <a:r>
              <a:rPr lang="en-GB" altLang="en-US" sz="2400" i="1" dirty="0"/>
              <a:t>b</a:t>
            </a:r>
            <a:r>
              <a:rPr lang="en-GB" altLang="en-US" sz="2400" i="1" baseline="-25000" dirty="0"/>
              <a:t>i</a:t>
            </a:r>
            <a:r>
              <a:rPr lang="en-GB" altLang="en-US" sz="2400" dirty="0"/>
              <a:t> is divisible by 4 </a:t>
            </a:r>
            <a:r>
              <a:rPr lang="en-GB" altLang="en-US" sz="2400" dirty="0">
                <a:sym typeface="Symbol" panose="05050102010706020507" pitchFamily="18" charset="2"/>
              </a:rPr>
              <a:t>for all integers </a:t>
            </a:r>
            <a:r>
              <a:rPr lang="en-GB" altLang="en-US" sz="2400" i="1" dirty="0" err="1">
                <a:sym typeface="Symbol" panose="05050102010706020507" pitchFamily="18" charset="2"/>
              </a:rPr>
              <a:t>i</a:t>
            </a:r>
            <a:r>
              <a:rPr lang="en-US" altLang="en-US" sz="2400" i="1" dirty="0">
                <a:sym typeface="Symbol" panose="05050102010706020507" pitchFamily="18" charset="2"/>
              </a:rPr>
              <a:t> with </a:t>
            </a:r>
            <a:r>
              <a:rPr lang="en-US" altLang="en-US" sz="2400" dirty="0">
                <a:sym typeface="Symbol" panose="05050102010706020507" pitchFamily="18" charset="2"/>
              </a:rPr>
              <a:t>1  </a:t>
            </a:r>
            <a:r>
              <a:rPr lang="en-US" altLang="en-US" sz="2400" i="1" dirty="0" err="1"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ym typeface="Symbol" panose="05050102010706020507" pitchFamily="18" charset="2"/>
              </a:rPr>
              <a:t> &lt; </a:t>
            </a:r>
            <a:r>
              <a:rPr lang="en-US" altLang="en-US" sz="2400" i="1" dirty="0">
                <a:sym typeface="Symbol" panose="05050102010706020507" pitchFamily="18" charset="2"/>
              </a:rPr>
              <a:t>k</a:t>
            </a:r>
            <a:r>
              <a:rPr lang="en-US" altLang="en-US" sz="2400" dirty="0">
                <a:sym typeface="Symbol" panose="05050102010706020507" pitchFamily="18" charset="2"/>
              </a:rPr>
              <a:t>. That is, 		(*)</a:t>
            </a:r>
          </a:p>
          <a:p>
            <a:pPr marL="342900" lvl="1" indent="0">
              <a:lnSpc>
                <a:spcPct val="80000"/>
              </a:lnSpc>
              <a:buNone/>
            </a:pPr>
            <a:r>
              <a:rPr lang="en-US" altLang="en-US" dirty="0">
                <a:sym typeface="Symbol" panose="05050102010706020507" pitchFamily="18" charset="2"/>
              </a:rPr>
              <a:t>Prove that CLAIM(</a:t>
            </a:r>
            <a:r>
              <a:rPr lang="en-US" altLang="en-US" i="1" dirty="0">
                <a:sym typeface="Symbol" panose="05050102010706020507" pitchFamily="18" charset="2"/>
              </a:rPr>
              <a:t>k</a:t>
            </a:r>
            <a:r>
              <a:rPr lang="en-US" altLang="en-US" dirty="0">
                <a:sym typeface="Symbol" panose="05050102010706020507" pitchFamily="18" charset="2"/>
              </a:rPr>
              <a:t>) is true, that is, prove that </a:t>
            </a:r>
            <a:r>
              <a:rPr lang="en-GB" altLang="en-US" i="1" dirty="0">
                <a:sym typeface="Symbol" panose="05050102010706020507" pitchFamily="18" charset="2"/>
              </a:rPr>
              <a:t>b</a:t>
            </a:r>
            <a:r>
              <a:rPr lang="en-GB" altLang="en-US" i="1" baseline="-25000" dirty="0">
                <a:sym typeface="Symbol" panose="05050102010706020507" pitchFamily="18" charset="2"/>
              </a:rPr>
              <a:t>k</a:t>
            </a:r>
            <a:r>
              <a:rPr lang="en-GB" altLang="en-US" dirty="0">
                <a:sym typeface="Symbol" panose="05050102010706020507" pitchFamily="18" charset="2"/>
              </a:rPr>
              <a:t> is divisible by 4</a:t>
            </a:r>
            <a:r>
              <a:rPr lang="en-US" altLang="en-US" dirty="0">
                <a:sym typeface="Symbol" panose="05050102010706020507" pitchFamily="18" charset="2"/>
              </a:rPr>
              <a:t>.</a:t>
            </a:r>
            <a:endParaRPr lang="en-GB" altLang="en-US" dirty="0">
              <a:sym typeface="Symbol" panose="05050102010706020507" pitchFamily="18" charset="2"/>
            </a:endParaRPr>
          </a:p>
          <a:p>
            <a:pPr marL="0" indent="0" defTabSz="493713">
              <a:lnSpc>
                <a:spcPct val="80000"/>
              </a:lnSpc>
              <a:buNone/>
              <a:tabLst>
                <a:tab pos="355600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			</a:t>
            </a:r>
            <a:r>
              <a:rPr lang="en-US" altLang="en-US" sz="2400" dirty="0">
                <a:sym typeface="Symbol" panose="05050102010706020507" pitchFamily="18" charset="2"/>
              </a:rPr>
              <a:t>Now, 	</a:t>
            </a:r>
            <a:r>
              <a:rPr lang="en-GB" altLang="en-US" sz="2400" i="1" dirty="0">
                <a:sym typeface="Symbol" panose="05050102010706020507" pitchFamily="18" charset="2"/>
              </a:rPr>
              <a:t>b</a:t>
            </a:r>
            <a:r>
              <a:rPr lang="en-GB" altLang="en-US" sz="2400" i="1" baseline="-25000" dirty="0">
                <a:sym typeface="Symbol" panose="05050102010706020507" pitchFamily="18" charset="2"/>
              </a:rPr>
              <a:t>k </a:t>
            </a:r>
            <a:r>
              <a:rPr lang="en-GB" altLang="en-US" sz="2400" i="1" dirty="0">
                <a:sym typeface="Symbol" panose="05050102010706020507" pitchFamily="18" charset="2"/>
              </a:rPr>
              <a:t>= b</a:t>
            </a:r>
            <a:r>
              <a:rPr lang="en-GB" altLang="en-US" sz="2400" i="1" baseline="-25000" dirty="0">
                <a:sym typeface="Symbol" panose="05050102010706020507" pitchFamily="18" charset="2"/>
              </a:rPr>
              <a:t>k </a:t>
            </a:r>
            <a:r>
              <a:rPr lang="en-GB" altLang="en-US" sz="2400" baseline="-25000" dirty="0">
                <a:sym typeface="Symbol" panose="05050102010706020507" pitchFamily="18" charset="2"/>
              </a:rPr>
              <a:t>- 2</a:t>
            </a:r>
            <a:r>
              <a:rPr lang="en-GB" altLang="en-US" sz="2400" i="1" baseline="-25000" dirty="0">
                <a:sym typeface="Symbol" panose="05050102010706020507" pitchFamily="18" charset="2"/>
              </a:rPr>
              <a:t> </a:t>
            </a:r>
            <a:r>
              <a:rPr lang="en-GB" altLang="en-US" sz="2400" i="1" dirty="0">
                <a:sym typeface="Symbol" panose="05050102010706020507" pitchFamily="18" charset="2"/>
              </a:rPr>
              <a:t>+ b</a:t>
            </a:r>
            <a:r>
              <a:rPr lang="en-GB" altLang="en-US" sz="2400" i="1" baseline="-25000" dirty="0">
                <a:sym typeface="Symbol" panose="05050102010706020507" pitchFamily="18" charset="2"/>
              </a:rPr>
              <a:t>k </a:t>
            </a:r>
            <a:r>
              <a:rPr lang="en-GB" altLang="en-US" sz="2400" baseline="-25000" dirty="0">
                <a:sym typeface="Symbol" panose="05050102010706020507" pitchFamily="18" charset="2"/>
              </a:rPr>
              <a:t>- 1</a:t>
            </a:r>
            <a:r>
              <a:rPr lang="en-GB" altLang="en-US" sz="2400" dirty="0">
                <a:sym typeface="Symbol" panose="05050102010706020507" pitchFamily="18" charset="2"/>
              </a:rPr>
              <a:t>.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 marL="1055688" lvl="1" indent="-712788">
              <a:lnSpc>
                <a:spcPct val="80000"/>
              </a:lnSpc>
              <a:buNone/>
            </a:pPr>
            <a:r>
              <a:rPr lang="en-US" altLang="en-US" dirty="0">
                <a:sym typeface="Symbol" panose="05050102010706020507" pitchFamily="18" charset="2"/>
              </a:rPr>
              <a:t>	Since </a:t>
            </a:r>
            <a:r>
              <a:rPr lang="en-US" altLang="en-US" i="1" dirty="0">
                <a:sym typeface="Symbol" panose="05050102010706020507" pitchFamily="18" charset="2"/>
              </a:rPr>
              <a:t>k</a:t>
            </a:r>
            <a:r>
              <a:rPr lang="en-US" altLang="en-US" dirty="0">
                <a:sym typeface="Symbol" panose="05050102010706020507" pitchFamily="18" charset="2"/>
              </a:rPr>
              <a:t> &gt; 2, 1  </a:t>
            </a:r>
            <a:r>
              <a:rPr lang="en-US" altLang="en-US" i="1" dirty="0">
                <a:sym typeface="Symbol" panose="05050102010706020507" pitchFamily="18" charset="2"/>
              </a:rPr>
              <a:t>k</a:t>
            </a:r>
            <a:r>
              <a:rPr lang="en-US" altLang="en-US" dirty="0">
                <a:sym typeface="Symbol" panose="05050102010706020507" pitchFamily="18" charset="2"/>
              </a:rPr>
              <a:t> – 2 &lt; </a:t>
            </a:r>
            <a:r>
              <a:rPr lang="en-US" altLang="en-US" i="1" dirty="0">
                <a:sym typeface="Symbol" panose="05050102010706020507" pitchFamily="18" charset="2"/>
              </a:rPr>
              <a:t>k</a:t>
            </a:r>
            <a:r>
              <a:rPr lang="en-US" altLang="en-US" dirty="0">
                <a:sym typeface="Symbol" panose="05050102010706020507" pitchFamily="18" charset="2"/>
              </a:rPr>
              <a:t> and 1 &lt; </a:t>
            </a:r>
            <a:r>
              <a:rPr lang="en-US" altLang="en-US" i="1" dirty="0">
                <a:sym typeface="Symbol" panose="05050102010706020507" pitchFamily="18" charset="2"/>
              </a:rPr>
              <a:t>k</a:t>
            </a:r>
            <a:r>
              <a:rPr lang="en-US" altLang="en-US" dirty="0">
                <a:sym typeface="Symbol" panose="05050102010706020507" pitchFamily="18" charset="2"/>
              </a:rPr>
              <a:t> – 1 &lt; </a:t>
            </a:r>
            <a:r>
              <a:rPr lang="en-US" altLang="en-US" i="1" dirty="0">
                <a:sym typeface="Symbol" panose="05050102010706020507" pitchFamily="18" charset="2"/>
              </a:rPr>
              <a:t>k</a:t>
            </a:r>
            <a:r>
              <a:rPr lang="en-US" altLang="en-US" dirty="0">
                <a:sym typeface="Symbol" panose="05050102010706020507" pitchFamily="18" charset="2"/>
              </a:rPr>
              <a:t> , and so, by inductive hypothesis, both </a:t>
            </a:r>
            <a:r>
              <a:rPr lang="en-GB" altLang="en-US" i="1" dirty="0">
                <a:sym typeface="Symbol" panose="05050102010706020507" pitchFamily="18" charset="2"/>
              </a:rPr>
              <a:t>b</a:t>
            </a:r>
            <a:r>
              <a:rPr lang="en-GB" altLang="en-US" i="1" baseline="-25000" dirty="0">
                <a:sym typeface="Symbol" panose="05050102010706020507" pitchFamily="18" charset="2"/>
              </a:rPr>
              <a:t>k </a:t>
            </a:r>
            <a:r>
              <a:rPr lang="en-GB" altLang="en-US" baseline="-25000" dirty="0">
                <a:sym typeface="Symbol" panose="05050102010706020507" pitchFamily="18" charset="2"/>
              </a:rPr>
              <a:t>- 2</a:t>
            </a:r>
            <a:r>
              <a:rPr lang="en-GB" altLang="en-US" dirty="0">
                <a:sym typeface="Symbol" panose="05050102010706020507" pitchFamily="18" charset="2"/>
              </a:rPr>
              <a:t> and</a:t>
            </a:r>
            <a:r>
              <a:rPr lang="en-GB" altLang="en-US" i="1" dirty="0">
                <a:sym typeface="Symbol" panose="05050102010706020507" pitchFamily="18" charset="2"/>
              </a:rPr>
              <a:t> b</a:t>
            </a:r>
            <a:r>
              <a:rPr lang="en-GB" altLang="en-US" i="1" baseline="-25000" dirty="0">
                <a:sym typeface="Symbol" panose="05050102010706020507" pitchFamily="18" charset="2"/>
              </a:rPr>
              <a:t>k </a:t>
            </a:r>
            <a:r>
              <a:rPr lang="en-GB" altLang="en-US" baseline="-25000" dirty="0">
                <a:sym typeface="Symbol" panose="05050102010706020507" pitchFamily="18" charset="2"/>
              </a:rPr>
              <a:t>– 1</a:t>
            </a:r>
            <a:r>
              <a:rPr lang="en-GB" altLang="en-US" dirty="0">
                <a:sym typeface="Symbol" panose="05050102010706020507" pitchFamily="18" charset="2"/>
              </a:rPr>
              <a:t> are divisible by 4. </a:t>
            </a:r>
          </a:p>
          <a:p>
            <a:pPr marL="1055688" lvl="2" indent="-312738">
              <a:lnSpc>
                <a:spcPct val="80000"/>
              </a:lnSpc>
              <a:buNone/>
            </a:pPr>
            <a:r>
              <a:rPr lang="en-GB" altLang="en-US" dirty="0">
                <a:sym typeface="Symbol" panose="05050102010706020507" pitchFamily="18" charset="2"/>
              </a:rPr>
              <a:t>	From definition of divisibility, this implies that </a:t>
            </a:r>
            <a:r>
              <a:rPr lang="en-GB" altLang="en-US" i="1" dirty="0">
                <a:sym typeface="Symbol" panose="05050102010706020507" pitchFamily="18" charset="2"/>
              </a:rPr>
              <a:t>b</a:t>
            </a:r>
            <a:r>
              <a:rPr lang="en-GB" altLang="en-US" i="1" baseline="-25000" dirty="0">
                <a:sym typeface="Symbol" panose="05050102010706020507" pitchFamily="18" charset="2"/>
              </a:rPr>
              <a:t>k </a:t>
            </a:r>
            <a:r>
              <a:rPr lang="en-GB" altLang="en-US" baseline="-25000" dirty="0">
                <a:sym typeface="Symbol" panose="05050102010706020507" pitchFamily="18" charset="2"/>
              </a:rPr>
              <a:t>- 2</a:t>
            </a:r>
            <a:r>
              <a:rPr lang="en-GB" altLang="en-US" dirty="0">
                <a:sym typeface="Symbol" panose="05050102010706020507" pitchFamily="18" charset="2"/>
              </a:rPr>
              <a:t> = 4x and</a:t>
            </a:r>
            <a:r>
              <a:rPr lang="en-GB" altLang="en-US" i="1" dirty="0">
                <a:sym typeface="Symbol" panose="05050102010706020507" pitchFamily="18" charset="2"/>
              </a:rPr>
              <a:t> b</a:t>
            </a:r>
            <a:r>
              <a:rPr lang="en-GB" altLang="en-US" i="1" baseline="-25000" dirty="0">
                <a:sym typeface="Symbol" panose="05050102010706020507" pitchFamily="18" charset="2"/>
              </a:rPr>
              <a:t>k </a:t>
            </a:r>
            <a:r>
              <a:rPr lang="en-GB" altLang="en-US" baseline="-25000" dirty="0">
                <a:sym typeface="Symbol" panose="05050102010706020507" pitchFamily="18" charset="2"/>
              </a:rPr>
              <a:t>– 1</a:t>
            </a:r>
            <a:r>
              <a:rPr lang="en-GB" altLang="en-US" dirty="0">
                <a:sym typeface="Symbol" panose="05050102010706020507" pitchFamily="18" charset="2"/>
              </a:rPr>
              <a:t> = 4y, where x, y  Z.</a:t>
            </a:r>
          </a:p>
          <a:p>
            <a:pPr marL="742950" lvl="2" indent="0" defTabSz="539750">
              <a:lnSpc>
                <a:spcPct val="80000"/>
              </a:lnSpc>
              <a:buNone/>
            </a:pPr>
            <a:r>
              <a:rPr lang="en-GB" altLang="en-US" dirty="0">
                <a:sym typeface="Symbol" panose="05050102010706020507" pitchFamily="18" charset="2"/>
              </a:rPr>
              <a:t>	Thus, </a:t>
            </a:r>
            <a:r>
              <a:rPr lang="en-GB" altLang="en-US" i="1" dirty="0">
                <a:sym typeface="Symbol" panose="05050102010706020507" pitchFamily="18" charset="2"/>
              </a:rPr>
              <a:t>b</a:t>
            </a:r>
            <a:r>
              <a:rPr lang="en-GB" altLang="en-US" i="1" baseline="-25000" dirty="0">
                <a:sym typeface="Symbol" panose="05050102010706020507" pitchFamily="18" charset="2"/>
              </a:rPr>
              <a:t>k </a:t>
            </a:r>
            <a:r>
              <a:rPr lang="en-GB" altLang="en-US" i="1" dirty="0">
                <a:sym typeface="Symbol" panose="05050102010706020507" pitchFamily="18" charset="2"/>
              </a:rPr>
              <a:t>= b</a:t>
            </a:r>
            <a:r>
              <a:rPr lang="en-GB" altLang="en-US" i="1" baseline="-25000" dirty="0">
                <a:sym typeface="Symbol" panose="05050102010706020507" pitchFamily="18" charset="2"/>
              </a:rPr>
              <a:t>k </a:t>
            </a:r>
            <a:r>
              <a:rPr lang="en-GB" altLang="en-US" baseline="-25000" dirty="0">
                <a:sym typeface="Symbol" panose="05050102010706020507" pitchFamily="18" charset="2"/>
              </a:rPr>
              <a:t>- 2</a:t>
            </a:r>
            <a:r>
              <a:rPr lang="en-GB" altLang="en-US" i="1" baseline="-25000" dirty="0">
                <a:sym typeface="Symbol" panose="05050102010706020507" pitchFamily="18" charset="2"/>
              </a:rPr>
              <a:t> </a:t>
            </a:r>
            <a:r>
              <a:rPr lang="en-GB" altLang="en-US" i="1" dirty="0">
                <a:sym typeface="Symbol" panose="05050102010706020507" pitchFamily="18" charset="2"/>
              </a:rPr>
              <a:t>+ b</a:t>
            </a:r>
            <a:r>
              <a:rPr lang="en-GB" altLang="en-US" i="1" baseline="-25000" dirty="0">
                <a:sym typeface="Symbol" panose="05050102010706020507" pitchFamily="18" charset="2"/>
              </a:rPr>
              <a:t>k </a:t>
            </a:r>
            <a:r>
              <a:rPr lang="en-GB" altLang="en-US" baseline="-25000" dirty="0">
                <a:sym typeface="Symbol" panose="05050102010706020507" pitchFamily="18" charset="2"/>
              </a:rPr>
              <a:t>– 1</a:t>
            </a:r>
            <a:r>
              <a:rPr lang="en-GB" altLang="en-US" dirty="0">
                <a:sym typeface="Symbol" panose="05050102010706020507" pitchFamily="18" charset="2"/>
              </a:rPr>
              <a:t> = 4(x + y), where x + y  Z.</a:t>
            </a:r>
            <a:endParaRPr lang="en-US" altLang="en-US" dirty="0">
              <a:sym typeface="Symbol" panose="05050102010706020507" pitchFamily="18" charset="2"/>
            </a:endParaRPr>
          </a:p>
          <a:p>
            <a:pPr marL="742950" lvl="2" indent="0">
              <a:lnSpc>
                <a:spcPct val="80000"/>
              </a:lnSpc>
              <a:buNone/>
            </a:pPr>
            <a:r>
              <a:rPr lang="en-GB" altLang="en-US" dirty="0">
                <a:sym typeface="Symbol" panose="05050102010706020507" pitchFamily="18" charset="2"/>
              </a:rPr>
              <a:t>     Hence, </a:t>
            </a:r>
            <a:r>
              <a:rPr lang="en-GB" altLang="en-US" i="1" dirty="0">
                <a:sym typeface="Symbol" panose="05050102010706020507" pitchFamily="18" charset="2"/>
              </a:rPr>
              <a:t>b</a:t>
            </a:r>
            <a:r>
              <a:rPr lang="en-GB" altLang="en-US" i="1" baseline="-25000" dirty="0">
                <a:sym typeface="Symbol" panose="05050102010706020507" pitchFamily="18" charset="2"/>
              </a:rPr>
              <a:t>k </a:t>
            </a:r>
            <a:r>
              <a:rPr lang="en-GB" altLang="en-US" i="1" dirty="0">
                <a:sym typeface="Symbol" panose="05050102010706020507" pitchFamily="18" charset="2"/>
              </a:rPr>
              <a:t> is divisible by 4.</a:t>
            </a:r>
            <a:endParaRPr lang="en-US" altLang="en-US" dirty="0">
              <a:sym typeface="Symbol" panose="05050102010706020507" pitchFamily="18" charset="2"/>
            </a:endParaRPr>
          </a:p>
          <a:p>
            <a:pPr marL="342900" lvl="1" indent="0" defTabSz="541338">
              <a:lnSpc>
                <a:spcPct val="80000"/>
              </a:lnSpc>
              <a:buNone/>
            </a:pPr>
            <a:r>
              <a:rPr lang="en-US" altLang="en-US" dirty="0">
                <a:sym typeface="Symbol" panose="05050102010706020507" pitchFamily="18" charset="2"/>
              </a:rPr>
              <a:t>		Therefore, CLAIM(</a:t>
            </a:r>
            <a:r>
              <a:rPr lang="en-US" altLang="en-US" i="1" dirty="0">
                <a:sym typeface="Symbol" panose="05050102010706020507" pitchFamily="18" charset="2"/>
              </a:rPr>
              <a:t>k</a:t>
            </a:r>
            <a:r>
              <a:rPr lang="en-US" altLang="en-US" dirty="0">
                <a:sym typeface="Symbol" panose="05050102010706020507" pitchFamily="18" charset="2"/>
              </a:rPr>
              <a:t>) is true.</a:t>
            </a:r>
          </a:p>
          <a:p>
            <a:pPr marL="342900" lvl="1" indent="0">
              <a:lnSpc>
                <a:spcPct val="80000"/>
              </a:lnSpc>
              <a:buNone/>
              <a:tabLst>
                <a:tab pos="1081088" algn="l"/>
              </a:tabLst>
            </a:pPr>
            <a:r>
              <a:rPr lang="en-GB" altLang="en-US" dirty="0">
                <a:sym typeface="Symbol" panose="05050102010706020507" pitchFamily="18" charset="2"/>
              </a:rPr>
              <a:t>	Therefore, by induction, CLAIM(</a:t>
            </a:r>
            <a:r>
              <a:rPr lang="en-GB" altLang="en-US" i="1" dirty="0">
                <a:sym typeface="Symbol" panose="05050102010706020507" pitchFamily="18" charset="2"/>
              </a:rPr>
              <a:t>n</a:t>
            </a:r>
            <a:r>
              <a:rPr lang="en-GB" altLang="en-US" dirty="0">
                <a:sym typeface="Symbol" panose="05050102010706020507" pitchFamily="18" charset="2"/>
              </a:rPr>
              <a:t>) is true for all integers </a:t>
            </a:r>
            <a:r>
              <a:rPr lang="en-GB" altLang="en-US" i="1" dirty="0">
                <a:sym typeface="Symbol" panose="05050102010706020507" pitchFamily="18" charset="2"/>
              </a:rPr>
              <a:t>n</a:t>
            </a:r>
            <a:r>
              <a:rPr lang="en-GB" altLang="en-US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 1</a:t>
            </a:r>
            <a:r>
              <a:rPr lang="en-GB" altLang="en-US" dirty="0">
                <a:ea typeface="ＭＳ 明朝" panose="02020609040205080304" pitchFamily="49" charset="-128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16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16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16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16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16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16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416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416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5">
            <a:extLst>
              <a:ext uri="{FF2B5EF4-FFF2-40B4-BE49-F238E27FC236}">
                <a16:creationId xmlns:a16="http://schemas.microsoft.com/office/drawing/2014/main" id="{B3F84350-FB3D-4222-B656-004A5F98C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3D736A1-C08D-4969-ACAF-B8A5D3800CC0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22C3F51E-3EAE-41B1-AB5F-4946E378D03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2487613"/>
            <a:ext cx="7772400" cy="994867"/>
          </a:xfrm>
        </p:spPr>
        <p:txBody>
          <a:bodyPr/>
          <a:lstStyle/>
          <a:p>
            <a:pPr eaLnBrk="1" hangingPunct="1"/>
            <a:r>
              <a:rPr lang="en-GB" altLang="en-US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of Unit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1446</TotalTime>
  <Words>2879</Words>
  <Application>Microsoft Office PowerPoint</Application>
  <PresentationFormat>Widescreen</PresentationFormat>
  <Paragraphs>301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ＭＳ 明朝</vt:lpstr>
      <vt:lpstr>Arial</vt:lpstr>
      <vt:lpstr>Calibri</vt:lpstr>
      <vt:lpstr>Calibri Light</vt:lpstr>
      <vt:lpstr>Cambria Math</vt:lpstr>
      <vt:lpstr>Times New Roman</vt:lpstr>
      <vt:lpstr>1_Office Theme</vt:lpstr>
      <vt:lpstr>MATH221 Mathematics for Computer Science</vt:lpstr>
      <vt:lpstr>OBJECTIVES</vt:lpstr>
      <vt:lpstr>The Basic Principle of Mathematical Induction: Example</vt:lpstr>
      <vt:lpstr>The Principle of Mathematical Induction</vt:lpstr>
      <vt:lpstr>The Principle of Mathematical Induction: Proof</vt:lpstr>
      <vt:lpstr>The Principle of Mathematical Induction: Proof</vt:lpstr>
      <vt:lpstr>The Principle of Mathematical Induction: Example</vt:lpstr>
      <vt:lpstr>The Principle of Mathematical Induction: Example</vt:lpstr>
      <vt:lpstr>The Principle of Mathematical Induction: Example</vt:lpstr>
      <vt:lpstr>The Principle of Mathematical Induction: Summary</vt:lpstr>
      <vt:lpstr>PowerPoint Presentation</vt:lpstr>
      <vt:lpstr>The Principle of Mathematical Induction: Example</vt:lpstr>
      <vt:lpstr>The Principle of Mathematical Induction: Example</vt:lpstr>
      <vt:lpstr>The Generalized Principle of Induction: Example</vt:lpstr>
      <vt:lpstr>The Generalized Principle of Induction</vt:lpstr>
      <vt:lpstr>The Generalized Principle of Induction: Note</vt:lpstr>
      <vt:lpstr>Exercise:</vt:lpstr>
      <vt:lpstr>Exercise:</vt:lpstr>
      <vt:lpstr>Sigma Notation</vt:lpstr>
      <vt:lpstr>Sigma Notation: Examples</vt:lpstr>
      <vt:lpstr>Sigma Notation: Equalities</vt:lpstr>
      <vt:lpstr>Discussion:</vt:lpstr>
      <vt:lpstr>Recursive Definitions</vt:lpstr>
      <vt:lpstr>Recursive Definitions: Example</vt:lpstr>
      <vt:lpstr>Recursive Definitions: Note</vt:lpstr>
      <vt:lpstr>The Principle of Strong Mathematical Induction</vt:lpstr>
      <vt:lpstr>Aside: Notes on Divisibility</vt:lpstr>
      <vt:lpstr>The Principle of Strong Mathematical Induction: Example</vt:lpstr>
      <vt:lpstr>The Principle of Strong Mathematical Induction: Example</vt:lpstr>
      <vt:lpstr>End of Unit 7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Hee Beng Kuan Tan</dc:creator>
  <cp:lastModifiedBy>Hee Beng Kuan Tan</cp:lastModifiedBy>
  <cp:revision>140</cp:revision>
  <cp:lastPrinted>2020-12-30T08:27:42Z</cp:lastPrinted>
  <dcterms:created xsi:type="dcterms:W3CDTF">2020-10-03T10:39:56Z</dcterms:created>
  <dcterms:modified xsi:type="dcterms:W3CDTF">2020-12-30T08:28:16Z</dcterms:modified>
</cp:coreProperties>
</file>