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589" r:id="rId2"/>
    <p:sldId id="257" r:id="rId3"/>
    <p:sldId id="516" r:id="rId4"/>
    <p:sldId id="676" r:id="rId5"/>
    <p:sldId id="677" r:id="rId6"/>
    <p:sldId id="539" r:id="rId7"/>
    <p:sldId id="540" r:id="rId8"/>
    <p:sldId id="518" r:id="rId9"/>
    <p:sldId id="678" r:id="rId10"/>
    <p:sldId id="679" r:id="rId11"/>
    <p:sldId id="680" r:id="rId12"/>
    <p:sldId id="681" r:id="rId13"/>
    <p:sldId id="682" r:id="rId14"/>
    <p:sldId id="683" r:id="rId15"/>
    <p:sldId id="519" r:id="rId16"/>
    <p:sldId id="684" r:id="rId17"/>
    <p:sldId id="685" r:id="rId18"/>
    <p:sldId id="686" r:id="rId19"/>
    <p:sldId id="687" r:id="rId20"/>
    <p:sldId id="688" r:id="rId21"/>
    <p:sldId id="689" r:id="rId22"/>
    <p:sldId id="690" r:id="rId23"/>
    <p:sldId id="691" r:id="rId24"/>
    <p:sldId id="693" r:id="rId25"/>
    <p:sldId id="412" r:id="rId26"/>
  </p:sldIdLst>
  <p:sldSz cx="12192000" cy="68580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95" d="100"/>
          <a:sy n="95" d="100"/>
        </p:scale>
        <p:origin x="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E5EDE30-E61C-44D9-80B0-A27268B34339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40"/>
            <a:ext cx="7680960" cy="288036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AC283E2-B821-4922-8B09-1B555FFD54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693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092D-4212-41CF-BF58-D9DD36DA5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2C51A-A0A3-4FD3-8F46-E03A7F11F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172D8-D585-4692-9D91-2611A812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792D4-042D-4750-B5E2-5B509CD1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64761-5428-44D3-9DE1-9809D14F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C4D71-B334-403F-B5E1-784B25D8624C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5048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700C-F714-4CB9-A6DE-FAA2183F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0618-233F-4B2C-A1A2-ECE9BE94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600" u="sng"/>
            </a:lvl2pPr>
            <a:lvl3pPr>
              <a:defRPr sz="2600" u="sng"/>
            </a:lvl3pPr>
            <a:lvl4pPr>
              <a:defRPr sz="2600" u="sng"/>
            </a:lvl4pPr>
            <a:lvl5pPr>
              <a:defRPr sz="2600" u="sng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8E7D6-94D8-4184-BE5C-E4DB5077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43B7-0D58-4351-A372-0F4C7638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7699-4F3C-4117-85F4-C4207892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11E565-5AAE-4302-9D71-D55C9A5ED4B5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475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F477-AFB0-4DE5-9B97-AB4AACC3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F83BD-BAF6-4477-B5D5-28CD1A79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65DC7-745D-4A1A-8862-A0281CEA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01F5-1453-4310-A706-91F07CD2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85D44-875F-4BE8-B893-12C1D964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9A738D-4EDA-4D70-99E5-9A08BD4183D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7654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5DFB-A478-4FFD-BF7D-5260955D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062F-1A40-45E0-ABDB-5EE1C9ADD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E0206-64F0-4280-8310-265D514CD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574C2-E648-49F7-8122-46DDA164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7D6C3-A20E-4A9F-BE71-4F798A3F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BF6A-1001-4397-BF26-5B12A8AF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F4DE9E-8CB3-4855-93F4-6FA7E56E393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197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C1B0-64FF-4FE5-BC51-9D08A0B4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E9A8D-8032-45BA-ADBC-C26CB8D9E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7F984-43E2-481C-911A-724E9B088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9F5BD-2573-41D8-97C4-09499303E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28118-F8C2-4DA7-B2F9-E38D4A4F2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D3BB3-4B72-4958-BF80-8C2CBB7B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271BB-7CE0-47A6-9CB3-0B88610D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B3BB3-6B4F-4352-889B-265D07A1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3F6EF9-7981-486B-BC8C-C082F2CA500D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9002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F70-B809-4C2A-AE89-BB4D9B05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2E6DB-76B6-4498-8D71-E6272410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2BBF7-993F-4B93-95AA-3BA6F428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0F5F1-1BC0-476E-A4EF-23F19F2E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89950C-F960-494B-8332-BACE3F02B25A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987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721A3-DE04-4B30-8C39-849471D9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08AA2-753B-4744-9783-BBF53849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0A969-F139-4CD5-862F-947ED978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EA832-A6AE-4E78-BBE9-18366D9CFBC2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2314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E15D-2854-4C12-8F24-42FC98E7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6F1A4-6545-48F4-B4FE-67159C0E1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DA3A-931D-4C44-A363-880A26058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EE96C-9C19-4A39-A358-2C659C1D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4BB42-803B-496C-A4EE-FB9AB303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2F4BC-E10F-4E6A-AC39-937C255B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47A975-8FA5-4E55-960C-663ABF069E4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9856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B3B2-F5BE-4E8C-B534-BD05A901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6A587-BD4A-4D67-9383-22E61D3E0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5BF78-BBA5-482E-881C-2BEFCEFE8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ED3DA-6328-42F7-9772-313E1945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F7E6-8603-4D2C-BC4B-39764680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DC209-97B1-4C28-A1B3-E345642D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2F6AE3-965C-4549-B78A-B228D0AC5637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53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9B95-54BB-4331-A774-CD8FC646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28831-7175-4364-A195-76AB238C5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FB213-8116-4139-8B50-4A670938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4B3E-2958-4B36-84CE-BE7C429A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0EC9-7377-4159-A79B-D9EAE3D8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7B34FA-59D9-4ACB-BD9D-0D523E70916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8228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335B5-A253-40F7-86CA-16B24ADF5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BFC03-01C4-415B-97CE-660BC35EF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660B-5AAD-4620-85B5-5A444A1C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3F84-40D0-4C09-9912-EA5E78DB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685B7-892C-432C-9751-CEAF3A55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05C72-34DF-4ED0-B468-302846DA4E8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3248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062B0-CA3A-4DE4-BF60-A978F473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84E3D-0147-49FB-810C-58630EEA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51C0C-74FC-4C9B-83FC-B62973961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A19FD-2E16-43A8-B64C-C4F7B5010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D751-A9E0-47BE-89A1-15AA161B1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8A0BD3-8906-4742-8599-DF7C93EAD45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4759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A7CFD8D2-76A8-4656-87F2-9BD95F4C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FDC763-F69E-47F2-9814-5F47EC779A9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918E50E4-9026-4C74-B0AF-C14CB01461A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14620" y="136523"/>
            <a:ext cx="9650411" cy="1995488"/>
          </a:xfrm>
        </p:spPr>
        <p:txBody>
          <a:bodyPr/>
          <a:lstStyle/>
          <a:p>
            <a:pPr eaLnBrk="1" hangingPunct="1"/>
            <a:r>
              <a:rPr lang="en-US" altLang="en-US" b="1" u="sng" dirty="0">
                <a:solidFill>
                  <a:srgbClr val="171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MATH221</a:t>
            </a:r>
            <a:br>
              <a:rPr lang="en-US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rgbClr val="171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Computer Science</a:t>
            </a:r>
            <a:endParaRPr lang="en-GB" altLang="en-US" b="1" dirty="0">
              <a:solidFill>
                <a:srgbClr val="171BA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9CEFFF-1C1A-4318-81FC-43EDFF823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619976"/>
            <a:ext cx="8783638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6</a:t>
            </a:r>
          </a:p>
          <a:p>
            <a:pPr eaLnBrk="1" hangingPunct="1">
              <a:defRPr/>
            </a:pPr>
            <a:r>
              <a:rPr lang="en-US" altLang="en-US" sz="60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8B6EF460-6D2B-46A5-AE95-FCC8D425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C584DA-DA4E-4212-BE65-A5F84E91B3DE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B84C5DD-35B3-4FB1-A0AF-1888C6F89B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79526"/>
            <a:ext cx="8229600" cy="4525963"/>
          </a:xfrm>
        </p:spPr>
        <p:txBody>
          <a:bodyPr/>
          <a:lstStyle/>
          <a:p>
            <a:r>
              <a:rPr lang="en-US" altLang="en-US" sz="2800" dirty="0"/>
              <a:t>Know what is the natural numbers and </a:t>
            </a:r>
            <a:r>
              <a:rPr lang="en-US" altLang="en-US" dirty="0"/>
              <a:t>integers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/>
              <a:t>Understand what is binary operation and closed binary operation.</a:t>
            </a:r>
          </a:p>
          <a:p>
            <a:pPr eaLnBrk="1" hangingPunct="1"/>
            <a:r>
              <a:rPr lang="en-US" altLang="en-US" sz="2800" dirty="0"/>
              <a:t>Understand the algebraic terminologies, identity, inverse, commutative, associative and distributive.</a:t>
            </a:r>
          </a:p>
          <a:p>
            <a:r>
              <a:rPr lang="en-US" altLang="en-US" sz="2800" dirty="0"/>
              <a:t>Know what is the well-ordered property.</a:t>
            </a:r>
          </a:p>
          <a:p>
            <a:r>
              <a:rPr lang="en-US" altLang="en-US" sz="2800" dirty="0"/>
              <a:t>Understand the application of the definition of odd and even integers.</a:t>
            </a:r>
          </a:p>
          <a:p>
            <a:r>
              <a:rPr lang="en-US" altLang="en-US" sz="2800" dirty="0"/>
              <a:t>Know what are prime and composite numbers.</a:t>
            </a:r>
          </a:p>
          <a:p>
            <a:pPr eaLnBrk="1" hangingPunct="1"/>
            <a:endParaRPr lang="en-US" altLang="en-US" sz="2400" dirty="0"/>
          </a:p>
        </p:txBody>
      </p:sp>
      <p:sp>
        <p:nvSpPr>
          <p:cNvPr id="5124" name="Rectangle 5">
            <a:extLst>
              <a:ext uri="{FF2B5EF4-FFF2-40B4-BE49-F238E27FC236}">
                <a16:creationId xmlns:a16="http://schemas.microsoft.com/office/drawing/2014/main" id="{93FF4859-6EBB-4CF5-9D0D-587839BB0E6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168525" y="13652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chemeClr val="folHlink"/>
                </a:solidFill>
              </a:rPr>
              <a:t>OBJECTIVES</a:t>
            </a:r>
            <a:endParaRPr lang="en-GB" altLang="en-US" sz="3600" b="1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0042BBD4-06C4-4F0D-802F-D38925A0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A74366-FD4D-4AC4-A1DE-AEEA87F3CD4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BBFC33E-ED78-4933-92FE-BBC483613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Natural Numbers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6F43CEE-ACE7-4D6B-988B-56F33ED786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0031" y="1771651"/>
            <a:ext cx="9820894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/>
              <a:t>The Natural Numbers, denoted by </a:t>
            </a:r>
            <a:r>
              <a:rPr lang="en-GB" altLang="en-US" dirty="0">
                <a:ea typeface="ＭＳ 明朝" panose="02020609040205080304" pitchFamily="49" charset="-128"/>
              </a:rPr>
              <a:t>ℕ, consist of all positive “whole” numbers.</a:t>
            </a:r>
          </a:p>
          <a:p>
            <a:pPr marL="0" indent="0">
              <a:buNone/>
            </a:pPr>
            <a:r>
              <a:rPr lang="en-GB" altLang="en-US" dirty="0">
                <a:ea typeface="ＭＳ 明朝" panose="02020609040205080304" pitchFamily="49" charset="-128"/>
              </a:rPr>
              <a:t>			 ℕ = {1, 2, 3, 4, …}</a:t>
            </a:r>
          </a:p>
          <a:p>
            <a:pPr marL="0" indent="0">
              <a:buNone/>
            </a:pPr>
            <a:endParaRPr lang="en-GB" altLang="en-US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r>
              <a:rPr lang="en-GB" altLang="en-US" dirty="0"/>
              <a:t>Is 0 an element of </a:t>
            </a:r>
            <a:r>
              <a:rPr lang="en-GB" altLang="en-US" dirty="0">
                <a:ea typeface="ＭＳ 明朝" panose="02020609040205080304" pitchFamily="49" charset="-128"/>
              </a:rPr>
              <a:t>ℕ (notation 0 </a:t>
            </a:r>
            <a:r>
              <a:rPr lang="en-GB" altLang="en-US" dirty="0">
                <a:ea typeface="ＭＳ 明朝" panose="02020609040205080304" pitchFamily="49" charset="-128"/>
                <a:sym typeface="Symbol" panose="05050102010706020507" pitchFamily="18" charset="2"/>
              </a:rPr>
              <a:t> </a:t>
            </a:r>
            <a:r>
              <a:rPr lang="en-GB" altLang="en-US" dirty="0">
                <a:ea typeface="ＭＳ 明朝" panose="02020609040205080304" pitchFamily="49" charset="-128"/>
              </a:rPr>
              <a:t>ℕ)?</a:t>
            </a:r>
            <a:endParaRPr lang="en-GB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/>
              <a:t>No.</a:t>
            </a:r>
          </a:p>
          <a:p>
            <a:pPr marL="0" indent="0">
              <a:buNone/>
            </a:pPr>
            <a:endParaRPr lang="en-GB" altLang="en-US" sz="2400" dirty="0">
              <a:ea typeface="ＭＳ 明朝" panose="02020609040205080304" pitchFamily="49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>
            <a:extLst>
              <a:ext uri="{FF2B5EF4-FFF2-40B4-BE49-F238E27FC236}">
                <a16:creationId xmlns:a16="http://schemas.microsoft.com/office/drawing/2014/main" id="{7D92886B-D73E-4339-9E82-18E7A7A123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43064" y="830264"/>
            <a:ext cx="8905875" cy="5508625"/>
          </a:xfrm>
        </p:spPr>
        <p:txBody>
          <a:bodyPr/>
          <a:lstStyle/>
          <a:p>
            <a:pPr marL="0" indent="0" defTabSz="1811338">
              <a:lnSpc>
                <a:spcPct val="103000"/>
              </a:lnSpc>
              <a:spcBef>
                <a:spcPts val="113"/>
              </a:spcBef>
              <a:buNone/>
            </a:pPr>
            <a:r>
              <a:rPr lang="en-SG" altLang="en-US" sz="2800" dirty="0">
                <a:cs typeface="Tahoma" panose="020B0604030504040204" pitchFamily="34" charset="0"/>
              </a:rPr>
              <a:t>An </a:t>
            </a:r>
            <a:r>
              <a:rPr lang="en-SG" altLang="en-US" sz="2800" b="1" dirty="0"/>
              <a:t>operation </a:t>
            </a:r>
            <a:r>
              <a:rPr lang="en-SG" altLang="en-US" sz="2800" dirty="0">
                <a:cs typeface="Tahoma" panose="020B0604030504040204" pitchFamily="34" charset="0"/>
              </a:rPr>
              <a:t>on a set </a:t>
            </a:r>
            <a:r>
              <a:rPr lang="en-SG" altLang="en-US" sz="2800" i="1" dirty="0"/>
              <a:t>S </a:t>
            </a:r>
            <a:r>
              <a:rPr lang="en-SG" altLang="en-US" sz="2800" dirty="0">
                <a:cs typeface="Tahoma" panose="020B0604030504040204" pitchFamily="34" charset="0"/>
              </a:rPr>
              <a:t>is a rule for combining one or more elements of  </a:t>
            </a:r>
            <a:r>
              <a:rPr lang="en-SG" altLang="en-US" sz="2800" i="1" dirty="0"/>
              <a:t>S</a:t>
            </a:r>
            <a:r>
              <a:rPr lang="en-SG" altLang="en-US" sz="2800" dirty="0">
                <a:cs typeface="Tahoma" panose="020B0604030504040204" pitchFamily="34" charset="0"/>
              </a:rPr>
              <a:t>. </a:t>
            </a:r>
          </a:p>
          <a:p>
            <a:pPr marL="0" indent="0" defTabSz="1811338">
              <a:lnSpc>
                <a:spcPct val="103000"/>
              </a:lnSpc>
              <a:spcBef>
                <a:spcPts val="113"/>
              </a:spcBef>
              <a:buNone/>
            </a:pPr>
            <a:endParaRPr lang="en-SG" altLang="en-US" sz="2800" dirty="0">
              <a:cs typeface="Tahoma" panose="020B0604030504040204" pitchFamily="34" charset="0"/>
            </a:endParaRPr>
          </a:p>
          <a:p>
            <a:pPr marL="0" indent="0" defTabSz="1811338">
              <a:lnSpc>
                <a:spcPct val="103000"/>
              </a:lnSpc>
              <a:spcBef>
                <a:spcPts val="113"/>
              </a:spcBef>
              <a:buNone/>
            </a:pPr>
            <a:r>
              <a:rPr lang="en-SG" altLang="en-US" sz="2800" dirty="0">
                <a:cs typeface="Tahoma" panose="020B0604030504040204" pitchFamily="34" charset="0"/>
              </a:rPr>
              <a:t>A </a:t>
            </a:r>
            <a:r>
              <a:rPr lang="en-SG" altLang="en-US" sz="2800" b="1" dirty="0"/>
              <a:t>binary operation </a:t>
            </a:r>
            <a:r>
              <a:rPr lang="en-SG" altLang="en-US" sz="2800" dirty="0">
                <a:cs typeface="Tahoma" panose="020B0604030504040204" pitchFamily="34" charset="0"/>
              </a:rPr>
              <a:t>on </a:t>
            </a:r>
            <a:r>
              <a:rPr lang="en-SG" altLang="en-US" sz="2800" i="1" dirty="0"/>
              <a:t>S </a:t>
            </a:r>
            <a:r>
              <a:rPr lang="en-SG" altLang="en-US" sz="2800" dirty="0">
                <a:cs typeface="Tahoma" panose="020B0604030504040204" pitchFamily="34" charset="0"/>
              </a:rPr>
              <a:t>is a rule for  combining pairs of elements of </a:t>
            </a:r>
            <a:r>
              <a:rPr lang="en-SG" altLang="en-US" sz="2800" i="1" dirty="0"/>
              <a:t>S </a:t>
            </a:r>
            <a:r>
              <a:rPr lang="en-SG" altLang="en-US" sz="2800" dirty="0">
                <a:cs typeface="Tahoma" panose="020B0604030504040204" pitchFamily="34" charset="0"/>
              </a:rPr>
              <a:t>to produce another element. </a:t>
            </a:r>
          </a:p>
          <a:p>
            <a:pPr marL="0" indent="0" defTabSz="1811338">
              <a:lnSpc>
                <a:spcPct val="103000"/>
              </a:lnSpc>
              <a:spcBef>
                <a:spcPts val="113"/>
              </a:spcBef>
              <a:buNone/>
            </a:pPr>
            <a:endParaRPr lang="en-SG" altLang="en-US" sz="2800" dirty="0">
              <a:cs typeface="Tahoma" panose="020B0604030504040204" pitchFamily="34" charset="0"/>
            </a:endParaRPr>
          </a:p>
          <a:p>
            <a:pPr marL="0" indent="0" defTabSz="1811338">
              <a:lnSpc>
                <a:spcPct val="103000"/>
              </a:lnSpc>
              <a:spcBef>
                <a:spcPts val="113"/>
              </a:spcBef>
              <a:buNone/>
            </a:pPr>
            <a:r>
              <a:rPr lang="en-SG" altLang="en-US" sz="2800" dirty="0">
                <a:cs typeface="Tahoma" panose="020B0604030504040204" pitchFamily="34" charset="0"/>
              </a:rPr>
              <a:t>We denote a general operation by </a:t>
            </a:r>
            <a:r>
              <a:rPr lang="en-SG" altLang="en-US" sz="2800" dirty="0">
                <a:cs typeface="Lucida Sans Unicode" panose="020B0602030504020204" pitchFamily="34" charset="0"/>
              </a:rPr>
              <a:t>∗</a:t>
            </a:r>
            <a:r>
              <a:rPr lang="en-SG" altLang="en-US" sz="2800" dirty="0">
                <a:cs typeface="Tahoma" panose="020B0604030504040204" pitchFamily="34" charset="0"/>
              </a:rPr>
              <a:t>.   A binary operation </a:t>
            </a:r>
            <a:r>
              <a:rPr lang="en-SG" altLang="en-US" sz="2800" dirty="0">
                <a:cs typeface="Lucida Sans Unicode" panose="020B0602030504020204" pitchFamily="34" charset="0"/>
              </a:rPr>
              <a:t>∗                  on </a:t>
            </a:r>
            <a:r>
              <a:rPr lang="en-SG" altLang="en-US" sz="2800" i="1" dirty="0">
                <a:cs typeface="Lucida Sans Unicode" panose="020B0602030504020204" pitchFamily="34" charset="0"/>
              </a:rPr>
              <a:t>S</a:t>
            </a:r>
            <a:r>
              <a:rPr lang="en-SG" altLang="en-US" sz="2800" dirty="0">
                <a:cs typeface="Lucida Sans Unicode" panose="020B0602030504020204" pitchFamily="34" charset="0"/>
              </a:rPr>
              <a:t> </a:t>
            </a:r>
            <a:r>
              <a:rPr lang="en-SG" altLang="en-US" sz="2800" dirty="0">
                <a:cs typeface="Tahoma" panose="020B0604030504040204" pitchFamily="34" charset="0"/>
              </a:rPr>
              <a:t>is </a:t>
            </a:r>
            <a:r>
              <a:rPr lang="en-SG" altLang="en-US" sz="2800" b="1" dirty="0"/>
              <a:t>closed </a:t>
            </a:r>
            <a:r>
              <a:rPr lang="en-SG" altLang="en-US" sz="2800" dirty="0"/>
              <a:t>on </a:t>
            </a:r>
            <a:r>
              <a:rPr lang="en-SG" altLang="en-US" sz="2800" i="1" dirty="0"/>
              <a:t>S</a:t>
            </a:r>
            <a:r>
              <a:rPr lang="en-SG" altLang="en-US" sz="2800" dirty="0"/>
              <a:t> </a:t>
            </a:r>
            <a:r>
              <a:rPr lang="en-SG" altLang="en-US" sz="2800" dirty="0">
                <a:cs typeface="Tahoma" panose="020B0604030504040204" pitchFamily="34" charset="0"/>
              </a:rPr>
              <a:t>if</a:t>
            </a:r>
          </a:p>
          <a:p>
            <a:pPr marL="400050" lvl="1" indent="0" defTabSz="1811338">
              <a:spcBef>
                <a:spcPts val="2238"/>
              </a:spcBef>
              <a:buNone/>
            </a:pPr>
            <a:r>
              <a:rPr lang="en-SG" altLang="en-US" sz="2400" i="1" dirty="0"/>
              <a:t>x, y </a:t>
            </a:r>
            <a:r>
              <a:rPr lang="en-SG" altLang="en-US" sz="2400" dirty="0">
                <a:cs typeface="Lucida Sans Unicode" panose="020B0602030504020204" pitchFamily="34" charset="0"/>
              </a:rPr>
              <a:t>∈ </a:t>
            </a:r>
            <a:r>
              <a:rPr lang="en-SG" altLang="en-US" sz="2400" i="1" dirty="0"/>
              <a:t>S </a:t>
            </a:r>
            <a:r>
              <a:rPr lang="en-SG" altLang="en-US" sz="2400" dirty="0">
                <a:cs typeface="Lucida Sans Unicode" panose="020B0602030504020204" pitchFamily="34" charset="0"/>
              </a:rPr>
              <a:t>⇒ </a:t>
            </a:r>
            <a:r>
              <a:rPr lang="en-SG" altLang="en-US" sz="2400" i="1" dirty="0" err="1"/>
              <a:t>x</a:t>
            </a:r>
            <a:r>
              <a:rPr lang="en-SG" altLang="en-US" sz="2400" dirty="0" err="1">
                <a:cs typeface="Lucida Sans Unicode" panose="020B0602030504020204" pitchFamily="34" charset="0"/>
              </a:rPr>
              <a:t>∗</a:t>
            </a:r>
            <a:r>
              <a:rPr lang="en-SG" altLang="en-US" sz="2400" i="1" dirty="0" err="1"/>
              <a:t>y</a:t>
            </a:r>
            <a:r>
              <a:rPr lang="en-SG" altLang="en-US" sz="2400" i="1" dirty="0"/>
              <a:t> </a:t>
            </a:r>
            <a:r>
              <a:rPr lang="en-SG" altLang="en-US" sz="2400" dirty="0">
                <a:cs typeface="Lucida Sans Unicode" panose="020B0602030504020204" pitchFamily="34" charset="0"/>
              </a:rPr>
              <a:t>∈ </a:t>
            </a:r>
            <a:r>
              <a:rPr lang="en-SG" altLang="en-US" sz="2400" i="1" dirty="0"/>
              <a:t>S.</a:t>
            </a:r>
            <a:endParaRPr lang="en-SG" altLang="en-US" dirty="0"/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E1D2AD43-96AB-45EF-B3D4-FC301BA912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FBE733-7487-43D8-BF9E-BFFA5FFB97D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FEBA26F3-DE37-40C1-99BB-E7EEBC10B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-114300"/>
            <a:ext cx="8229600" cy="944563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Operations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>
            <a:extLst>
              <a:ext uri="{FF2B5EF4-FFF2-40B4-BE49-F238E27FC236}">
                <a16:creationId xmlns:a16="http://schemas.microsoft.com/office/drawing/2014/main" id="{5F1DBCEB-2B80-451D-8DDD-128E6375F7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ACCA77-D410-460E-8A62-0C02256F3A21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D3F2CEB0-CE3B-4B36-82A5-CF80FEC6B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060451"/>
            <a:ext cx="8780463" cy="2896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81133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defTabSz="1811338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811338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81133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811338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1811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1811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1811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18113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3000"/>
              </a:lnSpc>
              <a:spcBef>
                <a:spcPts val="2175"/>
              </a:spcBef>
              <a:buNone/>
            </a:pPr>
            <a:r>
              <a:rPr lang="en-SG" altLang="en-US" sz="2800" dirty="0">
                <a:cs typeface="Tahoma" panose="020B0604030504040204" pitchFamily="34" charset="0"/>
              </a:rPr>
              <a:t>On numbers we have four main binary operations: addition, subtraction,  multiplication and division.</a:t>
            </a:r>
          </a:p>
          <a:p>
            <a:pPr>
              <a:lnSpc>
                <a:spcPct val="103000"/>
              </a:lnSpc>
              <a:spcBef>
                <a:spcPts val="2175"/>
              </a:spcBef>
              <a:buNone/>
            </a:pPr>
            <a:r>
              <a:rPr lang="en-SG" altLang="en-US" sz="2800" dirty="0">
                <a:cs typeface="Tahoma" panose="020B0604030504040204" pitchFamily="34" charset="0"/>
              </a:rPr>
              <a:t>But on which number systems are these binary operations closed? </a:t>
            </a:r>
          </a:p>
          <a:p>
            <a:pPr>
              <a:lnSpc>
                <a:spcPct val="103000"/>
              </a:lnSpc>
              <a:spcBef>
                <a:spcPts val="2175"/>
              </a:spcBef>
              <a:buNone/>
            </a:pPr>
            <a:endParaRPr lang="en-SG" altLang="en-US" dirty="0">
              <a:solidFill>
                <a:srgbClr val="FFFFFF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E9FB33AF-0AF0-4D7A-9866-775343E71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-114300"/>
            <a:ext cx="8229600" cy="944563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Operations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F58CD082-6427-4539-B84E-D8B4EA815B39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676E435-6509-4E02-907F-C538BAD6F3D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3AE7499-B256-4BF6-8DB4-97EDA4E8BA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Operation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4216807D-433F-45A3-890F-DC8F838D2DA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b="1" dirty="0"/>
              <a:t>We can picture such an operation as a “black box” that takes two inputs from the set and produces one output in the set:</a:t>
            </a:r>
          </a:p>
          <a:p>
            <a:pPr marL="0" indent="0">
              <a:buNone/>
            </a:pPr>
            <a:endParaRPr lang="en-GB" altLang="en-US" sz="2400" b="1" dirty="0"/>
          </a:p>
          <a:p>
            <a:pPr marL="0" indent="0">
              <a:buNone/>
            </a:pPr>
            <a:endParaRPr lang="en-US" altLang="en-US" sz="2400" dirty="0"/>
          </a:p>
        </p:txBody>
      </p:sp>
      <p:grpSp>
        <p:nvGrpSpPr>
          <p:cNvPr id="9221" name="Group 13">
            <a:extLst>
              <a:ext uri="{FF2B5EF4-FFF2-40B4-BE49-F238E27FC236}">
                <a16:creationId xmlns:a16="http://schemas.microsoft.com/office/drawing/2014/main" id="{A6F3B8B1-043A-4ED7-9412-42305D920D64}"/>
              </a:ext>
            </a:extLst>
          </p:cNvPr>
          <p:cNvGrpSpPr>
            <a:grpSpLocks/>
          </p:cNvGrpSpPr>
          <p:nvPr/>
        </p:nvGrpSpPr>
        <p:grpSpPr bwMode="auto">
          <a:xfrm>
            <a:off x="2665412" y="3464719"/>
            <a:ext cx="6478588" cy="1087438"/>
            <a:chOff x="703" y="2107"/>
            <a:chExt cx="4081" cy="685"/>
          </a:xfrm>
        </p:grpSpPr>
        <p:sp>
          <p:nvSpPr>
            <p:cNvPr id="9222" name="Rectangle 5">
              <a:extLst>
                <a:ext uri="{FF2B5EF4-FFF2-40B4-BE49-F238E27FC236}">
                  <a16:creationId xmlns:a16="http://schemas.microsoft.com/office/drawing/2014/main" id="{E0304259-FA54-4A48-804A-515988817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" y="2107"/>
              <a:ext cx="1179" cy="685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23" name="Line 6">
              <a:extLst>
                <a:ext uri="{FF2B5EF4-FFF2-40B4-BE49-F238E27FC236}">
                  <a16:creationId xmlns:a16="http://schemas.microsoft.com/office/drawing/2014/main" id="{A775E071-8DAA-4538-974F-ACA01F33D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2322"/>
              <a:ext cx="7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9224" name="Text Box 7">
              <a:extLst>
                <a:ext uri="{FF2B5EF4-FFF2-40B4-BE49-F238E27FC236}">
                  <a16:creationId xmlns:a16="http://schemas.microsoft.com/office/drawing/2014/main" id="{C4C44B7D-EB75-4190-B2A1-DD0B23A0F2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" y="2180"/>
              <a:ext cx="8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cs typeface="Arial" panose="020B0604020202020204" pitchFamily="34" charset="0"/>
                </a:rPr>
                <a:t>Input 1</a:t>
              </a:r>
            </a:p>
          </p:txBody>
        </p:sp>
        <p:sp>
          <p:nvSpPr>
            <p:cNvPr id="9225" name="Text Box 8">
              <a:extLst>
                <a:ext uri="{FF2B5EF4-FFF2-40B4-BE49-F238E27FC236}">
                  <a16:creationId xmlns:a16="http://schemas.microsoft.com/office/drawing/2014/main" id="{C80B44EC-434D-4736-A8AC-1DB412055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2504"/>
              <a:ext cx="8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cs typeface="Arial" panose="020B0604020202020204" pitchFamily="34" charset="0"/>
                </a:rPr>
                <a:t>Input 2</a:t>
              </a:r>
            </a:p>
          </p:txBody>
        </p:sp>
        <p:sp>
          <p:nvSpPr>
            <p:cNvPr id="9226" name="Text Box 9">
              <a:extLst>
                <a:ext uri="{FF2B5EF4-FFF2-40B4-BE49-F238E27FC236}">
                  <a16:creationId xmlns:a16="http://schemas.microsoft.com/office/drawing/2014/main" id="{8C025D15-3E3B-4D18-9089-877D29E60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3" y="2329"/>
              <a:ext cx="8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cs typeface="Arial" panose="020B0604020202020204" pitchFamily="34" charset="0"/>
                </a:rPr>
                <a:t>Output</a:t>
              </a:r>
            </a:p>
          </p:txBody>
        </p:sp>
        <p:sp>
          <p:nvSpPr>
            <p:cNvPr id="9227" name="Line 10">
              <a:extLst>
                <a:ext uri="{FF2B5EF4-FFF2-40B4-BE49-F238E27FC236}">
                  <a16:creationId xmlns:a16="http://schemas.microsoft.com/office/drawing/2014/main" id="{3DF3934B-EDE6-463F-BD95-6CCE212AF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3" y="2647"/>
              <a:ext cx="7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9228" name="Line 11">
              <a:extLst>
                <a:ext uri="{FF2B5EF4-FFF2-40B4-BE49-F238E27FC236}">
                  <a16:creationId xmlns:a16="http://schemas.microsoft.com/office/drawing/2014/main" id="{42BC754B-40C9-4B0B-8CE4-B67A4316C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477"/>
              <a:ext cx="7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7C16EC3F-745C-49DE-8748-F2CBB1F84E89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277B8EB-7109-4B32-83B7-D1A71747585B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CE25AA9-5B1A-4861-9434-D4078574B9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Operation: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252B256-3E40-4AF0-A462-609ED81571C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/>
              <a:t>If the set is </a:t>
            </a:r>
            <a:r>
              <a:rPr lang="en-GB" altLang="en-US" sz="2400">
                <a:ea typeface="ＭＳ 明朝" panose="02020609040205080304" pitchFamily="49" charset="-128"/>
              </a:rPr>
              <a:t>ℕ and the operation is </a:t>
            </a:r>
            <a:r>
              <a:rPr lang="en-US" altLang="en-US" sz="2400">
                <a:ea typeface="ＭＳ 明朝" panose="02020609040205080304" pitchFamily="49" charset="-128"/>
              </a:rPr>
              <a:t>+, then the inputs 1 and 2 would result in the output 3.</a:t>
            </a:r>
          </a:p>
        </p:txBody>
      </p:sp>
      <p:grpSp>
        <p:nvGrpSpPr>
          <p:cNvPr id="10245" name="Group 5">
            <a:extLst>
              <a:ext uri="{FF2B5EF4-FFF2-40B4-BE49-F238E27FC236}">
                <a16:creationId xmlns:a16="http://schemas.microsoft.com/office/drawing/2014/main" id="{A302D277-777F-4A3F-941D-71969B4CEDB3}"/>
              </a:ext>
            </a:extLst>
          </p:cNvPr>
          <p:cNvGrpSpPr>
            <a:grpSpLocks/>
          </p:cNvGrpSpPr>
          <p:nvPr/>
        </p:nvGrpSpPr>
        <p:grpSpPr bwMode="auto">
          <a:xfrm>
            <a:off x="2968625" y="3425825"/>
            <a:ext cx="6478588" cy="1087438"/>
            <a:chOff x="703" y="2158"/>
            <a:chExt cx="4081" cy="685"/>
          </a:xfrm>
        </p:grpSpPr>
        <p:sp>
          <p:nvSpPr>
            <p:cNvPr id="10247" name="Rectangle 6">
              <a:extLst>
                <a:ext uri="{FF2B5EF4-FFF2-40B4-BE49-F238E27FC236}">
                  <a16:creationId xmlns:a16="http://schemas.microsoft.com/office/drawing/2014/main" id="{A1212A74-11F9-4602-9DA6-7991858D9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2" y="2158"/>
              <a:ext cx="1179" cy="685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986FD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48" name="Line 7">
              <a:extLst>
                <a:ext uri="{FF2B5EF4-FFF2-40B4-BE49-F238E27FC236}">
                  <a16:creationId xmlns:a16="http://schemas.microsoft.com/office/drawing/2014/main" id="{90BC1887-2352-4E6B-9341-BD557BF00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2322"/>
              <a:ext cx="7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0249" name="Text Box 8">
              <a:extLst>
                <a:ext uri="{FF2B5EF4-FFF2-40B4-BE49-F238E27FC236}">
                  <a16:creationId xmlns:a16="http://schemas.microsoft.com/office/drawing/2014/main" id="{B1728B70-FE89-4E8E-82C2-BA22081BF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" y="2180"/>
              <a:ext cx="8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250" name="Text Box 9">
              <a:extLst>
                <a:ext uri="{FF2B5EF4-FFF2-40B4-BE49-F238E27FC236}">
                  <a16:creationId xmlns:a16="http://schemas.microsoft.com/office/drawing/2014/main" id="{2ECD6069-7D88-4788-9A1B-80BA7559B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2504"/>
              <a:ext cx="8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251" name="Text Box 10">
              <a:extLst>
                <a:ext uri="{FF2B5EF4-FFF2-40B4-BE49-F238E27FC236}">
                  <a16:creationId xmlns:a16="http://schemas.microsoft.com/office/drawing/2014/main" id="{BAC0FD19-7C47-48A9-9EB4-AACE6A0DA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3" y="2329"/>
              <a:ext cx="8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252" name="Line 11">
              <a:extLst>
                <a:ext uri="{FF2B5EF4-FFF2-40B4-BE49-F238E27FC236}">
                  <a16:creationId xmlns:a16="http://schemas.microsoft.com/office/drawing/2014/main" id="{30CB8A9B-82E1-4613-BE47-8B85533DD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3" y="2647"/>
              <a:ext cx="7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0253" name="Line 12">
              <a:extLst>
                <a:ext uri="{FF2B5EF4-FFF2-40B4-BE49-F238E27FC236}">
                  <a16:creationId xmlns:a16="http://schemas.microsoft.com/office/drawing/2014/main" id="{ED7DFDD4-CE52-42C6-BB11-2733442DE3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4" y="2477"/>
              <a:ext cx="7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0246" name="Text Box 13">
            <a:extLst>
              <a:ext uri="{FF2B5EF4-FFF2-40B4-BE49-F238E27FC236}">
                <a16:creationId xmlns:a16="http://schemas.microsoft.com/office/drawing/2014/main" id="{E10885B9-D55E-4D5F-B07D-4684929E8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3575" y="3512344"/>
            <a:ext cx="14382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5400" b="1" dirty="0">
                <a:solidFill>
                  <a:schemeClr val="bg1"/>
                </a:solidFill>
                <a:cs typeface="Arial" panose="020B0604020202020204" pitchFamily="34" charset="0"/>
              </a:rPr>
              <a:t>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A3405377-DA4D-4B3E-AF39-671B9D61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7BFF0B-9C1B-47F5-BC02-5E2BC4D0EDA1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D4A930BA-458B-4793-8A3E-50D835F00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-15875"/>
            <a:ext cx="8229600" cy="817541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1715" name="Rectangle 3">
            <a:extLst>
              <a:ext uri="{FF2B5EF4-FFF2-40B4-BE49-F238E27FC236}">
                <a16:creationId xmlns:a16="http://schemas.microsoft.com/office/drawing/2014/main" id="{161E879A-8B44-4A7E-9B84-B666B9F11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93888" y="801667"/>
            <a:ext cx="8229600" cy="54435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G" altLang="en-US" sz="2400" dirty="0">
                <a:cs typeface="Tahoma" panose="020B0604030504040204" pitchFamily="34" charset="0"/>
              </a:rPr>
              <a:t>Among addition, subtraction,  multiplication and division are all binary operations on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ℝ</a:t>
            </a:r>
            <a:r>
              <a:rPr lang="en-SG" altLang="en-US" sz="2400" dirty="0">
                <a:cs typeface="Tahoma" panose="020B0604030504040204" pitchFamily="34" charset="0"/>
              </a:rPr>
              <a:t> , </a:t>
            </a:r>
            <a:r>
              <a:rPr lang="en-US" altLang="en-US" sz="2400" dirty="0"/>
              <a:t>which of them are closed on </a:t>
            </a:r>
            <a:r>
              <a:rPr lang="en-GB" altLang="en-US" sz="2400" dirty="0">
                <a:ea typeface="ＭＳ 明朝" panose="02020609040205080304" pitchFamily="49" charset="-128"/>
              </a:rPr>
              <a:t>ℕ?</a:t>
            </a: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Why or why not?</a:t>
            </a:r>
          </a:p>
          <a:p>
            <a:pPr marL="0" indent="0">
              <a:buNone/>
            </a:pPr>
            <a:endParaRPr lang="en-GB" altLang="en-US" sz="2400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	Addition [4 + 2 = 6]</a:t>
            </a: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	Yes</a:t>
            </a: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		Subtraction [4 – 2 = 2]</a:t>
            </a: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		No. 2 - 4 = -2	</a:t>
            </a:r>
          </a:p>
          <a:p>
            <a:pPr marL="0" indent="0">
              <a:buNone/>
            </a:pPr>
            <a:endParaRPr lang="en-GB" altLang="en-US" sz="2400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</a:rPr>
              <a:t>			Multiplication [4 </a:t>
            </a: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 2 = 8]</a:t>
            </a: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			Yes	</a:t>
            </a: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				Division [4  2 = 2]</a:t>
            </a:r>
          </a:p>
          <a:p>
            <a:pPr marL="0" indent="0">
              <a:buNone/>
            </a:pP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				No. 2  4 = 1/2</a:t>
            </a:r>
          </a:p>
          <a:p>
            <a:pPr marL="0" indent="0">
              <a:buNone/>
            </a:pPr>
            <a:endParaRPr lang="en-GB" altLang="en-US" sz="2400" dirty="0">
              <a:ea typeface="ＭＳ 明朝" panose="02020609040205080304" pitchFamily="49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1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71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71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71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71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Identity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6EF5-5FA6-44BF-9C42-213DE457B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4038" y="1165225"/>
            <a:ext cx="8843962" cy="4822216"/>
          </a:xfrm>
        </p:spPr>
        <p:txBody>
          <a:bodyPr/>
          <a:lstStyle/>
          <a:p>
            <a:pPr marL="0" indent="0">
              <a:spcBef>
                <a:spcPts val="88"/>
              </a:spcBef>
              <a:buNone/>
            </a:pPr>
            <a:r>
              <a:rPr lang="en-SG" altLang="en-US" dirty="0">
                <a:cs typeface="Tahoma" panose="020B0604030504040204" pitchFamily="34" charset="0"/>
              </a:rPr>
              <a:t>Suppose </a:t>
            </a:r>
            <a:r>
              <a:rPr lang="en-SG" altLang="en-US" dirty="0">
                <a:cs typeface="Lucida Sans Unicode" panose="020B0602030504020204" pitchFamily="34" charset="0"/>
              </a:rPr>
              <a:t>∗   </a:t>
            </a:r>
            <a:r>
              <a:rPr lang="en-SG" altLang="en-US" dirty="0">
                <a:cs typeface="Tahoma" panose="020B0604030504040204" pitchFamily="34" charset="0"/>
              </a:rPr>
              <a:t>is a binary operation on a set </a:t>
            </a:r>
            <a:r>
              <a:rPr lang="en-SG" altLang="en-US" i="1" dirty="0"/>
              <a:t>S</a:t>
            </a:r>
            <a:r>
              <a:rPr lang="en-SG" altLang="en-US" dirty="0">
                <a:cs typeface="Tahoma" panose="020B0604030504040204" pitchFamily="34" charset="0"/>
              </a:rPr>
              <a:t>. An element </a:t>
            </a:r>
            <a:r>
              <a:rPr lang="en-SG" altLang="en-US" i="1" dirty="0"/>
              <a:t>e </a:t>
            </a:r>
            <a:r>
              <a:rPr lang="en-SG" altLang="en-US" dirty="0">
                <a:cs typeface="Tahoma" panose="020B0604030504040204" pitchFamily="34" charset="0"/>
              </a:rPr>
              <a:t>of </a:t>
            </a:r>
            <a:r>
              <a:rPr lang="en-SG" altLang="en-US" i="1" dirty="0"/>
              <a:t>S </a:t>
            </a:r>
            <a:r>
              <a:rPr lang="en-SG" altLang="en-US" dirty="0">
                <a:cs typeface="Tahoma" panose="020B0604030504040204" pitchFamily="34" charset="0"/>
              </a:rPr>
              <a:t>is called an </a:t>
            </a:r>
            <a:r>
              <a:rPr lang="en-SG" altLang="en-US" b="1" dirty="0"/>
              <a:t>identity </a:t>
            </a:r>
            <a:r>
              <a:rPr lang="en-SG" altLang="en-US" dirty="0">
                <a:cs typeface="Tahoma" panose="020B0604030504040204" pitchFamily="34" charset="0"/>
              </a:rPr>
              <a:t>if for all </a:t>
            </a:r>
            <a:r>
              <a:rPr lang="en-SG" altLang="en-US" i="1" dirty="0"/>
              <a:t>x </a:t>
            </a:r>
            <a:r>
              <a:rPr lang="en-SG" altLang="en-US" dirty="0">
                <a:cs typeface="Lucida Sans Unicode" panose="020B0602030504020204" pitchFamily="34" charset="0"/>
              </a:rPr>
              <a:t>∈ </a:t>
            </a:r>
            <a:r>
              <a:rPr lang="en-SG" altLang="en-US" i="1" dirty="0"/>
              <a:t>S </a:t>
            </a:r>
            <a:r>
              <a:rPr lang="en-SG" altLang="en-US" dirty="0">
                <a:cs typeface="Tahoma" panose="020B0604030504040204" pitchFamily="34" charset="0"/>
              </a:rPr>
              <a:t>we have</a:t>
            </a:r>
          </a:p>
          <a:p>
            <a:pPr marL="0" indent="0" algn="ctr">
              <a:spcBef>
                <a:spcPts val="1125"/>
              </a:spcBef>
              <a:buNone/>
            </a:pPr>
            <a:r>
              <a:rPr lang="en-SG" altLang="en-US" i="1" dirty="0"/>
              <a:t>e </a:t>
            </a:r>
            <a:r>
              <a:rPr lang="en-SG" altLang="en-US" dirty="0">
                <a:cs typeface="Lucida Sans Unicode" panose="020B0602030504020204" pitchFamily="34" charset="0"/>
              </a:rPr>
              <a:t>∗  </a:t>
            </a:r>
            <a:r>
              <a:rPr lang="en-SG" altLang="en-US" i="1" dirty="0"/>
              <a:t>x </a:t>
            </a:r>
            <a:r>
              <a:rPr lang="en-SG" altLang="en-US" dirty="0">
                <a:cs typeface="Tahoma" panose="020B0604030504040204" pitchFamily="34" charset="0"/>
              </a:rPr>
              <a:t>= </a:t>
            </a:r>
            <a:r>
              <a:rPr lang="en-SG" altLang="en-US" i="1" dirty="0"/>
              <a:t>x	</a:t>
            </a:r>
            <a:r>
              <a:rPr lang="en-SG" altLang="en-US" dirty="0">
                <a:cs typeface="Tahoma" panose="020B0604030504040204" pitchFamily="34" charset="0"/>
              </a:rPr>
              <a:t>and	</a:t>
            </a:r>
            <a:r>
              <a:rPr lang="en-SG" altLang="en-US" i="1" dirty="0"/>
              <a:t>x </a:t>
            </a:r>
            <a:r>
              <a:rPr lang="en-SG" altLang="en-US" dirty="0">
                <a:cs typeface="Lucida Sans Unicode" panose="020B0602030504020204" pitchFamily="34" charset="0"/>
              </a:rPr>
              <a:t>∗ </a:t>
            </a:r>
            <a:r>
              <a:rPr lang="en-SG" altLang="en-US" i="1" dirty="0"/>
              <a:t>e  </a:t>
            </a:r>
            <a:r>
              <a:rPr lang="en-SG" altLang="en-US" dirty="0">
                <a:cs typeface="Tahoma" panose="020B0604030504040204" pitchFamily="34" charset="0"/>
              </a:rPr>
              <a:t>= </a:t>
            </a:r>
            <a:r>
              <a:rPr lang="en-SG" altLang="en-US" i="1" dirty="0"/>
              <a:t>x</a:t>
            </a:r>
            <a:br>
              <a:rPr lang="en-SG" altLang="en-US" i="1" dirty="0"/>
            </a:br>
            <a:endParaRPr lang="en-SG" altLang="en-US" dirty="0"/>
          </a:p>
          <a:p>
            <a:pPr marL="0" indent="0">
              <a:buNone/>
            </a:pPr>
            <a:r>
              <a:rPr lang="en-SG" altLang="en-US" dirty="0">
                <a:cs typeface="Tahoma" panose="020B0604030504040204" pitchFamily="34" charset="0"/>
              </a:rPr>
              <a:t>Does </a:t>
            </a:r>
            <a:r>
              <a:rPr lang="en-GB" altLang="en-US" dirty="0">
                <a:ea typeface="ＭＳ 明朝" panose="02020609040205080304" pitchFamily="49" charset="-128"/>
              </a:rPr>
              <a:t>ℕ </a:t>
            </a:r>
            <a:r>
              <a:rPr lang="en-SG" altLang="en-US" dirty="0">
                <a:cs typeface="Tahoma" panose="020B0604030504040204" pitchFamily="34" charset="0"/>
              </a:rPr>
              <a:t>have an identity under the addition and multiplication operations?</a:t>
            </a:r>
          </a:p>
          <a:p>
            <a:pPr marL="0" indent="0">
              <a:buNone/>
            </a:pPr>
            <a:endParaRPr lang="en-SG" altLang="en-US" sz="1600" dirty="0">
              <a:cs typeface="Tahoma" panose="020B0604030504040204" pitchFamily="34" charset="0"/>
            </a:endParaRPr>
          </a:p>
          <a:p>
            <a:pPr marL="400050" lvl="1" indent="0">
              <a:buNone/>
            </a:pPr>
            <a:r>
              <a:rPr lang="en-SG" altLang="en-US" sz="2400" dirty="0">
                <a:cs typeface="Tahoma" panose="020B0604030504040204" pitchFamily="34" charset="0"/>
              </a:rPr>
              <a:t>Addition: no</a:t>
            </a:r>
          </a:p>
          <a:p>
            <a:pPr marL="400050" lvl="1" indent="0">
              <a:buNone/>
            </a:pPr>
            <a:r>
              <a:rPr lang="en-SG" altLang="en-US" sz="2400" dirty="0"/>
              <a:t>Multiplication: yes, it is 1 as 1</a:t>
            </a:r>
            <a:r>
              <a:rPr lang="en-SG" altLang="en-US" sz="2400" dirty="0">
                <a:sym typeface="Symbol" panose="05050102010706020507" pitchFamily="18" charset="2"/>
              </a:rPr>
              <a:t>n = n and n1 =n.</a:t>
            </a:r>
            <a:endParaRPr lang="en-SG" altLang="en-US" sz="2400" dirty="0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5A7B2F47-A552-45A1-A177-2CCAC7A4F6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734786-69EA-42FF-9B05-6BD9C78A4841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813" y="-112734"/>
            <a:ext cx="8229600" cy="851770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Inverse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0732512F-426B-4865-8B3C-1C10F1C9E3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4814" y="739037"/>
            <a:ext cx="8842375" cy="5611659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Suppose </a:t>
            </a:r>
            <a:r>
              <a:rPr lang="en-US" altLang="en-US" i="1" dirty="0"/>
              <a:t>∗ </a:t>
            </a:r>
            <a:r>
              <a:rPr lang="en-US" altLang="en-US" dirty="0"/>
              <a:t>is a binary operation on a set </a:t>
            </a:r>
            <a:r>
              <a:rPr lang="en-US" altLang="en-US" i="1" dirty="0"/>
              <a:t>S </a:t>
            </a:r>
            <a:r>
              <a:rPr lang="en-US" altLang="en-US" dirty="0"/>
              <a:t>, and </a:t>
            </a:r>
            <a:r>
              <a:rPr lang="en-US" altLang="en-US" i="1" dirty="0"/>
              <a:t>e ∈ S </a:t>
            </a:r>
            <a:r>
              <a:rPr lang="en-US" altLang="en-US" dirty="0"/>
              <a:t>is an identity. An element </a:t>
            </a:r>
            <a:r>
              <a:rPr lang="en-US" altLang="en-US" i="1" dirty="0"/>
              <a:t>x ∈ S </a:t>
            </a:r>
            <a:r>
              <a:rPr lang="en-US" altLang="en-US" dirty="0"/>
              <a:t>is called </a:t>
            </a:r>
            <a:r>
              <a:rPr lang="en-US" altLang="en-US" b="1" dirty="0"/>
              <a:t>invertible </a:t>
            </a:r>
            <a:r>
              <a:rPr lang="en-US" altLang="en-US" dirty="0"/>
              <a:t>if there exists an element </a:t>
            </a:r>
            <a:r>
              <a:rPr lang="en-US" altLang="en-US" i="1" dirty="0"/>
              <a:t>y ∈ S </a:t>
            </a:r>
            <a:r>
              <a:rPr lang="en-US" altLang="en-US" dirty="0"/>
              <a:t>such that</a:t>
            </a:r>
            <a:endParaRPr lang="en-SG" altLang="en-US" dirty="0"/>
          </a:p>
          <a:p>
            <a:pPr marL="400050" lvl="1" indent="0">
              <a:buNone/>
            </a:pPr>
            <a:r>
              <a:rPr lang="en-US" altLang="en-US" i="1" dirty="0"/>
              <a:t>  x ∗ y </a:t>
            </a:r>
            <a:r>
              <a:rPr lang="en-US" altLang="en-US" dirty="0"/>
              <a:t>= </a:t>
            </a:r>
            <a:r>
              <a:rPr lang="en-US" altLang="en-US" i="1" dirty="0"/>
              <a:t>e </a:t>
            </a:r>
            <a:r>
              <a:rPr lang="en-US" altLang="en-US" dirty="0"/>
              <a:t>and 	</a:t>
            </a:r>
            <a:r>
              <a:rPr lang="en-US" altLang="en-US" i="1" dirty="0"/>
              <a:t>y ∗ x </a:t>
            </a:r>
            <a:r>
              <a:rPr lang="en-US" altLang="en-US" dirty="0"/>
              <a:t>= </a:t>
            </a:r>
            <a:r>
              <a:rPr lang="en-US" altLang="en-US" i="1" dirty="0"/>
              <a:t>e .</a:t>
            </a:r>
            <a:endParaRPr lang="en-SG" altLang="en-US" dirty="0"/>
          </a:p>
          <a:p>
            <a:pPr marL="0" indent="0">
              <a:buNone/>
            </a:pPr>
            <a:r>
              <a:rPr lang="en-US" altLang="en-US" dirty="0"/>
              <a:t>In this case </a:t>
            </a:r>
            <a:r>
              <a:rPr lang="en-US" altLang="en-US" i="1" dirty="0"/>
              <a:t>y </a:t>
            </a:r>
            <a:r>
              <a:rPr lang="en-US" altLang="en-US" dirty="0"/>
              <a:t>is called the </a:t>
            </a:r>
            <a:r>
              <a:rPr lang="en-US" altLang="en-US" b="1" dirty="0"/>
              <a:t>inverse </a:t>
            </a:r>
            <a:r>
              <a:rPr lang="en-US" altLang="en-US" dirty="0"/>
              <a:t>of </a:t>
            </a:r>
            <a:r>
              <a:rPr lang="en-US" altLang="en-US" i="1" dirty="0"/>
              <a:t>x </a:t>
            </a:r>
            <a:r>
              <a:rPr lang="en-US" altLang="en-US" dirty="0"/>
              <a:t>.</a:t>
            </a:r>
            <a:endParaRPr lang="en-SG" altLang="en-US" dirty="0"/>
          </a:p>
          <a:p>
            <a:pPr marL="0" indent="0">
              <a:buNone/>
            </a:pPr>
            <a:r>
              <a:rPr lang="en-US" altLang="en-US" dirty="0"/>
              <a:t>  </a:t>
            </a:r>
            <a:endParaRPr lang="en-SG" altLang="en-US" dirty="0"/>
          </a:p>
          <a:p>
            <a:pPr marL="0" indent="0">
              <a:buNone/>
            </a:pPr>
            <a:r>
              <a:rPr lang="en-US" altLang="en-US" dirty="0"/>
              <a:t>What are the invertible elements of  </a:t>
            </a:r>
            <a:r>
              <a:rPr lang="en-GB" altLang="en-US" dirty="0">
                <a:ea typeface="ＭＳ 明朝" panose="02020609040205080304" pitchFamily="49" charset="-128"/>
              </a:rPr>
              <a:t>ℕ</a:t>
            </a:r>
            <a:r>
              <a:rPr lang="en-US" altLang="en-US" dirty="0"/>
              <a:t> under the addition and multiplication operations?</a:t>
            </a:r>
          </a:p>
          <a:p>
            <a:pPr marL="0" indent="0">
              <a:buNone/>
            </a:pPr>
            <a:endParaRPr lang="en-US" altLang="en-US" sz="1200" dirty="0"/>
          </a:p>
          <a:p>
            <a:pPr marL="0" indent="0">
              <a:buNone/>
            </a:pPr>
            <a:r>
              <a:rPr lang="en-US" altLang="en-US" dirty="0"/>
              <a:t>	Addition: not applicable</a:t>
            </a:r>
          </a:p>
          <a:p>
            <a:pPr marL="0" indent="0">
              <a:buNone/>
            </a:pPr>
            <a:r>
              <a:rPr lang="en-SG" altLang="en-US" dirty="0"/>
              <a:t>	Multiplication: 1 only</a:t>
            </a:r>
          </a:p>
          <a:p>
            <a:pPr marL="0" indent="0">
              <a:spcBef>
                <a:spcPts val="88"/>
              </a:spcBef>
              <a:buNone/>
            </a:pPr>
            <a:endParaRPr lang="en-GB" altLang="en-US" dirty="0">
              <a:ea typeface="ＭＳ 明朝" panose="02020609040205080304" pitchFamily="49" charset="-128"/>
            </a:endParaRP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05B85A7B-3A26-4B87-8652-04E1827476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4C7632-CD9B-4893-89BA-EF8DD5A0E74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Commutativity  and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96EF5-5FA6-44BF-9C42-213DE457B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4814" y="1165226"/>
            <a:ext cx="8842375" cy="4525963"/>
          </a:xfrm>
        </p:spPr>
        <p:txBody>
          <a:bodyPr/>
          <a:lstStyle/>
          <a:p>
            <a:pPr marL="0" indent="0">
              <a:buNone/>
            </a:pPr>
            <a:r>
              <a:rPr lang="en-SG" altLang="en-US" dirty="0"/>
              <a:t>A binary operation ∗ on a set S is commutative  if</a:t>
            </a:r>
          </a:p>
          <a:p>
            <a:pPr marL="901700" lvl="1" indent="0">
              <a:buNone/>
            </a:pPr>
            <a:r>
              <a:rPr lang="en-SG" altLang="en-US" dirty="0"/>
              <a:t>x ∗ y = y ∗ x for all x , y ∈ S .</a:t>
            </a:r>
          </a:p>
          <a:p>
            <a:pPr marL="901700" lvl="1" indent="0">
              <a:buNone/>
            </a:pPr>
            <a:endParaRPr lang="en-SG" altLang="en-US" dirty="0"/>
          </a:p>
          <a:p>
            <a:pPr marL="0" indent="0">
              <a:buNone/>
            </a:pPr>
            <a:r>
              <a:rPr lang="en-SG" altLang="en-US" dirty="0"/>
              <a:t>A binary operation ∗ on a set S is associative  if</a:t>
            </a:r>
          </a:p>
          <a:p>
            <a:pPr marL="0" indent="0">
              <a:buNone/>
            </a:pPr>
            <a:r>
              <a:rPr lang="en-SG" altLang="en-US" dirty="0"/>
              <a:t>(x ∗ y ) ∗ z = x ∗ (y ∗ z ) 	for all x , y , z ∈ S .</a:t>
            </a:r>
          </a:p>
          <a:p>
            <a:pPr marL="0" indent="0">
              <a:buNone/>
            </a:pPr>
            <a:endParaRPr lang="en-SG" altLang="en-US" dirty="0"/>
          </a:p>
          <a:p>
            <a:pPr marL="0" indent="0">
              <a:buNone/>
            </a:pPr>
            <a:r>
              <a:rPr lang="en-SG" altLang="en-US" dirty="0"/>
              <a:t>Are addition and multiplication on</a:t>
            </a:r>
            <a:r>
              <a:rPr lang="en-GB" altLang="en-US" dirty="0">
                <a:ea typeface="ＭＳ 明朝" panose="02020609040205080304" pitchFamily="49" charset="-128"/>
              </a:rPr>
              <a:t> ℕ</a:t>
            </a:r>
            <a:r>
              <a:rPr lang="en-SG" altLang="en-US" dirty="0"/>
              <a:t> commutative and associative operations? </a:t>
            </a:r>
            <a:r>
              <a:rPr lang="en-US" altLang="en-US" dirty="0"/>
              <a:t>  Yes</a:t>
            </a:r>
            <a:endParaRPr lang="en-SG" altLang="en-US" dirty="0"/>
          </a:p>
          <a:p>
            <a:pPr marL="0" indent="0">
              <a:spcBef>
                <a:spcPts val="88"/>
              </a:spcBef>
              <a:buNone/>
            </a:pPr>
            <a:endParaRPr lang="en-GB" altLang="en-US" dirty="0">
              <a:ea typeface="ＭＳ 明朝" panose="02020609040205080304" pitchFamily="49" charset="-128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316CE31D-C304-4D7B-84EA-17EBF5AEA0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46C8F9-3A39-44CB-B5A5-446372515651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1"/>
            <a:ext cx="8229600" cy="698501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Example: Paper-Scissors-Rock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408627FC-BE1E-4991-AA9E-825A7E71BD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4814" y="698501"/>
            <a:ext cx="8842375" cy="5865137"/>
          </a:xfrm>
        </p:spPr>
        <p:txBody>
          <a:bodyPr/>
          <a:lstStyle/>
          <a:p>
            <a:pPr marL="0" indent="0">
              <a:buNone/>
            </a:pPr>
            <a:r>
              <a:rPr lang="en-SG" altLang="en-US" dirty="0"/>
              <a:t>Let M := {p, s , r } and consider the paper-scissors-rock-inspired binary operation ∗ on M given by</a:t>
            </a:r>
          </a:p>
          <a:p>
            <a:pPr marL="0" indent="0">
              <a:buNone/>
            </a:pPr>
            <a:endParaRPr lang="en-SG" altLang="en-US" dirty="0"/>
          </a:p>
          <a:p>
            <a:pPr marL="400050" lvl="1" indent="0">
              <a:buNone/>
            </a:pPr>
            <a:r>
              <a:rPr lang="en-SG" altLang="en-US" dirty="0"/>
              <a:t>p ∗ r = r ∗ p = p (paper beats rock)</a:t>
            </a:r>
          </a:p>
          <a:p>
            <a:pPr marL="400050" lvl="1" indent="0">
              <a:buNone/>
            </a:pPr>
            <a:r>
              <a:rPr lang="en-SG" altLang="en-US" dirty="0"/>
              <a:t>p ∗ s = s ∗ p = s (scissors beats paper)</a:t>
            </a:r>
          </a:p>
          <a:p>
            <a:pPr marL="400050" lvl="1" indent="0">
              <a:buNone/>
            </a:pPr>
            <a:r>
              <a:rPr lang="en-SG" altLang="en-US" dirty="0"/>
              <a:t>s ∗ r = r ∗ s = r (rock beats scissors)</a:t>
            </a:r>
          </a:p>
          <a:p>
            <a:pPr marL="400050" lvl="1" indent="0">
              <a:buNone/>
            </a:pPr>
            <a:r>
              <a:rPr lang="en-SG" altLang="en-US" dirty="0"/>
              <a:t>p ∗ p = p (paper ties with paper)</a:t>
            </a:r>
          </a:p>
          <a:p>
            <a:pPr marL="400050" lvl="1" indent="0">
              <a:buNone/>
            </a:pPr>
            <a:r>
              <a:rPr lang="en-SG" altLang="en-US" dirty="0"/>
              <a:t>s ∗ s = s (scissors ties with scissors)</a:t>
            </a:r>
          </a:p>
          <a:p>
            <a:pPr marL="400050" lvl="1" indent="0">
              <a:buNone/>
            </a:pPr>
            <a:r>
              <a:rPr lang="en-SG" altLang="en-US" dirty="0"/>
              <a:t>r ∗ r = r (rock ties with rock).</a:t>
            </a:r>
          </a:p>
          <a:p>
            <a:pPr marL="0" indent="0">
              <a:buNone/>
            </a:pPr>
            <a:endParaRPr lang="en-SG" altLang="en-US" sz="1800" dirty="0"/>
          </a:p>
          <a:p>
            <a:pPr marL="0" indent="0">
              <a:buNone/>
            </a:pPr>
            <a:r>
              <a:rPr lang="en-SG" altLang="en-US" dirty="0"/>
              <a:t>Note that * is closed on M.</a:t>
            </a:r>
          </a:p>
          <a:p>
            <a:pPr marL="0" indent="0">
              <a:buNone/>
            </a:pPr>
            <a:endParaRPr lang="en-SG" altLang="en-US" dirty="0"/>
          </a:p>
          <a:p>
            <a:pPr marL="0" indent="0">
              <a:spcBef>
                <a:spcPts val="88"/>
              </a:spcBef>
              <a:buNone/>
            </a:pPr>
            <a:endParaRPr lang="en-GB" altLang="en-US" dirty="0">
              <a:ea typeface="ＭＳ 明朝" panose="02020609040205080304" pitchFamily="49" charset="-128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DC24F504-2D2A-4E5E-835B-DEC566AF67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7D9DB0-55B7-48D8-81CF-101E6477A22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814" y="0"/>
            <a:ext cx="8548687" cy="1143000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Example: Paper-Scissors-Rock (cont’d)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8295FA43-F8AE-408A-B669-A0E449BEB4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4814" y="1165225"/>
            <a:ext cx="8842375" cy="4846638"/>
          </a:xfrm>
        </p:spPr>
        <p:txBody>
          <a:bodyPr/>
          <a:lstStyle/>
          <a:p>
            <a:pPr marL="0" indent="0">
              <a:buNone/>
            </a:pPr>
            <a:r>
              <a:rPr lang="en-SG" altLang="en-US"/>
              <a:t>This binary operation is by definition commutative.  But it is not associative:</a:t>
            </a:r>
          </a:p>
          <a:p>
            <a:pPr marL="0" indent="0">
              <a:buNone/>
            </a:pPr>
            <a:endParaRPr lang="en-SG" altLang="en-US"/>
          </a:p>
          <a:p>
            <a:pPr marL="400050" lvl="1" indent="0">
              <a:buNone/>
            </a:pPr>
            <a:r>
              <a:rPr lang="en-SG" altLang="en-US"/>
              <a:t>(r ∗ p) ∗ s = p ∗ s = s</a:t>
            </a:r>
          </a:p>
          <a:p>
            <a:pPr marL="400050" lvl="1" indent="0">
              <a:buNone/>
            </a:pPr>
            <a:r>
              <a:rPr lang="en-SG" altLang="en-US"/>
              <a:t>r ∗ (p ∗ s ) = r ∗ s = r</a:t>
            </a:r>
          </a:p>
          <a:p>
            <a:pPr marL="0" indent="0">
              <a:buNone/>
            </a:pPr>
            <a:endParaRPr lang="en-SG" altLang="en-US"/>
          </a:p>
          <a:p>
            <a:pPr marL="0" indent="0">
              <a:buNone/>
            </a:pPr>
            <a:endParaRPr lang="en-SG" altLang="en-US"/>
          </a:p>
          <a:p>
            <a:pPr marL="0" indent="0">
              <a:spcBef>
                <a:spcPts val="88"/>
              </a:spcBef>
              <a:buNone/>
            </a:pPr>
            <a:endParaRPr lang="en-GB" altLang="en-US">
              <a:ea typeface="ＭＳ 明朝" panose="02020609040205080304" pitchFamily="49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7ED351FC-9F07-4F08-B60B-028838648D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296E75-AD06-4554-9380-403A03A5F54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1"/>
            <a:ext cx="8229600" cy="563671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SG" sz="4000" dirty="0">
                <a:latin typeface="+mn-lt"/>
              </a:rPr>
              <a:t>Distributivity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DBD7CC25-CBF3-40E0-B0B4-336145D25B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4814" y="651354"/>
            <a:ext cx="8842375" cy="5887232"/>
          </a:xfrm>
        </p:spPr>
        <p:txBody>
          <a:bodyPr/>
          <a:lstStyle/>
          <a:p>
            <a:pPr marL="0" indent="0">
              <a:buNone/>
            </a:pPr>
            <a:r>
              <a:rPr lang="en-SG" altLang="en-US" dirty="0"/>
              <a:t>For each a, b, c ∈ </a:t>
            </a:r>
            <a:r>
              <a:rPr lang="en-GB" altLang="en-US" dirty="0">
                <a:ea typeface="ＭＳ 明朝" panose="02020609040205080304" pitchFamily="49" charset="-128"/>
              </a:rPr>
              <a:t> ℕ</a:t>
            </a:r>
            <a:r>
              <a:rPr lang="en-SG" altLang="en-US" dirty="0"/>
              <a:t> we have,</a:t>
            </a:r>
          </a:p>
          <a:p>
            <a:pPr marL="0" indent="0">
              <a:buNone/>
            </a:pPr>
            <a:endParaRPr lang="en-SG" altLang="en-US" dirty="0"/>
          </a:p>
          <a:p>
            <a:pPr marL="400050" lvl="1" indent="0">
              <a:buNone/>
            </a:pPr>
            <a:r>
              <a:rPr lang="en-SG" altLang="en-US" dirty="0"/>
              <a:t>a × (b + c ) = (a × b) + (a × c )</a:t>
            </a:r>
          </a:p>
          <a:p>
            <a:pPr marL="400050" lvl="1" indent="0">
              <a:buNone/>
            </a:pPr>
            <a:r>
              <a:rPr lang="en-SG" altLang="en-US" dirty="0"/>
              <a:t>(a + b) × c = (a × c ) + (b × c )</a:t>
            </a:r>
          </a:p>
          <a:p>
            <a:pPr marL="0" indent="0">
              <a:buNone/>
            </a:pPr>
            <a:endParaRPr lang="en-SG" altLang="en-US" dirty="0"/>
          </a:p>
          <a:p>
            <a:pPr marL="0" indent="0">
              <a:buNone/>
            </a:pPr>
            <a:r>
              <a:rPr lang="en-SG" altLang="en-US" dirty="0"/>
              <a:t>We say multiplication distributes over addition in </a:t>
            </a:r>
            <a:r>
              <a:rPr lang="en-GB" altLang="en-US" dirty="0">
                <a:ea typeface="ＭＳ 明朝" panose="02020609040205080304" pitchFamily="49" charset="-128"/>
              </a:rPr>
              <a:t>ℕ</a:t>
            </a:r>
            <a:r>
              <a:rPr lang="en-SG" altLang="en-US" dirty="0"/>
              <a:t>.</a:t>
            </a:r>
          </a:p>
          <a:p>
            <a:pPr marL="0" indent="0">
              <a:buNone/>
            </a:pPr>
            <a:endParaRPr lang="en-SG" altLang="en-US" sz="2000" dirty="0"/>
          </a:p>
          <a:p>
            <a:pPr marL="0" indent="0">
              <a:buNone/>
            </a:pPr>
            <a:r>
              <a:rPr lang="en-SG" altLang="en-US" dirty="0"/>
              <a:t>Note that addition does not distribute over multiplication. For instance?</a:t>
            </a:r>
          </a:p>
          <a:p>
            <a:pPr marL="0" indent="0">
              <a:buNone/>
            </a:pPr>
            <a:endParaRPr lang="en-SG" altLang="en-US" sz="2000" dirty="0"/>
          </a:p>
          <a:p>
            <a:pPr marL="0" indent="0">
              <a:buNone/>
            </a:pPr>
            <a:r>
              <a:rPr lang="en-SG" altLang="en-US" sz="2000" dirty="0"/>
              <a:t>	</a:t>
            </a:r>
            <a:r>
              <a:rPr lang="en-SG" altLang="en-US" sz="2800" dirty="0"/>
              <a:t>2 + (3 × 1) </a:t>
            </a:r>
            <a:r>
              <a:rPr lang="en-SG" altLang="en-US" sz="2800" dirty="0">
                <a:sym typeface="Symbol" panose="05050102010706020507" pitchFamily="18" charset="2"/>
              </a:rPr>
              <a:t></a:t>
            </a:r>
            <a:r>
              <a:rPr lang="en-SG" altLang="en-US" sz="2800" dirty="0"/>
              <a:t> (2 + 3) × (2 + 1)</a:t>
            </a:r>
          </a:p>
          <a:p>
            <a:pPr marL="0" indent="0">
              <a:buNone/>
            </a:pPr>
            <a:endParaRPr lang="en-SG" altLang="en-US" dirty="0"/>
          </a:p>
          <a:p>
            <a:pPr marL="0" indent="0">
              <a:spcBef>
                <a:spcPts val="88"/>
              </a:spcBef>
              <a:buNone/>
            </a:pPr>
            <a:endParaRPr lang="en-GB" altLang="en-US" dirty="0">
              <a:ea typeface="ＭＳ 明朝" panose="02020609040205080304" pitchFamily="49" charset="-128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0FE83958-723C-41E4-A774-96AB11A448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13756B-9FAF-408A-808B-70FBEC3B373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B9A627A7-E010-4FFD-AFC9-733F8F8B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716321-87E9-4A1D-A07C-0AB5A99ED7C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CCA61B5-D10D-49B5-9AB6-5433D484D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2739" name="Rectangle 3">
            <a:extLst>
              <a:ext uri="{FF2B5EF4-FFF2-40B4-BE49-F238E27FC236}">
                <a16:creationId xmlns:a16="http://schemas.microsoft.com/office/drawing/2014/main" id="{8D985579-7849-4DF0-8F95-FA22FA82AA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28751"/>
            <a:ext cx="8229600" cy="4530725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Carefully write down every small step you take when simplifying the following expressions without the aid of a calculator. Can you give reasons for each step?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3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+ 4</a:t>
            </a:r>
            <a:r>
              <a:rPr lang="en-US" altLang="en-US" sz="2400" i="1" dirty="0"/>
              <a:t>y</a:t>
            </a:r>
            <a:r>
              <a:rPr lang="en-US" altLang="en-US" sz="2400" dirty="0"/>
              <a:t> + 2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</a:t>
            </a:r>
            <a:r>
              <a:rPr lang="en-US" altLang="en-US" sz="2400" i="1" dirty="0"/>
              <a:t>y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	= </a:t>
            </a:r>
            <a:r>
              <a:rPr lang="en-US" altLang="en-US" sz="2400" dirty="0"/>
              <a:t>3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(4</a:t>
            </a:r>
            <a:r>
              <a:rPr lang="en-US" altLang="en-US" sz="2400" i="1" dirty="0"/>
              <a:t>y</a:t>
            </a:r>
            <a:r>
              <a:rPr lang="en-US" altLang="en-US" sz="2400" dirty="0"/>
              <a:t> + 2</a:t>
            </a:r>
            <a:r>
              <a:rPr lang="en-US" altLang="en-US" sz="2400" i="1" dirty="0"/>
              <a:t>x</a:t>
            </a:r>
            <a:r>
              <a:rPr lang="en-US" altLang="en-US" sz="2400" dirty="0"/>
              <a:t>) + </a:t>
            </a:r>
            <a:r>
              <a:rPr lang="en-US" altLang="en-US" sz="2400" i="1" dirty="0"/>
              <a:t>y		</a:t>
            </a:r>
            <a:r>
              <a:rPr lang="en-US" altLang="en-US" sz="2400" dirty="0"/>
              <a:t>Associative law</a:t>
            </a:r>
            <a:endParaRPr lang="en-GB" altLang="en-US" sz="2400" dirty="0">
              <a:ea typeface="ＭＳ 明朝" panose="02020609040205080304" pitchFamily="49" charset="-128"/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>
                <a:ea typeface="ＭＳ 明朝" panose="02020609040205080304" pitchFamily="49" charset="-128"/>
                <a:sym typeface="Symbol" panose="05050102010706020507" pitchFamily="18" charset="2"/>
              </a:rPr>
              <a:t>	= </a:t>
            </a:r>
            <a:r>
              <a:rPr lang="en-US" altLang="en-US" sz="2400" dirty="0"/>
              <a:t>3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(2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+ 4</a:t>
            </a:r>
            <a:r>
              <a:rPr lang="en-US" altLang="en-US" sz="2400" i="1" dirty="0"/>
              <a:t>y</a:t>
            </a:r>
            <a:r>
              <a:rPr lang="en-US" altLang="en-US" sz="2400" dirty="0"/>
              <a:t>) + </a:t>
            </a:r>
            <a:r>
              <a:rPr lang="en-US" altLang="en-US" sz="2400" i="1" dirty="0"/>
              <a:t>y		</a:t>
            </a:r>
            <a:r>
              <a:rPr lang="en-US" altLang="en-US" sz="2400" dirty="0"/>
              <a:t>Commutative law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= (3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+ 2</a:t>
            </a:r>
            <a:r>
              <a:rPr lang="en-US" altLang="en-US" sz="2400" i="1" dirty="0"/>
              <a:t>x</a:t>
            </a:r>
            <a:r>
              <a:rPr lang="en-US" altLang="en-US" sz="2400" dirty="0"/>
              <a:t>) + 4</a:t>
            </a:r>
            <a:r>
              <a:rPr lang="en-US" altLang="en-US" sz="2400" i="1" dirty="0"/>
              <a:t>y</a:t>
            </a:r>
            <a:r>
              <a:rPr lang="en-US" altLang="en-US" sz="2400" dirty="0"/>
              <a:t> + </a:t>
            </a:r>
            <a:r>
              <a:rPr lang="en-US" altLang="en-US" sz="2400" i="1" dirty="0"/>
              <a:t>y</a:t>
            </a:r>
            <a:r>
              <a:rPr lang="en-US" altLang="en-US" sz="2400" dirty="0"/>
              <a:t>		Associative law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= (3 + 2)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+ 4</a:t>
            </a:r>
            <a:r>
              <a:rPr lang="en-US" altLang="en-US" sz="2400" i="1" dirty="0"/>
              <a:t>y</a:t>
            </a:r>
            <a:r>
              <a:rPr lang="en-US" altLang="en-US" sz="2400" dirty="0"/>
              <a:t> + </a:t>
            </a:r>
            <a:r>
              <a:rPr lang="en-US" altLang="en-US" sz="2400" i="1" dirty="0"/>
              <a:t>y		</a:t>
            </a:r>
            <a:r>
              <a:rPr lang="en-US" altLang="en-US" sz="2400" dirty="0"/>
              <a:t>Distributive law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dirty="0"/>
              <a:t>	= 5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+ 4</a:t>
            </a:r>
            <a:r>
              <a:rPr lang="en-US" altLang="en-US" sz="2400" i="1" dirty="0"/>
              <a:t>y</a:t>
            </a:r>
            <a:r>
              <a:rPr lang="en-US" altLang="en-US" sz="2400" dirty="0"/>
              <a:t> + </a:t>
            </a:r>
            <a:r>
              <a:rPr lang="en-US" altLang="en-US" sz="2400" i="1" dirty="0"/>
              <a:t>y	</a:t>
            </a:r>
            <a:r>
              <a:rPr lang="en-US" altLang="en-US" sz="2400" dirty="0"/>
              <a:t> </a:t>
            </a:r>
            <a:r>
              <a:rPr lang="en-US" altLang="en-US" sz="2400" i="1" dirty="0"/>
              <a:t>		</a:t>
            </a:r>
            <a:r>
              <a:rPr lang="en-US" altLang="en-US" sz="2400" dirty="0"/>
              <a:t>Arithmetic</a:t>
            </a:r>
            <a:endParaRPr lang="en-US" altLang="en-US" sz="2400" i="1" dirty="0"/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i="1" dirty="0"/>
              <a:t>	</a:t>
            </a:r>
            <a:r>
              <a:rPr lang="en-US" altLang="en-US" sz="2400" dirty="0"/>
              <a:t>= 5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(4</a:t>
            </a:r>
            <a:r>
              <a:rPr lang="en-US" altLang="en-US" sz="2400" i="1" dirty="0"/>
              <a:t>y</a:t>
            </a:r>
            <a:r>
              <a:rPr lang="en-US" altLang="en-US" sz="2400" dirty="0"/>
              <a:t> + </a:t>
            </a:r>
            <a:r>
              <a:rPr lang="en-US" altLang="en-US" sz="2400" i="1" dirty="0"/>
              <a:t>y</a:t>
            </a:r>
            <a:r>
              <a:rPr lang="en-US" altLang="en-US" sz="2400" dirty="0"/>
              <a:t>) 		Associative law	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2400" i="1" dirty="0"/>
              <a:t>	= </a:t>
            </a:r>
            <a:r>
              <a:rPr lang="en-US" altLang="en-US" sz="2400" dirty="0"/>
              <a:t>5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(4 + 1)</a:t>
            </a:r>
            <a:r>
              <a:rPr lang="en-US" altLang="en-US" sz="2400" i="1" dirty="0"/>
              <a:t>y		</a:t>
            </a:r>
            <a:r>
              <a:rPr lang="en-US" altLang="en-US" sz="2400" dirty="0"/>
              <a:t>Distributive law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GB" altLang="en-US" sz="2400" dirty="0"/>
              <a:t>	= </a:t>
            </a:r>
            <a:r>
              <a:rPr lang="en-US" altLang="en-US" sz="2400" dirty="0"/>
              <a:t>5</a:t>
            </a:r>
            <a:r>
              <a:rPr lang="en-US" altLang="en-US" sz="2400" i="1" dirty="0"/>
              <a:t>x</a:t>
            </a:r>
            <a:r>
              <a:rPr lang="en-US" altLang="en-US" sz="2400" dirty="0"/>
              <a:t> + 5</a:t>
            </a:r>
            <a:r>
              <a:rPr lang="en-US" altLang="en-US" sz="2400" i="1" dirty="0"/>
              <a:t>y			</a:t>
            </a:r>
            <a:r>
              <a:rPr lang="en-US" altLang="en-US" sz="2400" dirty="0"/>
              <a:t>Arithmetic</a:t>
            </a:r>
            <a:endParaRPr lang="en-GB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72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12739"/>
            <a:ext cx="8229600" cy="877887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Well-ordering property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4AB5DDB-673D-4D62-8BE9-CAB034D323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4814" y="1450976"/>
            <a:ext cx="8842375" cy="5186363"/>
          </a:xfrm>
        </p:spPr>
        <p:txBody>
          <a:bodyPr/>
          <a:lstStyle/>
          <a:p>
            <a:pPr marL="0" indent="0">
              <a:buNone/>
            </a:pPr>
            <a:r>
              <a:rPr lang="en-SG" altLang="en-US" sz="2800" dirty="0"/>
              <a:t>A set S together with an order ≤ is called well-ordered if every nonempty subset of S has a least element. That is, if A is a nonempty subset of S , then there is an s</a:t>
            </a:r>
            <a:r>
              <a:rPr lang="en-SG" altLang="en-US" sz="2800" baseline="-25000" dirty="0"/>
              <a:t>0</a:t>
            </a:r>
            <a:r>
              <a:rPr lang="en-SG" altLang="en-US" sz="2800" dirty="0"/>
              <a:t> ∈ A such that  s</a:t>
            </a:r>
            <a:r>
              <a:rPr lang="en-SG" altLang="en-US" sz="2800" baseline="-25000" dirty="0"/>
              <a:t>0</a:t>
            </a:r>
            <a:r>
              <a:rPr lang="en-SG" altLang="en-US" sz="2800" dirty="0"/>
              <a:t> ≤ s for all s ∈ A.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SG" altLang="en-US" sz="2800" dirty="0"/>
              <a:t>Axiom:  </a:t>
            </a:r>
          </a:p>
          <a:p>
            <a:pPr marL="0" indent="0">
              <a:buNone/>
            </a:pPr>
            <a:r>
              <a:rPr lang="en-SG" altLang="en-US" sz="2800" dirty="0"/>
              <a:t>The natural numbers </a:t>
            </a:r>
            <a:r>
              <a:rPr lang="en-GB" altLang="en-US" sz="2800" dirty="0">
                <a:ea typeface="ＭＳ 明朝" panose="02020609040205080304" pitchFamily="49" charset="-128"/>
              </a:rPr>
              <a:t>ℕ </a:t>
            </a:r>
            <a:r>
              <a:rPr lang="en-SG" altLang="en-US" sz="2800" dirty="0"/>
              <a:t>with the usual order ≤ is well-ordered.</a:t>
            </a:r>
          </a:p>
          <a:p>
            <a:pPr marL="0" indent="0">
              <a:buNone/>
            </a:pPr>
            <a:endParaRPr lang="en-SG" altLang="en-US" dirty="0"/>
          </a:p>
          <a:p>
            <a:pPr marL="0" indent="0">
              <a:spcBef>
                <a:spcPts val="88"/>
              </a:spcBef>
              <a:buNone/>
            </a:pPr>
            <a:endParaRPr lang="en-GB" altLang="en-US" dirty="0">
              <a:ea typeface="ＭＳ 明朝" panose="02020609040205080304" pitchFamily="49" charset="-128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6C707050-7E0A-4619-8065-E4922CCAE5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55ECC1-7305-4148-B2C0-838939AD338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36526"/>
            <a:ext cx="8229600" cy="57745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SG" sz="4000" dirty="0">
                <a:latin typeface="+mn-lt"/>
              </a:rPr>
              <a:t>The integers Z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C7766E99-DA08-4101-993D-823E965E0F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4813" y="836612"/>
            <a:ext cx="8842375" cy="5727026"/>
          </a:xfrm>
        </p:spPr>
        <p:txBody>
          <a:bodyPr/>
          <a:lstStyle/>
          <a:p>
            <a:pPr marL="0" indent="0">
              <a:buNone/>
            </a:pPr>
            <a:r>
              <a:rPr lang="en-SG" altLang="en-US" dirty="0"/>
              <a:t>The integers Z is the collection of all the “whole” positive and negative numbers, and 0. So</a:t>
            </a:r>
          </a:p>
          <a:p>
            <a:pPr marL="0" indent="0">
              <a:buNone/>
            </a:pPr>
            <a:endParaRPr lang="en-SG" altLang="en-US" dirty="0"/>
          </a:p>
          <a:p>
            <a:pPr marL="400050" lvl="1" indent="0">
              <a:buNone/>
            </a:pPr>
            <a:r>
              <a:rPr lang="en-SG" altLang="en-US" dirty="0"/>
              <a:t>Z = {. . . , −3, −2, −1, 0, 1, 2, 3, . . . }.</a:t>
            </a:r>
          </a:p>
          <a:p>
            <a:pPr marL="0" indent="0">
              <a:buNone/>
            </a:pPr>
            <a:endParaRPr lang="en-SG" altLang="en-US" dirty="0"/>
          </a:p>
          <a:p>
            <a:pPr marL="0" indent="0">
              <a:buNone/>
            </a:pPr>
            <a:r>
              <a:rPr lang="en-SG" altLang="en-US" dirty="0"/>
              <a:t>The order ≤ on N extends to the natural order ≤ on Z.</a:t>
            </a:r>
          </a:p>
          <a:p>
            <a:pPr marL="0" indent="0">
              <a:buNone/>
            </a:pPr>
            <a:endParaRPr lang="en-SG" altLang="en-US" sz="1800" dirty="0"/>
          </a:p>
          <a:p>
            <a:pPr marL="0" indent="0">
              <a:buNone/>
            </a:pPr>
            <a:r>
              <a:rPr lang="en-SG" altLang="en-US" dirty="0"/>
              <a:t>Axiom:  </a:t>
            </a:r>
          </a:p>
          <a:p>
            <a:pPr marL="0" indent="0">
              <a:buNone/>
            </a:pPr>
            <a:r>
              <a:rPr lang="en-SG" altLang="en-US" dirty="0"/>
              <a:t>Any nonempty subset of integers that are greater than a fixed integer with the usual order ≤ is well-ordered.</a:t>
            </a:r>
          </a:p>
          <a:p>
            <a:pPr marL="0" indent="0">
              <a:spcBef>
                <a:spcPts val="88"/>
              </a:spcBef>
              <a:buNone/>
            </a:pPr>
            <a:endParaRPr lang="en-GB" altLang="en-US" dirty="0">
              <a:ea typeface="ＭＳ 明朝" panose="02020609040205080304" pitchFamily="49" charset="-128"/>
            </a:endParaRP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741652E4-3924-4107-8588-5C852B399E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FA4FD8-950C-489D-832A-30EAD521016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4" y="136525"/>
            <a:ext cx="8537575" cy="876300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Operations, identities and inverses on Z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41FFEF65-8739-4558-85DB-2897E74A7D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4814" y="1189039"/>
            <a:ext cx="8842375" cy="5184775"/>
          </a:xfrm>
        </p:spPr>
        <p:txBody>
          <a:bodyPr/>
          <a:lstStyle/>
          <a:p>
            <a:pPr marL="0" indent="0">
              <a:buNone/>
            </a:pPr>
            <a:r>
              <a:rPr lang="en-SG" altLang="en-US" sz="2800" dirty="0"/>
              <a:t>We have the usual binary operations +, −, × and ÷ on Z.  But only the operations +, − and × are closed on Z.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SG" altLang="en-US" sz="2800" dirty="0"/>
              <a:t>Does Z have an identity under the + and × operations?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US" altLang="en-US" sz="2800" dirty="0"/>
              <a:t>What are the invertible elements in Z under the + and </a:t>
            </a:r>
            <a:r>
              <a:rPr lang="en-US" altLang="en-US" sz="2800" i="1" dirty="0"/>
              <a:t>× </a:t>
            </a:r>
            <a:r>
              <a:rPr lang="en-US" altLang="en-US" sz="2800" dirty="0"/>
              <a:t>operations?</a:t>
            </a:r>
            <a:endParaRPr lang="en-GB" altLang="en-US" dirty="0">
              <a:ea typeface="ＭＳ 明朝" panose="02020609040205080304" pitchFamily="49" charset="-128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A5BD1FA6-488C-4043-BD23-BBD84B3A99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BB0559-FFFE-4FCB-AEC6-D3BCADE6496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4" y="136525"/>
            <a:ext cx="8537575" cy="876300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Commutativity and associativity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12D71CE2-CCFA-47B4-9C7D-4CFD90DAA4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4814" y="1189039"/>
            <a:ext cx="8842375" cy="5184775"/>
          </a:xfrm>
        </p:spPr>
        <p:txBody>
          <a:bodyPr/>
          <a:lstStyle/>
          <a:p>
            <a:pPr marL="0" indent="0">
              <a:buNone/>
            </a:pPr>
            <a:r>
              <a:rPr lang="en-SG" altLang="en-US" sz="2800" dirty="0"/>
              <a:t>Addition and multiplication are commutative operations on Z.  But subtraction  is not: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400050" lvl="1" indent="0">
              <a:buNone/>
            </a:pPr>
            <a:r>
              <a:rPr lang="en-SG" altLang="en-US" sz="2400" dirty="0"/>
              <a:t>       10 – 5 </a:t>
            </a:r>
            <a:r>
              <a:rPr lang="en-SG" altLang="en-US" sz="2400" dirty="0">
                <a:sym typeface="Symbol" panose="05050102010706020507" pitchFamily="18" charset="2"/>
              </a:rPr>
              <a:t></a:t>
            </a:r>
            <a:r>
              <a:rPr lang="en-SG" altLang="en-US" sz="2400" dirty="0"/>
              <a:t> 5 -10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SG" altLang="en-US" sz="2800" dirty="0"/>
              <a:t>Addition and multiplication are associative operations on Z.  But subtraction is not: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SG" altLang="en-US" sz="2800" dirty="0"/>
              <a:t>	(10 – 2) - 3</a:t>
            </a:r>
            <a:r>
              <a:rPr lang="en-SG" altLang="en-US" sz="2800" dirty="0">
                <a:sym typeface="Symbol" panose="05050102010706020507" pitchFamily="18" charset="2"/>
              </a:rPr>
              <a:t> </a:t>
            </a:r>
            <a:r>
              <a:rPr lang="en-SG" altLang="en-US" sz="2800" dirty="0"/>
              <a:t> 10 – (2 - 3)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spcBef>
                <a:spcPts val="88"/>
              </a:spcBef>
              <a:buNone/>
            </a:pPr>
            <a:endParaRPr lang="en-GB" altLang="en-US" dirty="0">
              <a:ea typeface="ＭＳ 明朝" panose="02020609040205080304" pitchFamily="49" charset="-128"/>
            </a:endParaRP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FF64CC1E-B3F1-438E-B465-FEE8C1BBF9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A19BAD-A40F-4961-B062-1F36843E52A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4" y="136526"/>
            <a:ext cx="8537575" cy="677863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Distributivity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311F7B96-24C3-422F-8E0A-123D30F25E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2638" y="937420"/>
            <a:ext cx="8386762" cy="5184775"/>
          </a:xfrm>
        </p:spPr>
        <p:txBody>
          <a:bodyPr/>
          <a:lstStyle/>
          <a:p>
            <a:pPr marL="0" indent="0">
              <a:buNone/>
            </a:pPr>
            <a:r>
              <a:rPr lang="en-SG" altLang="en-US" sz="2800" dirty="0"/>
              <a:t>For each a, b, c ∈ Z we have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400050" lvl="1" indent="0">
              <a:buNone/>
            </a:pPr>
            <a:r>
              <a:rPr lang="en-SG" altLang="en-US" sz="2400" dirty="0"/>
              <a:t>a × (b ± c ) = (a × b) ± (a × c ) </a:t>
            </a:r>
          </a:p>
          <a:p>
            <a:pPr marL="400050" lvl="1" indent="0">
              <a:buNone/>
            </a:pPr>
            <a:r>
              <a:rPr lang="en-SG" altLang="en-US" sz="2400" dirty="0"/>
              <a:t>(a ± b) × c = (a × c ) ± (b × c )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SG" altLang="en-US" sz="2800" dirty="0"/>
              <a:t>We say multiplication distributes over addition and subtraction  in Z.</a:t>
            </a:r>
          </a:p>
          <a:p>
            <a:pPr marL="0" indent="0">
              <a:buNone/>
            </a:pPr>
            <a:endParaRPr lang="en-SG" altLang="en-US" sz="2800" dirty="0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CC4AA4F6-6935-4368-BE8D-0D9810B626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ADF2FF-A770-44E2-8210-D111DE896C7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4" y="136526"/>
            <a:ext cx="8537575" cy="677863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Well-ordering property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229DA0A9-D3C3-444B-A294-E944444B6F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4038" y="1046164"/>
            <a:ext cx="8843962" cy="5184775"/>
          </a:xfrm>
        </p:spPr>
        <p:txBody>
          <a:bodyPr/>
          <a:lstStyle/>
          <a:p>
            <a:pPr marL="0" indent="0">
              <a:buNone/>
            </a:pPr>
            <a:r>
              <a:rPr lang="en-SG" altLang="en-US" sz="2800" dirty="0"/>
              <a:t>Recall that  a set S together with an order ≤ is called well-ordered if every nonempty subset of S has a least element, that is, if A is a nonempty subset of S , then there is a s</a:t>
            </a:r>
            <a:r>
              <a:rPr lang="en-SG" altLang="en-US" sz="2800" baseline="-25000" dirty="0"/>
              <a:t>0</a:t>
            </a:r>
            <a:r>
              <a:rPr lang="en-SG" altLang="en-US" sz="2800" dirty="0"/>
              <a:t> ∈ A such that s</a:t>
            </a:r>
            <a:r>
              <a:rPr lang="en-SG" altLang="en-US" sz="2800" baseline="-25000" dirty="0"/>
              <a:t>0</a:t>
            </a:r>
            <a:r>
              <a:rPr lang="en-SG" altLang="en-US" sz="2800" dirty="0"/>
              <a:t> ≤ s for all s ∈ A.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SG" altLang="en-US" sz="2800" dirty="0"/>
              <a:t>We have seen that  the natural numbers N with the usual order ≤ is well-ordered.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SG" altLang="en-US" sz="2800" dirty="0"/>
              <a:t>Fact:  The integers Z are not well-ordered with ≤.</a:t>
            </a: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9878F9B4-AFAB-4366-A2F7-929F81A29F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32A3B5-BE50-48EC-B9F9-CE2926BA1C7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3AC5-933A-4C51-BCAF-3AE4553D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4" y="136525"/>
            <a:ext cx="8537575" cy="876300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Evens, odds, primes and composites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699D7B3B-E3BF-45D7-87EF-B88CD1F267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4814" y="1189039"/>
            <a:ext cx="8842375" cy="5184775"/>
          </a:xfrm>
        </p:spPr>
        <p:txBody>
          <a:bodyPr/>
          <a:lstStyle/>
          <a:p>
            <a:pPr marL="0" indent="0">
              <a:buNone/>
            </a:pPr>
            <a:r>
              <a:rPr lang="en-SG" altLang="en-US" sz="2800" dirty="0"/>
              <a:t>An integer m ∈ Z is </a:t>
            </a:r>
            <a:r>
              <a:rPr lang="en-SG" altLang="en-US" sz="2800" b="1" dirty="0">
                <a:solidFill>
                  <a:srgbClr val="0070C0"/>
                </a:solidFill>
              </a:rPr>
              <a:t>even</a:t>
            </a:r>
            <a:r>
              <a:rPr lang="en-SG" altLang="en-US" sz="2800" dirty="0"/>
              <a:t> if m = 2j for some j ∈ Z.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SG" altLang="en-US" sz="2800" dirty="0"/>
              <a:t>An integer n is </a:t>
            </a:r>
            <a:r>
              <a:rPr lang="en-SG" altLang="en-US" sz="2800" b="1" dirty="0">
                <a:solidFill>
                  <a:srgbClr val="0070C0"/>
                </a:solidFill>
              </a:rPr>
              <a:t>odd</a:t>
            </a:r>
            <a:r>
              <a:rPr lang="en-SG" altLang="en-US" sz="2800" dirty="0"/>
              <a:t> if n = 2k + 1 for some k ∈ Z.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SG" altLang="en-US" sz="2800" dirty="0"/>
              <a:t>An integer n &gt; 1 is </a:t>
            </a:r>
            <a:r>
              <a:rPr lang="en-SG" altLang="en-US" sz="2800" b="1" dirty="0">
                <a:solidFill>
                  <a:srgbClr val="0070C0"/>
                </a:solidFill>
              </a:rPr>
              <a:t>prime</a:t>
            </a:r>
            <a:r>
              <a:rPr lang="en-SG" altLang="en-US" sz="2800" dirty="0"/>
              <a:t> if whenever n = r × s for positive integers r and s , we have r = 1 or s = 1. An integer n &gt; 1 is </a:t>
            </a:r>
            <a:r>
              <a:rPr lang="en-SG" altLang="en-US" sz="2800" b="1" dirty="0">
                <a:solidFill>
                  <a:srgbClr val="0070C0"/>
                </a:solidFill>
              </a:rPr>
              <a:t>composite</a:t>
            </a:r>
            <a:r>
              <a:rPr lang="en-SG" altLang="en-US" sz="2800" dirty="0"/>
              <a:t> if it is not prime.</a:t>
            </a:r>
          </a:p>
          <a:p>
            <a:pPr marL="0" indent="0">
              <a:buNone/>
            </a:pPr>
            <a:endParaRPr lang="en-SG" altLang="en-US" sz="2800" dirty="0"/>
          </a:p>
          <a:p>
            <a:pPr marL="0" indent="0">
              <a:buNone/>
            </a:pPr>
            <a:r>
              <a:rPr lang="en-SG" altLang="en-US" sz="2800" dirty="0"/>
              <a:t>Example: -2 is an even integer, 5 and -3 are odd integers, 5 is a prime integer and 4 is a composite integer.</a:t>
            </a: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7E811CE3-CB56-45E6-B5E0-92846952AF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ADC8E1-17D6-4241-943A-2DF3651841AB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96EF5-5FA6-44BF-9C42-213DE457B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4312" y="1188605"/>
                <a:ext cx="8843376" cy="5185775"/>
              </a:xfrm>
              <a:blipFill>
                <a:blip r:embed="rId2"/>
                <a:stretch>
                  <a:fillRect l="-1448" t="-1293"/>
                </a:stretch>
              </a:blipFill>
            </p:spPr>
            <p:txBody>
              <a:bodyPr>
                <a:normAutofit fontScale="92500" lnSpcReduction="10000"/>
              </a:bodyPr>
              <a:lstStyle/>
              <a:p>
                <a:pPr marL="0" marR="280" indent="0">
                  <a:buNone/>
                </a:pPr>
                <a:r>
                  <a:rPr lang="en-SG" b="0" i="0" u="none" strike="noStrike" baseline="0" dirty="0"/>
                  <a:t>The </a:t>
                </a:r>
                <a:r>
                  <a:rPr lang="en-SG" b="0" i="0" u="none" strike="noStrike" baseline="0" dirty="0" err="1"/>
                  <a:t>rationals</a:t>
                </a:r>
                <a:r>
                  <a:rPr lang="en-SG" b="0" i="0" u="none" strike="noStrike" baseline="0" dirty="0"/>
                  <a:t> Q is the set of numbers </a:t>
                </a:r>
                <a:r>
                  <a:rPr lang="en-SG" b="0" i="1" u="none" strike="noStrike" baseline="0" dirty="0"/>
                  <a:t>q </a:t>
                </a:r>
                <a:r>
                  <a:rPr lang="en-SG" b="0" i="0" u="none" strike="noStrike" baseline="0" dirty="0"/>
                  <a:t>that can be written in the form:</a:t>
                </a:r>
              </a:p>
              <a:p>
                <a:pPr marL="0" marR="280" indent="0">
                  <a:buNone/>
                </a:pPr>
                <a:endParaRPr lang="en-SG" b="0" i="0" u="none" strike="noStrike" baseline="0" dirty="0"/>
              </a:p>
              <a:p>
                <a:pPr marL="0" marR="19090" indent="0" algn="ctr">
                  <a:buNone/>
                </a:pPr>
                <a14:m>
                  <m:oMath xmlns:m="http://schemas.openxmlformats.org/officeDocument/2006/math">
                    <m:r>
                      <a:rPr lang="en-SG" sz="3800" b="1" i="1" u="none" strike="noStrike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SG" sz="3800" b="1" i="1" u="none" strike="noStrike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sz="3800" b="1" i="1" u="none" strike="noStrike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3800" b="1" i="1" u="none" strike="noStrike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SG" sz="3800" b="1" i="1" u="none" strike="noStrike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r>
                  <a:rPr lang="en-SG" b="0" i="1" u="none" strike="noStrike" baseline="0" dirty="0"/>
                  <a:t>.</a:t>
                </a:r>
              </a:p>
              <a:p>
                <a:pPr marL="0" marR="19090" indent="0" algn="ctr">
                  <a:buNone/>
                </a:pPr>
                <a:endParaRPr lang="en-SG" b="0" i="1" u="none" strike="noStrike" baseline="0" dirty="0"/>
              </a:p>
              <a:p>
                <a:pPr marL="0" marR="280" indent="0">
                  <a:buNone/>
                </a:pPr>
                <a:r>
                  <a:rPr lang="en-SG" b="0" i="0" u="none" strike="noStrike" baseline="0" dirty="0"/>
                  <a:t>where </a:t>
                </a:r>
                <a:r>
                  <a:rPr lang="en-SG" b="0" i="1" u="none" strike="noStrike" baseline="0" dirty="0"/>
                  <a:t>a, b </a:t>
                </a:r>
                <a:r>
                  <a:rPr lang="en-SG" b="0" i="0" u="none" strike="noStrike" baseline="0" dirty="0"/>
                  <a:t>∈ Z and </a:t>
                </a:r>
                <a:r>
                  <a:rPr lang="en-SG" b="0" i="1" u="none" strike="noStrike" baseline="0" dirty="0"/>
                  <a:t>b</a:t>
                </a:r>
                <a:r>
                  <a:rPr lang="en-SG" b="0" i="1" u="none" strike="noStrike" baseline="0" dirty="0">
                    <a:sym typeface="Symbol" panose="05050102010706020507" pitchFamily="18" charset="2"/>
                  </a:rPr>
                  <a:t></a:t>
                </a:r>
                <a:r>
                  <a:rPr lang="en-SG" b="0" i="0" u="none" strike="noStrike" baseline="0" dirty="0"/>
                  <a:t> 0.</a:t>
                </a:r>
                <a:endParaRPr lang="en-SG" b="0" i="1" u="none" strike="noStrike" baseline="30000" dirty="0"/>
              </a:p>
              <a:p>
                <a:pPr marL="0" indent="0">
                  <a:buNone/>
                </a:pPr>
                <a:endParaRPr lang="en-SG" b="0" i="1" u="none" strike="noStrike" baseline="0" dirty="0"/>
              </a:p>
              <a:p>
                <a:pPr marL="0" marR="280" indent="0">
                  <a:buNone/>
                </a:pPr>
                <a:r>
                  <a:rPr lang="en-SG" b="0" i="0" u="none" strike="noStrike" baseline="0" dirty="0"/>
                  <a:t>Each number in Q is called a </a:t>
                </a:r>
                <a:r>
                  <a:rPr lang="en-SG" dirty="0"/>
                  <a:t>rational number.</a:t>
                </a:r>
                <a:endParaRPr lang="en-SG" b="0" i="0" u="none" strike="noStrike" baseline="0" dirty="0"/>
              </a:p>
              <a:p>
                <a:pPr marL="0" indent="0">
                  <a:buNone/>
                </a:pPr>
                <a:endParaRPr lang="en-SG" b="0" i="0" u="none" strike="noStrike" baseline="0" dirty="0"/>
              </a:p>
              <a:p>
                <a:pPr marL="342900" lvl="1" indent="0">
                  <a:buNone/>
                </a:pPr>
                <a:endParaRPr lang="en-SG" sz="2800" b="0" i="0" u="none" strike="noStrike" baseline="-25000" dirty="0"/>
              </a:p>
              <a:p>
                <a:pPr marL="0" indent="0">
                  <a:buNone/>
                </a:pPr>
                <a:r>
                  <a:rPr lang="en-SG" b="0" i="0" u="none" strike="noStrike" baseline="0" dirty="0"/>
                  <a:t>Example:</a:t>
                </a:r>
              </a:p>
              <a:p>
                <a:pPr marL="0" indent="0">
                  <a:buNone/>
                </a:pPr>
                <a:r>
                  <a:rPr lang="en-SG" b="0" i="0" u="none" strike="noStrike" baseline="0" dirty="0"/>
                  <a:t>	               is a rational number.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96EF5-5FA6-44BF-9C42-213DE457B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4312" y="1188605"/>
                <a:ext cx="8843376" cy="5185775"/>
              </a:xfrm>
              <a:blipFill>
                <a:blip r:embed="rId3"/>
                <a:stretch>
                  <a:fillRect l="-1241" t="-2350" r="-193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83CD2999-B174-43C7-8F66-4B96AEDF44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96308-A11B-4949-8907-C7A9A5F900C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652" name="Group 1">
            <a:extLst>
              <a:ext uri="{FF2B5EF4-FFF2-40B4-BE49-F238E27FC236}">
                <a16:creationId xmlns:a16="http://schemas.microsoft.com/office/drawing/2014/main" id="{D6B27EFF-EA18-4803-90F3-404DE3B0B3F8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554039"/>
            <a:ext cx="69850" cy="1587"/>
            <a:chOff x="3939" y="153"/>
            <a:chExt cx="109" cy="2"/>
          </a:xfrm>
        </p:grpSpPr>
        <p:sp>
          <p:nvSpPr>
            <p:cNvPr id="27655" name="Freeform 2">
              <a:extLst>
                <a:ext uri="{FF2B5EF4-FFF2-40B4-BE49-F238E27FC236}">
                  <a16:creationId xmlns:a16="http://schemas.microsoft.com/office/drawing/2014/main" id="{21742EDF-2690-4EB2-B950-E29BD0C9A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53"/>
              <a:ext cx="109" cy="2"/>
            </a:xfrm>
            <a:custGeom>
              <a:avLst/>
              <a:gdLst>
                <a:gd name="T0" fmla="*/ 0 w 109"/>
                <a:gd name="T1" fmla="*/ 0 h 2"/>
                <a:gd name="T2" fmla="*/ 109 w 109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9" h="2">
                  <a:moveTo>
                    <a:pt x="0" y="0"/>
                  </a:moveTo>
                  <a:lnTo>
                    <a:pt x="109" y="0"/>
                  </a:lnTo>
                </a:path>
              </a:pathLst>
            </a:custGeom>
            <a:noFill/>
            <a:ln w="5537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7653" name="Rectangle 4">
            <a:extLst>
              <a:ext uri="{FF2B5EF4-FFF2-40B4-BE49-F238E27FC236}">
                <a16:creationId xmlns:a16="http://schemas.microsoft.com/office/drawing/2014/main" id="{F2ED80BA-90BA-4114-9BF7-A62852978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472"/>
            <a:ext cx="4278735" cy="918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63480" bIns="114264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>
                <a:latin typeface="Calibri" panose="020F0502020204030204" pitchFamily="34" charset="0"/>
              </a:rPr>
              <a:t>A number is </a:t>
            </a:r>
            <a:r>
              <a:rPr lang="en-US" altLang="en-US" sz="1100" b="1">
                <a:latin typeface="Calibri" panose="020F0502020204030204" pitchFamily="34" charset="0"/>
              </a:rPr>
              <a:t>irrational </a:t>
            </a:r>
            <a:r>
              <a:rPr lang="en-US" altLang="en-US" sz="1100">
                <a:latin typeface="Calibri" panose="020F0502020204030204" pitchFamily="34" charset="0"/>
              </a:rPr>
              <a:t>if it is not rational; that  is, if it can not be written</a:t>
            </a:r>
            <a:endParaRPr lang="en-US" altLang="en-US" sz="1100">
              <a:latin typeface="Arial" panose="020B0604020202020204" pitchFamily="34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1100">
                <a:latin typeface="Arial" panose="020B0604020202020204" pitchFamily="34" charset="0"/>
                <a:cs typeface="Calibri" panose="020F0502020204030204" pitchFamily="34" charset="0"/>
              </a:rPr>
            </a:br>
            <a:endParaRPr lang="en-GB" alt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2854F75-7515-4010-9DCC-6D1E4A9C6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4" y="136525"/>
            <a:ext cx="8537575" cy="876300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The </a:t>
            </a:r>
            <a:r>
              <a:rPr lang="en-SG" sz="4000" dirty="0" err="1">
                <a:latin typeface="+mn-lt"/>
              </a:rPr>
              <a:t>rationals</a:t>
            </a:r>
            <a:r>
              <a:rPr lang="en-SG" sz="4000" dirty="0">
                <a:latin typeface="+mn-lt"/>
              </a:rPr>
              <a:t> 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7396FF-35B4-4714-8E68-8A7BE2DF8D66}"/>
                  </a:ext>
                </a:extLst>
              </p:cNvPr>
              <p:cNvSpPr txBox="1"/>
              <p:nvPr/>
            </p:nvSpPr>
            <p:spPr>
              <a:xfrm>
                <a:off x="1524001" y="5760429"/>
                <a:ext cx="21581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b="0" i="1" smtClean="0">
                          <a:latin typeface="Cambria Math" panose="02040503050406030204" pitchFamily="18" charset="0"/>
                        </a:rPr>
                        <m:t>0.4= </m:t>
                      </m:r>
                      <m:r>
                        <a:rPr lang="en-SG" sz="2400" i="1">
                          <a:latin typeface="Cambria Math" panose="02040503050406030204" pitchFamily="18" charset="0"/>
                        </a:rPr>
                        <m:t>2/5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7396FF-35B4-4714-8E68-8A7BE2DF8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5760429"/>
                <a:ext cx="2158163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96EF5-5FA6-44BF-9C42-213DE457B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4312" y="1188605"/>
                <a:ext cx="8843376" cy="5185775"/>
              </a:xfrm>
              <a:blipFill>
                <a:blip r:embed="rId2"/>
                <a:stretch>
                  <a:fillRect l="-1448" t="-1293"/>
                </a:stretch>
              </a:blipFill>
            </p:spPr>
            <p:txBody>
              <a:bodyPr>
                <a:normAutofit lnSpcReduction="10000"/>
              </a:bodyPr>
              <a:lstStyle/>
              <a:p>
                <a:pPr marL="0" marR="280" indent="0">
                  <a:buNone/>
                </a:pPr>
                <a:r>
                  <a:rPr lang="en-SG" b="0" i="0" u="none" strike="noStrike" baseline="0" dirty="0"/>
                  <a:t>A </a:t>
                </a:r>
                <a:r>
                  <a:rPr lang="en-SG" dirty="0"/>
                  <a:t>number is irrational if it is not a </a:t>
                </a:r>
                <a:r>
                  <a:rPr lang="en-SG" b="0" i="0" u="none" strike="noStrike" baseline="0" dirty="0"/>
                  <a:t>rational number;  that is, if it CANNOT be written in the following form:</a:t>
                </a:r>
              </a:p>
              <a:p>
                <a:pPr marL="0" marR="280" indent="0">
                  <a:buNone/>
                </a:pPr>
                <a:endParaRPr lang="en-SG" b="0" i="0" u="none" strike="noStrike" baseline="0" dirty="0"/>
              </a:p>
              <a:p>
                <a:pPr marL="0" marR="19090" indent="0" algn="ctr">
                  <a:buNone/>
                </a:pPr>
                <a14:m>
                  <m:oMath xmlns:m="http://schemas.openxmlformats.org/officeDocument/2006/math">
                    <m:r>
                      <a:rPr lang="en-SG" sz="3270" b="1" i="1" u="none" strike="noStrike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SG" sz="3270" b="1" i="1" u="none" strike="noStrike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sz="3270" b="1" i="1" u="none" strike="noStrike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3270" b="1" i="1" u="none" strike="noStrike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SG" sz="3270" b="1" i="1" u="none" strike="noStrike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den>
                    </m:f>
                  </m:oMath>
                </a14:m>
                <a:r>
                  <a:rPr lang="en-SG" b="0" i="1" u="none" strike="noStrike" baseline="0" dirty="0"/>
                  <a:t>.</a:t>
                </a:r>
              </a:p>
              <a:p>
                <a:pPr marL="0" marR="19090" indent="0" algn="ctr">
                  <a:buNone/>
                </a:pPr>
                <a:endParaRPr lang="en-SG" b="0" i="1" u="none" strike="noStrike" baseline="0" dirty="0"/>
              </a:p>
              <a:p>
                <a:pPr marL="0" marR="280" indent="0">
                  <a:buNone/>
                </a:pPr>
                <a:r>
                  <a:rPr lang="en-SG" b="0" i="0" u="none" strike="noStrike" baseline="0" dirty="0"/>
                  <a:t>where </a:t>
                </a:r>
                <a:r>
                  <a:rPr lang="en-SG" b="0" i="1" u="none" strike="noStrike" baseline="0" dirty="0"/>
                  <a:t>a, b </a:t>
                </a:r>
                <a:r>
                  <a:rPr lang="en-SG" b="0" i="0" u="none" strike="noStrike" baseline="0" dirty="0"/>
                  <a:t>∈ Z and </a:t>
                </a:r>
                <a:r>
                  <a:rPr lang="en-SG" b="0" i="1" u="none" strike="noStrike" baseline="0" dirty="0"/>
                  <a:t>b</a:t>
                </a:r>
                <a:r>
                  <a:rPr lang="en-SG" b="0" i="1" u="none" strike="noStrike" baseline="0" dirty="0">
                    <a:sym typeface="Symbol" panose="05050102010706020507" pitchFamily="18" charset="2"/>
                  </a:rPr>
                  <a:t></a:t>
                </a:r>
                <a:r>
                  <a:rPr lang="en-SG" b="0" i="0" u="none" strike="noStrike" baseline="0" dirty="0"/>
                  <a:t> 0.</a:t>
                </a:r>
                <a:endParaRPr lang="en-SG" b="0" i="1" u="none" strike="noStrike" baseline="30000" dirty="0"/>
              </a:p>
              <a:p>
                <a:pPr marL="0" indent="0">
                  <a:buNone/>
                </a:pPr>
                <a:endParaRPr lang="en-SG" b="0" i="1" u="none" strike="noStrike" baseline="0" dirty="0"/>
              </a:p>
              <a:p>
                <a:pPr marL="0" indent="0">
                  <a:buNone/>
                </a:pPr>
                <a:endParaRPr lang="en-SG" b="0" i="0" u="none" strike="noStrike" baseline="0" dirty="0"/>
              </a:p>
              <a:p>
                <a:pPr marL="342900" lvl="1" indent="0">
                  <a:buNone/>
                </a:pPr>
                <a:endParaRPr lang="en-SG" sz="2800" b="0" i="0" u="none" strike="noStrike" baseline="-25000" dirty="0"/>
              </a:p>
              <a:p>
                <a:pPr marL="0" indent="0">
                  <a:buNone/>
                </a:pPr>
                <a:r>
                  <a:rPr lang="en-SG" b="0" i="0" u="none" strike="noStrike" baseline="0" dirty="0"/>
                  <a:t>Example:</a:t>
                </a:r>
              </a:p>
              <a:p>
                <a:pPr marL="0" indent="0">
                  <a:buNone/>
                </a:pPr>
                <a:r>
                  <a:rPr lang="en-SG" b="0" i="0" u="none" strike="noStrike" baseline="0" dirty="0"/>
                  <a:t>	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SG" b="0" i="0" u="none" strike="noStrike" baseline="0" dirty="0"/>
                  <a:t>   is a an irrational number.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896EF5-5FA6-44BF-9C42-213DE457B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74312" y="1188605"/>
                <a:ext cx="8843376" cy="5185775"/>
              </a:xfrm>
              <a:blipFill>
                <a:blip r:embed="rId3"/>
                <a:stretch>
                  <a:fillRect l="-1448" t="-2703" r="-13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83CD2999-B174-43C7-8F66-4B96AEDF44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96308-A11B-4949-8907-C7A9A5F900C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652" name="Group 1">
            <a:extLst>
              <a:ext uri="{FF2B5EF4-FFF2-40B4-BE49-F238E27FC236}">
                <a16:creationId xmlns:a16="http://schemas.microsoft.com/office/drawing/2014/main" id="{D6B27EFF-EA18-4803-90F3-404DE3B0B3F8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554039"/>
            <a:ext cx="69850" cy="1587"/>
            <a:chOff x="3939" y="153"/>
            <a:chExt cx="109" cy="2"/>
          </a:xfrm>
        </p:grpSpPr>
        <p:sp>
          <p:nvSpPr>
            <p:cNvPr id="27655" name="Freeform 2">
              <a:extLst>
                <a:ext uri="{FF2B5EF4-FFF2-40B4-BE49-F238E27FC236}">
                  <a16:creationId xmlns:a16="http://schemas.microsoft.com/office/drawing/2014/main" id="{21742EDF-2690-4EB2-B950-E29BD0C9A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53"/>
              <a:ext cx="109" cy="2"/>
            </a:xfrm>
            <a:custGeom>
              <a:avLst/>
              <a:gdLst>
                <a:gd name="T0" fmla="*/ 0 w 109"/>
                <a:gd name="T1" fmla="*/ 0 h 2"/>
                <a:gd name="T2" fmla="*/ 109 w 109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9" h="2">
                  <a:moveTo>
                    <a:pt x="0" y="0"/>
                  </a:moveTo>
                  <a:lnTo>
                    <a:pt x="109" y="0"/>
                  </a:lnTo>
                </a:path>
              </a:pathLst>
            </a:custGeom>
            <a:noFill/>
            <a:ln w="5537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7653" name="Rectangle 4">
            <a:extLst>
              <a:ext uri="{FF2B5EF4-FFF2-40B4-BE49-F238E27FC236}">
                <a16:creationId xmlns:a16="http://schemas.microsoft.com/office/drawing/2014/main" id="{F2ED80BA-90BA-4114-9BF7-A62852978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472"/>
            <a:ext cx="4278735" cy="918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63480" bIns="114264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>
                <a:latin typeface="Calibri" panose="020F0502020204030204" pitchFamily="34" charset="0"/>
              </a:rPr>
              <a:t>A number is </a:t>
            </a:r>
            <a:r>
              <a:rPr lang="en-US" altLang="en-US" sz="1100" b="1">
                <a:latin typeface="Calibri" panose="020F0502020204030204" pitchFamily="34" charset="0"/>
              </a:rPr>
              <a:t>irrational </a:t>
            </a:r>
            <a:r>
              <a:rPr lang="en-US" altLang="en-US" sz="1100">
                <a:latin typeface="Calibri" panose="020F0502020204030204" pitchFamily="34" charset="0"/>
              </a:rPr>
              <a:t>if it is not rational; that  is, if it can not be written</a:t>
            </a:r>
            <a:endParaRPr lang="en-US" altLang="en-US" sz="1100">
              <a:latin typeface="Arial" panose="020B0604020202020204" pitchFamily="34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1100">
                <a:latin typeface="Arial" panose="020B0604020202020204" pitchFamily="34" charset="0"/>
                <a:cs typeface="Calibri" panose="020F0502020204030204" pitchFamily="34" charset="0"/>
              </a:rPr>
            </a:br>
            <a:endParaRPr lang="en-GB" alt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2854F75-7515-4010-9DCC-6D1E4A9C6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4" y="136525"/>
            <a:ext cx="8537575" cy="876300"/>
          </a:xfrm>
        </p:spPr>
        <p:txBody>
          <a:bodyPr/>
          <a:lstStyle/>
          <a:p>
            <a:pPr>
              <a:defRPr/>
            </a:pPr>
            <a:r>
              <a:rPr lang="en-SG" sz="4000" dirty="0">
                <a:latin typeface="+mn-lt"/>
              </a:rPr>
              <a:t>Irrational</a:t>
            </a:r>
          </a:p>
        </p:txBody>
      </p:sp>
    </p:spTree>
    <p:extLst>
      <p:ext uri="{BB962C8B-B14F-4D97-AF65-F5344CB8AC3E}">
        <p14:creationId xmlns:p14="http://schemas.microsoft.com/office/powerpoint/2010/main" val="4080678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470EA9A0-6B1F-45B5-8C82-A8447A2DF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97B0FB-AA32-4343-B3A8-64461FF6DBB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ED678791-EF7A-4ECE-B865-397DD7A566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71943" y="1600200"/>
            <a:ext cx="7772400" cy="1828800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Unit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1734</Words>
  <Application>Microsoft Office PowerPoint</Application>
  <PresentationFormat>Widescreen</PresentationFormat>
  <Paragraphs>217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Tahoma</vt:lpstr>
      <vt:lpstr>Times New Roman</vt:lpstr>
      <vt:lpstr>1_Office Theme</vt:lpstr>
      <vt:lpstr>MATH221 Mathematics for Computer Science</vt:lpstr>
      <vt:lpstr>PowerPoint Presentation</vt:lpstr>
      <vt:lpstr>The Natural Numbers</vt:lpstr>
      <vt:lpstr>Binary Operations</vt:lpstr>
      <vt:lpstr>Binary Operations</vt:lpstr>
      <vt:lpstr>Binary Operation</vt:lpstr>
      <vt:lpstr>Binary Operation: Example</vt:lpstr>
      <vt:lpstr>Exercise:</vt:lpstr>
      <vt:lpstr>Identity</vt:lpstr>
      <vt:lpstr>Inverse</vt:lpstr>
      <vt:lpstr>Commutativity  and Associativity</vt:lpstr>
      <vt:lpstr>Example: Paper-Scissors-Rock</vt:lpstr>
      <vt:lpstr>Example: Paper-Scissors-Rock (cont’d)</vt:lpstr>
      <vt:lpstr>Distributivity</vt:lpstr>
      <vt:lpstr>Exercise:</vt:lpstr>
      <vt:lpstr>Well-ordering property</vt:lpstr>
      <vt:lpstr>The integers Z</vt:lpstr>
      <vt:lpstr>Operations, identities and inverses on Z</vt:lpstr>
      <vt:lpstr>Commutativity and associativity</vt:lpstr>
      <vt:lpstr>Distributivity</vt:lpstr>
      <vt:lpstr>Well-ordering property</vt:lpstr>
      <vt:lpstr>Evens, odds, primes and composites</vt:lpstr>
      <vt:lpstr>The rationals Q</vt:lpstr>
      <vt:lpstr>Irrational</vt:lpstr>
      <vt:lpstr>End of Unit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Hee Beng Kuan Tan</dc:creator>
  <cp:lastModifiedBy>Hee Beng Kuan Tan</cp:lastModifiedBy>
  <cp:revision>27</cp:revision>
  <cp:lastPrinted>2020-12-30T08:25:10Z</cp:lastPrinted>
  <dcterms:created xsi:type="dcterms:W3CDTF">2020-10-03T10:39:56Z</dcterms:created>
  <dcterms:modified xsi:type="dcterms:W3CDTF">2020-12-30T08:25:30Z</dcterms:modified>
</cp:coreProperties>
</file>