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77"/>
  </p:notesMasterIdLst>
  <p:sldIdLst>
    <p:sldId id="589" r:id="rId3"/>
    <p:sldId id="257" r:id="rId4"/>
    <p:sldId id="676" r:id="rId5"/>
    <p:sldId id="515" r:id="rId6"/>
    <p:sldId id="586" r:id="rId7"/>
    <p:sldId id="398" r:id="rId8"/>
    <p:sldId id="542" r:id="rId9"/>
    <p:sldId id="455" r:id="rId10"/>
    <p:sldId id="677" r:id="rId11"/>
    <p:sldId id="590" r:id="rId12"/>
    <p:sldId id="591" r:id="rId13"/>
    <p:sldId id="678" r:id="rId14"/>
    <p:sldId id="595" r:id="rId15"/>
    <p:sldId id="596" r:id="rId16"/>
    <p:sldId id="598" r:id="rId17"/>
    <p:sldId id="599" r:id="rId18"/>
    <p:sldId id="600" r:id="rId19"/>
    <p:sldId id="601" r:id="rId20"/>
    <p:sldId id="602" r:id="rId21"/>
    <p:sldId id="603" r:id="rId22"/>
    <p:sldId id="606" r:id="rId23"/>
    <p:sldId id="607" r:id="rId24"/>
    <p:sldId id="608" r:id="rId25"/>
    <p:sldId id="609" r:id="rId26"/>
    <p:sldId id="610" r:id="rId27"/>
    <p:sldId id="611" r:id="rId28"/>
    <p:sldId id="612" r:id="rId29"/>
    <p:sldId id="613" r:id="rId30"/>
    <p:sldId id="614" r:id="rId31"/>
    <p:sldId id="617" r:id="rId32"/>
    <p:sldId id="687" r:id="rId33"/>
    <p:sldId id="619" r:id="rId34"/>
    <p:sldId id="622" r:id="rId35"/>
    <p:sldId id="623" r:id="rId36"/>
    <p:sldId id="624" r:id="rId37"/>
    <p:sldId id="625" r:id="rId38"/>
    <p:sldId id="626" r:id="rId39"/>
    <p:sldId id="627" r:id="rId40"/>
    <p:sldId id="628" r:id="rId41"/>
    <p:sldId id="629" r:id="rId42"/>
    <p:sldId id="630" r:id="rId43"/>
    <p:sldId id="631" r:id="rId44"/>
    <p:sldId id="688" r:id="rId45"/>
    <p:sldId id="633" r:id="rId46"/>
    <p:sldId id="679" r:id="rId47"/>
    <p:sldId id="634" r:id="rId48"/>
    <p:sldId id="689" r:id="rId49"/>
    <p:sldId id="635" r:id="rId50"/>
    <p:sldId id="636" r:id="rId51"/>
    <p:sldId id="637" r:id="rId52"/>
    <p:sldId id="639" r:id="rId53"/>
    <p:sldId id="680" r:id="rId54"/>
    <p:sldId id="642" r:id="rId55"/>
    <p:sldId id="690" r:id="rId56"/>
    <p:sldId id="643" r:id="rId57"/>
    <p:sldId id="644" r:id="rId58"/>
    <p:sldId id="645" r:id="rId59"/>
    <p:sldId id="646" r:id="rId60"/>
    <p:sldId id="681" r:id="rId61"/>
    <p:sldId id="649" r:id="rId62"/>
    <p:sldId id="691" r:id="rId63"/>
    <p:sldId id="650" r:id="rId64"/>
    <p:sldId id="651" r:id="rId65"/>
    <p:sldId id="652" r:id="rId66"/>
    <p:sldId id="653" r:id="rId67"/>
    <p:sldId id="654" r:id="rId68"/>
    <p:sldId id="656" r:id="rId69"/>
    <p:sldId id="657" r:id="rId70"/>
    <p:sldId id="660" r:id="rId71"/>
    <p:sldId id="683" r:id="rId72"/>
    <p:sldId id="692" r:id="rId73"/>
    <p:sldId id="693" r:id="rId74"/>
    <p:sldId id="694" r:id="rId75"/>
    <p:sldId id="412" r:id="rId76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e Beng Kuan Tan" initials="HBKT" lastIdx="1" clrIdx="0">
    <p:extLst>
      <p:ext uri="{19B8F6BF-5375-455C-9EA6-DF929625EA0E}">
        <p15:presenceInfo xmlns:p15="http://schemas.microsoft.com/office/powerpoint/2012/main" userId="3aa298cb380b110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4660"/>
  </p:normalViewPr>
  <p:slideViewPr>
    <p:cSldViewPr snapToGrid="0">
      <p:cViewPr varScale="1">
        <p:scale>
          <a:sx n="95" d="100"/>
          <a:sy n="95" d="100"/>
        </p:scale>
        <p:origin x="1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1"/>
            <a:ext cx="4160520" cy="36703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E5EDE30-E61C-44D9-80B0-A27268B34339}" type="datetimeFigureOut">
              <a:rPr lang="en-SG" smtClean="0"/>
              <a:t>30/12/2020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6675" y="914400"/>
            <a:ext cx="4387850" cy="24685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39"/>
            <a:ext cx="7680960" cy="2880361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7029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AC283E2-B821-4922-8B09-1B555FFD542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938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0482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475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765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197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9002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98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2314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856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53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228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2484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7A33CF-0DFD-4444-9C6F-0D80D14580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31D449-C898-4BC0-8309-DF545C462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66E3A6-CCDF-4C40-A997-F733FCF64A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4ACC89-931D-4EBD-ACA6-6844C66EA72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4719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334087-5A56-4B53-955F-524A0C8BB6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C2464B7-E7DE-4F1A-9734-F693623C1D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A1E181-9E7E-4BAE-95DB-AAA7AE219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2E846-C9C8-4808-9FA0-4162CB64A42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56344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07F844-B21B-447C-8E93-ACF2A6E7AE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B87207-63CF-4DCC-822E-D64FB77AAD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39E320-98A3-4112-93C5-7CE6444F96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608D9-8702-4448-8B1E-EC56E482D2A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25556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A7F104-CFE8-4433-94DF-8842B19384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AE6353-A8D1-4C47-9AEA-FC343E4202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330D38-D146-4013-8149-F368261D00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386EE8-173B-45C7-A455-0194A26068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14860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6FFB2-BEF5-4DE1-AF7C-9F48F4EA4E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E08A3-5C9E-42C7-9155-175BEFD29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83B9D-B98C-4E89-AED9-17DB87F61B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0DE84-55E0-4DE9-A427-FE007D0E118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601456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011D90-3E2E-4F34-8793-CC06657F88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315A5C-7810-4EAD-BFC5-5144747432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8BBA511-9589-47D0-BF53-C11C1B1531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7771BF-0D43-4219-AF02-D82822A322D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53166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4FBCFB0-3725-4486-86DF-8232ABD77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A8C241-0B53-4CAA-9856-CB9CEFF1DD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2B1A8E2-BD7F-4705-A756-E26BB3EA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19975-7A15-48EC-BB9E-EDB47EDF0B9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747853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E1BD046-F49B-4636-8F88-31A1DF4EF3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847CD9-79EC-41C7-AB9B-9AA19D6C43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31B1C59-F1CF-424A-B659-AB545B2175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9229F-DEFF-40FF-95E9-660A19A70F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5310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0895B-2B70-4A16-8274-9F5CEBD176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B5191B-6E3B-4BE6-B55C-9C140D5CFE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2996F-80BE-4A0A-BB4E-7C5CE3B3D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55944-8C86-42A6-B533-95196E5233E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3952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DD76B-696E-45CB-B769-731CEF29A2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461260-271D-49DF-B501-317A35A1AD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617F49-9184-4661-B38B-D2981830A2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2DC1D-2BC2-424C-B19B-7180BB24AA5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32823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3E079B-47E4-482A-965E-740427C359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237047-6DD0-4D22-AB83-5B6E59CACB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377B71-C4E3-458F-848B-B120A5C90B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980B65-E0F0-4B1B-91D7-E46E3489C19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61640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7B1299-A908-4DEE-839C-305BEA8E94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EA74C34-D406-4335-8A64-1BFAA90AA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A3498D-F79B-4AA0-9563-15FD005E56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75EBC-A374-432F-8E16-4C5A82F78F3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04833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9D325-BC2F-4485-A3FA-EFC94A4499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9BC6F6-AA4E-4173-89F1-9581F88C57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1DB09-4F81-4E5D-A26B-4D62FCF697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D317A-BC94-4C46-B2E7-70D5597B76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4387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7595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7667C7-D1E8-4FB8-8022-D0E73970D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A9FE0BC-1B0B-4438-8324-66B03C160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335876" name="Rectangle 4">
            <a:extLst>
              <a:ext uri="{FF2B5EF4-FFF2-40B4-BE49-F238E27FC236}">
                <a16:creationId xmlns:a16="http://schemas.microsoft.com/office/drawing/2014/main" id="{DAB157F5-C1B3-4C52-8F08-9093D3207C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5877" name="Rectangle 5">
            <a:extLst>
              <a:ext uri="{FF2B5EF4-FFF2-40B4-BE49-F238E27FC236}">
                <a16:creationId xmlns:a16="http://schemas.microsoft.com/office/drawing/2014/main" id="{014E57EF-476C-480B-8904-A379FEF7505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5878" name="Rectangle 6">
            <a:extLst>
              <a:ext uri="{FF2B5EF4-FFF2-40B4-BE49-F238E27FC236}">
                <a16:creationId xmlns:a16="http://schemas.microsoft.com/office/drawing/2014/main" id="{A12C8038-D264-4521-A9A5-45A1AB244A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D1DF76C-A440-437B-9BEE-1E1151A173C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5440923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000">
          <a:solidFill>
            <a:schemeClr val="tx1"/>
          </a:solidFill>
          <a:latin typeface="+mj-lt"/>
          <a:cs typeface="+mj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000">
          <a:solidFill>
            <a:schemeClr val="tx1"/>
          </a:solidFill>
          <a:latin typeface="+mj-lt"/>
          <a:cs typeface="+mj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j-lt"/>
          <a:cs typeface="+mj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j-lt"/>
          <a:cs typeface="+mj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j-lt"/>
          <a:cs typeface="+mj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j-lt"/>
          <a:cs typeface="+mj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000">
          <a:solidFill>
            <a:schemeClr val="tx1"/>
          </a:solidFill>
          <a:latin typeface="+mj-lt"/>
          <a:cs typeface="+mj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7CFD8D2-76A8-4656-87F2-9BD95F4C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FDC763-F69E-47F2-9814-5F47EC779A9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18E50E4-9026-4C74-B0AF-C14CB01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14620" y="136523"/>
            <a:ext cx="9650411" cy="1995488"/>
          </a:xfrm>
        </p:spPr>
        <p:txBody>
          <a:bodyPr/>
          <a:lstStyle/>
          <a:p>
            <a:pPr eaLnBrk="1" hangingPunct="1"/>
            <a:r>
              <a:rPr lang="en-US" altLang="en-US" b="1" u="sng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rgbClr val="171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EFFF-1C1A-4318-81FC-43EDFF823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626" y="3619976"/>
            <a:ext cx="8783638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5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 and Functions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2156154D-3CFB-4BBB-9D7E-79ECA901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E85382-A29C-49DC-90F7-13271D1696F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72EAD35-0FDA-4802-9F61-9E27963FC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956BE4B-1A07-4F1A-B96A-ACE48ACFF7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Understand what is a relation and function.</a:t>
            </a:r>
          </a:p>
          <a:p>
            <a:pPr eaLnBrk="1" hangingPunct="1"/>
            <a:r>
              <a:rPr lang="en-US" altLang="en-US" sz="2400" dirty="0"/>
              <a:t>Determine the domain and range of relation and function.</a:t>
            </a:r>
          </a:p>
          <a:p>
            <a:pPr eaLnBrk="1" hangingPunct="1"/>
            <a:r>
              <a:rPr lang="en-US" altLang="en-US" sz="2400" dirty="0"/>
              <a:t>Evaluate the properties of relation such as reflexivity, symmetry and transitivity.</a:t>
            </a:r>
          </a:p>
          <a:p>
            <a:r>
              <a:rPr lang="en-US" altLang="en-US" sz="2400" dirty="0"/>
              <a:t>Understand what is a function, one-to-one and onto function</a:t>
            </a:r>
          </a:p>
          <a:p>
            <a:pPr eaLnBrk="1" hangingPunct="1"/>
            <a:r>
              <a:rPr lang="en-US" altLang="en-US" sz="2400" dirty="0"/>
              <a:t>Find the existence of inverse functio</a:t>
            </a:r>
            <a:r>
              <a:rPr lang="en-US" altLang="en-US" dirty="0"/>
              <a:t>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141720D6-EB9A-493B-82FC-1E5C5EA0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316BDB-6AF8-4C33-833B-67D87D5A54E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28D7BE-0436-4235-A6F5-23CCE14DC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165351"/>
            <a:ext cx="8785225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5a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0ADEBFF9-A115-4F5A-AFF2-88C3C082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2AA2C9-51BF-468F-B1AA-AA142789B57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2F08ED0-B899-40FE-914B-00B41C67E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E33BB19F-CBF5-498C-A988-4B3AE8DEED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Given two sets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, the </a:t>
            </a:r>
            <a:r>
              <a:rPr lang="en-US" altLang="en-US" b="1" dirty="0">
                <a:solidFill>
                  <a:schemeClr val="hlink"/>
                </a:solidFill>
              </a:rPr>
              <a:t>Cartesian product</a:t>
            </a:r>
            <a:r>
              <a:rPr lang="en-US" altLang="en-US" dirty="0"/>
              <a:t> of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, denoted by </a:t>
            </a:r>
            <a:r>
              <a:rPr lang="en-US" altLang="en-US" b="1" i="1" dirty="0"/>
              <a:t>A</a:t>
            </a:r>
            <a:r>
              <a:rPr lang="en-US" altLang="en-US" b="1" dirty="0"/>
              <a:t> </a:t>
            </a:r>
            <a:r>
              <a:rPr lang="en-US" altLang="en-US" b="1" dirty="0">
                <a:sym typeface="Symbol" panose="05050102010706020507" pitchFamily="18" charset="2"/>
              </a:rPr>
              <a:t> </a:t>
            </a:r>
            <a:r>
              <a:rPr lang="en-US" altLang="en-US" b="1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(read “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cross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”), is the set of all ordered pairs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), where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is in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is in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Symbolically,</a:t>
            </a:r>
          </a:p>
          <a:p>
            <a:pPr marL="0" indent="0">
              <a:buNone/>
            </a:pPr>
            <a:r>
              <a:rPr lang="en-US" altLang="en-US" i="1" dirty="0"/>
              <a:t>		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= {(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and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06282C12-5E0B-4621-B11C-DBD733CF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EFC674-3540-4893-8214-AF6CF3F300B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A636548-3FEA-4686-93D1-CFE087AE69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199" y="301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D223D593-AD1E-4B1A-B52E-4AD36E70EA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58684" y="1499395"/>
            <a:ext cx="9050977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 </a:t>
            </a:r>
            <a:r>
              <a:rPr lang="en-US" altLang="en-US" i="1" dirty="0"/>
              <a:t>A</a:t>
            </a:r>
            <a:r>
              <a:rPr lang="en-US" altLang="en-US" dirty="0"/>
              <a:t> = {</a:t>
            </a:r>
            <a:r>
              <a:rPr lang="en-US" altLang="en-US" i="1" dirty="0"/>
              <a:t>x</a:t>
            </a:r>
            <a:r>
              <a:rPr lang="en-US" altLang="en-US" dirty="0"/>
              <a:t>, </a:t>
            </a:r>
            <a:r>
              <a:rPr lang="en-US" altLang="en-US" i="1" dirty="0"/>
              <a:t>y</a:t>
            </a:r>
            <a:r>
              <a:rPr lang="en-US" altLang="en-US" dirty="0"/>
              <a:t>}, </a:t>
            </a:r>
            <a:r>
              <a:rPr lang="en-US" altLang="en-US" i="1" dirty="0"/>
              <a:t>B</a:t>
            </a:r>
            <a:r>
              <a:rPr lang="en-US" altLang="en-US" dirty="0"/>
              <a:t> = {1, 2, 3}, </a:t>
            </a:r>
            <a:r>
              <a:rPr lang="en-US" altLang="en-US" i="1" dirty="0"/>
              <a:t>C</a:t>
            </a:r>
            <a:r>
              <a:rPr lang="en-US" altLang="en-US" dirty="0"/>
              <a:t> =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}. Find the followings.</a:t>
            </a:r>
          </a:p>
          <a:p>
            <a:pPr marL="0" indent="0">
              <a:buNone/>
            </a:pPr>
            <a:r>
              <a:rPr lang="en-US" altLang="en-US" dirty="0"/>
              <a:t>a. 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/>
              <a:t> 	b. 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C		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a. 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 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1),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2),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3), 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1), 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2), 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3)}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b. (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C </a:t>
            </a:r>
            <a:r>
              <a:rPr lang="en-US" altLang="en-US" dirty="0">
                <a:sym typeface="Symbol" panose="05050102010706020507" pitchFamily="18" charset="2"/>
              </a:rPr>
              <a:t>= {(</a:t>
            </a:r>
            <a:r>
              <a:rPr lang="en-US" altLang="en-US" i="1" dirty="0">
                <a:sym typeface="Symbol" panose="05050102010706020507" pitchFamily="18" charset="2"/>
              </a:rPr>
              <a:t>u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v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u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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v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/>
              <a:t>C</a:t>
            </a:r>
            <a:r>
              <a:rPr lang="en-US" altLang="en-US" dirty="0"/>
              <a:t>}</a:t>
            </a:r>
          </a:p>
          <a:p>
            <a:pPr marL="0" indent="0">
              <a:buNone/>
            </a:pPr>
            <a:r>
              <a:rPr lang="en-US" altLang="en-US" dirty="0"/>
              <a:t> 	= </a:t>
            </a:r>
            <a:r>
              <a:rPr lang="en-US" altLang="en-US" dirty="0">
                <a:sym typeface="Symbol" panose="05050102010706020507" pitchFamily="18" charset="2"/>
              </a:rPr>
              <a:t>{((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1),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2),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3),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1),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2),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	    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3), </a:t>
            </a:r>
            <a:r>
              <a:rPr lang="en-US" altLang="en-US" i="1" dirty="0"/>
              <a:t>a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1),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2),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3),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1),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), 	    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2),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), ((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3), </a:t>
            </a:r>
            <a:r>
              <a:rPr lang="en-US" altLang="en-US" i="1" dirty="0"/>
              <a:t>b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5E383843-7726-44B7-BD68-C885780F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9640D4-3AF8-43DE-AD11-F258FA93D7D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3D010416-0CEB-42A4-BD0E-824869F4B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2447" y="13652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61013F8A-D442-4256-AE9B-4B1AF71F02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21971" y="1279523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be sets. We say that </a:t>
            </a:r>
            <a:r>
              <a:rPr lang="en-US" altLang="en-US" i="1" dirty="0"/>
              <a:t>R</a:t>
            </a:r>
            <a:r>
              <a:rPr lang="en-US" altLang="en-US" dirty="0"/>
              <a:t> is a (binary) </a:t>
            </a:r>
            <a:r>
              <a:rPr lang="en-US" altLang="en-US" b="1" dirty="0">
                <a:solidFill>
                  <a:schemeClr val="hlink"/>
                </a:solidFill>
              </a:rPr>
              <a:t>relation from </a:t>
            </a:r>
            <a:r>
              <a:rPr lang="en-US" altLang="en-US" b="1" i="1" dirty="0">
                <a:solidFill>
                  <a:schemeClr val="hlink"/>
                </a:solidFill>
              </a:rPr>
              <a:t>A</a:t>
            </a:r>
            <a:r>
              <a:rPr lang="en-US" altLang="en-US" b="1" dirty="0">
                <a:solidFill>
                  <a:schemeClr val="hlink"/>
                </a:solidFill>
              </a:rPr>
              <a:t> to </a:t>
            </a:r>
            <a:r>
              <a:rPr lang="en-US" altLang="en-US" b="1" i="1" dirty="0">
                <a:solidFill>
                  <a:schemeClr val="hlink"/>
                </a:solidFill>
              </a:rPr>
              <a:t>B</a:t>
            </a:r>
            <a:r>
              <a:rPr lang="en-US" altLang="en-US" dirty="0"/>
              <a:t> if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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we will say that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a </a:t>
            </a:r>
            <a:r>
              <a:rPr lang="en-US" altLang="en-US" b="1" dirty="0">
                <a:solidFill>
                  <a:srgbClr val="0070C0"/>
                </a:solidFill>
                <a:sym typeface="Symbol" panose="05050102010706020507" pitchFamily="18" charset="2"/>
              </a:rPr>
              <a:t>relation on </a:t>
            </a:r>
            <a:r>
              <a:rPr lang="en-US" altLang="en-US" b="1" i="1" dirty="0">
                <a:solidFill>
                  <a:srgbClr val="0070C0"/>
                </a:solidFill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Further, if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we will frequently write </a:t>
            </a:r>
            <a:r>
              <a:rPr lang="en-US" altLang="en-US" i="1" dirty="0" err="1">
                <a:sym typeface="Symbol" panose="05050102010706020507" pitchFamily="18" charset="2"/>
              </a:rPr>
              <a:t>aRb</a:t>
            </a:r>
            <a:r>
              <a:rPr lang="en-US" altLang="en-US" dirty="0">
                <a:sym typeface="Symbol" panose="05050102010706020507" pitchFamily="18" charset="2"/>
              </a:rPr>
              <a:t> and say that “</a:t>
            </a:r>
            <a:r>
              <a:rPr lang="en-US" altLang="en-US" b="1" i="1" dirty="0">
                <a:sym typeface="Symbol" panose="05050102010706020507" pitchFamily="18" charset="2"/>
              </a:rPr>
              <a:t>a</a:t>
            </a:r>
            <a:r>
              <a:rPr lang="en-US" altLang="en-US" b="1" dirty="0">
                <a:sym typeface="Symbol" panose="05050102010706020507" pitchFamily="18" charset="2"/>
              </a:rPr>
              <a:t> is related to b by </a:t>
            </a:r>
            <a:r>
              <a:rPr lang="en-US" altLang="en-US" b="1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”, symbolically, denoted as </a:t>
            </a:r>
            <a:r>
              <a:rPr lang="en-US" altLang="en-US" b="1" dirty="0" err="1">
                <a:sym typeface="Symbol" panose="05050102010706020507" pitchFamily="18" charset="2"/>
              </a:rPr>
              <a:t>aRb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1B23FB81-8DAA-414A-8095-2E86431B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B22E88-48A4-407E-A434-E7607E44424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60725CDA-6298-491B-B9DA-F541DDF18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F11A5EF7-B0E2-44E4-8ED5-7EB1D1307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Consider the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given by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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We can sketch a graph of this relation as follows: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8FF7759C-C515-469C-BFDD-B123DF6AD6B1}"/>
              </a:ext>
            </a:extLst>
          </p:cNvPr>
          <p:cNvGrpSpPr>
            <a:grpSpLocks/>
          </p:cNvGrpSpPr>
          <p:nvPr/>
        </p:nvGrpSpPr>
        <p:grpSpPr bwMode="auto">
          <a:xfrm>
            <a:off x="3948113" y="3397251"/>
            <a:ext cx="4703762" cy="2989263"/>
            <a:chOff x="1527" y="2140"/>
            <a:chExt cx="2963" cy="1883"/>
          </a:xfrm>
        </p:grpSpPr>
        <p:sp>
          <p:nvSpPr>
            <p:cNvPr id="12294" name="Line 8">
              <a:extLst>
                <a:ext uri="{FF2B5EF4-FFF2-40B4-BE49-F238E27FC236}">
                  <a16:creationId xmlns:a16="http://schemas.microsoft.com/office/drawing/2014/main" id="{F346EF29-5AE6-4635-9381-B925D400D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7" y="3520"/>
              <a:ext cx="256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2295" name="Line 9">
              <a:extLst>
                <a:ext uri="{FF2B5EF4-FFF2-40B4-BE49-F238E27FC236}">
                  <a16:creationId xmlns:a16="http://schemas.microsoft.com/office/drawing/2014/main" id="{5C08DEC1-B60E-4B33-B459-8B5B24C45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30" y="2258"/>
              <a:ext cx="0" cy="1765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2296" name="Line 10">
              <a:extLst>
                <a:ext uri="{FF2B5EF4-FFF2-40B4-BE49-F238E27FC236}">
                  <a16:creationId xmlns:a16="http://schemas.microsoft.com/office/drawing/2014/main" id="{4EDB5B34-FC51-4047-AC4A-8D82AB2B8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4" y="2393"/>
              <a:ext cx="1371" cy="137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2297" name="Text Box 11">
              <a:extLst>
                <a:ext uri="{FF2B5EF4-FFF2-40B4-BE49-F238E27FC236}">
                  <a16:creationId xmlns:a16="http://schemas.microsoft.com/office/drawing/2014/main" id="{740428F1-17EC-4C90-B380-B2E3C3770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3510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</a:rPr>
                <a:t>x</a:t>
              </a:r>
              <a:endParaRPr lang="en-GB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12298" name="Text Box 12">
              <a:extLst>
                <a:ext uri="{FF2B5EF4-FFF2-40B4-BE49-F238E27FC236}">
                  <a16:creationId xmlns:a16="http://schemas.microsoft.com/office/drawing/2014/main" id="{04AAD93B-0A34-48A7-BF1A-9876F313CC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7" y="2140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</a:rPr>
                <a:t>y</a:t>
              </a:r>
              <a:endParaRPr lang="en-GB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12299" name="Text Box 13">
              <a:extLst>
                <a:ext uri="{FF2B5EF4-FFF2-40B4-BE49-F238E27FC236}">
                  <a16:creationId xmlns:a16="http://schemas.microsoft.com/office/drawing/2014/main" id="{8CA943A7-47D8-490B-9B10-27947E438E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2356"/>
              <a:ext cx="7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</a:rPr>
                <a:t>y = x</a:t>
              </a:r>
              <a:endParaRPr lang="en-GB" altLang="en-US" b="1" i="1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09" name="Rectangle 93">
            <a:extLst>
              <a:ext uri="{FF2B5EF4-FFF2-40B4-BE49-F238E27FC236}">
                <a16:creationId xmlns:a16="http://schemas.microsoft.com/office/drawing/2014/main" id="{E667A060-4B22-455A-8777-2C5050456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5240338"/>
            <a:ext cx="609600" cy="3619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Slide Number Placeholder 6">
            <a:extLst>
              <a:ext uri="{FF2B5EF4-FFF2-40B4-BE49-F238E27FC236}">
                <a16:creationId xmlns:a16="http://schemas.microsoft.com/office/drawing/2014/main" id="{71FBDE6E-3D85-4E61-99A8-B09DCC52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B77DF-08D6-45D5-80FA-D9C62656245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2C6B69BF-2681-4180-9A90-8ACADFFDE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36F19EC0-474C-42FB-AFDC-537A52201C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824865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(ii)	True of False?	1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1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True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2.1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sym typeface="Symbol" panose="05050102010706020507" pitchFamily="18" charset="2"/>
              </a:rPr>
              <a:t>2.2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(-3, 3)  </a:t>
            </a:r>
            <a:r>
              <a:rPr lang="en-US" altLang="en-US" sz="2400" i="1" dirty="0">
                <a:sym typeface="Symbol" panose="05050102010706020507" pitchFamily="18" charset="2"/>
              </a:rPr>
              <a:t>R</a:t>
            </a: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				False</a:t>
            </a:r>
          </a:p>
          <a:p>
            <a:pPr marL="0" indent="0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(iii)	If </a:t>
            </a:r>
            <a:r>
              <a:rPr lang="en-US" altLang="en-US" sz="2400" i="1" dirty="0">
                <a:sym typeface="Symbol" panose="05050102010706020507" pitchFamily="18" charset="2"/>
              </a:rPr>
              <a:t>aR</a:t>
            </a:r>
            <a:r>
              <a:rPr lang="en-US" altLang="en-US" sz="2400" dirty="0">
                <a:sym typeface="Symbol" panose="05050102010706020507" pitchFamily="18" charset="2"/>
              </a:rPr>
              <a:t>100, then </a:t>
            </a:r>
            <a:r>
              <a:rPr lang="en-US" altLang="en-US" sz="2400" i="1" dirty="0">
                <a:sym typeface="Symbol" panose="05050102010706020507" pitchFamily="18" charset="2"/>
              </a:rPr>
              <a:t>a</a:t>
            </a:r>
            <a:r>
              <a:rPr lang="en-US" altLang="en-US" sz="2400" dirty="0">
                <a:sym typeface="Symbol" panose="05050102010706020507" pitchFamily="18" charset="2"/>
              </a:rPr>
              <a:t> = 100.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5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5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5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5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6" dur="500"/>
                                        <p:tgtEl>
                                          <p:spTgt spid="265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30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62645705-AB14-44C1-BF73-4C8D9D99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EA2F85-CD85-4A59-B7D7-FD68A699C13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0B147F5B-DBC8-4B30-A160-A6EEC65046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3B9A3CE-F4E0-4D43-8A71-8A0D005D0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The relation in the previous discussion is usually written as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ℝ}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and it is normally called the </a:t>
            </a:r>
            <a:r>
              <a:rPr lang="en-US" altLang="zh-CN" b="1" dirty="0">
                <a:solidFill>
                  <a:schemeClr val="hlink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identity relation on ℝ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923B03F3-F85F-40FF-A595-2FE7ACB2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04966B-A4AE-437B-9FFC-D2E8D6232BF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30581489-1851-4156-A43B-C00BEE082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843" name="Rectangle 3">
            <a:extLst>
              <a:ext uri="{FF2B5EF4-FFF2-40B4-BE49-F238E27FC236}">
                <a16:creationId xmlns:a16="http://schemas.microsoft.com/office/drawing/2014/main" id="{1C295555-86D3-4476-8C27-06E26AC2F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7135" y="1771651"/>
            <a:ext cx="9163665" cy="4530725"/>
          </a:xfrm>
        </p:spPr>
        <p:txBody>
          <a:bodyPr/>
          <a:lstStyle/>
          <a:p>
            <a:pPr marL="633413" indent="-633413">
              <a:buNone/>
            </a:pPr>
            <a:r>
              <a:rPr lang="en-US" altLang="en-US" dirty="0"/>
              <a:t>1. 	Let </a:t>
            </a:r>
            <a:r>
              <a:rPr lang="en-US" altLang="en-US" i="1" dirty="0"/>
              <a:t>X</a:t>
            </a:r>
            <a:r>
              <a:rPr lang="en-US" altLang="en-US" dirty="0"/>
              <a:t> = {0, 1, 2, 3} and let the relation </a:t>
            </a:r>
            <a:r>
              <a:rPr lang="en-US" altLang="en-US" i="1" dirty="0"/>
              <a:t>R</a:t>
            </a:r>
            <a:r>
              <a:rPr lang="en-US" altLang="en-US" dirty="0"/>
              <a:t> on </a:t>
            </a:r>
            <a:r>
              <a:rPr lang="en-US" altLang="en-US" i="1" dirty="0"/>
              <a:t>X</a:t>
            </a:r>
            <a:r>
              <a:rPr lang="en-US" altLang="en-US" dirty="0"/>
              <a:t> be given by 	</a:t>
            </a:r>
            <a:r>
              <a:rPr lang="en-US" altLang="en-US" i="1" dirty="0"/>
              <a:t>R</a:t>
            </a:r>
            <a:r>
              <a:rPr lang="en-US" altLang="en-US" dirty="0"/>
              <a:t> = {(</a:t>
            </a:r>
            <a:r>
              <a:rPr lang="en-US" altLang="en-US" i="1" dirty="0"/>
              <a:t>x</a:t>
            </a:r>
            <a:r>
              <a:rPr lang="en-US" altLang="en-US" dirty="0"/>
              <a:t>, </a:t>
            </a:r>
            <a:r>
              <a:rPr lang="en-US" altLang="en-US" i="1" dirty="0"/>
              <a:t>y</a:t>
            </a:r>
            <a:r>
              <a:rPr lang="en-US" altLang="en-US" dirty="0"/>
              <a:t>): 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 ℕ,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+ 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1341438" indent="-1341438">
              <a:buNone/>
              <a:tabLst>
                <a:tab pos="712788" algn="l"/>
                <a:tab pos="1341438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What is an easier way of expressing the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?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i="1" dirty="0"/>
              <a:t>R</a:t>
            </a:r>
            <a:r>
              <a:rPr lang="en-US" altLang="en-US" dirty="0"/>
              <a:t> = {(</a:t>
            </a:r>
            <a:r>
              <a:rPr lang="en-US" altLang="en-US" i="1" dirty="0"/>
              <a:t>x</a:t>
            </a:r>
            <a:r>
              <a:rPr lang="en-US" altLang="en-US" dirty="0"/>
              <a:t>, </a:t>
            </a:r>
            <a:r>
              <a:rPr lang="en-US" altLang="en-US" i="1" dirty="0"/>
              <a:t>y</a:t>
            </a:r>
            <a:r>
              <a:rPr lang="en-US" altLang="en-US" dirty="0"/>
              <a:t>): (</a:t>
            </a:r>
            <a:r>
              <a:rPr lang="en-US" altLang="en-US" i="1" dirty="0">
                <a:sym typeface="Symbol" panose="05050102010706020507" pitchFamily="18" charset="2"/>
              </a:rPr>
              <a:t>x, y</a:t>
            </a:r>
            <a:r>
              <a:rPr lang="en-US" altLang="en-US" dirty="0">
                <a:sym typeface="Symbol" panose="05050102010706020507" pitchFamily="18" charset="2"/>
              </a:rPr>
              <a:t>  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)(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&lt; </a:t>
            </a:r>
            <a:r>
              <a:rPr lang="en-US" altLang="en-US" i="1" dirty="0">
                <a:sym typeface="Symbol" panose="05050102010706020507" pitchFamily="18" charset="2"/>
              </a:rPr>
              <a:t>y)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(ii)	List all the 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= {(0, 1), (0, 2), (0, 3), (1, 2), (1, 3), (2, 3)}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9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19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E236693D-3995-40FF-B28D-7522C5A2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BAEEBF-8D54-4BFE-B8D1-23B1BE39245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E6C841E4-1F30-4078-9B72-00443F9FB0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90844B27-9A40-4931-98A9-ABB3D3B26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3990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(iii)	Sketch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and circle the 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.		         </a:t>
            </a:r>
          </a:p>
        </p:txBody>
      </p:sp>
      <p:sp>
        <p:nvSpPr>
          <p:cNvPr id="16389" name="Line 4">
            <a:extLst>
              <a:ext uri="{FF2B5EF4-FFF2-40B4-BE49-F238E27FC236}">
                <a16:creationId xmlns:a16="http://schemas.microsoft.com/office/drawing/2014/main" id="{71A152C4-1E1B-4AA5-AC06-2183A8C2B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539" y="5573713"/>
            <a:ext cx="4338637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A8B3A63F-2326-4126-BAD5-DAFDAB67F711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2820988" y="4475163"/>
            <a:ext cx="3643313" cy="14288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2BB52240-45E2-4D13-A8AF-4DCDBFE13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975" y="3146425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</a:rPr>
              <a:t>3</a:t>
            </a:r>
            <a:endParaRPr lang="en-GB" altLang="en-US" b="1">
              <a:solidFill>
                <a:srgbClr val="0070C0"/>
              </a:solidFill>
            </a:endParaRPr>
          </a:p>
        </p:txBody>
      </p:sp>
      <p:sp>
        <p:nvSpPr>
          <p:cNvPr id="16392" name="Text Box 7">
            <a:extLst>
              <a:ext uri="{FF2B5EF4-FFF2-40B4-BE49-F238E27FC236}">
                <a16:creationId xmlns:a16="http://schemas.microsoft.com/office/drawing/2014/main" id="{98C6DEF4-B101-43D4-83C1-A044D56C5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8925" y="3889375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</a:rPr>
              <a:t>2</a:t>
            </a:r>
            <a:endParaRPr lang="en-GB" altLang="en-US" b="1">
              <a:solidFill>
                <a:srgbClr val="0070C0"/>
              </a:solidFill>
            </a:endParaRPr>
          </a:p>
        </p:txBody>
      </p:sp>
      <p:sp>
        <p:nvSpPr>
          <p:cNvPr id="16393" name="Text Box 8">
            <a:extLst>
              <a:ext uri="{FF2B5EF4-FFF2-40B4-BE49-F238E27FC236}">
                <a16:creationId xmlns:a16="http://schemas.microsoft.com/office/drawing/2014/main" id="{39392D94-8F49-44CE-AE37-EDB41608D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050" y="4584700"/>
            <a:ext cx="711200" cy="4572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1</a:t>
            </a:r>
            <a:endParaRPr lang="en-GB" altLang="en-US" b="1" dirty="0">
              <a:solidFill>
                <a:srgbClr val="0070C0"/>
              </a:solidFill>
            </a:endParaRPr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6A91D46A-D5CC-49D9-A9B2-7CB15FBBA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5565775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</a:rPr>
              <a:t>0</a:t>
            </a:r>
            <a:endParaRPr lang="en-GB" altLang="en-US" b="1">
              <a:solidFill>
                <a:srgbClr val="0070C0"/>
              </a:solidFill>
            </a:endParaRPr>
          </a:p>
        </p:txBody>
      </p:sp>
      <p:sp>
        <p:nvSpPr>
          <p:cNvPr id="16395" name="Text Box 10">
            <a:extLst>
              <a:ext uri="{FF2B5EF4-FFF2-40B4-BE49-F238E27FC236}">
                <a16:creationId xmlns:a16="http://schemas.microsoft.com/office/drawing/2014/main" id="{5698A909-72CE-4852-A73D-6FC571717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2075" y="5653088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</a:rPr>
              <a:t>1</a:t>
            </a:r>
            <a:endParaRPr lang="en-GB" altLang="en-US" b="1">
              <a:solidFill>
                <a:srgbClr val="0070C0"/>
              </a:solidFill>
            </a:endParaRPr>
          </a:p>
        </p:txBody>
      </p:sp>
      <p:sp>
        <p:nvSpPr>
          <p:cNvPr id="16396" name="Text Box 11">
            <a:extLst>
              <a:ext uri="{FF2B5EF4-FFF2-40B4-BE49-F238E27FC236}">
                <a16:creationId xmlns:a16="http://schemas.microsoft.com/office/drawing/2014/main" id="{3594031D-A3F3-421E-85FE-1D3FD71C4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2488" y="5637213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0070C0"/>
                </a:solidFill>
              </a:rPr>
              <a:t>2</a:t>
            </a:r>
            <a:endParaRPr lang="en-GB" altLang="en-US" b="1">
              <a:solidFill>
                <a:srgbClr val="0070C0"/>
              </a:solidFill>
            </a:endParaRPr>
          </a:p>
        </p:txBody>
      </p:sp>
      <p:sp>
        <p:nvSpPr>
          <p:cNvPr id="16397" name="Text Box 12">
            <a:extLst>
              <a:ext uri="{FF2B5EF4-FFF2-40B4-BE49-F238E27FC236}">
                <a16:creationId xmlns:a16="http://schemas.microsoft.com/office/drawing/2014/main" id="{C065AEE7-30CC-46F3-A527-DE487299C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5664200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rgbClr val="0070C0"/>
                </a:solidFill>
              </a:rPr>
              <a:t>3</a:t>
            </a:r>
            <a:endParaRPr lang="en-GB" altLang="en-US" b="1" dirty="0">
              <a:solidFill>
                <a:srgbClr val="0070C0"/>
              </a:solidFill>
            </a:endParaRPr>
          </a:p>
        </p:txBody>
      </p:sp>
      <p:sp>
        <p:nvSpPr>
          <p:cNvPr id="16398" name="Text Box 13">
            <a:extLst>
              <a:ext uri="{FF2B5EF4-FFF2-40B4-BE49-F238E27FC236}">
                <a16:creationId xmlns:a16="http://schemas.microsoft.com/office/drawing/2014/main" id="{C12A8DE8-229F-46C4-ACC0-B6DC009FA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675" y="2540000"/>
            <a:ext cx="71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i="1">
                <a:solidFill>
                  <a:srgbClr val="171BAD"/>
                </a:solidFill>
              </a:rPr>
              <a:t>y</a:t>
            </a:r>
            <a:endParaRPr lang="en-GB" altLang="en-US" b="1" i="1">
              <a:solidFill>
                <a:srgbClr val="171BAD"/>
              </a:solidFill>
            </a:endParaRPr>
          </a:p>
        </p:txBody>
      </p:sp>
      <p:sp>
        <p:nvSpPr>
          <p:cNvPr id="16399" name="Text Box 14">
            <a:extLst>
              <a:ext uri="{FF2B5EF4-FFF2-40B4-BE49-F238E27FC236}">
                <a16:creationId xmlns:a16="http://schemas.microsoft.com/office/drawing/2014/main" id="{C5ED8E2B-1139-4508-BFB9-6B0C1C329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963" y="5610225"/>
            <a:ext cx="71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b="1" i="1">
                <a:solidFill>
                  <a:srgbClr val="0070C0"/>
                </a:solidFill>
              </a:rPr>
              <a:t>x</a:t>
            </a:r>
            <a:endParaRPr lang="en-GB" altLang="en-US" b="1" i="1">
              <a:solidFill>
                <a:srgbClr val="0070C0"/>
              </a:solidFill>
            </a:endParaRPr>
          </a:p>
        </p:txBody>
      </p:sp>
      <p:grpSp>
        <p:nvGrpSpPr>
          <p:cNvPr id="16400" name="Group 23">
            <a:extLst>
              <a:ext uri="{FF2B5EF4-FFF2-40B4-BE49-F238E27FC236}">
                <a16:creationId xmlns:a16="http://schemas.microsoft.com/office/drawing/2014/main" id="{884AD319-13AF-4425-BEB1-2C53065EBC45}"/>
              </a:ext>
            </a:extLst>
          </p:cNvPr>
          <p:cNvGrpSpPr>
            <a:grpSpLocks/>
          </p:cNvGrpSpPr>
          <p:nvPr/>
        </p:nvGrpSpPr>
        <p:grpSpPr bwMode="auto">
          <a:xfrm>
            <a:off x="5173663" y="3208338"/>
            <a:ext cx="361950" cy="361950"/>
            <a:chOff x="490" y="2606"/>
            <a:chExt cx="228" cy="228"/>
          </a:xfrm>
        </p:grpSpPr>
        <p:sp>
          <p:nvSpPr>
            <p:cNvPr id="16437" name="Line 21">
              <a:extLst>
                <a:ext uri="{FF2B5EF4-FFF2-40B4-BE49-F238E27FC236}">
                  <a16:creationId xmlns:a16="http://schemas.microsoft.com/office/drawing/2014/main" id="{CE21759E-C822-4D2A-9C86-BDCD05AA8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38" name="Line 22">
              <a:extLst>
                <a:ext uri="{FF2B5EF4-FFF2-40B4-BE49-F238E27FC236}">
                  <a16:creationId xmlns:a16="http://schemas.microsoft.com/office/drawing/2014/main" id="{BBEE2D83-CE3B-48EF-8967-CF3C3F157F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1" name="Group 24">
            <a:extLst>
              <a:ext uri="{FF2B5EF4-FFF2-40B4-BE49-F238E27FC236}">
                <a16:creationId xmlns:a16="http://schemas.microsoft.com/office/drawing/2014/main" id="{C789047F-7946-433C-9B77-4F229EF56463}"/>
              </a:ext>
            </a:extLst>
          </p:cNvPr>
          <p:cNvGrpSpPr>
            <a:grpSpLocks/>
          </p:cNvGrpSpPr>
          <p:nvPr/>
        </p:nvGrpSpPr>
        <p:grpSpPr bwMode="auto">
          <a:xfrm>
            <a:off x="5175250" y="3952875"/>
            <a:ext cx="361950" cy="361950"/>
            <a:chOff x="490" y="2606"/>
            <a:chExt cx="228" cy="228"/>
          </a:xfrm>
        </p:grpSpPr>
        <p:sp>
          <p:nvSpPr>
            <p:cNvPr id="16435" name="Line 25">
              <a:extLst>
                <a:ext uri="{FF2B5EF4-FFF2-40B4-BE49-F238E27FC236}">
                  <a16:creationId xmlns:a16="http://schemas.microsoft.com/office/drawing/2014/main" id="{F1A19E87-BC76-4E09-AD53-C50B2948A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36" name="Line 26">
              <a:extLst>
                <a:ext uri="{FF2B5EF4-FFF2-40B4-BE49-F238E27FC236}">
                  <a16:creationId xmlns:a16="http://schemas.microsoft.com/office/drawing/2014/main" id="{661CDE40-BBE8-4351-B34F-55687202265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2" name="Group 27">
            <a:extLst>
              <a:ext uri="{FF2B5EF4-FFF2-40B4-BE49-F238E27FC236}">
                <a16:creationId xmlns:a16="http://schemas.microsoft.com/office/drawing/2014/main" id="{2FA0C6BB-56D8-4702-A250-F25846DCF9F2}"/>
              </a:ext>
            </a:extLst>
          </p:cNvPr>
          <p:cNvGrpSpPr>
            <a:grpSpLocks/>
          </p:cNvGrpSpPr>
          <p:nvPr/>
        </p:nvGrpSpPr>
        <p:grpSpPr bwMode="auto">
          <a:xfrm>
            <a:off x="5191125" y="4640263"/>
            <a:ext cx="361950" cy="361950"/>
            <a:chOff x="490" y="2606"/>
            <a:chExt cx="228" cy="228"/>
          </a:xfrm>
        </p:grpSpPr>
        <p:sp>
          <p:nvSpPr>
            <p:cNvPr id="16433" name="Line 28">
              <a:extLst>
                <a:ext uri="{FF2B5EF4-FFF2-40B4-BE49-F238E27FC236}">
                  <a16:creationId xmlns:a16="http://schemas.microsoft.com/office/drawing/2014/main" id="{89410643-6576-4BAE-B22F-614B431260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34" name="Line 29">
              <a:extLst>
                <a:ext uri="{FF2B5EF4-FFF2-40B4-BE49-F238E27FC236}">
                  <a16:creationId xmlns:a16="http://schemas.microsoft.com/office/drawing/2014/main" id="{FA110574-B6DD-4DA7-B0D4-9024E5E27E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3" name="Group 30">
            <a:extLst>
              <a:ext uri="{FF2B5EF4-FFF2-40B4-BE49-F238E27FC236}">
                <a16:creationId xmlns:a16="http://schemas.microsoft.com/office/drawing/2014/main" id="{5D220B62-DFA6-4864-B9FD-6FF49AE890B8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3227388"/>
            <a:ext cx="361950" cy="361950"/>
            <a:chOff x="490" y="2606"/>
            <a:chExt cx="228" cy="228"/>
          </a:xfrm>
        </p:grpSpPr>
        <p:sp>
          <p:nvSpPr>
            <p:cNvPr id="16431" name="Line 31">
              <a:extLst>
                <a:ext uri="{FF2B5EF4-FFF2-40B4-BE49-F238E27FC236}">
                  <a16:creationId xmlns:a16="http://schemas.microsoft.com/office/drawing/2014/main" id="{22A9252B-D88A-411E-AF47-1EE40193D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32" name="Line 32">
              <a:extLst>
                <a:ext uri="{FF2B5EF4-FFF2-40B4-BE49-F238E27FC236}">
                  <a16:creationId xmlns:a16="http://schemas.microsoft.com/office/drawing/2014/main" id="{E78BC94A-56FF-43EA-8B58-4941F4DCE12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4" name="Group 33">
            <a:extLst>
              <a:ext uri="{FF2B5EF4-FFF2-40B4-BE49-F238E27FC236}">
                <a16:creationId xmlns:a16="http://schemas.microsoft.com/office/drawing/2014/main" id="{A7837DD7-63E9-489A-A881-BE81D5E59199}"/>
              </a:ext>
            </a:extLst>
          </p:cNvPr>
          <p:cNvGrpSpPr>
            <a:grpSpLocks/>
          </p:cNvGrpSpPr>
          <p:nvPr/>
        </p:nvGrpSpPr>
        <p:grpSpPr bwMode="auto">
          <a:xfrm>
            <a:off x="5908675" y="3943350"/>
            <a:ext cx="361950" cy="361950"/>
            <a:chOff x="490" y="2606"/>
            <a:chExt cx="228" cy="228"/>
          </a:xfrm>
        </p:grpSpPr>
        <p:sp>
          <p:nvSpPr>
            <p:cNvPr id="16429" name="Line 34">
              <a:extLst>
                <a:ext uri="{FF2B5EF4-FFF2-40B4-BE49-F238E27FC236}">
                  <a16:creationId xmlns:a16="http://schemas.microsoft.com/office/drawing/2014/main" id="{DD660C2A-22A0-4B94-B402-B4293D237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30" name="Line 35">
              <a:extLst>
                <a:ext uri="{FF2B5EF4-FFF2-40B4-BE49-F238E27FC236}">
                  <a16:creationId xmlns:a16="http://schemas.microsoft.com/office/drawing/2014/main" id="{86F2CF8E-453B-4A7B-99E4-A0923790B4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5" name="Group 36">
            <a:extLst>
              <a:ext uri="{FF2B5EF4-FFF2-40B4-BE49-F238E27FC236}">
                <a16:creationId xmlns:a16="http://schemas.microsoft.com/office/drawing/2014/main" id="{B9422430-9083-43E0-98AD-2F1FBF0E9995}"/>
              </a:ext>
            </a:extLst>
          </p:cNvPr>
          <p:cNvGrpSpPr>
            <a:grpSpLocks/>
          </p:cNvGrpSpPr>
          <p:nvPr/>
        </p:nvGrpSpPr>
        <p:grpSpPr bwMode="auto">
          <a:xfrm>
            <a:off x="5881688" y="4645025"/>
            <a:ext cx="361950" cy="361950"/>
            <a:chOff x="490" y="2606"/>
            <a:chExt cx="228" cy="228"/>
          </a:xfrm>
        </p:grpSpPr>
        <p:sp>
          <p:nvSpPr>
            <p:cNvPr id="16427" name="Line 37">
              <a:extLst>
                <a:ext uri="{FF2B5EF4-FFF2-40B4-BE49-F238E27FC236}">
                  <a16:creationId xmlns:a16="http://schemas.microsoft.com/office/drawing/2014/main" id="{AA9C56D4-17D9-46D1-A964-38D3D0EDE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28" name="Line 38">
              <a:extLst>
                <a:ext uri="{FF2B5EF4-FFF2-40B4-BE49-F238E27FC236}">
                  <a16:creationId xmlns:a16="http://schemas.microsoft.com/office/drawing/2014/main" id="{EF337369-6B7C-4376-AB9B-2B2C121909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6" name="Group 39">
            <a:extLst>
              <a:ext uri="{FF2B5EF4-FFF2-40B4-BE49-F238E27FC236}">
                <a16:creationId xmlns:a16="http://schemas.microsoft.com/office/drawing/2014/main" id="{C1B3BC1C-5D4B-4170-8397-8AF4DB29A15F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3946525"/>
            <a:ext cx="361950" cy="361950"/>
            <a:chOff x="490" y="2606"/>
            <a:chExt cx="228" cy="228"/>
          </a:xfrm>
        </p:grpSpPr>
        <p:sp>
          <p:nvSpPr>
            <p:cNvPr id="16425" name="Line 40">
              <a:extLst>
                <a:ext uri="{FF2B5EF4-FFF2-40B4-BE49-F238E27FC236}">
                  <a16:creationId xmlns:a16="http://schemas.microsoft.com/office/drawing/2014/main" id="{25EA0E0D-4929-4EE9-8D1E-CE8D1CAD5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26" name="Line 41">
              <a:extLst>
                <a:ext uri="{FF2B5EF4-FFF2-40B4-BE49-F238E27FC236}">
                  <a16:creationId xmlns:a16="http://schemas.microsoft.com/office/drawing/2014/main" id="{6FC22142-4C2A-4785-B5E2-94380ADCC7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7" name="Group 42">
            <a:extLst>
              <a:ext uri="{FF2B5EF4-FFF2-40B4-BE49-F238E27FC236}">
                <a16:creationId xmlns:a16="http://schemas.microsoft.com/office/drawing/2014/main" id="{EB8A77AE-1B42-45EA-B3EA-CECE3C7B1879}"/>
              </a:ext>
            </a:extLst>
          </p:cNvPr>
          <p:cNvGrpSpPr>
            <a:grpSpLocks/>
          </p:cNvGrpSpPr>
          <p:nvPr/>
        </p:nvGrpSpPr>
        <p:grpSpPr bwMode="auto">
          <a:xfrm>
            <a:off x="6642100" y="4662488"/>
            <a:ext cx="361950" cy="361950"/>
            <a:chOff x="490" y="2606"/>
            <a:chExt cx="228" cy="228"/>
          </a:xfrm>
        </p:grpSpPr>
        <p:sp>
          <p:nvSpPr>
            <p:cNvPr id="16423" name="Line 43">
              <a:extLst>
                <a:ext uri="{FF2B5EF4-FFF2-40B4-BE49-F238E27FC236}">
                  <a16:creationId xmlns:a16="http://schemas.microsoft.com/office/drawing/2014/main" id="{C4B4044A-B419-46A8-9F3F-6078991658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24" name="Line 44">
              <a:extLst>
                <a:ext uri="{FF2B5EF4-FFF2-40B4-BE49-F238E27FC236}">
                  <a16:creationId xmlns:a16="http://schemas.microsoft.com/office/drawing/2014/main" id="{07A2EB47-ADD8-498E-845D-F9A5F99B51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6408" name="Group 45">
            <a:extLst>
              <a:ext uri="{FF2B5EF4-FFF2-40B4-BE49-F238E27FC236}">
                <a16:creationId xmlns:a16="http://schemas.microsoft.com/office/drawing/2014/main" id="{09736388-72E5-4439-81C8-31B60195825D}"/>
              </a:ext>
            </a:extLst>
          </p:cNvPr>
          <p:cNvGrpSpPr>
            <a:grpSpLocks/>
          </p:cNvGrpSpPr>
          <p:nvPr/>
        </p:nvGrpSpPr>
        <p:grpSpPr bwMode="auto">
          <a:xfrm>
            <a:off x="6643688" y="3235325"/>
            <a:ext cx="361950" cy="361950"/>
            <a:chOff x="490" y="2606"/>
            <a:chExt cx="228" cy="228"/>
          </a:xfrm>
        </p:grpSpPr>
        <p:sp>
          <p:nvSpPr>
            <p:cNvPr id="16421" name="Line 46">
              <a:extLst>
                <a:ext uri="{FF2B5EF4-FFF2-40B4-BE49-F238E27FC236}">
                  <a16:creationId xmlns:a16="http://schemas.microsoft.com/office/drawing/2014/main" id="{BEBFF8F6-F991-4FB4-AA96-07D4E38BD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" y="260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6422" name="Line 47">
              <a:extLst>
                <a:ext uri="{FF2B5EF4-FFF2-40B4-BE49-F238E27FC236}">
                  <a16:creationId xmlns:a16="http://schemas.microsoft.com/office/drawing/2014/main" id="{AED28FD6-F5A3-4834-AE69-C4F16333694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04" y="2616"/>
              <a:ext cx="0" cy="2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420912" name="Oval 48">
            <a:extLst>
              <a:ext uri="{FF2B5EF4-FFF2-40B4-BE49-F238E27FC236}">
                <a16:creationId xmlns:a16="http://schemas.microsoft.com/office/drawing/2014/main" id="{747FC20D-8694-474C-B68F-5A27E11D3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2613" y="3889375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913" name="Oval 49">
            <a:extLst>
              <a:ext uri="{FF2B5EF4-FFF2-40B4-BE49-F238E27FC236}">
                <a16:creationId xmlns:a16="http://schemas.microsoft.com/office/drawing/2014/main" id="{16211FB3-AD26-4B45-AC67-BBDE3FD0E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4584700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915" name="Oval 51">
            <a:extLst>
              <a:ext uri="{FF2B5EF4-FFF2-40B4-BE49-F238E27FC236}">
                <a16:creationId xmlns:a16="http://schemas.microsoft.com/office/drawing/2014/main" id="{2B641545-D16B-45E6-A22C-3840F77D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1025" y="3144838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916" name="Oval 52">
            <a:extLst>
              <a:ext uri="{FF2B5EF4-FFF2-40B4-BE49-F238E27FC236}">
                <a16:creationId xmlns:a16="http://schemas.microsoft.com/office/drawing/2014/main" id="{E7B5A628-38B6-49A0-823C-9189809F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3167063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0917" name="Oval 53">
            <a:extLst>
              <a:ext uri="{FF2B5EF4-FFF2-40B4-BE49-F238E27FC236}">
                <a16:creationId xmlns:a16="http://schemas.microsoft.com/office/drawing/2014/main" id="{7380DD75-A443-459F-B1D1-A5B31B610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9300" y="3168650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14" name="Line 55">
            <a:extLst>
              <a:ext uri="{FF2B5EF4-FFF2-40B4-BE49-F238E27FC236}">
                <a16:creationId xmlns:a16="http://schemas.microsoft.com/office/drawing/2014/main" id="{A5529F2B-15EC-4B96-91EB-5A5FE1927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7338" y="5370513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415" name="Line 58">
            <a:extLst>
              <a:ext uri="{FF2B5EF4-FFF2-40B4-BE49-F238E27FC236}">
                <a16:creationId xmlns:a16="http://schemas.microsoft.com/office/drawing/2014/main" id="{A87F424F-9B93-410C-BDF2-592CC272C9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1238" y="5375275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416" name="Line 61">
            <a:extLst>
              <a:ext uri="{FF2B5EF4-FFF2-40B4-BE49-F238E27FC236}">
                <a16:creationId xmlns:a16="http://schemas.microsoft.com/office/drawing/2014/main" id="{79D97C04-94F7-4AFD-87B6-3CA3F1D57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3075" y="5378450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927" name="Oval 63">
            <a:extLst>
              <a:ext uri="{FF2B5EF4-FFF2-40B4-BE49-F238E27FC236}">
                <a16:creationId xmlns:a16="http://schemas.microsoft.com/office/drawing/2014/main" id="{B5AE5377-24F6-4B0C-AEBD-E3475BA2B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225" y="3897313"/>
            <a:ext cx="508000" cy="5080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18" name="Line 66">
            <a:extLst>
              <a:ext uri="{FF2B5EF4-FFF2-40B4-BE49-F238E27FC236}">
                <a16:creationId xmlns:a16="http://schemas.microsoft.com/office/drawing/2014/main" id="{47D1F591-439B-4ABB-A64D-94D943643AAB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641850" y="3235325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419" name="Line 69">
            <a:extLst>
              <a:ext uri="{FF2B5EF4-FFF2-40B4-BE49-F238E27FC236}">
                <a16:creationId xmlns:a16="http://schemas.microsoft.com/office/drawing/2014/main" id="{ACDE89D2-C78B-473D-934E-59E9811C4C9F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643438" y="3960813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420" name="Line 72">
            <a:extLst>
              <a:ext uri="{FF2B5EF4-FFF2-40B4-BE49-F238E27FC236}">
                <a16:creationId xmlns:a16="http://schemas.microsoft.com/office/drawing/2014/main" id="{63A6AFA5-A843-4AB2-869A-1C19D87CB19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645025" y="4676775"/>
            <a:ext cx="0" cy="3619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0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912" grpId="0" animBg="1"/>
      <p:bldP spid="420913" grpId="0" animBg="1"/>
      <p:bldP spid="420915" grpId="0" animBg="1"/>
      <p:bldP spid="420916" grpId="0" animBg="1"/>
      <p:bldP spid="420917" grpId="0" animBg="1"/>
      <p:bldP spid="4209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31D22814-1C12-433B-A34F-66A2D99E0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0EE2D3-1036-46EC-B166-0926D81CC9D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1D8F9478-A273-40B3-846F-6C24C9363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427B0B0-63DB-4B6E-83CB-AD14582EF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629" y="1365251"/>
            <a:ext cx="11164529" cy="5197781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2.	Let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be the relation on </a:t>
            </a:r>
            <a:r>
              <a:rPr lang="en-US" altLang="en-US" dirty="0">
                <a:sym typeface="Symbol" panose="05050102010706020507" pitchFamily="18" charset="2"/>
              </a:rPr>
              <a:t>ℕ</a:t>
            </a:r>
            <a:r>
              <a:rPr lang="en-US" altLang="en-US" dirty="0">
                <a:ea typeface="ＭＳ 明朝" panose="02020609040205080304" pitchFamily="49" charset="-128"/>
              </a:rPr>
              <a:t> given by </a:t>
            </a:r>
            <a:r>
              <a:rPr lang="en-US" altLang="en-US" i="1" dirty="0">
                <a:ea typeface="ＭＳ 明朝" panose="02020609040205080304" pitchFamily="49" charset="-128"/>
              </a:rPr>
              <a:t>R</a:t>
            </a:r>
            <a:r>
              <a:rPr lang="en-US" altLang="en-US" baseline="-25000" dirty="0">
                <a:ea typeface="ＭＳ 明朝" panose="02020609040205080304" pitchFamily="49" charset="-128"/>
              </a:rPr>
              <a:t>1</a:t>
            </a:r>
            <a:r>
              <a:rPr lang="en-US" altLang="en-US" dirty="0">
                <a:ea typeface="ＭＳ 明朝" panose="02020609040205080304" pitchFamily="49" charset="-128"/>
              </a:rPr>
              <a:t> = </a:t>
            </a:r>
            <a:r>
              <a:rPr lang="en-US" altLang="en-US" dirty="0"/>
              <a:t>{(</a:t>
            </a:r>
            <a:r>
              <a:rPr lang="en-US" altLang="en-US" i="1" dirty="0"/>
              <a:t>x</a:t>
            </a:r>
            <a:r>
              <a:rPr lang="en-US" altLang="en-US" dirty="0"/>
              <a:t>, </a:t>
            </a:r>
            <a:r>
              <a:rPr lang="en-US" altLang="en-US" i="1" dirty="0"/>
              <a:t>y</a:t>
            </a:r>
            <a:r>
              <a:rPr lang="en-US" altLang="en-US" dirty="0"/>
              <a:t>):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}. </a:t>
            </a:r>
            <a:endParaRPr lang="en-US" altLang="en-US" dirty="0">
              <a:ea typeface="ＭＳ 明朝" panose="02020609040205080304" pitchFamily="49" charset="-128"/>
            </a:endParaRPr>
          </a:p>
          <a:p>
            <a:pPr marL="722313" indent="-722313">
              <a:buNone/>
            </a:pPr>
            <a:r>
              <a:rPr lang="en-US" altLang="en-US" dirty="0">
                <a:ea typeface="ＭＳ 明朝" panose="02020609040205080304" pitchFamily="49" charset="-128"/>
              </a:rPr>
              <a:t>	</a:t>
            </a:r>
            <a:r>
              <a:rPr lang="en-US" altLang="en-US" dirty="0"/>
              <a:t>Let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be the relation on ℝ</a:t>
            </a:r>
            <a:r>
              <a:rPr lang="en-US" altLang="en-US" dirty="0">
                <a:ea typeface="ＭＳ 明朝" panose="02020609040205080304" pitchFamily="49" charset="-128"/>
              </a:rPr>
              <a:t> given by </a:t>
            </a:r>
            <a:r>
              <a:rPr lang="en-US" altLang="en-US" i="1" dirty="0">
                <a:ea typeface="ＭＳ 明朝" panose="02020609040205080304" pitchFamily="49" charset="-128"/>
              </a:rPr>
              <a:t>R</a:t>
            </a:r>
            <a:r>
              <a:rPr lang="en-US" altLang="en-US" baseline="-25000" dirty="0">
                <a:ea typeface="ＭＳ 明朝" panose="02020609040205080304" pitchFamily="49" charset="-128"/>
              </a:rPr>
              <a:t>2</a:t>
            </a:r>
            <a:r>
              <a:rPr lang="en-US" altLang="en-US" dirty="0">
                <a:ea typeface="ＭＳ 明朝" panose="02020609040205080304" pitchFamily="49" charset="-128"/>
              </a:rPr>
              <a:t> = </a:t>
            </a:r>
            <a:r>
              <a:rPr lang="en-US" altLang="en-US" dirty="0"/>
              <a:t>{(</a:t>
            </a:r>
            <a:r>
              <a:rPr lang="en-US" altLang="en-US" i="1" dirty="0"/>
              <a:t>x</a:t>
            </a:r>
            <a:r>
              <a:rPr lang="en-US" altLang="en-US" dirty="0"/>
              <a:t>, </a:t>
            </a:r>
            <a:r>
              <a:rPr lang="en-US" altLang="en-US" i="1" dirty="0"/>
              <a:t>y</a:t>
            </a:r>
            <a:r>
              <a:rPr lang="en-US" altLang="en-US" dirty="0"/>
              <a:t>): </a:t>
            </a:r>
            <a:r>
              <a:rPr lang="en-US" altLang="en-US" i="1" dirty="0"/>
              <a:t>y</a:t>
            </a:r>
            <a:r>
              <a:rPr lang="en-US" altLang="en-US" dirty="0"/>
              <a:t> = </a:t>
            </a:r>
            <a:r>
              <a:rPr lang="en-US" altLang="en-US" i="1" dirty="0"/>
              <a:t>x</a:t>
            </a:r>
            <a:r>
              <a:rPr lang="en-US" altLang="en-US" baseline="30000" dirty="0"/>
              <a:t>2</a:t>
            </a:r>
            <a:r>
              <a:rPr lang="en-US" altLang="en-US" dirty="0"/>
              <a:t>}. </a:t>
            </a:r>
            <a:r>
              <a:rPr lang="en-US" altLang="en-US" dirty="0">
                <a:ea typeface="ＭＳ 明朝" panose="02020609040205080304" pitchFamily="49" charset="-128"/>
              </a:rPr>
              <a:t>By sketching each relation, we can see how the “input set” makes a difference to the elements in the relation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E18DDEC8-745C-498B-8C71-A0AD89DA0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50" y="3630614"/>
            <a:ext cx="6211888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4A81E7A5-51D8-45C4-B3BB-8CF6DBE2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1AAC89-032E-4F8E-88D9-5783AD6FA18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20965F1-6D0A-46E1-8F89-B520101D06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4FAC353-EB09-4C42-BEE9-CCB550B5B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037" y="1771651"/>
            <a:ext cx="9476508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We must be careful when writing relations. If a relation involves two different sets, we must make very clear the sets a relation </a:t>
            </a:r>
            <a:r>
              <a:rPr lang="en-US" altLang="en-US" i="1" dirty="0"/>
              <a:t>R</a:t>
            </a:r>
            <a:r>
              <a:rPr lang="en-US" altLang="en-US" dirty="0"/>
              <a:t> is from and to.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Since relations are subsets of cartesian products, their unions and intersections can be calculated as for any sets.</a:t>
            </a:r>
            <a:endParaRPr lang="en-US" altLang="en-US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endParaRPr lang="en-US" altLang="en-US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endParaRPr lang="en-US" altLang="en-US" dirty="0">
              <a:ea typeface="ＭＳ 明朝" panose="02020609040205080304" pitchFamily="49" charset="-12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8C398D46-F0F2-4D52-A105-76C55F780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D83367-F67A-488F-909E-D5D89823E4B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7A8AFC6-A24A-4C6E-ABAA-F006B39F3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99B8245D-16AC-4F6A-ABB9-5417F1B0B3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9392" y="1771651"/>
            <a:ext cx="9581408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 </a:t>
            </a:r>
            <a:r>
              <a:rPr lang="en-US" altLang="en-US" i="1" dirty="0"/>
              <a:t>A</a:t>
            </a:r>
            <a:r>
              <a:rPr lang="en-US" altLang="en-US" dirty="0"/>
              <a:t> = {0, 1} and </a:t>
            </a:r>
            <a:r>
              <a:rPr lang="en-US" altLang="en-US" i="1" dirty="0"/>
              <a:t>B</a:t>
            </a:r>
            <a:r>
              <a:rPr lang="en-US" altLang="en-US" dirty="0"/>
              <a:t> = {-1, 0, 1}. Let two relations from </a:t>
            </a:r>
            <a:r>
              <a:rPr lang="en-US" altLang="en-US" i="1" dirty="0"/>
              <a:t>A</a:t>
            </a:r>
            <a:r>
              <a:rPr lang="en-US" altLang="en-US" dirty="0"/>
              <a:t> to </a:t>
            </a:r>
            <a:r>
              <a:rPr lang="en-US" altLang="en-US" i="1" dirty="0"/>
              <a:t>B</a:t>
            </a:r>
            <a:r>
              <a:rPr lang="en-US" altLang="en-US" dirty="0"/>
              <a:t> be given by </a:t>
            </a:r>
          </a:p>
          <a:p>
            <a:pPr marL="0" indent="0">
              <a:buNone/>
            </a:pPr>
            <a:r>
              <a:rPr lang="en-US" altLang="en-US" dirty="0"/>
              <a:t>			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= {(0, -1), (1, -1), (1, 0)}, </a:t>
            </a:r>
          </a:p>
          <a:p>
            <a:pPr marL="0" indent="0">
              <a:buNone/>
            </a:pPr>
            <a:r>
              <a:rPr lang="en-US" altLang="en-US" dirty="0"/>
              <a:t>	and 		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{(0, 0), (1, 1), (1, -1)}.</a:t>
            </a:r>
          </a:p>
          <a:p>
            <a:pPr marL="0" indent="0">
              <a:buNone/>
            </a:pPr>
            <a:r>
              <a:rPr lang="en-US" altLang="en-US" dirty="0"/>
              <a:t>Write down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and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	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{(1, -1)}</a:t>
            </a:r>
          </a:p>
          <a:p>
            <a:pPr marL="0" indent="0">
              <a:buNone/>
            </a:pPr>
            <a:r>
              <a:rPr lang="en-US" altLang="en-US" dirty="0"/>
              <a:t>	 </a:t>
            </a:r>
            <a:r>
              <a:rPr lang="en-US" altLang="en-US" i="1" dirty="0"/>
              <a:t>R</a:t>
            </a:r>
            <a:r>
              <a:rPr lang="en-US" altLang="en-US" baseline="-25000" dirty="0"/>
              <a:t>1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 = {(0, -1), (0, 0), (1, -1), (1, 0), (1, 1)}.3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5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5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3FAA65EE-1B90-4A20-BF2B-3E614063B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63B300C-7F1E-4CDC-B19E-A6E9EA75152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03AF1D2-8A95-4D75-AA26-EBA3C7CC6D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and Range of Relations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087B0EC5-2363-44F5-AFEC-01BA7EDB0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Let </a:t>
            </a:r>
            <a:r>
              <a:rPr lang="en-US" altLang="en-US" i="1" dirty="0"/>
              <a:t>R</a:t>
            </a:r>
            <a:r>
              <a:rPr lang="en-US" altLang="en-US" dirty="0"/>
              <a:t> be a relation from </a:t>
            </a:r>
            <a:r>
              <a:rPr lang="en-US" altLang="en-US" i="1" dirty="0"/>
              <a:t>A</a:t>
            </a:r>
            <a:r>
              <a:rPr lang="en-US" altLang="en-US" dirty="0"/>
              <a:t> to </a:t>
            </a:r>
            <a:r>
              <a:rPr lang="en-US" altLang="en-US" i="1" dirty="0"/>
              <a:t>B</a:t>
            </a:r>
            <a:r>
              <a:rPr lang="en-US" altLang="en-US" dirty="0"/>
              <a:t>. </a:t>
            </a:r>
          </a:p>
          <a:p>
            <a:pPr marL="0" indent="0">
              <a:buNone/>
            </a:pPr>
            <a:r>
              <a:rPr lang="en-US" altLang="en-US" dirty="0"/>
              <a:t>Then the </a:t>
            </a:r>
            <a:r>
              <a:rPr lang="en-US" altLang="en-US" b="1" dirty="0">
                <a:solidFill>
                  <a:schemeClr val="hlink"/>
                </a:solidFill>
              </a:rPr>
              <a:t>domain of </a:t>
            </a:r>
            <a:r>
              <a:rPr lang="en-US" altLang="en-US" b="1" i="1" dirty="0">
                <a:solidFill>
                  <a:schemeClr val="hlink"/>
                </a:solidFill>
              </a:rPr>
              <a:t>R</a:t>
            </a:r>
            <a:r>
              <a:rPr lang="en-US" altLang="en-US" dirty="0"/>
              <a:t>, denoted by Dom </a:t>
            </a:r>
            <a:r>
              <a:rPr lang="en-US" altLang="en-US" i="1" dirty="0"/>
              <a:t>R</a:t>
            </a:r>
            <a:r>
              <a:rPr lang="en-US" altLang="en-US" dirty="0"/>
              <a:t>, is given by </a:t>
            </a:r>
          </a:p>
          <a:p>
            <a:pPr marL="0" indent="0">
              <a:buNone/>
            </a:pPr>
            <a:r>
              <a:rPr lang="en-US" altLang="en-US" dirty="0"/>
              <a:t>			Dom </a:t>
            </a:r>
            <a:r>
              <a:rPr lang="en-US" altLang="en-US" i="1" dirty="0"/>
              <a:t>R</a:t>
            </a:r>
            <a:r>
              <a:rPr lang="en-US" altLang="en-US" dirty="0"/>
              <a:t> = {</a:t>
            </a:r>
            <a:r>
              <a:rPr lang="en-US" altLang="en-US" i="1" dirty="0"/>
              <a:t>x</a:t>
            </a:r>
            <a:r>
              <a:rPr lang="en-US" altLang="en-US" dirty="0"/>
              <a:t>: </a:t>
            </a:r>
            <a:r>
              <a:rPr lang="en-US" altLang="en-US" dirty="0">
                <a:sym typeface="Symbol" panose="05050102010706020507" pitchFamily="18" charset="2"/>
              </a:rPr>
              <a:t>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xRy</a:t>
            </a:r>
            <a:r>
              <a:rPr lang="en-US" altLang="en-US" dirty="0">
                <a:sym typeface="Symbol" panose="05050102010706020507" pitchFamily="18" charset="2"/>
              </a:rPr>
              <a:t>} 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and the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range of </a:t>
            </a:r>
            <a:r>
              <a:rPr lang="en-US" altLang="en-US" b="1" i="1" dirty="0">
                <a:solidFill>
                  <a:schemeClr val="hlink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denoted Range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is given by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Range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: 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 err="1">
                <a:sym typeface="Symbol" panose="05050102010706020507" pitchFamily="18" charset="2"/>
              </a:rPr>
              <a:t>xRy</a:t>
            </a:r>
            <a:r>
              <a:rPr lang="en-US" altLang="en-US" dirty="0">
                <a:sym typeface="Symbol" panose="05050102010706020507" pitchFamily="18" charset="2"/>
              </a:rPr>
              <a:t>}</a:t>
            </a:r>
            <a:endParaRPr lang="en-US" altLang="en-US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endParaRPr lang="en-US" altLang="en-US" dirty="0">
              <a:ea typeface="ＭＳ 明朝" panose="020206090402050803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499CEB71-258A-4EE8-99A9-683E2F2F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8DA307-9F35-4AA8-BEC7-3A8C614280E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EAC33D3-FFEF-4702-94F1-E53423C3D8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9059" name="Rectangle 3">
            <a:extLst>
              <a:ext uri="{FF2B5EF4-FFF2-40B4-BE49-F238E27FC236}">
                <a16:creationId xmlns:a16="http://schemas.microsoft.com/office/drawing/2014/main" id="{958AEA06-E825-4E61-B831-14F8E9293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/>
              <a:t>1.	Let </a:t>
            </a:r>
            <a:r>
              <a:rPr lang="en-US" altLang="en-US" i="1"/>
              <a:t>A</a:t>
            </a:r>
            <a:r>
              <a:rPr lang="en-US" altLang="en-US"/>
              <a:t> = {0, 1, 2, 3} and let </a:t>
            </a:r>
            <a:r>
              <a:rPr lang="en-US" altLang="en-US" i="1"/>
              <a:t>R</a:t>
            </a:r>
            <a:r>
              <a:rPr lang="en-US" altLang="en-US"/>
              <a:t> be a relation on </a:t>
            </a:r>
            <a:r>
              <a:rPr lang="en-US" altLang="en-US" i="1"/>
              <a:t>A</a:t>
            </a:r>
            <a:r>
              <a:rPr lang="en-US" altLang="en-US"/>
              <a:t> given by 		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= {(0, 0), (0, 1), (0, 2), (3, 0)}.</a:t>
            </a:r>
          </a:p>
          <a:p>
            <a:pPr marL="0" indent="0">
              <a:buNone/>
            </a:pPr>
            <a:r>
              <a:rPr lang="en-US" altLang="en-US"/>
              <a:t>	Write down Dom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and Range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.</a:t>
            </a:r>
          </a:p>
          <a:p>
            <a:pPr marL="0" indent="0">
              <a:buNone/>
            </a:pPr>
            <a:r>
              <a:rPr lang="en-US" altLang="en-US"/>
              <a:t>	Dom </a:t>
            </a:r>
            <a:r>
              <a:rPr lang="en-US" altLang="en-US" i="1"/>
              <a:t>R</a:t>
            </a:r>
            <a:r>
              <a:rPr lang="en-US" altLang="en-US" baseline="-25000"/>
              <a:t>1 </a:t>
            </a:r>
            <a:r>
              <a:rPr lang="en-US" altLang="en-US"/>
              <a:t>= {0, 3}</a:t>
            </a:r>
          </a:p>
          <a:p>
            <a:pPr marL="0" indent="0">
              <a:buNone/>
            </a:pPr>
            <a:r>
              <a:rPr lang="en-US" altLang="en-US"/>
              <a:t>	Range </a:t>
            </a:r>
            <a:r>
              <a:rPr lang="en-US" altLang="en-US" i="1"/>
              <a:t>R</a:t>
            </a:r>
            <a:r>
              <a:rPr lang="en-US" altLang="en-US" baseline="-25000"/>
              <a:t>1</a:t>
            </a:r>
            <a:r>
              <a:rPr lang="en-US" altLang="en-US"/>
              <a:t> = {0, 1, 2}</a:t>
            </a: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2.	Let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be the relation on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/>
              <a:t> given by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= {(</a:t>
            </a:r>
            <a:r>
              <a:rPr lang="en-US" altLang="en-US" i="1"/>
              <a:t>x</a:t>
            </a:r>
            <a:r>
              <a:rPr lang="en-US" altLang="en-US"/>
              <a:t>, </a:t>
            </a:r>
            <a:r>
              <a:rPr lang="en-US" altLang="en-US" i="1"/>
              <a:t>y</a:t>
            </a:r>
            <a:r>
              <a:rPr lang="en-US" altLang="en-US"/>
              <a:t>): </a:t>
            </a:r>
            <a:r>
              <a:rPr lang="en-US" altLang="en-US" i="1"/>
              <a:t>xy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 0}.</a:t>
            </a:r>
          </a:p>
          <a:p>
            <a:pPr marL="0" indent="0">
              <a:buNone/>
            </a:pPr>
            <a:r>
              <a:rPr lang="en-US" altLang="en-US">
                <a:ea typeface="ＭＳ 明朝" panose="02020609040205080304" pitchFamily="49" charset="-128"/>
              </a:rPr>
              <a:t>	What are </a:t>
            </a:r>
            <a:r>
              <a:rPr lang="en-US" altLang="en-US"/>
              <a:t>Dom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and Range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.</a:t>
            </a:r>
          </a:p>
          <a:p>
            <a:pPr marL="0" indent="0">
              <a:buNone/>
            </a:pPr>
            <a:r>
              <a:rPr lang="en-US" altLang="en-US"/>
              <a:t>	Dom </a:t>
            </a:r>
            <a:r>
              <a:rPr lang="en-US" altLang="en-US" i="1"/>
              <a:t>R</a:t>
            </a:r>
            <a:r>
              <a:rPr lang="en-US" altLang="en-US" baseline="-25000"/>
              <a:t>2 </a:t>
            </a:r>
            <a:r>
              <a:rPr lang="en-US" altLang="en-US"/>
              <a:t>=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ea typeface="ＭＳ 明朝" panose="02020609040205080304" pitchFamily="49" charset="-128"/>
              </a:rPr>
              <a:t> - {0</a:t>
            </a:r>
            <a:r>
              <a:rPr lang="en-US" altLang="en-US"/>
              <a:t>}</a:t>
            </a:r>
          </a:p>
          <a:p>
            <a:pPr marL="0" indent="0">
              <a:buNone/>
            </a:pPr>
            <a:r>
              <a:rPr lang="en-US" altLang="en-US"/>
              <a:t>	Range </a:t>
            </a:r>
            <a:r>
              <a:rPr lang="en-US" altLang="en-US" i="1"/>
              <a:t>R</a:t>
            </a:r>
            <a:r>
              <a:rPr lang="en-US" altLang="en-US" baseline="-25000"/>
              <a:t>2</a:t>
            </a:r>
            <a:r>
              <a:rPr lang="en-US" altLang="en-US"/>
              <a:t> =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ea typeface="ＭＳ 明朝" panose="02020609040205080304" pitchFamily="49" charset="-128"/>
              </a:rPr>
              <a:t> - {0</a:t>
            </a:r>
            <a:r>
              <a:rPr lang="en-US" altLang="en-US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29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9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29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29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29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29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FE445F30-DFD1-44E5-A138-10BD24EF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7CDF1A-35AA-4EE2-9337-81F4961E955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2FB6D7A-0EAF-4D3B-9B13-3DB7A285D0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083" name="Rectangle 3">
            <a:extLst>
              <a:ext uri="{FF2B5EF4-FFF2-40B4-BE49-F238E27FC236}">
                <a16:creationId xmlns:a16="http://schemas.microsoft.com/office/drawing/2014/main" id="{92B911E2-08DD-4712-89C0-8546DD91D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3.	Let </a:t>
            </a:r>
            <a:r>
              <a:rPr lang="en-US" altLang="en-US" i="1"/>
              <a:t>R</a:t>
            </a:r>
            <a:r>
              <a:rPr lang="en-US" altLang="en-US" baseline="-25000"/>
              <a:t>3</a:t>
            </a:r>
            <a:r>
              <a:rPr lang="en-US" altLang="en-US"/>
              <a:t> be the relation from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/>
              <a:t> to </a:t>
            </a:r>
            <a:r>
              <a:rPr lang="en-US" altLang="zh-CN">
                <a:ea typeface="ＭＳ 明朝" panose="02020609040205080304" pitchFamily="49" charset="-128"/>
              </a:rPr>
              <a:t>ℚ</a:t>
            </a:r>
            <a:r>
              <a:rPr lang="en-US" altLang="en-US"/>
              <a:t> given by </a:t>
            </a:r>
          </a:p>
          <a:p>
            <a:pPr marL="0" indent="0">
              <a:buNone/>
            </a:pPr>
            <a:r>
              <a:rPr lang="en-US" altLang="en-US" i="1"/>
              <a:t>			R</a:t>
            </a:r>
            <a:r>
              <a:rPr lang="en-US" altLang="en-US" baseline="-25000"/>
              <a:t>3</a:t>
            </a:r>
            <a:r>
              <a:rPr lang="en-US" altLang="en-US"/>
              <a:t> = {(</a:t>
            </a:r>
            <a:r>
              <a:rPr lang="en-US" altLang="en-US" i="1"/>
              <a:t>x</a:t>
            </a:r>
            <a:r>
              <a:rPr lang="en-US" altLang="en-US"/>
              <a:t>, </a:t>
            </a:r>
            <a:r>
              <a:rPr lang="en-US" altLang="en-US" i="1"/>
              <a:t>y</a:t>
            </a:r>
            <a:r>
              <a:rPr lang="en-US" altLang="en-US"/>
              <a:t>): </a:t>
            </a:r>
            <a:r>
              <a:rPr lang="en-US" altLang="en-US" i="1"/>
              <a:t>x </a:t>
            </a:r>
            <a:r>
              <a:rPr lang="en-US" altLang="en-US">
                <a:sym typeface="Symbol" panose="05050102010706020507" pitchFamily="18" charset="2"/>
              </a:rPr>
              <a:t> 0 </a:t>
            </a:r>
            <a:r>
              <a:rPr lang="en-US" altLang="en-US" i="1"/>
              <a:t> y </a:t>
            </a:r>
            <a:r>
              <a:rPr lang="en-US" altLang="en-US"/>
              <a:t>=1/</a:t>
            </a:r>
            <a:r>
              <a:rPr lang="en-US" altLang="en-US" i="1"/>
              <a:t>x </a:t>
            </a:r>
            <a:r>
              <a:rPr lang="en-US" altLang="en-US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r>
              <a:rPr lang="en-US" altLang="en-US">
                <a:ea typeface="ＭＳ 明朝" panose="02020609040205080304" pitchFamily="49" charset="-128"/>
              </a:rPr>
              <a:t>	Find </a:t>
            </a:r>
            <a:r>
              <a:rPr lang="en-US" altLang="en-US"/>
              <a:t>Dom </a:t>
            </a:r>
            <a:r>
              <a:rPr lang="en-US" altLang="en-US" i="1"/>
              <a:t>R</a:t>
            </a:r>
            <a:r>
              <a:rPr lang="en-US" altLang="en-US" baseline="-25000"/>
              <a:t>3</a:t>
            </a:r>
            <a:r>
              <a:rPr lang="en-US" altLang="en-US"/>
              <a:t> and Range </a:t>
            </a:r>
            <a:r>
              <a:rPr lang="en-US" altLang="en-US" i="1"/>
              <a:t>R</a:t>
            </a:r>
            <a:r>
              <a:rPr lang="en-US" altLang="en-US" baseline="-25000"/>
              <a:t>3</a:t>
            </a:r>
            <a:r>
              <a:rPr lang="en-US" altLang="en-US"/>
              <a:t>.</a:t>
            </a:r>
          </a:p>
          <a:p>
            <a:pPr marL="0" indent="0">
              <a:buNone/>
            </a:pPr>
            <a:r>
              <a:rPr lang="en-US" altLang="en-US"/>
              <a:t>	</a:t>
            </a:r>
          </a:p>
          <a:p>
            <a:pPr marL="0" indent="0">
              <a:buNone/>
            </a:pPr>
            <a:r>
              <a:rPr lang="en-US" altLang="en-US"/>
              <a:t>	Dom </a:t>
            </a:r>
            <a:r>
              <a:rPr lang="en-US" altLang="en-US" i="1"/>
              <a:t>R</a:t>
            </a:r>
            <a:r>
              <a:rPr lang="en-US" altLang="en-US" baseline="-25000"/>
              <a:t>3 </a:t>
            </a:r>
            <a:r>
              <a:rPr lang="en-US" altLang="en-US"/>
              <a:t>=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ea typeface="ＭＳ 明朝" panose="02020609040205080304" pitchFamily="49" charset="-128"/>
              </a:rPr>
              <a:t> - {0</a:t>
            </a:r>
            <a:r>
              <a:rPr lang="en-US" altLang="en-US"/>
              <a:t>}</a:t>
            </a:r>
          </a:p>
          <a:p>
            <a:pPr marL="0" indent="0">
              <a:buNone/>
            </a:pPr>
            <a:r>
              <a:rPr lang="en-US" altLang="en-US"/>
              <a:t>	Range </a:t>
            </a:r>
            <a:r>
              <a:rPr lang="en-US" altLang="en-US" i="1"/>
              <a:t>R</a:t>
            </a:r>
            <a:r>
              <a:rPr lang="en-US" altLang="en-US" baseline="-25000"/>
              <a:t>3</a:t>
            </a:r>
            <a:r>
              <a:rPr lang="en-US" altLang="en-US"/>
              <a:t> = {1/</a:t>
            </a:r>
            <a:r>
              <a:rPr lang="en-US" altLang="en-US" i="1"/>
              <a:t>n</a:t>
            </a:r>
            <a:r>
              <a:rPr lang="en-US" altLang="en-US"/>
              <a:t>: </a:t>
            </a:r>
            <a:r>
              <a:rPr lang="en-US" altLang="en-US" i="1"/>
              <a:t>n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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sym typeface="Symbol" panose="05050102010706020507" pitchFamily="18" charset="2"/>
              </a:rPr>
              <a:t>  </a:t>
            </a:r>
            <a:r>
              <a:rPr lang="en-US" altLang="en-US" i="1">
                <a:sym typeface="Symbol" panose="05050102010706020507" pitchFamily="18" charset="2"/>
              </a:rPr>
              <a:t>n</a:t>
            </a:r>
            <a:r>
              <a:rPr lang="en-US" altLang="en-US">
                <a:sym typeface="Symbol" panose="05050102010706020507" pitchFamily="18" charset="2"/>
              </a:rPr>
              <a:t>  0</a:t>
            </a:r>
            <a:r>
              <a:rPr lang="en-US" altLang="en-US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04A9805E-0C1F-4AC2-AA62-A7AA0128F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2CA94B-74D4-400C-88A7-326AD6042B0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337A2E9-908F-400C-A0E2-452982D6A0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and Range of Relations: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1107" name="Rectangle 3">
            <a:extLst>
              <a:ext uri="{FF2B5EF4-FFF2-40B4-BE49-F238E27FC236}">
                <a16:creationId xmlns:a16="http://schemas.microsoft.com/office/drawing/2014/main" id="{F0AB2955-3309-47F0-923A-CDFC93FB07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712788" indent="-712788">
              <a:buNone/>
            </a:pPr>
            <a:r>
              <a:rPr lang="en-US" altLang="en-US" dirty="0"/>
              <a:t>1.	Let </a:t>
            </a:r>
            <a:r>
              <a:rPr lang="en-US" altLang="en-US" i="1" dirty="0"/>
              <a:t>R</a:t>
            </a:r>
            <a:r>
              <a:rPr lang="en-US" altLang="en-US" dirty="0"/>
              <a:t> be a relation from </a:t>
            </a:r>
            <a:r>
              <a:rPr lang="en-US" altLang="en-US" i="1" dirty="0"/>
              <a:t>A</a:t>
            </a:r>
            <a:r>
              <a:rPr lang="en-US" altLang="en-US" dirty="0"/>
              <a:t> to </a:t>
            </a:r>
            <a:r>
              <a:rPr lang="en-US" altLang="en-US" i="1" dirty="0"/>
              <a:t>B</a:t>
            </a:r>
            <a:r>
              <a:rPr lang="en-US" altLang="en-US" dirty="0"/>
              <a:t>. Then Dom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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and 	Range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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/>
          </a:p>
          <a:p>
            <a:pPr marL="712788" indent="-712788">
              <a:buNone/>
            </a:pPr>
            <a:r>
              <a:rPr lang="en-US" altLang="en-US" dirty="0"/>
              <a:t>2.	We could say that Dom </a:t>
            </a:r>
            <a:r>
              <a:rPr lang="en-US" altLang="en-US" i="1" dirty="0"/>
              <a:t>R</a:t>
            </a:r>
            <a:r>
              <a:rPr lang="en-US" altLang="en-US" dirty="0"/>
              <a:t> is the set of all first elements in the ordered pairs that belong to </a:t>
            </a:r>
            <a:r>
              <a:rPr lang="en-US" altLang="en-US" i="1" dirty="0"/>
              <a:t>R</a:t>
            </a:r>
            <a:r>
              <a:rPr lang="en-US" altLang="en-US" dirty="0"/>
              <a:t>. </a:t>
            </a:r>
          </a:p>
          <a:p>
            <a:pPr marL="0" indent="0">
              <a:buNone/>
            </a:pPr>
            <a:endParaRPr lang="en-US" altLang="en-US" dirty="0"/>
          </a:p>
          <a:p>
            <a:pPr marL="628650" indent="-628650">
              <a:buNone/>
            </a:pPr>
            <a:r>
              <a:rPr lang="en-US" altLang="en-US" dirty="0"/>
              <a:t>	Range </a:t>
            </a:r>
            <a:r>
              <a:rPr lang="en-US" altLang="en-US" i="1" dirty="0"/>
              <a:t>R</a:t>
            </a:r>
            <a:r>
              <a:rPr lang="en-US" altLang="en-US" dirty="0"/>
              <a:t> is the set of all second elements in the ordered 	pairs that belong to </a:t>
            </a:r>
            <a:r>
              <a:rPr lang="en-US" altLang="en-US" i="1" dirty="0"/>
              <a:t>R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1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1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61C0EB06-AC7F-4DFF-AA10-D28A8F06B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362A1E-8165-4D75-8FB5-7DCE20EA635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5D3600F0-F1C5-425F-8E40-FB3C6C237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Relations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9A1DED9-10DC-43D7-90FE-35064B65E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/>
              <a:t>Let </a:t>
            </a:r>
            <a:r>
              <a:rPr lang="en-US" altLang="en-US" i="1"/>
              <a:t>R</a:t>
            </a:r>
            <a:r>
              <a:rPr lang="en-US" altLang="en-US"/>
              <a:t> be a relation from </a:t>
            </a:r>
            <a:r>
              <a:rPr lang="en-US" altLang="en-US" i="1"/>
              <a:t>A</a:t>
            </a:r>
            <a:r>
              <a:rPr lang="en-US" altLang="en-US"/>
              <a:t> to </a:t>
            </a:r>
            <a:r>
              <a:rPr lang="en-US" altLang="en-US" i="1"/>
              <a:t>B</a:t>
            </a:r>
            <a:r>
              <a:rPr lang="en-US" altLang="en-US"/>
              <a:t>. </a:t>
            </a:r>
          </a:p>
          <a:p>
            <a:pPr marL="0" indent="0">
              <a:buNone/>
            </a:pPr>
            <a:r>
              <a:rPr lang="en-US" altLang="en-US"/>
              <a:t>We define the </a:t>
            </a:r>
            <a:r>
              <a:rPr lang="en-US" altLang="en-US" b="1">
                <a:solidFill>
                  <a:schemeClr val="hlink"/>
                </a:solidFill>
              </a:rPr>
              <a:t>inverse relation</a:t>
            </a:r>
            <a:r>
              <a:rPr lang="en-US" altLang="en-US"/>
              <a:t>, </a:t>
            </a:r>
            <a:r>
              <a:rPr lang="en-US" altLang="en-US" i="1"/>
              <a:t>R</a:t>
            </a:r>
            <a:r>
              <a:rPr lang="en-US" altLang="en-US" baseline="30000"/>
              <a:t>-1</a:t>
            </a:r>
            <a:r>
              <a:rPr lang="en-US" altLang="en-US"/>
              <a:t>, from </a:t>
            </a:r>
            <a:r>
              <a:rPr lang="en-US" altLang="en-US" i="1"/>
              <a:t>B</a:t>
            </a:r>
            <a:r>
              <a:rPr lang="en-US" altLang="en-US"/>
              <a:t> to </a:t>
            </a:r>
            <a:r>
              <a:rPr lang="en-US" altLang="en-US" i="1"/>
              <a:t>A</a:t>
            </a:r>
            <a:r>
              <a:rPr lang="en-US" altLang="en-US"/>
              <a:t> as </a:t>
            </a:r>
          </a:p>
          <a:p>
            <a:pPr marL="0" indent="0">
              <a:buNone/>
            </a:pPr>
            <a:r>
              <a:rPr lang="en-US" altLang="en-US"/>
              <a:t>			</a:t>
            </a:r>
            <a:r>
              <a:rPr lang="en-US" altLang="en-US" i="1"/>
              <a:t>R</a:t>
            </a:r>
            <a:r>
              <a:rPr lang="en-US" altLang="en-US" baseline="30000"/>
              <a:t>-1</a:t>
            </a:r>
            <a:r>
              <a:rPr lang="en-US" altLang="en-US"/>
              <a:t> = {(</a:t>
            </a:r>
            <a:r>
              <a:rPr lang="en-US" altLang="en-US" i="1"/>
              <a:t>y</a:t>
            </a:r>
            <a:r>
              <a:rPr lang="en-US" altLang="en-US"/>
              <a:t>, </a:t>
            </a:r>
            <a:r>
              <a:rPr lang="en-US" altLang="en-US" i="1"/>
              <a:t>x</a:t>
            </a:r>
            <a:r>
              <a:rPr lang="en-US" altLang="en-US"/>
              <a:t>): (</a:t>
            </a:r>
            <a:r>
              <a:rPr lang="en-US" altLang="en-US" i="1"/>
              <a:t>x</a:t>
            </a:r>
            <a:r>
              <a:rPr lang="en-US" altLang="en-US"/>
              <a:t>, </a:t>
            </a:r>
            <a:r>
              <a:rPr lang="en-US" altLang="en-US" i="1"/>
              <a:t>y</a:t>
            </a:r>
            <a:r>
              <a:rPr lang="en-US" altLang="en-US"/>
              <a:t>) </a:t>
            </a:r>
            <a:r>
              <a:rPr lang="en-US" altLang="en-US">
                <a:sym typeface="Symbol" panose="05050102010706020507" pitchFamily="18" charset="2"/>
              </a:rPr>
              <a:t>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}.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FE968515-05F7-4851-9489-3C301984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7E1288-FD12-427C-AD47-E5EAA7ED7B3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FCA179E-55AA-4C2F-BAB2-F3CE58186E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Relations: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00A07591-638A-4534-8C1B-CC7CAB2AD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0021" y="1771651"/>
            <a:ext cx="9450779" cy="45307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Consider the relation </a:t>
            </a:r>
            <a:r>
              <a:rPr lang="en-US" altLang="en-US" i="1" dirty="0"/>
              <a:t>R</a:t>
            </a:r>
            <a:r>
              <a:rPr lang="en-US" altLang="en-US" dirty="0"/>
              <a:t> from </a:t>
            </a:r>
            <a:r>
              <a:rPr lang="en-US" altLang="en-US" i="1" dirty="0"/>
              <a:t>A</a:t>
            </a:r>
            <a:r>
              <a:rPr lang="en-US" altLang="en-US" dirty="0"/>
              <a:t> = {</a:t>
            </a:r>
            <a:r>
              <a:rPr lang="en-US" altLang="en-US" i="1" dirty="0"/>
              <a:t>a</a:t>
            </a:r>
            <a:r>
              <a:rPr lang="en-US" altLang="en-US" dirty="0"/>
              <a:t>, </a:t>
            </a:r>
            <a:r>
              <a:rPr lang="en-US" altLang="en-US" i="1" dirty="0"/>
              <a:t>b</a:t>
            </a:r>
            <a:r>
              <a:rPr lang="en-US" altLang="en-US" dirty="0"/>
              <a:t>, </a:t>
            </a:r>
            <a:r>
              <a:rPr lang="en-US" altLang="en-US" i="1" dirty="0"/>
              <a:t>c</a:t>
            </a:r>
            <a:r>
              <a:rPr lang="en-US" altLang="en-US" dirty="0"/>
              <a:t>} to </a:t>
            </a:r>
            <a:r>
              <a:rPr lang="en-US" altLang="en-US" i="1" dirty="0"/>
              <a:t>B </a:t>
            </a:r>
            <a:r>
              <a:rPr lang="en-US" altLang="en-US" dirty="0"/>
              <a:t>= {1, 2, 3, 4}.</a:t>
            </a:r>
          </a:p>
          <a:p>
            <a:pPr marL="0" indent="0">
              <a:buNone/>
            </a:pPr>
            <a:r>
              <a:rPr lang="en-US" altLang="en-US" dirty="0"/>
              <a:t>			</a:t>
            </a:r>
            <a:r>
              <a:rPr lang="en-US" altLang="en-US" i="1" dirty="0"/>
              <a:t>R</a:t>
            </a:r>
            <a:r>
              <a:rPr lang="en-US" altLang="en-US" dirty="0"/>
              <a:t> = {(</a:t>
            </a:r>
            <a:r>
              <a:rPr lang="en-US" altLang="en-US" i="1" dirty="0"/>
              <a:t>a</a:t>
            </a:r>
            <a:r>
              <a:rPr lang="en-US" altLang="en-US" dirty="0"/>
              <a:t>, 1), (</a:t>
            </a:r>
            <a:r>
              <a:rPr lang="en-US" altLang="en-US" i="1" dirty="0"/>
              <a:t>b</a:t>
            </a:r>
            <a:r>
              <a:rPr lang="en-US" altLang="en-US" dirty="0"/>
              <a:t>, 2), (</a:t>
            </a:r>
            <a:r>
              <a:rPr lang="en-US" altLang="en-US" i="1" dirty="0"/>
              <a:t>c</a:t>
            </a:r>
            <a:r>
              <a:rPr lang="en-US" altLang="en-US" dirty="0"/>
              <a:t>, 3), (</a:t>
            </a:r>
            <a:r>
              <a:rPr lang="en-US" altLang="en-US" i="1" dirty="0"/>
              <a:t>a</a:t>
            </a:r>
            <a:r>
              <a:rPr lang="en-US" altLang="en-US" dirty="0"/>
              <a:t>, 4)}.</a:t>
            </a:r>
          </a:p>
          <a:p>
            <a:pPr marL="0" indent="0">
              <a:buNone/>
            </a:pPr>
            <a:endParaRPr lang="en-US" altLang="en-US" dirty="0"/>
          </a:p>
          <a:p>
            <a:pPr marL="534988" indent="0">
              <a:buNone/>
            </a:pPr>
            <a:r>
              <a:rPr lang="en-US" altLang="en-US" dirty="0"/>
              <a:t>The inverse relation, </a:t>
            </a:r>
            <a:r>
              <a:rPr lang="en-US" altLang="en-US" i="1" dirty="0"/>
              <a:t>R</a:t>
            </a:r>
            <a:r>
              <a:rPr lang="en-US" altLang="en-US" baseline="30000" dirty="0"/>
              <a:t>-1</a:t>
            </a:r>
            <a:r>
              <a:rPr lang="en-US" altLang="en-US" dirty="0"/>
              <a:t>, is simply each ordered pair written “in reverse”. </a:t>
            </a:r>
          </a:p>
          <a:p>
            <a:pPr marL="0" indent="0">
              <a:buNone/>
            </a:pPr>
            <a:r>
              <a:rPr lang="en-US" altLang="en-US" dirty="0"/>
              <a:t>			</a:t>
            </a:r>
            <a:r>
              <a:rPr lang="en-US" altLang="en-US" i="1" dirty="0"/>
              <a:t>R</a:t>
            </a:r>
            <a:r>
              <a:rPr lang="en-US" altLang="en-US" baseline="30000" dirty="0"/>
              <a:t>-1</a:t>
            </a:r>
            <a:r>
              <a:rPr lang="en-US" altLang="en-US" dirty="0"/>
              <a:t> = {(1, </a:t>
            </a:r>
            <a:r>
              <a:rPr lang="en-US" altLang="en-US" i="1" dirty="0"/>
              <a:t>a</a:t>
            </a:r>
            <a:r>
              <a:rPr lang="en-US" altLang="en-US" dirty="0"/>
              <a:t>), (2, </a:t>
            </a:r>
            <a:r>
              <a:rPr lang="en-US" altLang="en-US" i="1" dirty="0"/>
              <a:t>b</a:t>
            </a:r>
            <a:r>
              <a:rPr lang="en-US" altLang="en-US" dirty="0"/>
              <a:t>), (3, </a:t>
            </a:r>
            <a:r>
              <a:rPr lang="en-US" altLang="en-US" i="1" dirty="0"/>
              <a:t>c</a:t>
            </a:r>
            <a:r>
              <a:rPr lang="en-US" altLang="en-US" dirty="0"/>
              <a:t>), (4, </a:t>
            </a:r>
            <a:r>
              <a:rPr lang="en-US" altLang="en-US" i="1" dirty="0"/>
              <a:t>a</a:t>
            </a:r>
            <a:r>
              <a:rPr lang="en-US" altLang="en-US" dirty="0"/>
              <a:t>)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3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3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88394238-39E6-4DEE-BA1B-9C779FE9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E181A4-CEEC-4DC0-968B-838D0D99B1B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D0293011-40DA-4327-B05A-FE776CDE7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Relations: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6227" name="Rectangle 3">
            <a:extLst>
              <a:ext uri="{FF2B5EF4-FFF2-40B4-BE49-F238E27FC236}">
                <a16:creationId xmlns:a16="http://schemas.microsoft.com/office/drawing/2014/main" id="{E2F7646F-9763-4A85-8078-09DDD8104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8784" y="1771651"/>
            <a:ext cx="1023653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2.	Define a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on ℕ as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 2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1341438" indent="-53340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Write down three 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. Write down three 		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Three 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	: (1, 2), (2, 4), (3, 6)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Three elements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 	: (2, 1), (4, 2), (6, 3)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6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36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9086AC17-4AB5-4226-877F-497A13D1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5BC677-BD3A-40D1-BD2B-BD84F77181A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15CE275F-FFE8-4C0F-AC60-813C92C570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Relations: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BE46404-E752-4A4F-8743-F50857573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67549" y="1438503"/>
            <a:ext cx="9628279" cy="4865462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2.	(ii)	Sketch a graph of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 on coordinate axes.</a:t>
            </a:r>
          </a:p>
        </p:txBody>
      </p:sp>
      <p:grpSp>
        <p:nvGrpSpPr>
          <p:cNvPr id="2" name="Group 84">
            <a:extLst>
              <a:ext uri="{FF2B5EF4-FFF2-40B4-BE49-F238E27FC236}">
                <a16:creationId xmlns:a16="http://schemas.microsoft.com/office/drawing/2014/main" id="{E3EC84FB-5457-4F2F-8C54-DEE227A631AE}"/>
              </a:ext>
            </a:extLst>
          </p:cNvPr>
          <p:cNvGrpSpPr>
            <a:grpSpLocks/>
          </p:cNvGrpSpPr>
          <p:nvPr/>
        </p:nvGrpSpPr>
        <p:grpSpPr bwMode="auto">
          <a:xfrm>
            <a:off x="3919539" y="2039939"/>
            <a:ext cx="4873625" cy="4264025"/>
            <a:chOff x="1509" y="1285"/>
            <a:chExt cx="3070" cy="2686"/>
          </a:xfrm>
        </p:grpSpPr>
        <p:sp>
          <p:nvSpPr>
            <p:cNvPr id="32774" name="Line 5">
              <a:extLst>
                <a:ext uri="{FF2B5EF4-FFF2-40B4-BE49-F238E27FC236}">
                  <a16:creationId xmlns:a16="http://schemas.microsoft.com/office/drawing/2014/main" id="{DB1766AB-27B5-4212-B0F9-A340B9B0F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3511"/>
              <a:ext cx="2733" cy="0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75" name="Line 6">
              <a:extLst>
                <a:ext uri="{FF2B5EF4-FFF2-40B4-BE49-F238E27FC236}">
                  <a16:creationId xmlns:a16="http://schemas.microsoft.com/office/drawing/2014/main" id="{41C49CB2-1E78-40AF-8D48-0EF6D95720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689" y="2691"/>
              <a:ext cx="2551" cy="9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76" name="Text Box 7">
              <a:extLst>
                <a:ext uri="{FF2B5EF4-FFF2-40B4-BE49-F238E27FC236}">
                  <a16:creationId xmlns:a16="http://schemas.microsoft.com/office/drawing/2014/main" id="{DC3FC53F-8C39-44B7-96D1-1B4D181F1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4" y="1982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3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77" name="Text Box 8">
              <a:extLst>
                <a:ext uri="{FF2B5EF4-FFF2-40B4-BE49-F238E27FC236}">
                  <a16:creationId xmlns:a16="http://schemas.microsoft.com/office/drawing/2014/main" id="{C610E64B-319C-49BB-9CD0-EB8B70984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2" y="2470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2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78" name="Text Box 9">
              <a:extLst>
                <a:ext uri="{FF2B5EF4-FFF2-40B4-BE49-F238E27FC236}">
                  <a16:creationId xmlns:a16="http://schemas.microsoft.com/office/drawing/2014/main" id="{5D9D64BB-7E12-4871-8DEC-20E4102F8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" y="2908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1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79" name="Text Box 10">
              <a:extLst>
                <a:ext uri="{FF2B5EF4-FFF2-40B4-BE49-F238E27FC236}">
                  <a16:creationId xmlns:a16="http://schemas.microsoft.com/office/drawing/2014/main" id="{FEB1D893-A9D2-4E9C-8D6B-C5C9F93CC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3526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0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80" name="Text Box 11">
              <a:extLst>
                <a:ext uri="{FF2B5EF4-FFF2-40B4-BE49-F238E27FC236}">
                  <a16:creationId xmlns:a16="http://schemas.microsoft.com/office/drawing/2014/main" id="{9D05F732-BFD6-4EB8-83C6-D4CAF8BFC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8" y="3581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1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81" name="Text Box 12">
              <a:extLst>
                <a:ext uri="{FF2B5EF4-FFF2-40B4-BE49-F238E27FC236}">
                  <a16:creationId xmlns:a16="http://schemas.microsoft.com/office/drawing/2014/main" id="{1E2E099F-1ABA-48D4-9268-1BD5BBCBE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7" y="3571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2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82" name="Text Box 13">
              <a:extLst>
                <a:ext uri="{FF2B5EF4-FFF2-40B4-BE49-F238E27FC236}">
                  <a16:creationId xmlns:a16="http://schemas.microsoft.com/office/drawing/2014/main" id="{A383EDA7-FC15-4EFF-8DF6-2949AA0AC4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2" y="3588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3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783" name="Text Box 14">
              <a:extLst>
                <a:ext uri="{FF2B5EF4-FFF2-40B4-BE49-F238E27FC236}">
                  <a16:creationId xmlns:a16="http://schemas.microsoft.com/office/drawing/2014/main" id="{678FFD69-56BD-469D-A4DE-707DE3D83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2" y="1285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rgbClr val="171BAD"/>
                  </a:solidFill>
                </a:rPr>
                <a:t>y</a:t>
              </a:r>
              <a:endParaRPr lang="en-GB" altLang="en-US" b="1" i="1">
                <a:solidFill>
                  <a:srgbClr val="171BAD"/>
                </a:solidFill>
              </a:endParaRPr>
            </a:p>
          </p:txBody>
        </p:sp>
        <p:sp>
          <p:nvSpPr>
            <p:cNvPr id="32784" name="Text Box 15">
              <a:extLst>
                <a:ext uri="{FF2B5EF4-FFF2-40B4-BE49-F238E27FC236}">
                  <a16:creationId xmlns:a16="http://schemas.microsoft.com/office/drawing/2014/main" id="{C88738E5-3599-460C-B8AC-9CB55599F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3554"/>
              <a:ext cx="4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rgbClr val="171BAD"/>
                  </a:solidFill>
                </a:rPr>
                <a:t>x</a:t>
              </a:r>
              <a:endParaRPr lang="en-GB" altLang="en-US" b="1" i="1">
                <a:solidFill>
                  <a:srgbClr val="171BAD"/>
                </a:solidFill>
              </a:endParaRPr>
            </a:p>
          </p:txBody>
        </p:sp>
        <p:sp>
          <p:nvSpPr>
            <p:cNvPr id="32785" name="Line 16">
              <a:extLst>
                <a:ext uri="{FF2B5EF4-FFF2-40B4-BE49-F238E27FC236}">
                  <a16:creationId xmlns:a16="http://schemas.microsoft.com/office/drawing/2014/main" id="{8191D2AC-D646-4CF8-B14B-BC03395DEF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3" y="2149"/>
              <a:ext cx="13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32786" name="Group 22">
              <a:extLst>
                <a:ext uri="{FF2B5EF4-FFF2-40B4-BE49-F238E27FC236}">
                  <a16:creationId xmlns:a16="http://schemas.microsoft.com/office/drawing/2014/main" id="{5390A107-A4B6-4E06-B642-B375E90AA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7" y="1583"/>
              <a:ext cx="228" cy="228"/>
              <a:chOff x="490" y="2606"/>
              <a:chExt cx="228" cy="228"/>
            </a:xfrm>
          </p:grpSpPr>
          <p:sp>
            <p:nvSpPr>
              <p:cNvPr id="32813" name="Line 23">
                <a:extLst>
                  <a:ext uri="{FF2B5EF4-FFF2-40B4-BE49-F238E27FC236}">
                    <a16:creationId xmlns:a16="http://schemas.microsoft.com/office/drawing/2014/main" id="{14DEE1FE-C2CE-4CCF-84F2-1C0D0D01C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814" name="Line 24">
                <a:extLst>
                  <a:ext uri="{FF2B5EF4-FFF2-40B4-BE49-F238E27FC236}">
                    <a16:creationId xmlns:a16="http://schemas.microsoft.com/office/drawing/2014/main" id="{022884DB-89B6-408A-8164-24E784E11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grpSp>
          <p:nvGrpSpPr>
            <p:cNvPr id="32787" name="Group 25">
              <a:extLst>
                <a:ext uri="{FF2B5EF4-FFF2-40B4-BE49-F238E27FC236}">
                  <a16:creationId xmlns:a16="http://schemas.microsoft.com/office/drawing/2014/main" id="{33373368-C584-40F9-A1C9-30E45974AA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0" y="2490"/>
              <a:ext cx="228" cy="228"/>
              <a:chOff x="490" y="2606"/>
              <a:chExt cx="228" cy="228"/>
            </a:xfrm>
          </p:grpSpPr>
          <p:sp>
            <p:nvSpPr>
              <p:cNvPr id="32811" name="Line 26">
                <a:extLst>
                  <a:ext uri="{FF2B5EF4-FFF2-40B4-BE49-F238E27FC236}">
                    <a16:creationId xmlns:a16="http://schemas.microsoft.com/office/drawing/2014/main" id="{C10BCB49-0B31-4D8A-AFB0-BF85440CF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812" name="Line 27">
                <a:extLst>
                  <a:ext uri="{FF2B5EF4-FFF2-40B4-BE49-F238E27FC236}">
                    <a16:creationId xmlns:a16="http://schemas.microsoft.com/office/drawing/2014/main" id="{92E8B72E-AD25-4AAD-BA0C-5D78D1073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32788" name="Line 29">
              <a:extLst>
                <a:ext uri="{FF2B5EF4-FFF2-40B4-BE49-F238E27FC236}">
                  <a16:creationId xmlns:a16="http://schemas.microsoft.com/office/drawing/2014/main" id="{6D14706C-6C4F-4338-AB2C-E2BCB6995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8" y="3389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32789" name="Group 31">
              <a:extLst>
                <a:ext uri="{FF2B5EF4-FFF2-40B4-BE49-F238E27FC236}">
                  <a16:creationId xmlns:a16="http://schemas.microsoft.com/office/drawing/2014/main" id="{8B8E2880-B90D-4731-8729-47A5035423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2" y="2478"/>
              <a:ext cx="228" cy="228"/>
              <a:chOff x="490" y="2606"/>
              <a:chExt cx="228" cy="228"/>
            </a:xfrm>
          </p:grpSpPr>
          <p:sp>
            <p:nvSpPr>
              <p:cNvPr id="32809" name="Line 32">
                <a:extLst>
                  <a:ext uri="{FF2B5EF4-FFF2-40B4-BE49-F238E27FC236}">
                    <a16:creationId xmlns:a16="http://schemas.microsoft.com/office/drawing/2014/main" id="{5928B674-98D8-4004-94E8-2DA124891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810" name="Line 33">
                <a:extLst>
                  <a:ext uri="{FF2B5EF4-FFF2-40B4-BE49-F238E27FC236}">
                    <a16:creationId xmlns:a16="http://schemas.microsoft.com/office/drawing/2014/main" id="{754AC996-E42D-4485-B30A-C7785AA1C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32790" name="Line 36">
              <a:extLst>
                <a:ext uri="{FF2B5EF4-FFF2-40B4-BE49-F238E27FC236}">
                  <a16:creationId xmlns:a16="http://schemas.microsoft.com/office/drawing/2014/main" id="{C0445A5E-FEB3-4A75-86AB-C2D765D847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976" y="1588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32791" name="Group 37">
              <a:extLst>
                <a:ext uri="{FF2B5EF4-FFF2-40B4-BE49-F238E27FC236}">
                  <a16:creationId xmlns:a16="http://schemas.microsoft.com/office/drawing/2014/main" id="{7C339DA3-31E6-400D-93E4-18874EC5AF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5" y="2926"/>
              <a:ext cx="228" cy="228"/>
              <a:chOff x="490" y="2606"/>
              <a:chExt cx="228" cy="228"/>
            </a:xfrm>
          </p:grpSpPr>
          <p:sp>
            <p:nvSpPr>
              <p:cNvPr id="32807" name="Line 38">
                <a:extLst>
                  <a:ext uri="{FF2B5EF4-FFF2-40B4-BE49-F238E27FC236}">
                    <a16:creationId xmlns:a16="http://schemas.microsoft.com/office/drawing/2014/main" id="{E678342B-4936-4C65-8C92-62F59D4698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808" name="Line 39">
                <a:extLst>
                  <a:ext uri="{FF2B5EF4-FFF2-40B4-BE49-F238E27FC236}">
                    <a16:creationId xmlns:a16="http://schemas.microsoft.com/office/drawing/2014/main" id="{71486E40-6CD9-47C6-AB8B-45A92CF9B3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32792" name="Line 55">
              <a:extLst>
                <a:ext uri="{FF2B5EF4-FFF2-40B4-BE49-F238E27FC236}">
                  <a16:creationId xmlns:a16="http://schemas.microsoft.com/office/drawing/2014/main" id="{1CE420FE-3673-4B02-A85A-70473793D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1" y="3383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93" name="Line 58">
              <a:extLst>
                <a:ext uri="{FF2B5EF4-FFF2-40B4-BE49-F238E27FC236}">
                  <a16:creationId xmlns:a16="http://schemas.microsoft.com/office/drawing/2014/main" id="{DBBF236E-168F-4A70-88E5-26AB55BF7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7" y="3386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94" name="Line 61">
              <a:extLst>
                <a:ext uri="{FF2B5EF4-FFF2-40B4-BE49-F238E27FC236}">
                  <a16:creationId xmlns:a16="http://schemas.microsoft.com/office/drawing/2014/main" id="{8E976A14-8803-4746-9B71-E522F8C2D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8" y="3388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 dirty="0"/>
            </a:p>
          </p:txBody>
        </p:sp>
        <p:sp>
          <p:nvSpPr>
            <p:cNvPr id="32795" name="Line 66">
              <a:extLst>
                <a:ext uri="{FF2B5EF4-FFF2-40B4-BE49-F238E27FC236}">
                  <a16:creationId xmlns:a16="http://schemas.microsoft.com/office/drawing/2014/main" id="{E031FDB1-7F3E-4A57-B6FA-B0AB932373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964" y="2032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96" name="Line 69">
              <a:extLst>
                <a:ext uri="{FF2B5EF4-FFF2-40B4-BE49-F238E27FC236}">
                  <a16:creationId xmlns:a16="http://schemas.microsoft.com/office/drawing/2014/main" id="{2895D58F-DAE8-4F54-8F91-098973BC3C5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965" y="2489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797" name="Line 72">
              <a:extLst>
                <a:ext uri="{FF2B5EF4-FFF2-40B4-BE49-F238E27FC236}">
                  <a16:creationId xmlns:a16="http://schemas.microsoft.com/office/drawing/2014/main" id="{218A3F3A-E92A-4579-A837-9255264815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966" y="2946"/>
              <a:ext cx="0" cy="228"/>
            </a:xfrm>
            <a:prstGeom prst="line">
              <a:avLst/>
            </a:prstGeom>
            <a:noFill/>
            <a:ln w="38100">
              <a:solidFill>
                <a:srgbClr val="171BA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32798" name="Group 73">
              <a:extLst>
                <a:ext uri="{FF2B5EF4-FFF2-40B4-BE49-F238E27FC236}">
                  <a16:creationId xmlns:a16="http://schemas.microsoft.com/office/drawing/2014/main" id="{01F41B09-D1B2-4957-88E2-89E9D49921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3" y="3384"/>
              <a:ext cx="228" cy="228"/>
              <a:chOff x="490" y="2606"/>
              <a:chExt cx="228" cy="228"/>
            </a:xfrm>
          </p:grpSpPr>
          <p:sp>
            <p:nvSpPr>
              <p:cNvPr id="32805" name="Line 74">
                <a:extLst>
                  <a:ext uri="{FF2B5EF4-FFF2-40B4-BE49-F238E27FC236}">
                    <a16:creationId xmlns:a16="http://schemas.microsoft.com/office/drawing/2014/main" id="{7358639D-6D10-4125-9985-72983647B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rgbClr val="171BA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32806" name="Line 75">
                <a:extLst>
                  <a:ext uri="{FF2B5EF4-FFF2-40B4-BE49-F238E27FC236}">
                    <a16:creationId xmlns:a16="http://schemas.microsoft.com/office/drawing/2014/main" id="{C64C7C38-BDF7-4C9E-9234-8EBDE20799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rgbClr val="171BAD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32799" name="Text Box 76">
              <a:extLst>
                <a:ext uri="{FF2B5EF4-FFF2-40B4-BE49-F238E27FC236}">
                  <a16:creationId xmlns:a16="http://schemas.microsoft.com/office/drawing/2014/main" id="{C06EEE73-5281-4FC6-ADBB-B1759FA8B7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3" y="1563"/>
              <a:ext cx="478" cy="28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rgbClr val="171BAD"/>
                  </a:solidFill>
                </a:rPr>
                <a:t>4</a:t>
              </a:r>
              <a:endParaRPr lang="en-GB" altLang="en-US" b="1" dirty="0">
                <a:solidFill>
                  <a:srgbClr val="171BAD"/>
                </a:solidFill>
              </a:endParaRPr>
            </a:p>
          </p:txBody>
        </p:sp>
        <p:sp>
          <p:nvSpPr>
            <p:cNvPr id="32800" name="Text Box 77">
              <a:extLst>
                <a:ext uri="{FF2B5EF4-FFF2-40B4-BE49-F238E27FC236}">
                  <a16:creationId xmlns:a16="http://schemas.microsoft.com/office/drawing/2014/main" id="{03E2B50D-2B3C-4168-B962-B31A377EA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9" y="3584"/>
              <a:ext cx="4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rgbClr val="171BAD"/>
                  </a:solidFill>
                </a:rPr>
                <a:t>4</a:t>
              </a:r>
              <a:endParaRPr lang="en-GB" altLang="en-US" b="1">
                <a:solidFill>
                  <a:srgbClr val="171BAD"/>
                </a:solidFill>
              </a:endParaRPr>
            </a:p>
          </p:txBody>
        </p:sp>
        <p:sp>
          <p:nvSpPr>
            <p:cNvPr id="32801" name="Line 80">
              <a:extLst>
                <a:ext uri="{FF2B5EF4-FFF2-40B4-BE49-F238E27FC236}">
                  <a16:creationId xmlns:a16="http://schemas.microsoft.com/office/drawing/2014/main" id="{7754C5B2-9065-43D7-B5D5-A4E1D5869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6" y="1362"/>
              <a:ext cx="1079" cy="214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802" name="Line 81">
              <a:extLst>
                <a:ext uri="{FF2B5EF4-FFF2-40B4-BE49-F238E27FC236}">
                  <a16:creationId xmlns:a16="http://schemas.microsoft.com/office/drawing/2014/main" id="{3AE1524F-16CC-4FA4-9CFE-97EB58C871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7" y="2322"/>
              <a:ext cx="2404" cy="11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2803" name="Text Box 82">
              <a:extLst>
                <a:ext uri="{FF2B5EF4-FFF2-40B4-BE49-F238E27FC236}">
                  <a16:creationId xmlns:a16="http://schemas.microsoft.com/office/drawing/2014/main" id="{4A547F8B-4DC6-458A-9D83-DBDCCA389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2506"/>
              <a:ext cx="5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 dirty="0">
                  <a:solidFill>
                    <a:schemeClr val="tx2">
                      <a:lumMod val="75000"/>
                    </a:schemeClr>
                  </a:solidFill>
                  <a:sym typeface="Symbol" panose="05050102010706020507" pitchFamily="18" charset="2"/>
                </a:rPr>
                <a:t>R</a:t>
              </a:r>
              <a:r>
                <a:rPr lang="en-US" altLang="en-US" b="1" baseline="30000" dirty="0">
                  <a:solidFill>
                    <a:schemeClr val="tx2">
                      <a:lumMod val="75000"/>
                    </a:schemeClr>
                  </a:solidFill>
                  <a:sym typeface="Symbol" panose="05050102010706020507" pitchFamily="18" charset="2"/>
                </a:rPr>
                <a:t>-1</a:t>
              </a:r>
              <a:endParaRPr lang="en-GB" altLang="en-US" b="1" baseline="30000" dirty="0">
                <a:solidFill>
                  <a:schemeClr val="tx2">
                    <a:lumMod val="75000"/>
                  </a:schemeClr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32804" name="Text Box 83">
              <a:extLst>
                <a:ext uri="{FF2B5EF4-FFF2-40B4-BE49-F238E27FC236}">
                  <a16:creationId xmlns:a16="http://schemas.microsoft.com/office/drawing/2014/main" id="{1E50AB40-18A6-4BEB-8FC5-0189A5A92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8" y="1856"/>
              <a:ext cx="5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 dirty="0">
                  <a:solidFill>
                    <a:srgbClr val="00B0F0"/>
                  </a:solidFill>
                  <a:sym typeface="Symbol" panose="05050102010706020507" pitchFamily="18" charset="2"/>
                </a:rPr>
                <a:t>R</a:t>
              </a:r>
              <a:endParaRPr lang="en-GB" altLang="en-US" b="1" baseline="30000" dirty="0">
                <a:solidFill>
                  <a:srgbClr val="00B0F0"/>
                </a:solidFill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1F9E3CAF-34B8-4399-8DEF-8ECCA5EB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EBF191-6570-4615-A7B9-75FC6C8615F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BCAA1ACB-B31E-4075-A19E-4D04E8674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01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8275" name="Rectangle 3">
                <a:extLst>
                  <a:ext uri="{FF2B5EF4-FFF2-40B4-BE49-F238E27FC236}">
                    <a16:creationId xmlns:a16="http://schemas.microsoft.com/office/drawing/2014/main" id="{EA7B3F37-2295-4C2B-89F6-E9BE72B2EC1B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752600" y="1308514"/>
                <a:ext cx="8229600" cy="492603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1.	(iii)	Write down a simple definition of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baseline="30000" dirty="0">
                    <a:sym typeface="Symbol" panose="05050102010706020507" pitchFamily="18" charset="2"/>
                  </a:rPr>
                  <a:t>-1</a:t>
                </a:r>
                <a:r>
                  <a:rPr lang="en-US" altLang="en-US" dirty="0">
                    <a:sym typeface="Symbol" panose="05050102010706020507" pitchFamily="18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		</a:t>
                </a:r>
              </a:p>
              <a:p>
                <a:pPr marL="1771650" lvl="5" indent="0">
                  <a:buNone/>
                  <a:tabLst>
                    <a:tab pos="2244725" algn="l"/>
                  </a:tabLst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= 2x</a:t>
                </a:r>
                <a:endParaRPr lang="en-US" altLang="en-US" sz="2400" baseline="30000" dirty="0">
                  <a:sym typeface="Symbol" panose="05050102010706020507" pitchFamily="18" charset="2"/>
                </a:endParaRPr>
              </a:p>
              <a:p>
                <a:pPr marL="1771650" lvl="5" indent="0">
                  <a:buNone/>
                  <a:tabLst>
                    <a:tab pos="2244725" algn="l"/>
                  </a:tabLst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SG" sz="24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altLang="en-US" sz="2400" kern="0" baseline="30000" dirty="0">
                    <a:sym typeface="Symbol" panose="05050102010706020507" pitchFamily="18" charset="2"/>
                  </a:rPr>
                  <a:t> </a:t>
                </a:r>
                <a:endParaRPr lang="en-US" altLang="en-US" sz="2400" kern="0" dirty="0">
                  <a:sym typeface="Symbol" panose="05050102010706020507" pitchFamily="18" charset="2"/>
                </a:endParaRPr>
              </a:p>
              <a:p>
                <a:pPr marL="1771650" lvl="5" indent="0">
                  <a:buNone/>
                  <a:tabLst>
                    <a:tab pos="2244725" algn="l"/>
                  </a:tabLst>
                </a:pPr>
                <a:r>
                  <a:rPr lang="en-US" altLang="en-US" sz="2400" kern="0" dirty="0">
                    <a:sym typeface="Symbol" panose="05050102010706020507" pitchFamily="18" charset="2"/>
                  </a:rPr>
                  <a:t>Exchanging x and y, we get the rule: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en-US" sz="2400" kern="0" dirty="0">
                  <a:sym typeface="Symbol" panose="05050102010706020507" pitchFamily="18" charset="2"/>
                </a:endParaRPr>
              </a:p>
              <a:p>
                <a:pPr marL="1028700" lvl="3" indent="0">
                  <a:buNone/>
                  <a:tabLst>
                    <a:tab pos="1436688" algn="l"/>
                  </a:tabLst>
                </a:pPr>
                <a:r>
                  <a:rPr lang="en-US" altLang="en-US" dirty="0">
                    <a:sym typeface="Symbol" panose="05050102010706020507" pitchFamily="18" charset="2"/>
                  </a:rPr>
                  <a:t> 	</a:t>
                </a:r>
              </a:p>
              <a:p>
                <a:pPr marL="1028700" lvl="3" indent="0">
                  <a:buNone/>
                  <a:tabLst>
                    <a:tab pos="1436688" algn="l"/>
                  </a:tabLst>
                </a:pPr>
                <a:r>
                  <a:rPr lang="en-US" altLang="en-US" sz="2800" dirty="0">
                    <a:sym typeface="Symbol" panose="05050102010706020507" pitchFamily="18" charset="2"/>
                  </a:rPr>
                  <a:t>	Hence,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sz="2800" baseline="30000" dirty="0">
                    <a:sym typeface="Symbol" panose="05050102010706020507" pitchFamily="18" charset="2"/>
                  </a:rPr>
                  <a:t>-1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= {(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,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):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= ½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}.</a:t>
                </a:r>
              </a:p>
              <a:p>
                <a:pPr marL="0" indent="0"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  <a:p>
                <a:pPr marL="712788" indent="-712788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2.	Let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S</a:t>
                </a:r>
                <a:r>
                  <a:rPr lang="en-US" altLang="en-US" dirty="0">
                    <a:sym typeface="Symbol" panose="05050102010706020507" pitchFamily="18" charset="2"/>
                  </a:rPr>
                  <a:t> be the identity relation on the set of real numbers. What is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S</a:t>
                </a:r>
                <a:r>
                  <a:rPr lang="en-US" altLang="en-US" baseline="30000" dirty="0">
                    <a:sym typeface="Symbol" panose="05050102010706020507" pitchFamily="18" charset="2"/>
                  </a:rPr>
                  <a:t>-1</a:t>
                </a:r>
                <a:r>
                  <a:rPr lang="en-US" altLang="en-US" dirty="0">
                    <a:sym typeface="Symbol" panose="05050102010706020507" pitchFamily="18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	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S</a:t>
                </a:r>
                <a:r>
                  <a:rPr lang="en-US" altLang="en-US" baseline="30000" dirty="0">
                    <a:sym typeface="Symbol" panose="05050102010706020507" pitchFamily="18" charset="2"/>
                  </a:rPr>
                  <a:t>-1 </a:t>
                </a:r>
                <a:r>
                  <a:rPr lang="en-US" altLang="en-US" dirty="0">
                    <a:sym typeface="Symbol" panose="05050102010706020507" pitchFamily="18" charset="2"/>
                  </a:rPr>
                  <a:t>= {(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,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):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dirty="0">
                    <a:sym typeface="Symbol" panose="05050102010706020507" pitchFamily="18" charset="2"/>
                  </a:rPr>
                  <a:t> =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dirty="0">
                    <a:sym typeface="Symbol" panose="05050102010706020507" pitchFamily="18" charset="2"/>
                  </a:rPr>
                  <a:t>}.</a:t>
                </a:r>
              </a:p>
            </p:txBody>
          </p:sp>
        </mc:Choice>
        <mc:Fallback xmlns="">
          <p:sp>
            <p:nvSpPr>
              <p:cNvPr id="438275" name="Rectangle 3">
                <a:extLst>
                  <a:ext uri="{FF2B5EF4-FFF2-40B4-BE49-F238E27FC236}">
                    <a16:creationId xmlns:a16="http://schemas.microsoft.com/office/drawing/2014/main" id="{EA7B3F37-2295-4C2B-89F6-E9BE72B2EC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52600" y="1308514"/>
                <a:ext cx="8229600" cy="4926031"/>
              </a:xfrm>
              <a:blipFill>
                <a:blip r:embed="rId2"/>
                <a:stretch>
                  <a:fillRect l="-1556" t="-28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E946F8D0-D280-4645-BA2C-0BB9EEB5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972523-1103-414B-959E-6029ADEE78C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EF15381-740F-4F06-A62A-5C25276AB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Reflexivity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ED4C6E4-3297-4B9C-A3E2-696B90826C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be a relation on the set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reflexive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if and only if 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6ECB0195-77E7-4C0E-ABF7-38F3F4C4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85784B-FA1E-4F9A-96DA-55DC312CC38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F0093B94-42E5-479D-A208-C2C2CBA1BE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Reflexivity: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23" name="Rectangle 3">
            <a:extLst>
              <a:ext uri="{FF2B5EF4-FFF2-40B4-BE49-F238E27FC236}">
                <a16:creationId xmlns:a16="http://schemas.microsoft.com/office/drawing/2014/main" id="{54D1A047-1165-40F6-925D-B279951E3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be a relation on ℕ defined by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	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= {(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):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 is a factor of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For each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  ℕ, we know that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 is a factor of itself.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Thus, 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and so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1</a:t>
            </a:r>
            <a:r>
              <a:rPr lang="en-US" altLang="en-US">
                <a:sym typeface="Symbol" panose="05050102010706020507" pitchFamily="18" charset="2"/>
              </a:rPr>
              <a:t> is reflexive.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Informally</a:t>
            </a:r>
            <a:r>
              <a:rPr lang="en-US" altLang="en-US">
                <a:sym typeface="Symbol" panose="05050102010706020507" pitchFamily="18" charset="2"/>
              </a:rPr>
              <a:t>, a relation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on a set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is reflexive if each element in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is related to itself by R.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0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0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0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8A079044-6287-4D00-A0E9-CEB63822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DCB781-811A-412D-9A60-F3733C861CF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347C84A-B231-4861-8355-B3444A5E6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6AC49957-220D-499B-AEB0-966CCB5E6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be a relation on the set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</a:t>
            </a:r>
            <a:r>
              <a:rPr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symmetric</a:t>
            </a:r>
            <a:r>
              <a:rPr lang="en-US" altLang="en-US">
                <a:sym typeface="Symbol" panose="05050102010706020507" pitchFamily="18" charset="2"/>
              </a:rPr>
              <a:t> on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if and only if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	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</a:t>
            </a:r>
            <a:r>
              <a:rPr lang="en-US" altLang="en-US" i="1">
                <a:sym typeface="Symbol" panose="05050102010706020507" pitchFamily="18" charset="2"/>
              </a:rPr>
              <a:t> y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((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 (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). 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>
            <a:extLst>
              <a:ext uri="{FF2B5EF4-FFF2-40B4-BE49-F238E27FC236}">
                <a16:creationId xmlns:a16="http://schemas.microsoft.com/office/drawing/2014/main" id="{F3FA3449-86EC-4F55-8718-4D2092C3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0B136D-63D2-4C1C-9D5F-04D04F9A532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D800E05-DC76-4074-8F2A-C958FAC4A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Symmetry: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359523D2-4521-4F40-BE72-41FAA9DBC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be the identity relation on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ℝ.</a:t>
            </a: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. Then,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ℝ and </a:t>
            </a:r>
            <a:r>
              <a:rPr lang="en-US" altLang="en-US" i="1">
                <a:sym typeface="Symbol" panose="05050102010706020507" pitchFamily="18" charset="2"/>
              </a:rPr>
              <a:t>x </a:t>
            </a:r>
            <a:r>
              <a:rPr lang="en-US" altLang="en-US">
                <a:sym typeface="Symbol" panose="05050102010706020507" pitchFamily="18" charset="2"/>
              </a:rPr>
              <a:t>= </a:t>
            </a:r>
            <a:r>
              <a:rPr lang="en-US" altLang="en-US" i="1">
                <a:sym typeface="Symbol" panose="05050102010706020507" pitchFamily="18" charset="2"/>
              </a:rPr>
              <a:t>y. </a:t>
            </a:r>
            <a:r>
              <a:rPr lang="en-US" altLang="en-US">
                <a:sym typeface="Symbol" panose="05050102010706020507" pitchFamily="18" charset="2"/>
              </a:rPr>
              <a:t>This implies that y = x. Hence, (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. So,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 baseline="-25000">
                <a:sym typeface="Symbol" panose="05050102010706020507" pitchFamily="18" charset="2"/>
              </a:rPr>
              <a:t>2</a:t>
            </a:r>
            <a:r>
              <a:rPr lang="en-US" altLang="en-US">
                <a:sym typeface="Symbol" panose="05050102010706020507" pitchFamily="18" charset="2"/>
              </a:rPr>
              <a:t> is symmetric.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Informally</a:t>
            </a:r>
            <a:r>
              <a:rPr lang="en-US" altLang="en-US">
                <a:sym typeface="Symbol" panose="05050102010706020507" pitchFamily="18" charset="2"/>
              </a:rPr>
              <a:t>, a relation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on a set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is symmetric if you can “swap” the ordered pairs around and still get elements of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>
            <a:extLst>
              <a:ext uri="{FF2B5EF4-FFF2-40B4-BE49-F238E27FC236}">
                <a16:creationId xmlns:a16="http://schemas.microsoft.com/office/drawing/2014/main" id="{F979B787-7B31-468F-AD3C-B4BF5F1A7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5571D7-F455-4AF9-AA84-71B7BF68D2A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C6CB1AFC-A44D-4306-8C4B-E759F9662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Transitivity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CEDB8108-080F-42B1-B3F0-D906F9A1C4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be a relation on the set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transitive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if and only if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((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 (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 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z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38917" name="Rectangle 8">
            <a:extLst>
              <a:ext uri="{FF2B5EF4-FFF2-40B4-BE49-F238E27FC236}">
                <a16:creationId xmlns:a16="http://schemas.microsoft.com/office/drawing/2014/main" id="{024EA433-96E0-4F3A-A74E-CE9065639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629" y="2684464"/>
            <a:ext cx="3206337" cy="569375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>
            <a:extLst>
              <a:ext uri="{FF2B5EF4-FFF2-40B4-BE49-F238E27FC236}">
                <a16:creationId xmlns:a16="http://schemas.microsoft.com/office/drawing/2014/main" id="{8096A43C-70EF-4BCF-95AE-F717BDA1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0356EE-E03C-4477-9E16-5318398DC80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052A5D5-D2AA-48B9-BCCF-104CCDEC2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Transitivity: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4419" name="Rectangle 3">
            <a:extLst>
              <a:ext uri="{FF2B5EF4-FFF2-40B4-BE49-F238E27FC236}">
                <a16:creationId xmlns:a16="http://schemas.microsoft.com/office/drawing/2014/main" id="{ABFCB37D-C43B-46F0-B763-28C757A32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be the relation on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 </a:t>
            </a:r>
            <a:r>
              <a:rPr lang="en-US" altLang="en-US" dirty="0">
                <a:ea typeface="ＭＳ 明朝" panose="02020609040205080304" pitchFamily="49" charset="-128"/>
              </a:rPr>
              <a:t>defined by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&lt;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(x, y)  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and (y, z)  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. Since (x, y)  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, x &lt; y. Since (y, z)  R</a:t>
            </a:r>
            <a:r>
              <a:rPr lang="en-US" altLang="en-US" baseline="-25000" dirty="0">
                <a:sym typeface="Symbol" panose="05050102010706020507" pitchFamily="18" charset="2"/>
              </a:rPr>
              <a:t>3 </a:t>
            </a:r>
            <a:r>
              <a:rPr lang="en-US" altLang="en-US" dirty="0">
                <a:sym typeface="Symbol" panose="05050102010706020507" pitchFamily="18" charset="2"/>
              </a:rPr>
              <a:t>, y &lt; z.  This implies that x &lt; z. Hence, (x, z)  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. Therefore, 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is transitive.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9F2D9991-DA92-4311-8F50-24883D8A1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0FACA2-DCB8-4BF8-AC42-432FEDC3153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FA503935-C950-494A-B7ED-036AD0947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F2559EB-45D8-4A6F-92F6-6F5797116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be a relation on the set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an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equivalence relation</a:t>
            </a:r>
            <a:r>
              <a:rPr lang="en-US" altLang="en-US" b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on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if and only if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</a:t>
            </a:r>
            <a:r>
              <a:rPr lang="en-US" altLang="en-US" i="1">
                <a:sym typeface="Symbol" panose="05050102010706020507" pitchFamily="18" charset="2"/>
              </a:rPr>
              <a:t>reflexive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symmetric</a:t>
            </a:r>
            <a:r>
              <a:rPr lang="en-US" altLang="en-US">
                <a:sym typeface="Symbol" panose="05050102010706020507" pitchFamily="18" charset="2"/>
              </a:rPr>
              <a:t> and </a:t>
            </a:r>
            <a:r>
              <a:rPr lang="en-US" altLang="en-US" i="1">
                <a:sym typeface="Symbol" panose="05050102010706020507" pitchFamily="18" charset="2"/>
              </a:rPr>
              <a:t>transitive</a:t>
            </a:r>
            <a:r>
              <a:rPr lang="en-US" altLang="en-US">
                <a:sym typeface="Symbol" panose="05050102010706020507" pitchFamily="18" charset="2"/>
              </a:rPr>
              <a:t> on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006A67E8-6029-41B4-BAB8-BF9966AD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54F39-F90E-4653-A1BA-BCD301A4662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15CC277-1369-4FD7-8E32-CF10CF2BC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4216" y="220664"/>
            <a:ext cx="8963784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Verifying/Proving Reflexivity, Symmetry and Transitivity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508ACA9B-89B2-4378-9C44-0A7E00ED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1036" y="1539083"/>
            <a:ext cx="8649928" cy="4530725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Finite Relation: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Use Method of Exhaustion discussed in Unit 3 to verify all the cases.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dirty="0">
              <a:sym typeface="Symbol" panose="05050102010706020507" pitchFamily="18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Infinite Relation: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Use a generalized method of proof discussed in Unit 3 (usually direct proof) to verify the properties based on the definition of the relation.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Examples on both are given after this slides.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8558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BB589CAA-F803-4E8E-9C2A-C7369DCD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234DEB-7794-4489-8E14-4DF96C4E342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36D9151-53E0-4F8F-86B2-3900E8361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"/>
            <a:ext cx="8229600" cy="727075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9539" name="Rectangle 3">
            <a:extLst>
              <a:ext uri="{FF2B5EF4-FFF2-40B4-BE49-F238E27FC236}">
                <a16:creationId xmlns:a16="http://schemas.microsoft.com/office/drawing/2014/main" id="{C48BB5B9-C4EC-43F2-B356-02D7D6DE8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984251"/>
            <a:ext cx="9043988" cy="5280025"/>
          </a:xfrm>
        </p:spPr>
        <p:txBody>
          <a:bodyPr>
            <a:normAutofit fontScale="92500" lnSpcReduction="10000"/>
          </a:bodyPr>
          <a:lstStyle/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1.	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be a identity relation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. Then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an equivalence relation.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i="1" dirty="0">
                <a:sym typeface="Symbol" panose="05050102010706020507" pitchFamily="18" charset="2"/>
              </a:rPr>
              <a:t>	Proof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i="1" dirty="0">
                <a:sym typeface="Symbol" panose="05050102010706020507" pitchFamily="18" charset="2"/>
              </a:rPr>
              <a:t>	Reflexive</a:t>
            </a:r>
            <a:r>
              <a:rPr lang="en-US" altLang="en-US" dirty="0">
                <a:sym typeface="Symbol" panose="05050102010706020507" pitchFamily="18" charset="2"/>
              </a:rPr>
              <a:t>: 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that is,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. 	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Thus,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reflexive.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i="1" dirty="0">
                <a:sym typeface="Symbol" panose="05050102010706020507" pitchFamily="18" charset="2"/>
              </a:rPr>
              <a:t>	Symmetric</a:t>
            </a:r>
            <a:r>
              <a:rPr lang="en-US" altLang="en-US" dirty="0">
                <a:sym typeface="Symbol" panose="05050102010706020507" pitchFamily="18" charset="2"/>
              </a:rPr>
              <a:t>: 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i="1" dirty="0">
                <a:sym typeface="Symbol" panose="05050102010706020507" pitchFamily="18" charset="2"/>
              </a:rPr>
              <a:t> b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, if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b.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Thus,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and hence, 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. 	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Hence,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r>
              <a:rPr lang="en-US" altLang="en-US" dirty="0">
                <a:sym typeface="Symbol" panose="05050102010706020507" pitchFamily="18" charset="2"/>
              </a:rPr>
              <a:t>is symmetric.</a:t>
            </a:r>
          </a:p>
          <a:p>
            <a:pPr marL="363538" indent="-363538">
              <a:buNone/>
              <a:tabLst>
                <a:tab pos="363538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 	</a:t>
            </a:r>
            <a:r>
              <a:rPr lang="en-US" altLang="en-US" i="1" dirty="0">
                <a:sym typeface="Symbol" panose="05050102010706020507" pitchFamily="18" charset="2"/>
              </a:rPr>
              <a:t>Transitive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</a:p>
          <a:p>
            <a:pPr marL="628650" indent="-628650">
              <a:buNone/>
              <a:tabLst>
                <a:tab pos="62865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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i="1" dirty="0">
                <a:sym typeface="Symbol" panose="05050102010706020507" pitchFamily="18" charset="2"/>
              </a:rPr>
              <a:t> 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, if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r>
              <a:rPr lang="en-US" altLang="en-US" dirty="0">
                <a:sym typeface="Symbol" panose="05050102010706020507" pitchFamily="18" charset="2"/>
              </a:rPr>
              <a:t>and 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and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c.</a:t>
            </a:r>
            <a:r>
              <a:rPr lang="en-US" altLang="en-US" dirty="0">
                <a:sym typeface="Symbol" panose="05050102010706020507" pitchFamily="18" charset="2"/>
              </a:rPr>
              <a:t> Thus, </a:t>
            </a:r>
            <a:r>
              <a:rPr lang="en-US" altLang="en-US" i="1" dirty="0">
                <a:sym typeface="Symbol" panose="05050102010706020507" pitchFamily="18" charset="2"/>
              </a:rPr>
              <a:t>a </a:t>
            </a:r>
            <a:r>
              <a:rPr lang="en-US" altLang="en-US" dirty="0"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, and hence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363538" indent="-363538">
              <a:buNone/>
              <a:tabLst>
                <a:tab pos="355600" algn="l"/>
                <a:tab pos="628650" algn="l"/>
              </a:tabLst>
              <a:defRPr/>
            </a:pPr>
            <a:r>
              <a:rPr lang="en-US" altLang="en-US" dirty="0">
                <a:sym typeface="Symbol" panose="05050102010706020507" pitchFamily="18" charset="2"/>
              </a:rPr>
              <a:t>			Therefore,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transitive. </a:t>
            </a:r>
          </a:p>
          <a:p>
            <a:pPr marL="0" indent="0" defTabSz="628650">
              <a:buNone/>
              <a:defRPr/>
            </a:pPr>
            <a:r>
              <a:rPr lang="en-US" altLang="en-US" dirty="0">
                <a:sym typeface="Symbol" panose="05050102010706020507" pitchFamily="18" charset="2"/>
              </a:rPr>
              <a:t>	Therefore,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an equivalence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9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9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9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49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495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495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495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495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495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>
            <a:extLst>
              <a:ext uri="{FF2B5EF4-FFF2-40B4-BE49-F238E27FC236}">
                <a16:creationId xmlns:a16="http://schemas.microsoft.com/office/drawing/2014/main" id="{85003CEA-2575-40B8-BB44-BA3A4768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7381B0-D5BE-4353-A924-DD40C86E198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9BD70B0-8AFF-45E2-BA24-358E26E0B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2611" name="Rectangle 3">
            <a:extLst>
              <a:ext uri="{FF2B5EF4-FFF2-40B4-BE49-F238E27FC236}">
                <a16:creationId xmlns:a16="http://schemas.microsoft.com/office/drawing/2014/main" id="{9374EBDC-6D30-4450-B9C2-1B20A6F1E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2.	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be the relation on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 given by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		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ab</a:t>
            </a:r>
            <a:r>
              <a:rPr lang="en-US" altLang="en-US" dirty="0">
                <a:sym typeface="Symbol" panose="05050102010706020507" pitchFamily="18" charset="2"/>
              </a:rPr>
              <a:t>  0}.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Reflexive</a:t>
            </a:r>
            <a:r>
              <a:rPr lang="en-US" altLang="en-US" dirty="0">
                <a:sym typeface="Symbol" panose="05050102010706020507" pitchFamily="18" charset="2"/>
              </a:rPr>
              <a:t>: We must show 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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 0.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But, we note that 0 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 and 0  0 = 0.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Hence, (0, 0) </a:t>
            </a:r>
            <a:r>
              <a:rPr lang="en-US" altLang="en-US" i="1" dirty="0">
                <a:sym typeface="Symbol" panose="05050102010706020507" pitchFamily="18" charset="2"/>
              </a:rPr>
              <a:t> R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Therefore,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NOT reflexive. 	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Therefore,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not an equivalence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2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2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2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2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2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>
            <a:extLst>
              <a:ext uri="{FF2B5EF4-FFF2-40B4-BE49-F238E27FC236}">
                <a16:creationId xmlns:a16="http://schemas.microsoft.com/office/drawing/2014/main" id="{CE349C87-48BF-4504-A01F-B4131BFE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3114" y="6492875"/>
            <a:ext cx="27432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DEBA79-A43F-45EC-8736-C72937586B9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920005A-BAE1-46B1-892F-D2C74F0C5B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90605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380A9CCB-932A-4E05-8DD7-917DCF0F2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3765" y="641268"/>
            <a:ext cx="11162805" cy="60445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Consider the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dirty="0"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 given by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		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ab</a:t>
            </a:r>
            <a:r>
              <a:rPr lang="en-US" altLang="en-US" dirty="0">
                <a:sym typeface="Symbol" panose="05050102010706020507" pitchFamily="18" charset="2"/>
              </a:rPr>
              <a:t>  0}.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 Is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symmetric or transitive?</a:t>
            </a:r>
            <a:r>
              <a:rPr lang="en-US" altLang="en-US" i="1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Symmetric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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i="1" dirty="0">
                <a:sym typeface="Symbol" panose="05050102010706020507" pitchFamily="18" charset="2"/>
              </a:rPr>
              <a:t> b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dirty="0"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, if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i="1" dirty="0">
                <a:sym typeface="Symbol" panose="05050102010706020507" pitchFamily="18" charset="2"/>
              </a:rPr>
              <a:t>ab</a:t>
            </a:r>
            <a:r>
              <a:rPr lang="en-US" altLang="en-US" dirty="0">
                <a:sym typeface="Symbol" panose="05050102010706020507" pitchFamily="18" charset="2"/>
              </a:rPr>
              <a:t>  0.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This implies that </a:t>
            </a:r>
            <a:r>
              <a:rPr lang="en-US" altLang="en-US" i="1" dirty="0" err="1">
                <a:sym typeface="Symbol" panose="05050102010706020507" pitchFamily="18" charset="2"/>
              </a:rPr>
              <a:t>ba</a:t>
            </a:r>
            <a:r>
              <a:rPr lang="en-US" altLang="en-US" dirty="0">
                <a:sym typeface="Symbol" panose="05050102010706020507" pitchFamily="18" charset="2"/>
              </a:rPr>
              <a:t>  0.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Thus, then 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Hence,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is symmetric.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Transitive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</a:p>
          <a:p>
            <a:pPr marL="0" indent="0" defTabSz="927100">
              <a:buNone/>
              <a:tabLst>
                <a:tab pos="1790700" algn="l"/>
                <a:tab pos="27813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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i="1" dirty="0">
                <a:sym typeface="Symbol" panose="05050102010706020507" pitchFamily="18" charset="2"/>
              </a:rPr>
              <a:t> 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dirty="0"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, if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 </a:t>
            </a:r>
            <a:r>
              <a:rPr lang="en-US" altLang="en-US" dirty="0">
                <a:sym typeface="Symbol" panose="05050102010706020507" pitchFamily="18" charset="2"/>
              </a:rPr>
              <a:t>and  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, then </a:t>
            </a:r>
            <a:r>
              <a:rPr lang="en-US" altLang="en-US" i="1" dirty="0">
                <a:sym typeface="Symbol" panose="05050102010706020507" pitchFamily="18" charset="2"/>
              </a:rPr>
              <a:t>ab </a:t>
            </a:r>
            <a:r>
              <a:rPr lang="en-US" altLang="en-US" dirty="0">
                <a:sym typeface="Symbol" panose="05050102010706020507" pitchFamily="18" charset="2"/>
              </a:rPr>
              <a:t> 0 and </a:t>
            </a:r>
            <a:r>
              <a:rPr lang="en-US" altLang="en-US" i="1" dirty="0" err="1">
                <a:sym typeface="Symbol" panose="05050102010706020507" pitchFamily="18" charset="2"/>
              </a:rPr>
              <a:t>bc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 0.</a:t>
            </a:r>
          </a:p>
          <a:p>
            <a:pPr marL="0" indent="0" defTabSz="927100">
              <a:buNone/>
              <a:tabLst>
                <a:tab pos="1790700" algn="l"/>
                <a:tab pos="27813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This implies that </a:t>
            </a:r>
            <a:r>
              <a:rPr lang="en-US" altLang="en-US" i="1" dirty="0">
                <a:sym typeface="Symbol" panose="05050102010706020507" pitchFamily="18" charset="2"/>
              </a:rPr>
              <a:t>ac </a:t>
            </a:r>
            <a:r>
              <a:rPr lang="en-US" altLang="en-US" dirty="0">
                <a:sym typeface="Symbol" panose="05050102010706020507" pitchFamily="18" charset="2"/>
              </a:rPr>
              <a:t> 0.</a:t>
            </a:r>
          </a:p>
          <a:p>
            <a:pPr marL="0" indent="0" defTabSz="927100">
              <a:buNone/>
              <a:tabLst>
                <a:tab pos="1790700" algn="l"/>
                <a:tab pos="27813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Thus, 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 defTabSz="927100">
              <a:buNone/>
              <a:tabLst>
                <a:tab pos="1790700" algn="l"/>
                <a:tab pos="2781300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Hence,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transitive.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FF802792-B5AA-44E2-B575-3F90B6F2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D4332C-809A-40DD-B91E-C5981F87EF3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23E7C99-8F89-48E2-A5B5-CD7C329F2B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4659" name="Rectangle 3">
            <a:extLst>
              <a:ext uri="{FF2B5EF4-FFF2-40B4-BE49-F238E27FC236}">
                <a16:creationId xmlns:a16="http://schemas.microsoft.com/office/drawing/2014/main" id="{6FB1BCA3-DD5A-4A6E-868D-D60D307CD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(ii)	How can we adjust the relation so that it becomes and 	equivalence relation?</a:t>
            </a:r>
            <a:r>
              <a:rPr lang="en-US" altLang="en-US" i="1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	</a:t>
            </a:r>
            <a:r>
              <a:rPr lang="en-US" altLang="en-US">
                <a:sym typeface="Symbol" panose="05050102010706020507" pitchFamily="18" charset="2"/>
              </a:rPr>
              <a:t>Adjust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sym typeface="Symbol" panose="05050102010706020507" pitchFamily="18" charset="2"/>
              </a:rPr>
              <a:t> to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sym typeface="Symbol" panose="05050102010706020507" pitchFamily="18" charset="2"/>
              </a:rPr>
              <a:t> - {0}.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4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>
            <a:extLst>
              <a:ext uri="{FF2B5EF4-FFF2-40B4-BE49-F238E27FC236}">
                <a16:creationId xmlns:a16="http://schemas.microsoft.com/office/drawing/2014/main" id="{B42AD045-0AB2-4E82-A4CE-42B3052C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00B49D-62A5-43CB-8952-1AE3AFC33EA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C2FBB15E-B7D6-48E9-B738-F07DF92C73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71A28D10-1709-4CEB-8197-3B7AF1279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1.	To prove a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an equivalence relation, you must prove </a:t>
            </a:r>
            <a:r>
              <a:rPr lang="en-US" altLang="en-US" i="1" dirty="0">
                <a:sym typeface="Symbol" panose="05050102010706020507" pitchFamily="18" charset="2"/>
              </a:rPr>
              <a:t>all three</a:t>
            </a:r>
            <a:r>
              <a:rPr lang="en-US" altLang="en-US" dirty="0">
                <a:sym typeface="Symbol" panose="05050102010706020507" pitchFamily="18" charset="2"/>
              </a:rPr>
              <a:t> properties.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2.	To disprove that a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an equivalence relation, 	you must show that </a:t>
            </a:r>
            <a:r>
              <a:rPr lang="en-US" altLang="en-US" i="1" dirty="0">
                <a:sym typeface="Symbol" panose="05050102010706020507" pitchFamily="18" charset="2"/>
              </a:rPr>
              <a:t>one</a:t>
            </a:r>
            <a:r>
              <a:rPr lang="en-US" altLang="en-US" dirty="0">
                <a:sym typeface="Symbol" panose="05050102010706020507" pitchFamily="18" charset="2"/>
              </a:rPr>
              <a:t> of the three properties does </a:t>
            </a:r>
            <a:r>
              <a:rPr lang="en-US" altLang="en-US" i="1" dirty="0">
                <a:sym typeface="Symbol" panose="05050102010706020507" pitchFamily="18" charset="2"/>
              </a:rPr>
              <a:t>not</a:t>
            </a:r>
            <a:r>
              <a:rPr lang="en-US" altLang="en-US" dirty="0">
                <a:sym typeface="Symbol" panose="05050102010706020507" pitchFamily="18" charset="2"/>
              </a:rPr>
              <a:t> hold, usually by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counterexample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>
            <a:extLst>
              <a:ext uri="{FF2B5EF4-FFF2-40B4-BE49-F238E27FC236}">
                <a16:creationId xmlns:a16="http://schemas.microsoft.com/office/drawing/2014/main" id="{244EA009-DA1D-43BF-AD38-D20C94F9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4FD366-A089-48D8-AB02-9E71AE39939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CF9C6BB9-6333-42CC-B170-B1763BB60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6707" name="Rectangle 3">
            <a:extLst>
              <a:ext uri="{FF2B5EF4-FFF2-40B4-BE49-F238E27FC236}">
                <a16:creationId xmlns:a16="http://schemas.microsoft.com/office/drawing/2014/main" id="{D3CD7D15-6729-4485-95B1-129A7F11B0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= {0, 1, 2} and 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be the relation on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given by </a:t>
            </a: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		R</a:t>
            </a:r>
            <a:r>
              <a:rPr lang="en-US" altLang="en-US">
                <a:sym typeface="Symbol" panose="05050102010706020507" pitchFamily="18" charset="2"/>
              </a:rPr>
              <a:t> = {(0, 0), (1, 1), (2, 2), (0, 1), (1, 0)}.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Prove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an equivalence relation on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Reflexive</a:t>
            </a:r>
            <a:r>
              <a:rPr lang="en-US" altLang="en-US">
                <a:sym typeface="Symbol" panose="05050102010706020507" pitchFamily="18" charset="2"/>
              </a:rPr>
              <a:t>:	For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= 0: (0, 0)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For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= 1: (1, 1)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For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= 2: (2, 2)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So, 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(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Thus,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reflexive.</a:t>
            </a:r>
            <a:endParaRPr lang="en-US" altLang="en-US" baseline="-250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6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6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>
            <a:extLst>
              <a:ext uri="{FF2B5EF4-FFF2-40B4-BE49-F238E27FC236}">
                <a16:creationId xmlns:a16="http://schemas.microsoft.com/office/drawing/2014/main" id="{D4923645-08A4-43EE-BC43-C700E239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244882-8BF9-464D-BCC6-343920700D2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659DDC48-111E-4D4F-B0E6-0DF90F613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731" name="Rectangle 3">
            <a:extLst>
              <a:ext uri="{FF2B5EF4-FFF2-40B4-BE49-F238E27FC236}">
                <a16:creationId xmlns:a16="http://schemas.microsoft.com/office/drawing/2014/main" id="{CDEBBB63-0057-45B7-82D3-5D076BAB2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0643" y="1771651"/>
            <a:ext cx="10212779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Symmetric</a:t>
            </a:r>
            <a:r>
              <a:rPr lang="en-US" altLang="en-US" dirty="0">
                <a:sym typeface="Symbol" panose="05050102010706020507" pitchFamily="18" charset="2"/>
              </a:rPr>
              <a:t>:	We must check each ordered pair (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to see if (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 is also in the relation.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For (0, 0), (1, 1), (2, 2) symmetry obviously holds.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For (0, 1), we need to check that (1, 0)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which it is.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For (1, 0), we need to check that (0, 1) 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, which it is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Thus,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is symmetric.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7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7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7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7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>
            <a:extLst>
              <a:ext uri="{FF2B5EF4-FFF2-40B4-BE49-F238E27FC236}">
                <a16:creationId xmlns:a16="http://schemas.microsoft.com/office/drawing/2014/main" id="{6C6C1CF2-242D-444A-9150-BFD0A03B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54E2DD-5E87-450E-A06C-3469648F5BA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D372652-5306-4644-A5BE-F27584114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Relations: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8755" name="Rectangle 3">
            <a:extLst>
              <a:ext uri="{FF2B5EF4-FFF2-40B4-BE49-F238E27FC236}">
                <a16:creationId xmlns:a16="http://schemas.microsoft.com/office/drawing/2014/main" id="{6437918E-21E8-4544-AAD9-3C8B8EDC0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Transitive</a:t>
            </a:r>
            <a:r>
              <a:rPr lang="en-US" altLang="en-US">
                <a:sym typeface="Symbol" panose="05050102010706020507" pitchFamily="18" charset="2"/>
              </a:rPr>
              <a:t>:	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We must check each pair of elements (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), (</a:t>
            </a: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that (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c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(0, 0), (0, 1)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(0, 1)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(1, 1), (1, 0)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(1, 0)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(0, 1), (1, 1)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(0, 1)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(0, 1), (1, 0)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(0, 0)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(1, 0), (0, 1)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(1, 1)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(1, 0), (0, 0)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so (1, 0) should be in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, which it is.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Thus,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transitive.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Therefore,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is an equivalence relations.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58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58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58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58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5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587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587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587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5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>
            <a:extLst>
              <a:ext uri="{FF2B5EF4-FFF2-40B4-BE49-F238E27FC236}">
                <a16:creationId xmlns:a16="http://schemas.microsoft.com/office/drawing/2014/main" id="{A783BDC5-E19B-4AB6-9AF6-C193A8ED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E984B61-A668-4606-9971-2BF99081632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C1CC3DAF-7B90-48C1-A27B-A50D4A623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Class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2B6793E1-13B3-4672-8183-E389C6904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Let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be an equivalence relation on the set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Then for each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we define the </a:t>
            </a: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equivalence class of </a:t>
            </a:r>
            <a:r>
              <a:rPr lang="en-US" altLang="en-US" b="1" i="1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as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		Class(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) = {</a:t>
            </a: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: (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, </a:t>
            </a: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)  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}.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>
            <a:extLst>
              <a:ext uri="{FF2B5EF4-FFF2-40B4-BE49-F238E27FC236}">
                <a16:creationId xmlns:a16="http://schemas.microsoft.com/office/drawing/2014/main" id="{3A8878FE-4480-4817-94F3-B5F02902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4FF06D-0FF4-4F35-BFE3-495911F50BF6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0F3202C6-4775-4A3C-AA9A-AAD98779A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Class: Examples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03" name="Rectangle 3">
            <a:extLst>
              <a:ext uri="{FF2B5EF4-FFF2-40B4-BE49-F238E27FC236}">
                <a16:creationId xmlns:a16="http://schemas.microsoft.com/office/drawing/2014/main" id="{97694CE6-2464-4DF1-AAA1-870FF37F8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8161" y="1771651"/>
            <a:ext cx="8892639" cy="45307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sym typeface="Symbol" panose="05050102010706020507" pitchFamily="18" charset="2"/>
              </a:rPr>
              <a:t>Consider the relation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dirty="0">
                <a:sym typeface="Symbol" panose="05050102010706020507" pitchFamily="18" charset="2"/>
              </a:rPr>
              <a:t> in the previous example.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	R</a:t>
            </a:r>
            <a:r>
              <a:rPr lang="en-US" altLang="en-US" dirty="0">
                <a:sym typeface="Symbol" panose="05050102010706020507" pitchFamily="18" charset="2"/>
              </a:rPr>
              <a:t> = {(0, 0), (1, 1), (2, 2), (0, 1), (1, 0)}.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534988" lvl="2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For each element in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, we write the equivalence classes as follows. </a:t>
            </a:r>
          </a:p>
          <a:p>
            <a:pPr marL="534988" lvl="2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Class(0) = {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 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: (0, 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)  </a:t>
            </a:r>
            <a:r>
              <a:rPr lang="en-US" altLang="en-US" sz="2800" i="1" dirty="0">
                <a:sym typeface="Symbol" panose="05050102010706020507" pitchFamily="18" charset="2"/>
              </a:rPr>
              <a:t>R</a:t>
            </a:r>
            <a:r>
              <a:rPr lang="en-US" altLang="en-US" sz="2800" dirty="0">
                <a:sym typeface="Symbol" panose="05050102010706020507" pitchFamily="18" charset="2"/>
              </a:rPr>
              <a:t>} = {0, 1}</a:t>
            </a:r>
          </a:p>
          <a:p>
            <a:pPr marL="534988" lvl="2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Class(1) = {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 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: (1, 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)  </a:t>
            </a:r>
            <a:r>
              <a:rPr lang="en-US" altLang="en-US" sz="2800" i="1" dirty="0">
                <a:sym typeface="Symbol" panose="05050102010706020507" pitchFamily="18" charset="2"/>
              </a:rPr>
              <a:t>R</a:t>
            </a:r>
            <a:r>
              <a:rPr lang="en-US" altLang="en-US" sz="2800" dirty="0">
                <a:sym typeface="Symbol" panose="05050102010706020507" pitchFamily="18" charset="2"/>
              </a:rPr>
              <a:t>} = {1, 0} = class(0)</a:t>
            </a:r>
          </a:p>
          <a:p>
            <a:pPr marL="534988" lvl="2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Class(2) = {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 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: (2, 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)  </a:t>
            </a:r>
            <a:r>
              <a:rPr lang="en-US" altLang="en-US" sz="2800" i="1" dirty="0">
                <a:sym typeface="Symbol" panose="05050102010706020507" pitchFamily="18" charset="2"/>
              </a:rPr>
              <a:t>R</a:t>
            </a:r>
            <a:r>
              <a:rPr lang="en-US" altLang="en-US" sz="2800" dirty="0">
                <a:sym typeface="Symbol" panose="05050102010706020507" pitchFamily="18" charset="2"/>
              </a:rPr>
              <a:t>} = {2}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0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08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08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>
            <a:extLst>
              <a:ext uri="{FF2B5EF4-FFF2-40B4-BE49-F238E27FC236}">
                <a16:creationId xmlns:a16="http://schemas.microsoft.com/office/drawing/2014/main" id="{F53AECB6-D783-41FB-8A59-BCF759A7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066FA0-BD5A-43C6-A3B9-2E25B9601CC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F3A79D5C-506B-4C36-8AD1-EADBB754E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Equivalence Class: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FE882679-4FB3-424E-992A-A7AAC3615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2.	Let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be the identity relation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. Write down the 	following equivalence classes.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Class(1)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= {1}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Class()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= {}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Class(1/2)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= {1/2}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For any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class(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=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}.</a:t>
            </a:r>
            <a:endParaRPr lang="en-US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618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>
            <a:extLst>
              <a:ext uri="{FF2B5EF4-FFF2-40B4-BE49-F238E27FC236}">
                <a16:creationId xmlns:a16="http://schemas.microsoft.com/office/drawing/2014/main" id="{8774A847-0BEA-4CA6-B745-E33C8EBD1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9D8135-5548-440B-9AA7-60FCB849DEB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9ECB6C4-430A-48B1-B518-92E583485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165351"/>
            <a:ext cx="8785225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5b</a:t>
            </a:r>
          </a:p>
          <a:p>
            <a:pPr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>
            <a:extLst>
              <a:ext uri="{FF2B5EF4-FFF2-40B4-BE49-F238E27FC236}">
                <a16:creationId xmlns:a16="http://schemas.microsoft.com/office/drawing/2014/main" id="{7D8877B2-66C0-4D3A-8EC6-2CB6C391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1F4607-485E-4CC7-A0D4-8ECEAF1CD6F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3E1087BC-8D97-4F97-916C-980F2E305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9340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F754AFA-34BB-46BE-BFE3-0653CB61C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a relation from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then we say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a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function from </a:t>
            </a:r>
            <a:r>
              <a:rPr lang="en-US" altLang="en-US" b="1" i="1" dirty="0">
                <a:solidFill>
                  <a:schemeClr val="hlink"/>
                </a:solidFill>
                <a:sym typeface="Symbol" panose="05050102010706020507" pitchFamily="18" charset="2"/>
              </a:rPr>
              <a:t>A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 to </a:t>
            </a:r>
            <a:r>
              <a:rPr lang="en-US" altLang="en-US" b="1" i="1" dirty="0">
                <a:solidFill>
                  <a:schemeClr val="hlink"/>
                </a:solidFill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if and only if 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the domain of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all of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and for each element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there is only one value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such that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We say that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is the </a:t>
            </a:r>
            <a:r>
              <a:rPr lang="en-US" altLang="en-US" b="1" dirty="0">
                <a:solidFill>
                  <a:srgbClr val="0070C0"/>
                </a:solidFill>
                <a:sym typeface="Symbol" panose="05050102010706020507" pitchFamily="18" charset="2"/>
              </a:rPr>
              <a:t>codomain</a:t>
            </a:r>
            <a:r>
              <a:rPr lang="en-US" altLang="en-US" dirty="0">
                <a:sym typeface="Symbol" panose="05050102010706020507" pitchFamily="18" charset="2"/>
              </a:rPr>
              <a:t> of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The set {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: 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A,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dirty="0">
                <a:sym typeface="Symbol" panose="05050102010706020507" pitchFamily="18" charset="2"/>
              </a:rPr>
              <a:t>}is called the </a:t>
            </a:r>
            <a:r>
              <a:rPr lang="en-US" altLang="en-US" b="1" dirty="0">
                <a:solidFill>
                  <a:srgbClr val="0070C0"/>
                </a:solidFill>
                <a:sym typeface="Symbol" panose="05050102010706020507" pitchFamily="18" charset="2"/>
              </a:rPr>
              <a:t>range</a:t>
            </a:r>
            <a:r>
              <a:rPr lang="en-US" altLang="en-US" dirty="0">
                <a:sym typeface="Symbol" panose="05050102010706020507" pitchFamily="18" charset="2"/>
              </a:rPr>
              <a:t> of F.</a:t>
            </a:r>
            <a:endParaRPr lang="en-US" altLang="en-US" dirty="0">
              <a:ea typeface="ＭＳ 明朝" panose="02020609040205080304" pitchFamily="49" charset="-128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B6B960B1-9862-4F5B-94EE-A2F368EE3F4C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70FBFD1-F48A-473E-8278-39903A51180C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B732C7A6-64D0-40BA-BEFA-66D0BF8DBD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92E686A-13ED-42DC-ACE4-A53CA25578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771651"/>
            <a:ext cx="8229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As convenient, we will now change to the more familiar function notation. We write </a:t>
            </a: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	</a:t>
            </a:r>
            <a:r>
              <a:rPr lang="en-US" altLang="en-US" sz="2800" i="1" dirty="0"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sym typeface="Symbol" panose="05050102010706020507" pitchFamily="18" charset="2"/>
              </a:rPr>
              <a:t>: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 → 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to indicate that </a:t>
            </a:r>
            <a:r>
              <a:rPr lang="en-US" altLang="en-US" sz="2800" i="1" dirty="0"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sym typeface="Symbol" panose="05050102010706020507" pitchFamily="18" charset="2"/>
              </a:rPr>
              <a:t> is a function from </a:t>
            </a:r>
            <a:r>
              <a:rPr lang="en-US" altLang="en-US" sz="2800" i="1" dirty="0">
                <a:sym typeface="Symbol" panose="05050102010706020507" pitchFamily="18" charset="2"/>
              </a:rPr>
              <a:t>A</a:t>
            </a:r>
            <a:r>
              <a:rPr lang="en-US" altLang="en-US" sz="2800" dirty="0">
                <a:sym typeface="Symbol" panose="05050102010706020507" pitchFamily="18" charset="2"/>
              </a:rPr>
              <a:t> to </a:t>
            </a:r>
            <a:r>
              <a:rPr lang="en-US" altLang="en-US" sz="2800" i="1" dirty="0">
                <a:sym typeface="Symbol" panose="05050102010706020507" pitchFamily="18" charset="2"/>
              </a:rPr>
              <a:t>B</a:t>
            </a:r>
            <a:r>
              <a:rPr lang="en-US" altLang="en-US" sz="2800" dirty="0">
                <a:sym typeface="Symbol" panose="05050102010706020507" pitchFamily="18" charset="2"/>
              </a:rPr>
              <a:t>, and we write </a:t>
            </a: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		</a:t>
            </a:r>
            <a:r>
              <a:rPr lang="en-US" altLang="en-US" sz="2800" i="1" dirty="0">
                <a:sym typeface="Symbol" panose="05050102010706020507" pitchFamily="18" charset="2"/>
              </a:rPr>
              <a:t>y</a:t>
            </a:r>
            <a:r>
              <a:rPr lang="en-US" altLang="en-US" sz="2800" dirty="0">
                <a:sym typeface="Symbol" panose="05050102010706020507" pitchFamily="18" charset="2"/>
              </a:rPr>
              <a:t> = </a:t>
            </a:r>
            <a:r>
              <a:rPr lang="en-US" altLang="en-US" sz="2800" i="1" dirty="0"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sym typeface="Symbol" panose="05050102010706020507" pitchFamily="18" charset="2"/>
              </a:rPr>
              <a:t>(</a:t>
            </a:r>
            <a:r>
              <a:rPr lang="en-US" altLang="en-US" sz="2800" i="1" dirty="0">
                <a:sym typeface="Symbol" panose="05050102010706020507" pitchFamily="18" charset="2"/>
              </a:rPr>
              <a:t>x</a:t>
            </a:r>
            <a:r>
              <a:rPr lang="en-US" altLang="en-US" sz="2800" dirty="0">
                <a:sym typeface="Symbol" panose="05050102010706020507" pitchFamily="18" charset="2"/>
              </a:rPr>
              <a:t>) </a:t>
            </a: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to mean exactly the same thing as (</a:t>
            </a:r>
            <a:r>
              <a:rPr lang="en-US" altLang="en-US" sz="2800" i="1" dirty="0">
                <a:sym typeface="Symbol" panose="05050102010706020507" pitchFamily="18" charset="2"/>
              </a:rPr>
              <a:t>x</a:t>
            </a:r>
            <a:r>
              <a:rPr lang="en-US" altLang="en-US" sz="2800" dirty="0">
                <a:sym typeface="Symbol" panose="05050102010706020507" pitchFamily="18" charset="2"/>
              </a:rPr>
              <a:t>, </a:t>
            </a:r>
            <a:r>
              <a:rPr lang="en-US" altLang="en-US" sz="2800" i="1" dirty="0">
                <a:sym typeface="Symbol" panose="05050102010706020507" pitchFamily="18" charset="2"/>
              </a:rPr>
              <a:t>y</a:t>
            </a:r>
            <a:r>
              <a:rPr lang="en-US" altLang="en-US" sz="2800" dirty="0">
                <a:sym typeface="Symbol" panose="05050102010706020507" pitchFamily="18" charset="2"/>
              </a:rPr>
              <a:t>)  </a:t>
            </a:r>
            <a:r>
              <a:rPr lang="en-US" altLang="en-US" sz="2800" i="1" dirty="0"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In this case, we may say that </a:t>
            </a:r>
            <a:r>
              <a:rPr lang="en-US" altLang="en-US" sz="2800" i="1" dirty="0">
                <a:sym typeface="Symbol" panose="05050102010706020507" pitchFamily="18" charset="2"/>
              </a:rPr>
              <a:t>y</a:t>
            </a:r>
            <a:r>
              <a:rPr lang="en-US" altLang="en-US" sz="2800" dirty="0">
                <a:sym typeface="Symbol" panose="05050102010706020507" pitchFamily="18" charset="2"/>
              </a:rPr>
              <a:t> is </a:t>
            </a:r>
            <a:r>
              <a:rPr lang="en-US" altLang="en-US" sz="2800" b="1" dirty="0">
                <a:solidFill>
                  <a:srgbClr val="0070C0"/>
                </a:solidFill>
                <a:sym typeface="Symbol" panose="05050102010706020507" pitchFamily="18" charset="2"/>
              </a:rPr>
              <a:t>the image of </a:t>
            </a:r>
            <a:r>
              <a:rPr lang="en-US" altLang="en-US" sz="2800" b="1" i="1" dirty="0">
                <a:solidFill>
                  <a:srgbClr val="0070C0"/>
                </a:solidFill>
                <a:sym typeface="Symbol" panose="05050102010706020507" pitchFamily="18" charset="2"/>
              </a:rPr>
              <a:t>x</a:t>
            </a:r>
            <a:r>
              <a:rPr lang="en-US" altLang="en-US" sz="2800" b="1" dirty="0">
                <a:solidFill>
                  <a:srgbClr val="0070C0"/>
                </a:solidFill>
                <a:sym typeface="Symbol" panose="05050102010706020507" pitchFamily="18" charset="2"/>
              </a:rPr>
              <a:t> under </a:t>
            </a:r>
            <a:r>
              <a:rPr lang="en-US" altLang="en-US" sz="2800" b="1" i="1" dirty="0">
                <a:solidFill>
                  <a:srgbClr val="0070C0"/>
                </a:solidFill>
                <a:sym typeface="Symbol" panose="05050102010706020507" pitchFamily="18" charset="2"/>
              </a:rPr>
              <a:t>f</a:t>
            </a:r>
            <a:r>
              <a:rPr lang="en-US" altLang="en-US" sz="2800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29B4364F-09CD-434B-AC72-D0F8A8DD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2406E6-F7FA-472F-B4BE-CF442A6B621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400D477-ECF2-4A8B-B893-FD4007500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Functions: Note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F2CBDF7-B6D0-43C7-8CA8-C60EF98710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A relation from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becomes a function if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the domain is all of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and if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every element of the domain is related to only one 	element of the codomain. 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006A67E8-6029-41B4-BAB8-BF9966AD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54F39-F90E-4653-A1BA-BCD301A4662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15CC277-1369-4FD7-8E32-CF10CF2BC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2708" y="0"/>
            <a:ext cx="8963784" cy="52592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Verifying/Proving Function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508ACA9B-89B2-4378-9C44-0A7E00ED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0639" y="891047"/>
            <a:ext cx="10972800" cy="5399865"/>
          </a:xfrm>
        </p:spPr>
        <p:txBody>
          <a:bodyPr>
            <a:normAutofit lnSpcReduction="10000"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Verifying/proofing a relation F from A to B is a function: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Follow an appropriate method of proof.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Verify the domain of F.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Verify that an element in the domain is related to a unique element in the range.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Finite Case: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use the diagrammatical method illustrated in Appendix 1 as a working tool to verify but must present it according to the method of proof.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Infinite Case: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Does the rule define an element of B for each element of A?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dirty="0">
                <a:sym typeface="Symbol" panose="05050102010706020507" pitchFamily="18" charset="2"/>
              </a:rPr>
              <a:t>For each element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is there only one value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such that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 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sz="2400" dirty="0">
                <a:sym typeface="Symbol" panose="05050102010706020507" pitchFamily="18" charset="2"/>
              </a:rPr>
              <a:t>? Beside checking from definition, this </a:t>
            </a:r>
            <a:r>
              <a:rPr lang="en-US" altLang="en-US" dirty="0">
                <a:sym typeface="Symbol" panose="05050102010706020507" pitchFamily="18" charset="2"/>
              </a:rPr>
              <a:t>property can be checked using the vertical line test that will be discussed in one of the examples later</a:t>
            </a:r>
            <a:r>
              <a:rPr lang="en-US" altLang="en-US" i="1" dirty="0">
                <a:sym typeface="Symbol" panose="05050102010706020507" pitchFamily="18" charset="2"/>
              </a:rPr>
              <a:t>.</a:t>
            </a:r>
            <a:endParaRPr lang="en-US" altLang="en-US" sz="2400" i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1960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48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48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448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>
            <a:extLst>
              <a:ext uri="{FF2B5EF4-FFF2-40B4-BE49-F238E27FC236}">
                <a16:creationId xmlns:a16="http://schemas.microsoft.com/office/drawing/2014/main" id="{2CC19859-C917-408D-8750-A6F9F655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31F64E-643C-43B6-8A97-92DC12D6E4B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0042AF8-D274-4049-AA1B-B478A6A1F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 Case: Exercise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2F02349-FCBD-4D56-8D26-C393CF017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199" y="1771651"/>
            <a:ext cx="8516587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Which of the following relations are functions? A sketch might be handy!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64519" name="Picture 4">
            <a:extLst>
              <a:ext uri="{FF2B5EF4-FFF2-40B4-BE49-F238E27FC236}">
                <a16:creationId xmlns:a16="http://schemas.microsoft.com/office/drawing/2014/main" id="{66930594-4739-4CCC-BFD4-936AB7615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192" y="3425826"/>
            <a:ext cx="3924300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926" name="Text Box 6">
            <a:extLst>
              <a:ext uri="{FF2B5EF4-FFF2-40B4-BE49-F238E27FC236}">
                <a16:creationId xmlns:a16="http://schemas.microsoft.com/office/drawing/2014/main" id="{B33F33BB-59AA-483E-BDEA-910EC8721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619" y="2616442"/>
            <a:ext cx="277451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+mn-lt"/>
              </a:rPr>
              <a:t>Yes, a function.</a:t>
            </a:r>
            <a:endParaRPr lang="en-GB" altLang="en-US" sz="2800" dirty="0">
              <a:latin typeface="+mn-lt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EFC18F9-BD28-4DD3-ACAE-BB7293030C9F}"/>
              </a:ext>
            </a:extLst>
          </p:cNvPr>
          <p:cNvSpPr txBox="1">
            <a:spLocks noChangeArrowheads="1"/>
          </p:cNvSpPr>
          <p:nvPr/>
        </p:nvSpPr>
        <p:spPr>
          <a:xfrm>
            <a:off x="6583754" y="3472654"/>
            <a:ext cx="5196568" cy="30091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Justification/Proof: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For each x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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ℝ, thus, (x,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</a:t>
            </a:r>
            <a:r>
              <a:rPr lang="en-US" altLang="en-US" i="1" dirty="0">
                <a:sym typeface="Symbol" panose="05050102010706020507" pitchFamily="18" charset="2"/>
              </a:rPr>
              <a:t> 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 Hence, x</a:t>
            </a:r>
            <a:r>
              <a:rPr lang="en-US" altLang="en-US" dirty="0">
                <a:sym typeface="Symbol" panose="05050102010706020507" pitchFamily="18" charset="2"/>
              </a:rPr>
              <a:t> 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. Hence,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 ℝ </a:t>
            </a:r>
          </a:p>
          <a:p>
            <a:pPr marL="793750" lvl="1" indent="-450850">
              <a:buNone/>
            </a:pPr>
            <a:r>
              <a:rPr lang="en-US" altLang="en-US" dirty="0">
                <a:ea typeface="宋体" panose="02010600030101010101" pitchFamily="2" charset="-122"/>
                <a:sym typeface="Symbol" panose="05050102010706020507" pitchFamily="18" charset="2"/>
              </a:rPr>
              <a:t>Furthermore, for </a:t>
            </a:r>
            <a:r>
              <a:rPr lang="en-US" altLang="en-US" dirty="0">
                <a:sym typeface="Symbol" panose="05050102010706020507" pitchFamily="18" charset="2"/>
              </a:rPr>
              <a:t>each x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there is a unique value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value in  ℝ such that (x,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en-US" dirty="0">
                <a:sym typeface="Symbol" panose="05050102010706020507" pitchFamily="18" charset="2"/>
              </a:rPr>
              <a:t> </a:t>
            </a:r>
            <a:r>
              <a:rPr lang="en-US" altLang="en-US" i="1" dirty="0">
                <a:sym typeface="Symbol" panose="05050102010706020507" pitchFamily="18" charset="2"/>
              </a:rPr>
              <a:t> R</a:t>
            </a:r>
            <a:r>
              <a:rPr lang="en-US" altLang="en-US" baseline="-25000" dirty="0">
                <a:sym typeface="Symbol" panose="05050102010706020507" pitchFamily="18" charset="2"/>
              </a:rPr>
              <a:t>1.</a:t>
            </a:r>
          </a:p>
          <a:p>
            <a:pPr marL="793750" lvl="1" indent="-450850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Therefore</a:t>
            </a:r>
            <a:r>
              <a:rPr lang="en-US" altLang="en-US" i="1" dirty="0">
                <a:sym typeface="Symbol" panose="05050102010706020507" pitchFamily="18" charset="2"/>
              </a:rPr>
              <a:t> 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is a function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793750" lvl="1" indent="-45085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>
            <a:extLst>
              <a:ext uri="{FF2B5EF4-FFF2-40B4-BE49-F238E27FC236}">
                <a16:creationId xmlns:a16="http://schemas.microsoft.com/office/drawing/2014/main" id="{F0F7DFEC-C8A2-4426-8363-878FAC72C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1A438A-6836-4B63-BFA4-8B238AEEB77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0BEF23CF-A0C6-4CC7-8506-BF4782296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1798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 Case: Exercise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6947" name="Rectangle 3">
            <a:extLst>
              <a:ext uri="{FF2B5EF4-FFF2-40B4-BE49-F238E27FC236}">
                <a16:creationId xmlns:a16="http://schemas.microsoft.com/office/drawing/2014/main" id="{B97FAB11-84F0-400A-8096-924553302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8176" y="1503427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(ii)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 0}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Since 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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not a function.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15BA3CDB-9EF2-4ACA-B331-FD375E77D0B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123251" y="3300839"/>
                <a:ext cx="6423880" cy="285080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en-US" sz="2200" dirty="0">
                    <a:sym typeface="Symbol" panose="05050102010706020507" pitchFamily="18" charset="2"/>
                  </a:rPr>
                  <a:t>Justification:</a:t>
                </a:r>
              </a:p>
              <a:p>
                <a:pPr marL="793750" lvl="1" indent="-450850">
                  <a:buNone/>
                </a:pPr>
                <a:r>
                  <a:rPr lang="en-US" altLang="en-US" sz="2200" dirty="0">
                    <a:sym typeface="Symbol" panose="05050102010706020507" pitchFamily="18" charset="2"/>
                  </a:rPr>
                  <a:t>If x &lt; 0, as y</a:t>
                </a:r>
                <a:r>
                  <a:rPr lang="en-US" altLang="zh-CN" sz="2200" baseline="30000" dirty="0">
                    <a:ea typeface="宋体" panose="02010600030101010101" pitchFamily="2" charset="-122"/>
                    <a:sym typeface="Symbol" panose="05050102010706020507" pitchFamily="18" charset="2"/>
                  </a:rPr>
                  <a:t>2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is always nonnegative, hence, there is </a:t>
                </a:r>
                <a:r>
                  <a:rPr lang="en-US" altLang="en-US" sz="2200" dirty="0">
                    <a:sym typeface="Symbol" panose="05050102010706020507" pitchFamily="18" charset="2"/>
                  </a:rPr>
                  <a:t>no y  </a:t>
                </a:r>
                <a:r>
                  <a:rPr lang="en-US" altLang="zh-CN" sz="2200" dirty="0">
                    <a:ea typeface="宋体" panose="02010600030101010101" pitchFamily="2" charset="-122"/>
                    <a:sym typeface="Symbol" panose="05050102010706020507" pitchFamily="18" charset="2"/>
                  </a:rPr>
                  <a:t>ℝ such that x = y</a:t>
                </a:r>
                <a:r>
                  <a:rPr lang="en-US" altLang="zh-CN" sz="2200" baseline="30000" dirty="0"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en-US" sz="2200" dirty="0">
                    <a:sym typeface="Symbol" panose="05050102010706020507" pitchFamily="18" charset="2"/>
                  </a:rPr>
                  <a:t> </a:t>
                </a:r>
                <a:r>
                  <a:rPr lang="en-US" altLang="zh-CN" sz="2200" dirty="0">
                    <a:ea typeface="宋体" panose="02010600030101010101" pitchFamily="2" charset="-122"/>
                    <a:sym typeface="Symbol" panose="05050102010706020507" pitchFamily="18" charset="2"/>
                  </a:rPr>
                  <a:t> ℝ, hence, x  Dom </a:t>
                </a:r>
                <a:r>
                  <a:rPr lang="en-US" altLang="en-US" sz="2200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sz="22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200" dirty="0">
                    <a:sym typeface="Symbol" panose="05050102010706020507" pitchFamily="18" charset="2"/>
                  </a:rPr>
                  <a:t>.</a:t>
                </a:r>
                <a:endParaRPr lang="en-US" altLang="zh-CN" sz="2200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marL="793750" lvl="1" indent="-450850">
                  <a:buNone/>
                </a:pPr>
                <a:r>
                  <a:rPr lang="en-US" altLang="en-US" sz="2200" dirty="0">
                    <a:sym typeface="Symbol" panose="05050102010706020507" pitchFamily="18" charset="2"/>
                  </a:rPr>
                  <a:t>If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 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 0, we take y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SG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sym typeface="Symbol" panose="05050102010706020507" pitchFamily="18" charset="2"/>
                  </a:rPr>
                  <a:t>, then x =               =  </a:t>
                </a:r>
                <a:r>
                  <a:rPr lang="en-US" altLang="zh-CN" i="1" dirty="0">
                    <a:ea typeface="宋体" panose="02010600030101010101" pitchFamily="2" charset="-122"/>
                    <a:sym typeface="Symbol" panose="05050102010706020507" pitchFamily="18" charset="2"/>
                  </a:rPr>
                  <a:t>y</a:t>
                </a:r>
                <a:r>
                  <a:rPr lang="en-US" altLang="zh-CN" baseline="30000" dirty="0"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. Hence, (x, y)</a:t>
                </a:r>
                <a:r>
                  <a:rPr lang="en-US" altLang="en-US" sz="2200" dirty="0">
                    <a:sym typeface="Symbol" panose="05050102010706020507" pitchFamily="18" charset="2"/>
                  </a:rPr>
                  <a:t> </a:t>
                </a:r>
                <a:r>
                  <a:rPr lang="en-US" altLang="en-US" sz="2200" i="1" dirty="0">
                    <a:sym typeface="Symbol" panose="05050102010706020507" pitchFamily="18" charset="2"/>
                  </a:rPr>
                  <a:t> R</a:t>
                </a:r>
                <a:r>
                  <a:rPr lang="en-US" altLang="en-US" sz="2200" baseline="-25000" dirty="0">
                    <a:sym typeface="Symbol" panose="05050102010706020507" pitchFamily="18" charset="2"/>
                  </a:rPr>
                  <a:t>2.</a:t>
                </a:r>
                <a:endParaRPr lang="en-US" altLang="en-US" sz="2200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marL="793750" lvl="1" indent="-450850">
                  <a:buNone/>
                </a:pPr>
                <a:r>
                  <a:rPr lang="en-US" altLang="en-US" sz="2200" dirty="0">
                    <a:ea typeface="宋体" panose="02010600030101010101" pitchFamily="2" charset="-122"/>
                    <a:sym typeface="Symbol" panose="05050102010706020507" pitchFamily="18" charset="2"/>
                  </a:rPr>
                  <a:t>Therefore, 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Dom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sz="2400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= {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</a:t>
                </a:r>
                <a:r>
                  <a:rPr lang="en-US" altLang="zh-CN" sz="2400" i="1" dirty="0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400" dirty="0">
                    <a:ea typeface="宋体" panose="02010600030101010101" pitchFamily="2" charset="-122"/>
                    <a:sym typeface="Symbol" panose="05050102010706020507" pitchFamily="18" charset="2"/>
                  </a:rPr>
                  <a:t>ℝ: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 0}</a:t>
                </a:r>
              </a:p>
              <a:p>
                <a:pPr marL="793750" lvl="1" indent="-450850">
                  <a:buNone/>
                </a:pPr>
                <a:r>
                  <a:rPr lang="en-US" altLang="en-US" dirty="0">
                    <a:sym typeface="Symbol" panose="05050102010706020507" pitchFamily="18" charset="2"/>
                  </a:rPr>
                  <a:t>Since Dom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 </a:t>
                </a: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ℝ,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baseline="-25000" dirty="0">
                    <a:sym typeface="Symbol" panose="05050102010706020507" pitchFamily="18" charset="2"/>
                  </a:rPr>
                  <a:t>2</a:t>
                </a:r>
                <a:r>
                  <a:rPr lang="en-US" altLang="en-US" dirty="0">
                    <a:sym typeface="Symbol" panose="05050102010706020507" pitchFamily="18" charset="2"/>
                  </a:rPr>
                  <a:t> is not a function.</a:t>
                </a:r>
              </a:p>
              <a:p>
                <a:pPr marL="793750" lvl="1" indent="-450850">
                  <a:buNone/>
                </a:pPr>
                <a:endParaRPr lang="en-US" alt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15BA3CDB-9EF2-4ACA-B331-FD375E77D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3251" y="3300839"/>
                <a:ext cx="6423880" cy="2850802"/>
              </a:xfrm>
              <a:prstGeom prst="rect">
                <a:avLst/>
              </a:prstGeom>
              <a:blipFill>
                <a:blip r:embed="rId2"/>
                <a:stretch>
                  <a:fillRect l="-1233" t="-3419" r="-17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1258ACE-5EBA-4A04-BA7A-AA8F75EC5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325" y="3007182"/>
            <a:ext cx="3170195" cy="3029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324A6D77-80FE-4F48-A590-C69980933801}"/>
                  </a:ext>
                </a:extLst>
              </p:cNvPr>
              <p:cNvSpPr txBox="1"/>
              <p:nvPr/>
            </p:nvSpPr>
            <p:spPr bwMode="auto">
              <a:xfrm>
                <a:off x="9565931" y="4484783"/>
                <a:ext cx="1027176" cy="683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SG" sz="2400" baseline="30000" dirty="0"/>
                  <a:t>2</a:t>
                </a:r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324A6D77-80FE-4F48-A590-C69980933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65931" y="4484783"/>
                <a:ext cx="1027176" cy="683472"/>
              </a:xfrm>
              <a:prstGeom prst="rect">
                <a:avLst/>
              </a:prstGeom>
              <a:blipFill>
                <a:blip r:embed="rId4"/>
                <a:stretch>
                  <a:fillRect t="-8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66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66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96D75E87-56A1-4249-AC2D-0F365C0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137433-861E-4876-ABEB-1ACEF5C45AE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B1BD3DE-5503-4C2C-B265-46A882B9D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-32543"/>
            <a:ext cx="8229600" cy="1143000"/>
          </a:xfrm>
        </p:spPr>
        <p:txBody>
          <a:bodyPr/>
          <a:lstStyle/>
          <a:p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 Case: Exercise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965571C6-F4B5-410E-AA70-29DA8A07E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8067" y="1173695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(iii)	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&gt; 0}, </a:t>
            </a:r>
            <a:r>
              <a:rPr lang="en-US" altLang="en-US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{(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}.</a:t>
            </a:r>
            <a:endParaRPr lang="en-US" altLang="en-US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67980" name="Text Box 12">
            <a:extLst>
              <a:ext uri="{FF2B5EF4-FFF2-40B4-BE49-F238E27FC236}">
                <a16:creationId xmlns:a16="http://schemas.microsoft.com/office/drawing/2014/main" id="{89FFA29D-DCEA-4C9A-8448-E9E38646C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093" y="1658149"/>
            <a:ext cx="73310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>
                <a:sym typeface="Symbol" panose="05050102010706020507" pitchFamily="18" charset="2"/>
              </a:rPr>
              <a:t>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dirty="0">
                <a:cs typeface="Arial" panose="020B0604020202020204" pitchFamily="34" charset="0"/>
                <a:sym typeface="Symbol" panose="05050102010706020507" pitchFamily="18" charset="2"/>
              </a:rPr>
              <a:t> </a:t>
            </a:r>
            <a:r>
              <a:rPr lang="en-US" altLang="zh-CN" i="1" dirty="0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</a:t>
            </a:r>
            <a:r>
              <a:rPr lang="en-US" altLang="zh-CN" sz="18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&gt; 0}.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dirty="0"/>
              <a:t>Since it satisfies the vertical line test, </a:t>
            </a:r>
            <a:r>
              <a:rPr lang="en-US" altLang="en-US" i="1" dirty="0"/>
              <a:t>R</a:t>
            </a:r>
            <a:r>
              <a:rPr lang="en-US" altLang="en-US" baseline="-25000" dirty="0"/>
              <a:t>3</a:t>
            </a:r>
            <a:r>
              <a:rPr lang="en-US" altLang="en-US" dirty="0"/>
              <a:t> is a function.</a:t>
            </a:r>
            <a:endParaRPr lang="en-GB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587F1-DC9B-41B4-8BC2-F86F80BC7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36" y="3129149"/>
            <a:ext cx="4511431" cy="27678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3BFB880-63D2-435F-B9A5-829A7F88667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050887" y="2910083"/>
                <a:ext cx="5776936" cy="36807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en-US" sz="2100" dirty="0">
                    <a:sym typeface="Symbol" panose="05050102010706020507" pitchFamily="18" charset="2"/>
                  </a:rPr>
                  <a:t>Justification/Proof: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en-US" sz="2100" dirty="0">
                    <a:sym typeface="Symbol" panose="05050102010706020507" pitchFamily="18" charset="2"/>
                  </a:rPr>
                  <a:t>For each x  A</a:t>
                </a:r>
                <a:r>
                  <a:rPr lang="en-US" altLang="zh-CN" sz="2100" dirty="0">
                    <a:ea typeface="宋体" panose="02010600030101010101" pitchFamily="2" charset="-122"/>
                    <a:sym typeface="Symbol" panose="05050102010706020507" pitchFamily="18" charset="2"/>
                  </a:rPr>
                  <a:t>, as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  0, we can take y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sz="21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sz="21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SG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100" dirty="0">
                    <a:sym typeface="Symbol" panose="05050102010706020507" pitchFamily="18" charset="2"/>
                  </a:rPr>
                  <a:t>, then x =                 =  </a:t>
                </a:r>
                <a:r>
                  <a:rPr lang="en-US" altLang="zh-CN" sz="2100" i="1" dirty="0">
                    <a:ea typeface="宋体" panose="02010600030101010101" pitchFamily="2" charset="-122"/>
                    <a:sym typeface="Symbol" panose="05050102010706020507" pitchFamily="18" charset="2"/>
                  </a:rPr>
                  <a:t>y</a:t>
                </a:r>
                <a:r>
                  <a:rPr lang="en-US" altLang="zh-CN" sz="2100" baseline="30000" dirty="0"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. Hence, (x, y) 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 R</a:t>
                </a:r>
                <a:r>
                  <a:rPr lang="en-US" altLang="en-US" sz="2100" baseline="-25000" dirty="0">
                    <a:sym typeface="Symbol" panose="05050102010706020507" pitchFamily="18" charset="2"/>
                  </a:rPr>
                  <a:t>3.</a:t>
                </a:r>
                <a:endParaRPr lang="en-US" altLang="en-US" sz="2100" baseline="-25000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sz="2100" dirty="0">
                    <a:ea typeface="宋体" panose="02010600030101010101" pitchFamily="2" charset="-122"/>
                    <a:sym typeface="Symbol" panose="05050102010706020507" pitchFamily="18" charset="2"/>
                  </a:rPr>
                  <a:t>Hence, 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Dom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sz="2100" baseline="-25000" dirty="0">
                    <a:sym typeface="Symbol" panose="05050102010706020507" pitchFamily="18" charset="2"/>
                  </a:rPr>
                  <a:t>3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 = A</a:t>
                </a:r>
                <a:endParaRPr lang="en-US" altLang="en-US" sz="2100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en-US" sz="2100" dirty="0">
                    <a:ea typeface="宋体" panose="02010600030101010101" pitchFamily="2" charset="-122"/>
                    <a:sym typeface="Symbol" panose="05050102010706020507" pitchFamily="18" charset="2"/>
                  </a:rPr>
                  <a:t>As each vertical line in this graph intersects the curve exactly one point, hence, 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for each element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 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A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,  there is only one value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  A,  such that (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,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)  </a:t>
                </a:r>
                <a:r>
                  <a:rPr lang="en-US" altLang="en-US" sz="2100" i="1" dirty="0">
                    <a:sym typeface="Symbol" panose="05050102010706020507" pitchFamily="18" charset="2"/>
                  </a:rPr>
                  <a:t>R</a:t>
                </a:r>
                <a:r>
                  <a:rPr lang="en-US" altLang="en-US" sz="2100" baseline="-25000" dirty="0">
                    <a:sym typeface="Symbol" panose="05050102010706020507" pitchFamily="18" charset="2"/>
                  </a:rPr>
                  <a:t>3</a:t>
                </a:r>
                <a:r>
                  <a:rPr lang="en-US" altLang="en-US" sz="2100" dirty="0">
                    <a:sym typeface="Symbol" panose="05050102010706020507" pitchFamily="18" charset="2"/>
                  </a:rPr>
                  <a:t> .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CN" sz="2100" dirty="0">
                    <a:ea typeface="宋体" panose="02010600030101010101" pitchFamily="2" charset="-122"/>
                    <a:sym typeface="Symbol" panose="05050102010706020507" pitchFamily="18" charset="2"/>
                  </a:rPr>
                  <a:t>Therefore </a:t>
                </a:r>
                <a:r>
                  <a:rPr lang="en-US" altLang="en-US" sz="2100" i="1" dirty="0"/>
                  <a:t>R</a:t>
                </a:r>
                <a:r>
                  <a:rPr lang="en-US" altLang="en-US" sz="2100" baseline="-25000" dirty="0"/>
                  <a:t>3</a:t>
                </a:r>
                <a:r>
                  <a:rPr lang="en-US" altLang="en-US" sz="2100" dirty="0"/>
                  <a:t> is a function.</a:t>
                </a:r>
                <a:endParaRPr lang="en-US" altLang="zh-CN" sz="2100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73BFB880-63D2-435F-B9A5-829A7F886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887" y="2910083"/>
                <a:ext cx="5776936" cy="3680721"/>
              </a:xfrm>
              <a:prstGeom prst="rect">
                <a:avLst/>
              </a:prstGeom>
              <a:blipFill>
                <a:blip r:embed="rId3"/>
                <a:stretch>
                  <a:fillRect l="-1267" t="-1821" r="-137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ine 5">
            <a:extLst>
              <a:ext uri="{FF2B5EF4-FFF2-40B4-BE49-F238E27FC236}">
                <a16:creationId xmlns:a16="http://schemas.microsoft.com/office/drawing/2014/main" id="{68653091-31AF-4CE8-88E2-13D4E27BA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8096" y="3130908"/>
            <a:ext cx="0" cy="2636749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0CB86F77-5C19-4F33-BB17-F26A4C8F3E05}"/>
                  </a:ext>
                </a:extLst>
              </p:cNvPr>
              <p:cNvSpPr txBox="1"/>
              <p:nvPr/>
            </p:nvSpPr>
            <p:spPr bwMode="auto">
              <a:xfrm>
                <a:off x="6338252" y="3550650"/>
                <a:ext cx="1027176" cy="638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SG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SG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SG" sz="2400" baseline="30000" dirty="0"/>
                  <a:t>2</a:t>
                </a:r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0CB86F77-5C19-4F33-BB17-F26A4C8F3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8252" y="3550650"/>
                <a:ext cx="1027176" cy="638465"/>
              </a:xfrm>
              <a:prstGeom prst="rect">
                <a:avLst/>
              </a:prstGeom>
              <a:blipFill>
                <a:blip r:embed="rId4"/>
                <a:stretch>
                  <a:fillRect t="-95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7B048953-EC7A-4A0E-A7BE-470D6B59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EC3802-ED42-47D7-9DB6-D4B498F66D2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3D8CFDBA-E7D2-4EB7-AFDB-8E7B9D527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Case: Exercises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019" name="Rectangle 3">
            <a:extLst>
              <a:ext uri="{FF2B5EF4-FFF2-40B4-BE49-F238E27FC236}">
                <a16:creationId xmlns:a16="http://schemas.microsoft.com/office/drawing/2014/main" id="{94BBD826-1453-4390-B400-2DA71221A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53787" y="1771651"/>
            <a:ext cx="10000013" cy="45307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{2, 4, 6} and let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{1, 3, 5}. Consider the following relations from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1.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{(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+ 1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} = {(2, 3), (4, 5)}.</a:t>
            </a: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Dom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{2, 4} 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Thus,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is not a function.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2.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={(2, 5), (4, 1), (4, 5), (6, 5)}.</a:t>
            </a:r>
            <a:endParaRPr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Dom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{2, 4, 6} =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However, 4 is related to both 1 and 5.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Thus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is not a function.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0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0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0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70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70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70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CA0B3E9F-B968-4A0A-94D1-D8EBC3AF0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5A1F7B-FC00-4A26-9CDD-949AE38C3FCB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3276358C-7AE8-4F26-A32C-82B00F89F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Case: Exercises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9955" name="Rectangle 3">
            <a:extLst>
              <a:ext uri="{FF2B5EF4-FFF2-40B4-BE49-F238E27FC236}">
                <a16:creationId xmlns:a16="http://schemas.microsoft.com/office/drawing/2014/main" id="{BA9131BE-806D-4BA2-AF8F-8ADB4D0E1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3722" y="1825627"/>
            <a:ext cx="9732818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{2, 4, 6} and let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{1, 3, 5}. Consider the following relations from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to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3.	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{(2, 5), (4, 1), (6, 5)}.</a:t>
            </a:r>
            <a:endParaRPr lang="en-US" altLang="zh-CN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712788" indent="-84138">
              <a:buNone/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en-US" dirty="0">
                <a:sym typeface="Symbol" panose="05050102010706020507" pitchFamily="18" charset="2"/>
              </a:rPr>
              <a:t>Dom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and each first element only appears once.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Thus, </a:t>
            </a:r>
            <a:r>
              <a:rPr lang="en-US" altLang="en-US" i="1" dirty="0">
                <a:sym typeface="Symbol" panose="05050102010706020507" pitchFamily="18" charset="2"/>
              </a:rPr>
              <a:t>R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is a function.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For Finite Cases, we can also use diagrammatical method shown in Appendix 1 to check. However, for justification/proof, </a:t>
            </a:r>
            <a:r>
              <a:rPr lang="en-US" altLang="en-US" b="1" dirty="0">
                <a:solidFill>
                  <a:srgbClr val="171BAD"/>
                </a:solidFill>
                <a:sym typeface="Symbol" panose="05050102010706020507" pitchFamily="18" charset="2"/>
              </a:rPr>
              <a:t>we should follow the method used in these exercises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9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09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5">
            <a:extLst>
              <a:ext uri="{FF2B5EF4-FFF2-40B4-BE49-F238E27FC236}">
                <a16:creationId xmlns:a16="http://schemas.microsoft.com/office/drawing/2014/main" id="{9FBDCF3D-8B02-44B6-81A6-D102758B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443F5E-6134-4074-999A-7D5BBD9CAA22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4959F31-CB7A-4363-9AF4-EDF8D0B46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 Functions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4DF13B1A-665F-451E-B978-28671A39F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be a function.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one-to-one</a:t>
            </a:r>
            <a:r>
              <a:rPr lang="en-US" altLang="en-US" dirty="0">
                <a:sym typeface="Symbol" panose="05050102010706020507" pitchFamily="18" charset="2"/>
              </a:rPr>
              <a:t> if and only if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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(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 =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 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006A67E8-6029-41B4-BAB8-BF9966AD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54F39-F90E-4653-A1BA-BCD301A4662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15CC277-1369-4FD7-8E32-CF10CF2BC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2708" y="-1"/>
            <a:ext cx="8963784" cy="66627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Verifying/Proving One-to-One Function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508ACA9B-89B2-4378-9C44-0A7E00ED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36318" y="865406"/>
            <a:ext cx="9144000" cy="512718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Verifying/proofing a function f from A to B is a one-to-one function: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Follow an appropriate method of proof.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Verify that an element in the range is related to a unique element in the domain.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Finite Case: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Can use the diagrammatical method illustrated in Appendix 1 as a working tool to verify, but for proof, we must present it according to the method of proof.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Infinite Case: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For (x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, y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), (x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y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)  F, based on the rule of F, if y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= y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, is x</a:t>
            </a:r>
            <a:r>
              <a:rPr lang="en-US" altLang="en-US" sz="2400" baseline="-25000" dirty="0">
                <a:sym typeface="Symbol" panose="05050102010706020507" pitchFamily="18" charset="2"/>
              </a:rPr>
              <a:t>1</a:t>
            </a:r>
            <a:r>
              <a:rPr lang="en-US" altLang="en-US" sz="2400" dirty="0">
                <a:sym typeface="Symbol" panose="05050102010706020507" pitchFamily="18" charset="2"/>
              </a:rPr>
              <a:t> = x</a:t>
            </a:r>
            <a:r>
              <a:rPr lang="en-US" altLang="en-US" sz="2400" baseline="-25000" dirty="0"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ym typeface="Symbol" panose="05050102010706020507" pitchFamily="18" charset="2"/>
              </a:rPr>
              <a:t>?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The above verification/proof can be replaced by the horizontal </a:t>
            </a:r>
            <a:r>
              <a:rPr lang="en-US" altLang="en-US" sz="2400" i="1" dirty="0">
                <a:sym typeface="Symbol" panose="05050102010706020507" pitchFamily="18" charset="2"/>
              </a:rPr>
              <a:t>line test</a:t>
            </a:r>
            <a:r>
              <a:rPr lang="en-US" altLang="en-US" sz="2400" dirty="0">
                <a:sym typeface="Symbol" panose="05050102010706020507" pitchFamily="18" charset="2"/>
              </a:rPr>
              <a:t>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26396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48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AB783382-2587-444D-8EE7-760A099E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196289-4E40-4830-A3C1-415368289A7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54F0BC0-60DE-4539-90FC-9136C740FF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 Functions: Example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C7BADEEC-F4BB-48D4-8E2D-C8F05A896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5519" y="1825627"/>
            <a:ext cx="92964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Consider the relation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given by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 =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a function, but some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of the elements in the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position are related to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two elements in the domain.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Hence,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not a one-to-one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function.</a:t>
            </a:r>
          </a:p>
        </p:txBody>
      </p:sp>
      <p:pic>
        <p:nvPicPr>
          <p:cNvPr id="73733" name="Picture 4">
            <a:extLst>
              <a:ext uri="{FF2B5EF4-FFF2-40B4-BE49-F238E27FC236}">
                <a16:creationId xmlns:a16="http://schemas.microsoft.com/office/drawing/2014/main" id="{94206623-3ABF-4210-A5D9-C56CD943E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3024250"/>
            <a:ext cx="36385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8EE5863D-7450-41EE-B341-39C9E09252F7}"/>
              </a:ext>
            </a:extLst>
          </p:cNvPr>
          <p:cNvSpPr txBox="1">
            <a:spLocks noChangeArrowheads="1"/>
          </p:cNvSpPr>
          <p:nvPr/>
        </p:nvSpPr>
        <p:spPr>
          <a:xfrm>
            <a:off x="8610599" y="3041937"/>
            <a:ext cx="3502945" cy="2765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Justification/Proof of Not One-to-One: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Since F(3) = 9 and F(-3) = 9, but 3   -3, hence, F is not one-to-one</a:t>
            </a:r>
            <a:r>
              <a:rPr lang="en-US" altLang="en-US" i="1" dirty="0">
                <a:sym typeface="Symbol" panose="05050102010706020507" pitchFamily="18" charset="2"/>
              </a:rPr>
              <a:t>.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>
            <a:extLst>
              <a:ext uri="{FF2B5EF4-FFF2-40B4-BE49-F238E27FC236}">
                <a16:creationId xmlns:a16="http://schemas.microsoft.com/office/drawing/2014/main" id="{686172D2-9D43-4671-8392-C21B2897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6A4CB9-4C14-4722-9855-82B5A820527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EF4B429D-9867-48C9-84A0-474A882EB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07743"/>
            <a:ext cx="8229600" cy="738269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 Functions: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4E5B9D9-8312-4BBF-BD21-09909A489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9535" y="1335820"/>
            <a:ext cx="7828808" cy="5171859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Consider the relation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&gt; 0}</a:t>
            </a:r>
            <a:r>
              <a:rPr lang="en-US" altLang="en-US" dirty="0">
                <a:sym typeface="Symbol" panose="05050102010706020507" pitchFamily="18" charset="2"/>
              </a:rPr>
              <a:t> given by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 =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endParaRPr lang="en-US" altLang="en-US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Any given element from the range is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the image of only one element from the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domain. Therefore,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a one-to-one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function, as each element in the range is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the image of only one element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in the domain.</a:t>
            </a:r>
          </a:p>
        </p:txBody>
      </p:sp>
      <p:pic>
        <p:nvPicPr>
          <p:cNvPr id="74757" name="Picture 5">
            <a:extLst>
              <a:ext uri="{FF2B5EF4-FFF2-40B4-BE49-F238E27FC236}">
                <a16:creationId xmlns:a16="http://schemas.microsoft.com/office/drawing/2014/main" id="{1E450CE0-E272-4E33-B389-E933E7B2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20158"/>
            <a:ext cx="2487613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23441A1-D08C-4D35-B802-06488C635C18}"/>
              </a:ext>
            </a:extLst>
          </p:cNvPr>
          <p:cNvSpPr txBox="1">
            <a:spLocks noChangeArrowheads="1"/>
          </p:cNvSpPr>
          <p:nvPr/>
        </p:nvSpPr>
        <p:spPr>
          <a:xfrm>
            <a:off x="8740239" y="2339439"/>
            <a:ext cx="3373306" cy="3803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Justification/Proof of One-to-One: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For each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en-US" dirty="0">
                <a:sym typeface="Symbol" panose="05050102010706020507" pitchFamily="18" charset="2"/>
              </a:rPr>
              <a:t> such that  (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 =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), 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.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As both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&gt; 0 and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  </a:t>
            </a:r>
            <a:r>
              <a:rPr lang="en-US" altLang="en-US" dirty="0">
                <a:sym typeface="Symbol" panose="05050102010706020507" pitchFamily="18" charset="2"/>
              </a:rPr>
              <a:t>&gt; 0, this implies that</a:t>
            </a:r>
            <a:r>
              <a:rPr lang="en-US" altLang="en-US" i="1" dirty="0">
                <a:sym typeface="Symbol" panose="05050102010706020507" pitchFamily="18" charset="2"/>
              </a:rPr>
              <a:t> 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Hence, F is one-to-one.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>
            <a:extLst>
              <a:ext uri="{FF2B5EF4-FFF2-40B4-BE49-F238E27FC236}">
                <a16:creationId xmlns:a16="http://schemas.microsoft.com/office/drawing/2014/main" id="{896B3E09-024B-4303-BF3F-D29B3554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6858E0-F75D-4654-AD11-465A653E8CF9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1EC42C18-DC26-4611-9EF1-630B49944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3518" y="136526"/>
            <a:ext cx="8229600" cy="903287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One-To-One Functions: Notes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6163" name="Rectangle 3">
            <a:extLst>
              <a:ext uri="{FF2B5EF4-FFF2-40B4-BE49-F238E27FC236}">
                <a16:creationId xmlns:a16="http://schemas.microsoft.com/office/drawing/2014/main" id="{04943175-3A82-4EBB-9A3D-F3D247E914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302" y="1689116"/>
            <a:ext cx="9169731" cy="4530725"/>
          </a:xfrm>
        </p:spPr>
        <p:txBody>
          <a:bodyPr>
            <a:normAutofit/>
          </a:bodyPr>
          <a:lstStyle/>
          <a:p>
            <a:pPr marL="903288" lvl="1" indent="-903288">
              <a:buNone/>
            </a:pPr>
            <a:r>
              <a:rPr lang="en-US" altLang="en-US" sz="2800" dirty="0">
                <a:sym typeface="Symbol" panose="05050102010706020507" pitchFamily="18" charset="2"/>
              </a:rPr>
              <a:t>Infinite case: Can also be checked or proved by the horizontal line test.</a:t>
            </a:r>
          </a:p>
          <a:p>
            <a:pPr marL="0" lvl="1" indent="0">
              <a:buNone/>
            </a:pPr>
            <a:endParaRPr lang="en-US" altLang="en-US" sz="2800" dirty="0">
              <a:sym typeface="Symbol" panose="05050102010706020507" pitchFamily="18" charset="2"/>
            </a:endParaRPr>
          </a:p>
          <a:p>
            <a:pPr marL="901700" indent="-901700">
              <a:buNone/>
            </a:pPr>
            <a:r>
              <a:rPr lang="en-US" altLang="en-US" dirty="0">
                <a:sym typeface="Symbol" panose="05050102010706020507" pitchFamily="18" charset="2"/>
              </a:rPr>
              <a:t>Finite case: Is each element in the range always associated with a different element in the domain? (refer to Appendix 1).	</a:t>
            </a:r>
            <a:endParaRPr lang="en-US" altLang="en-US" i="1" dirty="0">
              <a:sym typeface="Symbol" panose="05050102010706020507" pitchFamily="18" charset="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29E339-7BE6-4146-AE02-9B70AD1F91EE}"/>
              </a:ext>
            </a:extLst>
          </p:cNvPr>
          <p:cNvSpPr/>
          <p:nvPr/>
        </p:nvSpPr>
        <p:spPr>
          <a:xfrm>
            <a:off x="771896" y="1029385"/>
            <a:ext cx="10581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>
                <a:sym typeface="Symbol" panose="05050102010706020507" pitchFamily="18" charset="2"/>
              </a:rPr>
              <a:t>For checking a function from A to B to see whether it is one-to-one: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>
            <a:extLst>
              <a:ext uri="{FF2B5EF4-FFF2-40B4-BE49-F238E27FC236}">
                <a16:creationId xmlns:a16="http://schemas.microsoft.com/office/drawing/2014/main" id="{A7DAA502-8F68-4253-8A9C-74D9A449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4425BF-890C-482A-A301-6B38E3A52A2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124C9B4A-F99E-44CF-BDFF-BC950DA4A5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7187" name="Rectangle 3">
            <a:extLst>
              <a:ext uri="{FF2B5EF4-FFF2-40B4-BE49-F238E27FC236}">
                <a16:creationId xmlns:a16="http://schemas.microsoft.com/office/drawing/2014/main" id="{05D3232B-C765-45C3-8A3F-15CA62205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Which of the following are one-to-one functions?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{1, 2, 3},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{(1, 2), (2, 3), (3, 1)}.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Yes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(ii)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{1, 2, 3},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{(1, 2), (2, 1), (3, 1)}.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No, since the both the first element 2 and 3 have the same image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7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>
            <a:extLst>
              <a:ext uri="{FF2B5EF4-FFF2-40B4-BE49-F238E27FC236}">
                <a16:creationId xmlns:a16="http://schemas.microsoft.com/office/drawing/2014/main" id="{763DE9A0-1E79-4D8F-BE4F-CDEE5D46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164A05-C7F6-49A3-B03B-E016CACFF1B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6B06DAD-DD4F-4189-A3A3-988F73249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0992" y="106695"/>
            <a:ext cx="8229600" cy="897861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0979" name="Rectangle 3">
            <a:extLst>
              <a:ext uri="{FF2B5EF4-FFF2-40B4-BE49-F238E27FC236}">
                <a16:creationId xmlns:a16="http://schemas.microsoft.com/office/drawing/2014/main" id="{B124A926-E909-4ADA-B656-FF0FF5322C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49259" y="1227552"/>
            <a:ext cx="9549171" cy="50748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Which of the following functions are one-to-one functions?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(iii)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on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 2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Yes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Proof/Justify: If there are x</a:t>
            </a:r>
            <a:r>
              <a:rPr lang="en-US" altLang="en-US" baseline="-25000" dirty="0">
                <a:sym typeface="Symbol" panose="05050102010706020507" pitchFamily="18" charset="2"/>
              </a:rPr>
              <a:t>1 , </a:t>
            </a:r>
            <a:r>
              <a:rPr lang="en-US" altLang="en-US" dirty="0">
                <a:sym typeface="Symbol" panose="05050102010706020507" pitchFamily="18" charset="2"/>
              </a:rPr>
              <a:t>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 </a:t>
            </a:r>
            <a:r>
              <a:rPr lang="en-US" altLang="en-US" dirty="0">
                <a:ea typeface="ＭＳ 明朝" panose="02020609040205080304" pitchFamily="49" charset="-128"/>
              </a:rPr>
              <a:t>such that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(x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) =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(x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</a:p>
          <a:p>
            <a:pPr marL="400050" lvl="1" indent="1039813">
              <a:buNone/>
              <a:tabLst>
                <a:tab pos="4208463" algn="l"/>
              </a:tabLst>
            </a:pPr>
            <a:r>
              <a:rPr lang="en-US" altLang="en-US" sz="2800" dirty="0">
                <a:sym typeface="Symbol" panose="05050102010706020507" pitchFamily="18" charset="2"/>
              </a:rPr>
              <a:t>Then, 2x</a:t>
            </a:r>
            <a:r>
              <a:rPr lang="en-US" altLang="en-US" sz="2800" baseline="-25000" dirty="0">
                <a:sym typeface="Symbol" panose="05050102010706020507" pitchFamily="18" charset="2"/>
              </a:rPr>
              <a:t>1 </a:t>
            </a:r>
            <a:r>
              <a:rPr lang="en-US" altLang="en-US" sz="2800" dirty="0">
                <a:sym typeface="Symbol" panose="05050102010706020507" pitchFamily="18" charset="2"/>
              </a:rPr>
              <a:t>= 2x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marL="400050" lvl="1" indent="1039813">
              <a:buNone/>
              <a:tabLst>
                <a:tab pos="4208463" algn="l"/>
              </a:tabLst>
            </a:pPr>
            <a:r>
              <a:rPr lang="en-US" altLang="en-US" sz="2800" dirty="0">
                <a:sym typeface="Symbol" panose="05050102010706020507" pitchFamily="18" charset="2"/>
              </a:rPr>
              <a:t>Hence, x</a:t>
            </a:r>
            <a:r>
              <a:rPr lang="en-US" altLang="en-US" sz="2800" baseline="-25000" dirty="0">
                <a:sym typeface="Symbol" panose="05050102010706020507" pitchFamily="18" charset="2"/>
              </a:rPr>
              <a:t>1 </a:t>
            </a:r>
            <a:r>
              <a:rPr lang="en-US" altLang="en-US" sz="2800" dirty="0">
                <a:sym typeface="Symbol" panose="05050102010706020507" pitchFamily="18" charset="2"/>
              </a:rPr>
              <a:t>= x</a:t>
            </a:r>
            <a:r>
              <a:rPr lang="en-US" altLang="en-US" sz="2800" baseline="-25000" dirty="0">
                <a:sym typeface="Symbol" panose="05050102010706020507" pitchFamily="18" charset="2"/>
              </a:rPr>
              <a:t>2</a:t>
            </a:r>
          </a:p>
          <a:p>
            <a:pPr marL="400050" lvl="1" indent="1039813">
              <a:buNone/>
              <a:tabLst>
                <a:tab pos="4208463" algn="l"/>
              </a:tabLst>
            </a:pPr>
            <a:r>
              <a:rPr lang="en-US" altLang="en-US" sz="2800" dirty="0">
                <a:sym typeface="Symbol" panose="05050102010706020507" pitchFamily="18" charset="2"/>
              </a:rPr>
              <a:t>Therefore, </a:t>
            </a:r>
            <a:r>
              <a:rPr lang="en-US" altLang="en-US" sz="2800" baseline="-25000" dirty="0"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sym typeface="Symbol" panose="05050102010706020507" pitchFamily="18" charset="2"/>
              </a:rPr>
              <a:t>F</a:t>
            </a:r>
            <a:r>
              <a:rPr lang="en-US" altLang="en-US" sz="2800" baseline="-25000" dirty="0">
                <a:sym typeface="Symbol" panose="05050102010706020507" pitchFamily="18" charset="2"/>
              </a:rPr>
              <a:t>3  </a:t>
            </a:r>
            <a:r>
              <a:rPr lang="en-US" altLang="en-US" sz="2800" dirty="0">
                <a:sym typeface="Symbol" panose="05050102010706020507" pitchFamily="18" charset="2"/>
              </a:rPr>
              <a:t>is one-to-one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(iv)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4</a:t>
            </a:r>
            <a:r>
              <a:rPr lang="en-US" altLang="en-US" dirty="0">
                <a:sym typeface="Symbol" panose="05050102010706020507" pitchFamily="18" charset="2"/>
              </a:rPr>
              <a:t> from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ea typeface="ＭＳ 明朝" panose="02020609040205080304" pitchFamily="49" charset="-128"/>
              </a:rPr>
              <a:t> - {0} to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4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               }.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No, since both the first element -1 and 1 have the same 	image 0.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0980" name="Object 4">
                <a:extLst>
                  <a:ext uri="{FF2B5EF4-FFF2-40B4-BE49-F238E27FC236}">
                    <a16:creationId xmlns:a16="http://schemas.microsoft.com/office/drawing/2014/main" id="{522C0387-C8FF-4523-8118-7F7A929366CB}"/>
                  </a:ext>
                </a:extLst>
              </p:cNvPr>
              <p:cNvSpPr txBox="1"/>
              <p:nvPr/>
            </p:nvSpPr>
            <p:spPr bwMode="auto">
              <a:xfrm>
                <a:off x="7284848" y="4523994"/>
                <a:ext cx="1146632" cy="5348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10980" name="Object 4">
                <a:extLst>
                  <a:ext uri="{FF2B5EF4-FFF2-40B4-BE49-F238E27FC236}">
                    <a16:creationId xmlns:a16="http://schemas.microsoft.com/office/drawing/2014/main" id="{522C0387-C8FF-4523-8118-7F7A92936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4848" y="4523994"/>
                <a:ext cx="1146632" cy="5348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098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Number Placeholder 5">
            <a:extLst>
              <a:ext uri="{FF2B5EF4-FFF2-40B4-BE49-F238E27FC236}">
                <a16:creationId xmlns:a16="http://schemas.microsoft.com/office/drawing/2014/main" id="{97261A46-9E2A-48EB-B942-83B8C7047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7574B2-852D-4EF5-B987-FA34F0345D24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9B43A6ED-E946-4EAF-82E5-3399BC5F1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Functions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5B4517C3-C972-4548-9844-CE6834624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be a function.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</a:t>
            </a:r>
            <a:r>
              <a:rPr lang="en-US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onto</a:t>
            </a:r>
            <a:r>
              <a:rPr lang="en-US" altLang="en-US" dirty="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if and only if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Range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dirty="0">
                <a:sym typeface="Symbol" panose="05050102010706020507" pitchFamily="18" charset="2"/>
              </a:rPr>
              <a:t>=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that is,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		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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r>
              <a:rPr lang="en-US" altLang="en-US" i="1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>
            <a:extLst>
              <a:ext uri="{FF2B5EF4-FFF2-40B4-BE49-F238E27FC236}">
                <a16:creationId xmlns:a16="http://schemas.microsoft.com/office/drawing/2014/main" id="{006A67E8-6029-41B4-BAB8-BF9966AD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954F39-F90E-4653-A1BA-BCD301A4662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15CC277-1369-4FD7-8E32-CF10CF2BC7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2708" y="-1"/>
            <a:ext cx="8963784" cy="666273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Verifying/Proving Onto Function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8515" name="Rectangle 3">
            <a:extLst>
              <a:ext uri="{FF2B5EF4-FFF2-40B4-BE49-F238E27FC236}">
                <a16:creationId xmlns:a16="http://schemas.microsoft.com/office/drawing/2014/main" id="{508ACA9B-89B2-4378-9C44-0A7E00ED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062136"/>
            <a:ext cx="9144000" cy="4733728"/>
          </a:xfrm>
        </p:spPr>
        <p:txBody>
          <a:bodyPr>
            <a:normAutofit/>
          </a:bodyPr>
          <a:lstStyle/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Verifying/proofing a function f from A to B is a Onto: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Follow an appropriate method of proof.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Verify that an element in the codomain B is related to an element in the domain A.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Finite Case: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 dirty="0">
                <a:sym typeface="Symbol" panose="05050102010706020507" pitchFamily="18" charset="2"/>
              </a:rPr>
              <a:t>Can use the diagrammatical method illustrated in Appendix 1 as a working tool to verify, but for proof, we must present it according to the method of proof.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dirty="0">
                <a:sym typeface="Symbol" panose="05050102010706020507" pitchFamily="18" charset="2"/>
              </a:rPr>
              <a:t>Infinite Case: 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en-US" altLang="en-US" sz="2400" dirty="0">
                <a:sym typeface="Symbol" panose="05050102010706020507" pitchFamily="18" charset="2"/>
              </a:rPr>
              <a:t>For y  B, based on the rule of F, show that there is a solution x  A satisfying the rule.</a:t>
            </a:r>
          </a:p>
        </p:txBody>
      </p:sp>
    </p:spTree>
    <p:extLst>
      <p:ext uri="{BB962C8B-B14F-4D97-AF65-F5344CB8AC3E}">
        <p14:creationId xmlns:p14="http://schemas.microsoft.com/office/powerpoint/2010/main" val="1755879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8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48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>
            <a:extLst>
              <a:ext uri="{FF2B5EF4-FFF2-40B4-BE49-F238E27FC236}">
                <a16:creationId xmlns:a16="http://schemas.microsoft.com/office/drawing/2014/main" id="{84C53C27-9E07-43DE-BD97-65E39B12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30FC68-5D60-487A-8AA6-821F263B0BD3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GB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E1E6FE0C-E3D3-4895-8F22-C19CCF1066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Functions: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CC279632-9AF9-47B7-AAFB-A6AA0FB8D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10506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be a function from </a:t>
            </a:r>
            <a:r>
              <a:rPr lang="en-US" altLang="en-US" i="1" dirty="0">
                <a:sym typeface="Symbol" panose="05050102010706020507" pitchFamily="18" charset="2"/>
              </a:rPr>
              <a:t>A = </a:t>
            </a:r>
            <a:r>
              <a:rPr lang="en-US" altLang="en-US" dirty="0">
                <a:sym typeface="Symbol" panose="05050102010706020507" pitchFamily="18" charset="2"/>
              </a:rPr>
              <a:t>{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-1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 1}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to</a:t>
            </a:r>
            <a:r>
              <a:rPr lang="en-US" altLang="en-US" i="1" dirty="0">
                <a:sym typeface="Symbol" panose="05050102010706020507" pitchFamily="18" charset="2"/>
              </a:rPr>
              <a:t> 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given by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                 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Dom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[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-1, </a:t>
            </a:r>
            <a:r>
              <a:rPr lang="en-US" altLang="en-US" dirty="0">
                <a:sym typeface="Symbol" panose="05050102010706020507" pitchFamily="18" charset="2"/>
              </a:rPr>
              <a:t>1]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Range </a:t>
            </a:r>
            <a:r>
              <a:rPr lang="en-US" altLang="en-US" i="1" dirty="0">
                <a:sym typeface="Symbol" panose="05050102010706020507" pitchFamily="18" charset="2"/>
              </a:rPr>
              <a:t>F =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0,</a:t>
            </a:r>
            <a:r>
              <a:rPr lang="en-US" altLang="en-US" dirty="0">
                <a:sym typeface="Symbol" panose="05050102010706020507" pitchFamily="18" charset="2"/>
              </a:rPr>
              <a:t> 1]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This function is clearly not onto as range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dirty="0">
                <a:sym typeface="Symbol" panose="05050102010706020507" pitchFamily="18" charset="2"/>
              </a:rPr>
              <a:t> A.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25" name="Object 4">
                <a:extLst>
                  <a:ext uri="{FF2B5EF4-FFF2-40B4-BE49-F238E27FC236}">
                    <a16:creationId xmlns:a16="http://schemas.microsoft.com/office/drawing/2014/main" id="{334AB33C-CE7B-4BAA-800C-33A6BFC8D183}"/>
                  </a:ext>
                </a:extLst>
              </p:cNvPr>
              <p:cNvSpPr txBox="1"/>
              <p:nvPr/>
            </p:nvSpPr>
            <p:spPr bwMode="auto">
              <a:xfrm>
                <a:off x="1335963" y="2242538"/>
                <a:ext cx="1805074" cy="7893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2   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81925" name="Object 4">
                <a:extLst>
                  <a:ext uri="{FF2B5EF4-FFF2-40B4-BE49-F238E27FC236}">
                    <a16:creationId xmlns:a16="http://schemas.microsoft.com/office/drawing/2014/main" id="{334AB33C-CE7B-4BAA-800C-33A6BFC8D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35963" y="2242538"/>
                <a:ext cx="1805074" cy="789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26" name="Picture 6">
            <a:extLst>
              <a:ext uri="{FF2B5EF4-FFF2-40B4-BE49-F238E27FC236}">
                <a16:creationId xmlns:a16="http://schemas.microsoft.com/office/drawing/2014/main" id="{40F3DEB6-E525-4580-A5C9-95F966671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6000" y="2101056"/>
            <a:ext cx="3459163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9F4B9860-39B7-4096-A559-4A75B85B56D3}"/>
              </a:ext>
            </a:extLst>
          </p:cNvPr>
          <p:cNvSpPr txBox="1">
            <a:spLocks noChangeArrowheads="1"/>
          </p:cNvSpPr>
          <p:nvPr/>
        </p:nvSpPr>
        <p:spPr>
          <a:xfrm>
            <a:off x="7555164" y="3041937"/>
            <a:ext cx="4489810" cy="24800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Justification/Proof of Not Onto: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-1  A, as F(x) =                      0,  hence, there is no x  A such that F(x) = -1.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Thus, -1   range F.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Hence, range </a:t>
            </a:r>
            <a:r>
              <a:rPr lang="en-US" altLang="en-US" i="1" dirty="0">
                <a:sym typeface="Symbol" panose="05050102010706020507" pitchFamily="18" charset="2"/>
              </a:rPr>
              <a:t>F </a:t>
            </a:r>
            <a:r>
              <a:rPr lang="en-US" altLang="en-US" dirty="0">
                <a:sym typeface="Symbol" panose="05050102010706020507" pitchFamily="18" charset="2"/>
              </a:rPr>
              <a:t> A.</a:t>
            </a:r>
          </a:p>
          <a:p>
            <a:pPr marL="793750" lvl="1" indent="-450850">
              <a:buNone/>
            </a:pPr>
            <a:r>
              <a:rPr lang="en-US" altLang="en-US" dirty="0">
                <a:sym typeface="Symbol" panose="05050102010706020507" pitchFamily="18" charset="2"/>
              </a:rPr>
              <a:t>Therefore,  F is not onto</a:t>
            </a:r>
            <a:r>
              <a:rPr lang="en-US" altLang="en-US" i="1" dirty="0">
                <a:sym typeface="Symbol" panose="05050102010706020507" pitchFamily="18" charset="2"/>
              </a:rPr>
              <a:t>.</a:t>
            </a:r>
            <a:endParaRPr lang="en-US" altLang="en-US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54512061-25D8-4209-BEC3-F477B2020E01}"/>
                  </a:ext>
                </a:extLst>
              </p:cNvPr>
              <p:cNvSpPr txBox="1"/>
              <p:nvPr/>
            </p:nvSpPr>
            <p:spPr bwMode="auto">
              <a:xfrm>
                <a:off x="9902522" y="3274621"/>
                <a:ext cx="1367641" cy="596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SG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2 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54512061-25D8-4209-BEC3-F477B2020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02522" y="3274621"/>
                <a:ext cx="1367641" cy="5967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5">
            <a:extLst>
              <a:ext uri="{FF2B5EF4-FFF2-40B4-BE49-F238E27FC236}">
                <a16:creationId xmlns:a16="http://schemas.microsoft.com/office/drawing/2014/main" id="{EF8AC845-D481-42EC-8320-EC49DFDE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993FC4-B936-45FA-A62C-5BC7F272AB18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937D14-FC3F-4917-A731-B0F841920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35309"/>
            <a:ext cx="8229600" cy="703132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Functions: Example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3331" name="Rectangle 3">
            <a:extLst>
              <a:ext uri="{FF2B5EF4-FFF2-40B4-BE49-F238E27FC236}">
                <a16:creationId xmlns:a16="http://schemas.microsoft.com/office/drawing/2014/main" id="{D6C91D04-EC11-4857-8C71-B2514F5BE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199" y="1064712"/>
            <a:ext cx="9644743" cy="523766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A = </a:t>
            </a:r>
            <a:r>
              <a:rPr lang="en-US" altLang="en-US" dirty="0">
                <a:sym typeface="Symbol" panose="05050102010706020507" pitchFamily="18" charset="2"/>
              </a:rPr>
              <a:t>{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-1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 1}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However, we can define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y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 1}, and a “new” function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given by the same rule as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, that is,  </a:t>
            </a: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               .</a:t>
            </a:r>
          </a:p>
          <a:p>
            <a:pPr marL="0" indent="0">
              <a:buNone/>
            </a:pPr>
            <a:endParaRPr lang="en-US" altLang="en-US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A = </a:t>
            </a:r>
            <a:r>
              <a:rPr lang="en-US" altLang="en-US" dirty="0">
                <a:sym typeface="Symbol" panose="05050102010706020507" pitchFamily="18" charset="2"/>
              </a:rPr>
              <a:t>{</a:t>
            </a:r>
            <a:r>
              <a:rPr lang="en-US" altLang="en-US" i="1" dirty="0">
                <a:sym typeface="Symbol" panose="05050102010706020507" pitchFamily="18" charset="2"/>
              </a:rPr>
              <a:t>x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-1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 1}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Dom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[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-1, </a:t>
            </a:r>
            <a:r>
              <a:rPr lang="en-US" altLang="en-US" dirty="0">
                <a:sym typeface="Symbol" panose="05050102010706020507" pitchFamily="18" charset="2"/>
              </a:rPr>
              <a:t>1]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Range </a:t>
            </a:r>
            <a:r>
              <a:rPr lang="en-US" altLang="en-US" i="1" dirty="0">
                <a:sym typeface="Symbol" panose="05050102010706020507" pitchFamily="18" charset="2"/>
              </a:rPr>
              <a:t>F = </a:t>
            </a:r>
            <a:r>
              <a:rPr lang="en-US" altLang="en-US" dirty="0">
                <a:sym typeface="Symbol" panose="05050102010706020507" pitchFamily="18" charset="2"/>
              </a:rPr>
              <a:t>[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0,</a:t>
            </a:r>
            <a:r>
              <a:rPr lang="en-US" altLang="en-US" dirty="0">
                <a:sym typeface="Symbol" panose="05050102010706020507" pitchFamily="18" charset="2"/>
              </a:rPr>
              <a:t> 1]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400050" lvl="1" indent="-400050">
              <a:buNone/>
              <a:tabLst>
                <a:tab pos="901700" algn="l"/>
                <a:tab pos="2417763" algn="l"/>
              </a:tabLst>
            </a:pPr>
            <a:endParaRPr lang="en-US" altLang="en-US" sz="3100" dirty="0">
              <a:sym typeface="Symbol" panose="05050102010706020507" pitchFamily="18" charset="2"/>
            </a:endParaRPr>
          </a:p>
          <a:p>
            <a:pPr marL="400050" lvl="1" indent="-400050">
              <a:buNone/>
              <a:tabLst>
                <a:tab pos="901700" algn="l"/>
                <a:tab pos="2417763" algn="l"/>
              </a:tabLst>
            </a:pPr>
            <a:r>
              <a:rPr lang="en-US" altLang="en-US" sz="3100" dirty="0">
                <a:sym typeface="Symbol" panose="05050102010706020507" pitchFamily="18" charset="2"/>
              </a:rPr>
              <a:t>Proof:</a:t>
            </a:r>
          </a:p>
          <a:p>
            <a:pPr marL="400050" lvl="1" indent="-400050">
              <a:buNone/>
              <a:tabLst>
                <a:tab pos="901700" algn="l"/>
                <a:tab pos="2417763" algn="l"/>
              </a:tabLst>
            </a:pPr>
            <a:r>
              <a:rPr lang="en-US" altLang="en-US" sz="3100" dirty="0">
                <a:sym typeface="Symbol" panose="05050102010706020507" pitchFamily="18" charset="2"/>
              </a:rPr>
              <a:t>For each </a:t>
            </a:r>
            <a:r>
              <a:rPr lang="en-US" altLang="en-US" sz="3100" i="1" dirty="0">
                <a:sym typeface="Symbol" panose="05050102010706020507" pitchFamily="18" charset="2"/>
              </a:rPr>
              <a:t>y</a:t>
            </a:r>
            <a:r>
              <a:rPr lang="en-US" altLang="en-US" sz="3100" dirty="0">
                <a:sym typeface="Symbol" panose="05050102010706020507" pitchFamily="18" charset="2"/>
              </a:rPr>
              <a:t>  B</a:t>
            </a:r>
            <a:r>
              <a:rPr lang="en-US" altLang="zh-CN" sz="3100" dirty="0">
                <a:ea typeface="宋体" panose="02010600030101010101" pitchFamily="2" charset="-122"/>
                <a:sym typeface="Symbol" panose="05050102010706020507" pitchFamily="18" charset="2"/>
              </a:rPr>
              <a:t>, let </a:t>
            </a:r>
            <a:r>
              <a:rPr lang="en-US" altLang="zh-CN" sz="31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100" dirty="0">
                <a:ea typeface="宋体" panose="02010600030101010101" pitchFamily="2" charset="-122"/>
                <a:sym typeface="Symbol" panose="05050102010706020507" pitchFamily="18" charset="2"/>
              </a:rPr>
              <a:t> =                    </a:t>
            </a:r>
            <a:r>
              <a:rPr lang="en-US" altLang="en-US" sz="3100" dirty="0">
                <a:sym typeface="Symbol" panose="05050102010706020507" pitchFamily="18" charset="2"/>
              </a:rPr>
              <a:t> A</a:t>
            </a:r>
            <a:r>
              <a:rPr lang="en-US" altLang="zh-CN" sz="3100" dirty="0">
                <a:ea typeface="宋体" panose="02010600030101010101" pitchFamily="2" charset="-122"/>
                <a:sym typeface="Symbol" panose="05050102010706020507" pitchFamily="18" charset="2"/>
              </a:rPr>
              <a:t>, then </a:t>
            </a:r>
            <a:r>
              <a:rPr lang="en-US" altLang="zh-CN" sz="3100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3100" dirty="0"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en-US" sz="3100" dirty="0">
                <a:sym typeface="Symbol" panose="05050102010706020507" pitchFamily="18" charset="2"/>
              </a:rPr>
              <a:t> </a:t>
            </a:r>
            <a:r>
              <a:rPr lang="en-US" altLang="en-US" sz="3100" i="1" dirty="0">
                <a:sym typeface="Symbol" panose="05050102010706020507" pitchFamily="18" charset="2"/>
              </a:rPr>
              <a:t>f</a:t>
            </a:r>
            <a:r>
              <a:rPr lang="en-US" altLang="en-US" sz="3100" baseline="-25000" dirty="0">
                <a:sym typeface="Symbol" panose="05050102010706020507" pitchFamily="18" charset="2"/>
              </a:rPr>
              <a:t>1</a:t>
            </a:r>
            <a:r>
              <a:rPr lang="en-US" altLang="en-US" sz="3100" dirty="0">
                <a:sym typeface="Symbol" panose="05050102010706020507" pitchFamily="18" charset="2"/>
              </a:rPr>
              <a:t>(</a:t>
            </a:r>
            <a:r>
              <a:rPr lang="en-US" altLang="en-US" sz="3100" i="1" dirty="0">
                <a:sym typeface="Symbol" panose="05050102010706020507" pitchFamily="18" charset="2"/>
              </a:rPr>
              <a:t>x</a:t>
            </a:r>
            <a:r>
              <a:rPr lang="en-US" altLang="en-US" sz="3100" dirty="0">
                <a:sym typeface="Symbol" panose="05050102010706020507" pitchFamily="18" charset="2"/>
              </a:rPr>
              <a:t>).</a:t>
            </a:r>
          </a:p>
          <a:p>
            <a:pPr marL="400050" lvl="1" indent="-400050">
              <a:buNone/>
              <a:tabLst>
                <a:tab pos="901700" algn="l"/>
                <a:tab pos="2417763" algn="l"/>
              </a:tabLst>
            </a:pPr>
            <a:r>
              <a:rPr lang="en-US" altLang="en-US" sz="3100" dirty="0">
                <a:sym typeface="Symbol" panose="05050102010706020507" pitchFamily="18" charset="2"/>
              </a:rPr>
              <a:t>Thus, Range </a:t>
            </a:r>
            <a:r>
              <a:rPr lang="en-US" altLang="en-US" sz="3100" i="1" dirty="0">
                <a:sym typeface="Symbol" panose="05050102010706020507" pitchFamily="18" charset="2"/>
              </a:rPr>
              <a:t>f</a:t>
            </a:r>
            <a:r>
              <a:rPr lang="en-US" altLang="en-US" sz="3100" baseline="-25000" dirty="0">
                <a:sym typeface="Symbol" panose="05050102010706020507" pitchFamily="18" charset="2"/>
              </a:rPr>
              <a:t>1</a:t>
            </a:r>
            <a:r>
              <a:rPr lang="en-US" altLang="en-US" sz="3100" dirty="0">
                <a:sym typeface="Symbol" panose="05050102010706020507" pitchFamily="18" charset="2"/>
              </a:rPr>
              <a:t> = B.</a:t>
            </a:r>
          </a:p>
          <a:p>
            <a:pPr marL="0" indent="0">
              <a:buNone/>
            </a:pPr>
            <a:r>
              <a:rPr lang="en-US" altLang="en-US" sz="3100" dirty="0">
                <a:sym typeface="Symbol" panose="05050102010706020507" pitchFamily="18" charset="2"/>
              </a:rPr>
              <a:t> Hence, </a:t>
            </a:r>
            <a:r>
              <a:rPr lang="en-US" altLang="en-US" sz="3100" i="1" dirty="0">
                <a:sym typeface="Symbol" panose="05050102010706020507" pitchFamily="18" charset="2"/>
              </a:rPr>
              <a:t>f</a:t>
            </a:r>
            <a:r>
              <a:rPr lang="en-US" altLang="en-US" sz="3100" baseline="-25000" dirty="0">
                <a:sym typeface="Symbol" panose="05050102010706020507" pitchFamily="18" charset="2"/>
              </a:rPr>
              <a:t>1 </a:t>
            </a:r>
            <a:r>
              <a:rPr lang="en-US" altLang="en-US" sz="3100" dirty="0">
                <a:sym typeface="Symbol" panose="05050102010706020507" pitchFamily="18" charset="2"/>
              </a:rPr>
              <a:t> is onto.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9" name="Object 5">
                <a:extLst>
                  <a:ext uri="{FF2B5EF4-FFF2-40B4-BE49-F238E27FC236}">
                    <a16:creationId xmlns:a16="http://schemas.microsoft.com/office/drawing/2014/main" id="{5A25DFAD-49EC-471F-9AAF-DD6D9C1C805D}"/>
                  </a:ext>
                </a:extLst>
              </p:cNvPr>
              <p:cNvSpPr txBox="1"/>
              <p:nvPr/>
            </p:nvSpPr>
            <p:spPr bwMode="auto">
              <a:xfrm>
                <a:off x="2589387" y="1891941"/>
                <a:ext cx="1382538" cy="611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82949" name="Object 5">
                <a:extLst>
                  <a:ext uri="{FF2B5EF4-FFF2-40B4-BE49-F238E27FC236}">
                    <a16:creationId xmlns:a16="http://schemas.microsoft.com/office/drawing/2014/main" id="{5A25DFAD-49EC-471F-9AAF-DD6D9C1C8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89387" y="1891941"/>
                <a:ext cx="1382538" cy="6117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950" name="Picture 6">
            <a:extLst>
              <a:ext uri="{FF2B5EF4-FFF2-40B4-BE49-F238E27FC236}">
                <a16:creationId xmlns:a16="http://schemas.microsoft.com/office/drawing/2014/main" id="{6D414A48-FD50-4F28-91F0-BC0AB3903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91941"/>
            <a:ext cx="3459163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42146780-5B90-4027-9890-60CFEB53D5DC}"/>
                  </a:ext>
                </a:extLst>
              </p:cNvPr>
              <p:cNvSpPr txBox="1"/>
              <p:nvPr/>
            </p:nvSpPr>
            <p:spPr bwMode="auto">
              <a:xfrm>
                <a:off x="4999707" y="5069159"/>
                <a:ext cx="1382538" cy="6117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SG" sz="2400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2" name="Object 5">
                <a:extLst>
                  <a:ext uri="{FF2B5EF4-FFF2-40B4-BE49-F238E27FC236}">
                    <a16:creationId xmlns:a16="http://schemas.microsoft.com/office/drawing/2014/main" id="{42146780-5B90-4027-9890-60CFEB53D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9707" y="5069159"/>
                <a:ext cx="1382538" cy="611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>
            <a:extLst>
              <a:ext uri="{FF2B5EF4-FFF2-40B4-BE49-F238E27FC236}">
                <a16:creationId xmlns:a16="http://schemas.microsoft.com/office/drawing/2014/main" id="{6B7F6B9F-487B-495E-809A-3E4CB7CC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557EF7-6BF9-4BFF-83CC-F271C81B3A60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84B226AB-853F-44E4-B071-98101E12C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Functions: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4355" name="Rectangle 3">
            <a:extLst>
              <a:ext uri="{FF2B5EF4-FFF2-40B4-BE49-F238E27FC236}">
                <a16:creationId xmlns:a16="http://schemas.microsoft.com/office/drawing/2014/main" id="{32F270EA-D3B9-4455-AB73-3D7F5639C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914400" indent="-914400">
              <a:buNone/>
            </a:pPr>
            <a:r>
              <a:rPr lang="en-US" altLang="en-US" dirty="0">
                <a:sym typeface="Symbol" panose="05050102010706020507" pitchFamily="18" charset="2"/>
              </a:rPr>
              <a:t>1.	To show a function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is onto, you simply need to show that Range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that is, for each element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come up with an element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such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). </a:t>
            </a:r>
          </a:p>
          <a:p>
            <a:pPr marL="914400" indent="-914400">
              <a:buNone/>
            </a:pPr>
            <a:r>
              <a:rPr lang="en-US" altLang="en-US" dirty="0">
                <a:sym typeface="Symbol" panose="05050102010706020507" pitchFamily="18" charset="2"/>
              </a:rPr>
              <a:t> </a:t>
            </a:r>
          </a:p>
          <a:p>
            <a:pPr marL="914400" indent="-914400">
              <a:buNone/>
            </a:pPr>
            <a:r>
              <a:rPr lang="en-US" altLang="en-US" dirty="0">
                <a:sym typeface="Symbol" panose="05050102010706020507" pitchFamily="18" charset="2"/>
              </a:rPr>
              <a:t>2.	To prove that a function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is not onto, you just need to find one element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which is not the image of any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4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Number Placeholder 5">
            <a:extLst>
              <a:ext uri="{FF2B5EF4-FFF2-40B4-BE49-F238E27FC236}">
                <a16:creationId xmlns:a16="http://schemas.microsoft.com/office/drawing/2014/main" id="{80E0EC83-A01F-46FD-AECB-D513C70E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4B7909-099D-48B2-B896-66A1E94B2665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83D69287-182F-4352-9B0E-0068271C3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BEB1427F-5507-4F4A-BC8E-F339C057D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036" y="1771651"/>
            <a:ext cx="8880764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Determine which of the following functions are onto.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</a:t>
            </a:r>
            <a:r>
              <a:rPr lang="en-US" altLang="en-US" i="1" dirty="0">
                <a:sym typeface="Symbol" panose="05050102010706020507" pitchFamily="18" charset="2"/>
              </a:rPr>
              <a:t>A =</a:t>
            </a:r>
            <a:r>
              <a:rPr lang="en-US" altLang="en-US" dirty="0">
                <a:sym typeface="Symbol" panose="05050102010706020507" pitchFamily="18" charset="2"/>
              </a:rPr>
              <a:t> {1, 2, 3, 4, 5} and</a:t>
            </a:r>
            <a:r>
              <a:rPr lang="en-US" altLang="en-US" i="1" dirty="0">
                <a:sym typeface="Symbol" panose="05050102010706020507" pitchFamily="18" charset="2"/>
              </a:rPr>
              <a:t> B</a:t>
            </a:r>
            <a:r>
              <a:rPr lang="en-US" altLang="en-US" dirty="0">
                <a:sym typeface="Symbol" panose="05050102010706020507" pitchFamily="18" charset="2"/>
              </a:rPr>
              <a:t> ={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}.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dirty="0" err="1"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)	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1</a:t>
            </a:r>
            <a:r>
              <a:rPr lang="en-US" altLang="en-US" dirty="0">
                <a:sym typeface="Symbol" panose="05050102010706020507" pitchFamily="18" charset="2"/>
              </a:rPr>
              <a:t> = {(1,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), (2,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), (3,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), (4,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), (5,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No,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 but it is not an image of any element in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(ii)	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{(1,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), (2,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), (3, </a:t>
            </a:r>
            <a:r>
              <a:rPr lang="en-US" altLang="en-US" i="1" dirty="0">
                <a:sym typeface="Symbol" panose="05050102010706020507" pitchFamily="18" charset="2"/>
              </a:rPr>
              <a:t>c</a:t>
            </a:r>
            <a:r>
              <a:rPr lang="en-US" altLang="en-US" dirty="0">
                <a:sym typeface="Symbol" panose="05050102010706020507" pitchFamily="18" charset="2"/>
              </a:rPr>
              <a:t>), (4,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), (5,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)}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Yes, since range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B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6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6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6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Number Placeholder 5">
            <a:extLst>
              <a:ext uri="{FF2B5EF4-FFF2-40B4-BE49-F238E27FC236}">
                <a16:creationId xmlns:a16="http://schemas.microsoft.com/office/drawing/2014/main" id="{06A18F17-45A6-48B1-A0C1-EF872D8C7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CCD749-9818-4324-85C4-1A2D76E72CAF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60602FEA-428D-4536-9D89-E215DA024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36523"/>
            <a:ext cx="8229600" cy="653027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7427" name="Rectangle 3">
            <a:extLst>
              <a:ext uri="{FF2B5EF4-FFF2-40B4-BE49-F238E27FC236}">
                <a16:creationId xmlns:a16="http://schemas.microsoft.com/office/drawing/2014/main" id="{AA412277-D79C-48C2-9DE3-0040D08BE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06286" y="1140031"/>
            <a:ext cx="8904514" cy="50826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Determine which of the following functions are onto.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(iii)</a:t>
            </a:r>
            <a:r>
              <a:rPr lang="en-US" altLang="en-US" i="1" dirty="0">
                <a:sym typeface="Symbol" panose="05050102010706020507" pitchFamily="18" charset="2"/>
              </a:rPr>
              <a:t>    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 such that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4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-1.</a:t>
            </a:r>
          </a:p>
          <a:p>
            <a:pPr marL="0" indent="0">
              <a:buNone/>
            </a:pPr>
            <a:endParaRPr lang="en-US" altLang="en-US" sz="1000" dirty="0">
              <a:sym typeface="Symbol" panose="05050102010706020507" pitchFamily="18" charset="2"/>
            </a:endParaRPr>
          </a:p>
          <a:p>
            <a:pPr marL="400050" lvl="1" indent="0">
              <a:buNone/>
              <a:tabLst>
                <a:tab pos="901700" algn="l"/>
                <a:tab pos="241776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F</a:t>
            </a:r>
            <a:r>
              <a:rPr lang="en-US" altLang="en-US" sz="2400" dirty="0">
                <a:sym typeface="Symbol" panose="05050102010706020507" pitchFamily="18" charset="2"/>
              </a:rPr>
              <a:t>or each </a:t>
            </a:r>
            <a:r>
              <a:rPr lang="en-US" altLang="en-US" sz="2400" i="1" dirty="0"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sym typeface="Symbol" panose="05050102010706020507" pitchFamily="18" charset="2"/>
              </a:rPr>
              <a:t> 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ℝ, let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=          </a:t>
            </a:r>
            <a:r>
              <a:rPr lang="en-US" altLang="en-US" sz="2400" dirty="0">
                <a:sym typeface="Symbol" panose="05050102010706020507" pitchFamily="18" charset="2"/>
              </a:rPr>
              <a:t>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ℝ, then </a:t>
            </a:r>
            <a:r>
              <a:rPr lang="en-US" altLang="zh-CN" sz="2400" i="1" dirty="0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f</a:t>
            </a:r>
            <a:r>
              <a:rPr lang="en-US" altLang="en-US" sz="2400" baseline="-25000" dirty="0"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sym typeface="Symbol" panose="05050102010706020507" pitchFamily="18" charset="2"/>
              </a:rPr>
              <a:t>).</a:t>
            </a:r>
          </a:p>
          <a:p>
            <a:pPr marL="400050" lvl="1" indent="0">
              <a:buNone/>
              <a:tabLst>
                <a:tab pos="901700" algn="l"/>
                <a:tab pos="2417763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	</a:t>
            </a:r>
          </a:p>
          <a:p>
            <a:pPr marL="400050" lvl="1" indent="0">
              <a:buNone/>
              <a:tabLst>
                <a:tab pos="901700" algn="l"/>
                <a:tab pos="241776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Thus, Range </a:t>
            </a:r>
            <a:r>
              <a:rPr lang="en-US" altLang="en-US" sz="2400" i="1" dirty="0">
                <a:sym typeface="Symbol" panose="05050102010706020507" pitchFamily="18" charset="2"/>
              </a:rPr>
              <a:t>f</a:t>
            </a:r>
            <a:r>
              <a:rPr lang="en-US" altLang="en-US" sz="2400" baseline="-25000" dirty="0">
                <a:sym typeface="Symbol" panose="05050102010706020507" pitchFamily="18" charset="2"/>
              </a:rPr>
              <a:t>3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 </a:t>
            </a:r>
          </a:p>
          <a:p>
            <a:pPr marL="0" indent="0" defTabSz="452438">
              <a:buNone/>
            </a:pPr>
            <a:r>
              <a:rPr lang="en-US" altLang="en-US" dirty="0">
                <a:sym typeface="Symbol" panose="05050102010706020507" pitchFamily="18" charset="2"/>
              </a:rPr>
              <a:t>		</a:t>
            </a:r>
            <a:r>
              <a:rPr lang="en-US" altLang="en-US" sz="2400" dirty="0">
                <a:sym typeface="Symbol" panose="05050102010706020507" pitchFamily="18" charset="2"/>
              </a:rPr>
              <a:t>Hence, </a:t>
            </a:r>
            <a:r>
              <a:rPr lang="en-US" altLang="en-US" sz="2400" i="1" dirty="0">
                <a:sym typeface="Symbol" panose="05050102010706020507" pitchFamily="18" charset="2"/>
              </a:rPr>
              <a:t>f</a:t>
            </a:r>
            <a:r>
              <a:rPr lang="en-US" altLang="en-US" sz="2400" baseline="-25000" dirty="0">
                <a:sym typeface="Symbol" panose="05050102010706020507" pitchFamily="18" charset="2"/>
              </a:rPr>
              <a:t>3 </a:t>
            </a:r>
            <a:r>
              <a:rPr lang="en-US" altLang="en-US" sz="2400" dirty="0">
                <a:sym typeface="Symbol" panose="05050102010706020507" pitchFamily="18" charset="2"/>
              </a:rPr>
              <a:t> is onto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(iv)	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4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such that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-25000" dirty="0">
                <a:sym typeface="Symbol" panose="05050102010706020507" pitchFamily="18" charset="2"/>
              </a:rPr>
              <a:t>4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4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– 1.	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No, 0  </a:t>
            </a:r>
            <a:r>
              <a:rPr lang="en-US" altLang="en-US" dirty="0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 dirty="0">
                <a:sym typeface="Symbol" panose="05050102010706020507" pitchFamily="18" charset="2"/>
              </a:rPr>
              <a:t> but it is not an image of any element in the 	domain.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B0B2CE41-32B5-4A6D-96AD-5D1C47ECDFA2}"/>
                  </a:ext>
                </a:extLst>
              </p:cNvPr>
              <p:cNvSpPr txBox="1"/>
              <p:nvPr/>
            </p:nvSpPr>
            <p:spPr bwMode="auto">
              <a:xfrm>
                <a:off x="4962629" y="1986869"/>
                <a:ext cx="712787" cy="788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7" name="Object 4">
                <a:extLst>
                  <a:ext uri="{FF2B5EF4-FFF2-40B4-BE49-F238E27FC236}">
                    <a16:creationId xmlns:a16="http://schemas.microsoft.com/office/drawing/2014/main" id="{B0B2CE41-32B5-4A6D-96AD-5D1C47ECD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2629" y="1986869"/>
                <a:ext cx="712787" cy="788988"/>
              </a:xfrm>
              <a:prstGeom prst="rect">
                <a:avLst/>
              </a:prstGeom>
              <a:blipFill>
                <a:blip r:embed="rId2"/>
                <a:stretch>
                  <a:fillRect r="-427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5">
            <a:extLst>
              <a:ext uri="{FF2B5EF4-FFF2-40B4-BE49-F238E27FC236}">
                <a16:creationId xmlns:a16="http://schemas.microsoft.com/office/drawing/2014/main" id="{09F210B1-CCE6-4ABA-B621-9A039FCDE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9E2FC8-7B7E-46D0-A045-A3D8384D63BA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6236666-0E9F-4843-AF78-CE8F79C7F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Onto Functions: Notes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9475" name="Rectangle 3">
            <a:extLst>
              <a:ext uri="{FF2B5EF4-FFF2-40B4-BE49-F238E27FC236}">
                <a16:creationId xmlns:a16="http://schemas.microsoft.com/office/drawing/2014/main" id="{D5714955-1247-49E8-BF6F-F4C306C1FB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If you are asked to show why a function is not onto, all you need to give is a counterexample, that is, you must give a value of </a:t>
            </a:r>
          </a:p>
          <a:p>
            <a:pPr marL="0" indent="0">
              <a:buNone/>
            </a:pP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B</a:t>
            </a:r>
            <a:r>
              <a:rPr lang="en-US" altLang="en-US">
                <a:sym typeface="Symbol" panose="05050102010706020507" pitchFamily="18" charset="2"/>
              </a:rPr>
              <a:t> for which there is no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 i="1">
                <a:sym typeface="Symbol" panose="05050102010706020507" pitchFamily="18" charset="2"/>
              </a:rPr>
              <a:t>A</a:t>
            </a:r>
            <a:r>
              <a:rPr lang="en-US" altLang="en-US">
                <a:sym typeface="Symbol" panose="05050102010706020507" pitchFamily="18" charset="2"/>
              </a:rPr>
              <a:t> to give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i="1">
                <a:sym typeface="Symbol" panose="05050102010706020507" pitchFamily="18" charset="2"/>
              </a:rPr>
              <a:t>f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).</a:t>
            </a:r>
          </a:p>
          <a:p>
            <a:pPr marL="0" indent="0">
              <a:buNone/>
            </a:pPr>
            <a:endParaRPr lang="en-US" altLang="en-US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For example, for </a:t>
            </a:r>
            <a:r>
              <a:rPr lang="en-US" altLang="en-US" i="1">
                <a:sym typeface="Symbol" panose="05050102010706020507" pitchFamily="18" charset="2"/>
              </a:rPr>
              <a:t>f</a:t>
            </a:r>
            <a:r>
              <a:rPr lang="en-US" altLang="en-US" baseline="-25000">
                <a:sym typeface="Symbol" panose="05050102010706020507" pitchFamily="18" charset="2"/>
              </a:rPr>
              <a:t>4</a:t>
            </a:r>
            <a:r>
              <a:rPr lang="en-US" altLang="en-US">
                <a:sym typeface="Symbol" panose="05050102010706020507" pitchFamily="18" charset="2"/>
              </a:rPr>
              <a:t> in the previous exercise,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</a:t>
            </a:r>
            <a:r>
              <a:rPr lang="en-US" altLang="en-US" i="1">
                <a:sym typeface="Symbol" panose="05050102010706020507" pitchFamily="18" charset="2"/>
              </a:rPr>
              <a:t>f</a:t>
            </a:r>
            <a:r>
              <a:rPr lang="en-US" altLang="en-US" baseline="-25000">
                <a:sym typeface="Symbol" panose="05050102010706020507" pitchFamily="18" charset="2"/>
              </a:rPr>
              <a:t>4</a:t>
            </a:r>
            <a:r>
              <a:rPr lang="en-US" altLang="en-US">
                <a:sym typeface="Symbol" panose="05050102010706020507" pitchFamily="18" charset="2"/>
              </a:rPr>
              <a:t> is not onto. </a:t>
            </a:r>
          </a:p>
          <a:p>
            <a:pPr marL="0" indent="0">
              <a:buNone/>
            </a:pPr>
            <a:r>
              <a:rPr lang="en-US" altLang="en-US">
                <a:sym typeface="Symbol" panose="05050102010706020507" pitchFamily="18" charset="2"/>
              </a:rPr>
              <a:t>	For </a:t>
            </a:r>
            <a:r>
              <a:rPr lang="en-US" altLang="en-US" i="1">
                <a:sym typeface="Symbol" panose="05050102010706020507" pitchFamily="18" charset="2"/>
              </a:rPr>
              <a:t>y</a:t>
            </a:r>
            <a:r>
              <a:rPr lang="en-US" altLang="en-US">
                <a:sym typeface="Symbol" panose="05050102010706020507" pitchFamily="18" charset="2"/>
              </a:rPr>
              <a:t> = 1, we need 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 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ea typeface="ＭＳ 明朝" panose="02020609040205080304" pitchFamily="49" charset="-128"/>
              </a:rPr>
              <a:t> so that 1 = 4</a:t>
            </a:r>
            <a:r>
              <a:rPr lang="en-US" altLang="en-US" i="1">
                <a:ea typeface="ＭＳ 明朝" panose="02020609040205080304" pitchFamily="49" charset="-128"/>
              </a:rPr>
              <a:t>x</a:t>
            </a:r>
            <a:r>
              <a:rPr lang="en-US" altLang="en-US">
                <a:ea typeface="ＭＳ 明朝" panose="02020609040205080304" pitchFamily="49" charset="-128"/>
              </a:rPr>
              <a:t> – 1.</a:t>
            </a:r>
          </a:p>
          <a:p>
            <a:pPr marL="0" indent="0">
              <a:buNone/>
            </a:pPr>
            <a:r>
              <a:rPr lang="en-US" altLang="en-US">
                <a:ea typeface="ＭＳ 明朝" panose="02020609040205080304" pitchFamily="49" charset="-128"/>
              </a:rPr>
              <a:t>	That is, we need 2 = 4</a:t>
            </a:r>
            <a:r>
              <a:rPr lang="en-US" altLang="en-US" i="1">
                <a:ea typeface="ＭＳ 明朝" panose="02020609040205080304" pitchFamily="49" charset="-128"/>
              </a:rPr>
              <a:t>x</a:t>
            </a:r>
            <a:r>
              <a:rPr lang="en-US" altLang="en-US">
                <a:ea typeface="ＭＳ 明朝" panose="02020609040205080304" pitchFamily="49" charset="-128"/>
              </a:rPr>
              <a:t> or </a:t>
            </a:r>
            <a:r>
              <a:rPr lang="en-US" altLang="en-US" i="1">
                <a:ea typeface="ＭＳ 明朝" panose="02020609040205080304" pitchFamily="49" charset="-128"/>
              </a:rPr>
              <a:t>x</a:t>
            </a:r>
            <a:r>
              <a:rPr lang="en-US" altLang="en-US">
                <a:ea typeface="ＭＳ 明朝" panose="02020609040205080304" pitchFamily="49" charset="-128"/>
              </a:rPr>
              <a:t> = ½.</a:t>
            </a:r>
          </a:p>
          <a:p>
            <a:pPr marL="0" indent="0">
              <a:buNone/>
            </a:pPr>
            <a:r>
              <a:rPr lang="en-US" altLang="en-US">
                <a:ea typeface="ＭＳ 明朝" panose="02020609040205080304" pitchFamily="49" charset="-128"/>
              </a:rPr>
              <a:t>	However, ½ </a:t>
            </a:r>
            <a:r>
              <a:rPr lang="en-US" altLang="en-US">
                <a:sym typeface="Symbol" panose="05050102010706020507" pitchFamily="18" charset="2"/>
              </a:rPr>
              <a:t></a:t>
            </a:r>
            <a:r>
              <a:rPr lang="en-US" altLang="en-US">
                <a:ea typeface="ＭＳ 明朝" panose="02020609040205080304" pitchFamily="49" charset="-128"/>
              </a:rPr>
              <a:t> </a:t>
            </a:r>
            <a:r>
              <a:rPr lang="en-US" altLang="en-US">
                <a:latin typeface="ＭＳ 明朝" panose="02020609040205080304" pitchFamily="49" charset="-128"/>
                <a:ea typeface="ＭＳ 明朝" panose="02020609040205080304" pitchFamily="49" charset="-128"/>
              </a:rPr>
              <a:t>ℤ</a:t>
            </a:r>
            <a:r>
              <a:rPr lang="en-US" altLang="en-US">
                <a:ea typeface="ＭＳ 明朝" panose="02020609040205080304" pitchFamily="49" charset="-128"/>
              </a:rPr>
              <a:t>, so there is no </a:t>
            </a:r>
            <a:r>
              <a:rPr lang="en-US" altLang="en-US" i="1">
                <a:ea typeface="ＭＳ 明朝" panose="02020609040205080304" pitchFamily="49" charset="-128"/>
              </a:rPr>
              <a:t>x</a:t>
            </a:r>
            <a:r>
              <a:rPr lang="en-US" altLang="en-US">
                <a:ea typeface="ＭＳ 明朝" panose="02020609040205080304" pitchFamily="49" charset="-128"/>
              </a:rPr>
              <a:t> so that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=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 i="1">
                <a:sym typeface="Symbol" panose="05050102010706020507" pitchFamily="18" charset="2"/>
              </a:rPr>
              <a:t>f</a:t>
            </a:r>
            <a:r>
              <a:rPr lang="en-US" altLang="en-US" baseline="-25000">
                <a:sym typeface="Symbol" panose="05050102010706020507" pitchFamily="18" charset="2"/>
              </a:rPr>
              <a:t>4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x</a:t>
            </a:r>
            <a:r>
              <a:rPr lang="en-US" altLang="en-US">
                <a:sym typeface="Symbol" panose="05050102010706020507" pitchFamily="18" charset="2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9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9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9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89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5">
            <a:extLst>
              <a:ext uri="{FF2B5EF4-FFF2-40B4-BE49-F238E27FC236}">
                <a16:creationId xmlns:a16="http://schemas.microsoft.com/office/drawing/2014/main" id="{468F7ACE-91C0-4B5D-A782-5DE2E3C8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B4CD91-72BA-466E-8CFE-076A2F35F79D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4BAD4C11-AC1E-478D-8903-A59BE6DBC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Functions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0499" name="Rectangle 3">
            <a:extLst>
              <a:ext uri="{FF2B5EF4-FFF2-40B4-BE49-F238E27FC236}">
                <a16:creationId xmlns:a16="http://schemas.microsoft.com/office/drawing/2014/main" id="{BB54A3F4-78AA-4948-806D-24646BDF9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771651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For any function, there is an inverse relation, however, this inverse relation is not always a function.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The inverse relation of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will also be a function when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is one-to-one and onto.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0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5">
            <a:extLst>
              <a:ext uri="{FF2B5EF4-FFF2-40B4-BE49-F238E27FC236}">
                <a16:creationId xmlns:a16="http://schemas.microsoft.com/office/drawing/2014/main" id="{049FE61C-F56B-4AC9-91B3-A042B1FF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D7366C-DCAE-41BC-BC13-D97260E07D3E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C9074CF-C85E-48A8-8E89-8FBE1EC08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5800" y="-26193"/>
            <a:ext cx="8229600" cy="43993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C12B38E0-D7DD-4DEB-AC14-035D44ABF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29641" y="251490"/>
            <a:ext cx="7797452" cy="4249159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Sketch the function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from </a:t>
            </a:r>
            <a:r>
              <a:rPr lang="en-US" altLang="en-US" i="1" dirty="0">
                <a:sym typeface="Symbol" panose="05050102010706020507" pitchFamily="18" charset="2"/>
              </a:rPr>
              <a:t>A</a:t>
            </a:r>
            <a:r>
              <a:rPr lang="en-US" altLang="en-US" dirty="0">
                <a:sym typeface="Symbol" panose="05050102010706020507" pitchFamily="18" charset="2"/>
              </a:rPr>
              <a:t> = {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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ℝ: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  0} to A given by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	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 = {(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,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): </a:t>
            </a:r>
            <a:r>
              <a:rPr lang="en-US" altLang="en-US" i="1" dirty="0">
                <a:sym typeface="Symbol" panose="05050102010706020507" pitchFamily="18" charset="2"/>
              </a:rPr>
              <a:t>y</a:t>
            </a:r>
            <a:r>
              <a:rPr lang="en-US" altLang="en-US" dirty="0">
                <a:sym typeface="Symbol" panose="05050102010706020507" pitchFamily="18" charset="2"/>
              </a:rPr>
              <a:t> =	 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}. 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Sketch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. Find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.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Is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baseline="30000" dirty="0">
                <a:sym typeface="Symbol" panose="05050102010706020507" pitchFamily="18" charset="2"/>
              </a:rPr>
              <a:t>-1</a:t>
            </a:r>
            <a:r>
              <a:rPr lang="en-US" altLang="en-US" dirty="0">
                <a:sym typeface="Symbol" panose="05050102010706020507" pitchFamily="18" charset="2"/>
              </a:rPr>
              <a:t> a function?</a:t>
            </a:r>
          </a:p>
        </p:txBody>
      </p:sp>
      <p:grpSp>
        <p:nvGrpSpPr>
          <p:cNvPr id="2" name="Group 48">
            <a:extLst>
              <a:ext uri="{FF2B5EF4-FFF2-40B4-BE49-F238E27FC236}">
                <a16:creationId xmlns:a16="http://schemas.microsoft.com/office/drawing/2014/main" id="{447FCD64-2CB0-4591-B793-BD17B1E10852}"/>
              </a:ext>
            </a:extLst>
          </p:cNvPr>
          <p:cNvGrpSpPr>
            <a:grpSpLocks/>
          </p:cNvGrpSpPr>
          <p:nvPr/>
        </p:nvGrpSpPr>
        <p:grpSpPr bwMode="auto">
          <a:xfrm>
            <a:off x="5613455" y="852197"/>
            <a:ext cx="3745283" cy="3010052"/>
            <a:chOff x="1509" y="1285"/>
            <a:chExt cx="3070" cy="2712"/>
          </a:xfrm>
        </p:grpSpPr>
        <p:sp>
          <p:nvSpPr>
            <p:cNvPr id="91144" name="Line 5">
              <a:extLst>
                <a:ext uri="{FF2B5EF4-FFF2-40B4-BE49-F238E27FC236}">
                  <a16:creationId xmlns:a16="http://schemas.microsoft.com/office/drawing/2014/main" id="{8A60E41B-9B97-4F28-8CAE-C8892D8027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3511"/>
              <a:ext cx="27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1145" name="Line 6">
              <a:extLst>
                <a:ext uri="{FF2B5EF4-FFF2-40B4-BE49-F238E27FC236}">
                  <a16:creationId xmlns:a16="http://schemas.microsoft.com/office/drawing/2014/main" id="{14BBB231-9DB4-4971-9021-13AF4C9FFA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689" y="2691"/>
              <a:ext cx="2551" cy="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1146" name="Text Box 9">
              <a:extLst>
                <a:ext uri="{FF2B5EF4-FFF2-40B4-BE49-F238E27FC236}">
                  <a16:creationId xmlns:a16="http://schemas.microsoft.com/office/drawing/2014/main" id="{9E8D7029-DF9E-4B20-984F-789A1FA7F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2251"/>
              <a:ext cx="44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1</a:t>
              </a:r>
              <a:endParaRPr lang="en-GB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91147" name="Text Box 10">
              <a:extLst>
                <a:ext uri="{FF2B5EF4-FFF2-40B4-BE49-F238E27FC236}">
                  <a16:creationId xmlns:a16="http://schemas.microsoft.com/office/drawing/2014/main" id="{B78BD884-CE6C-439F-BD24-7B6674851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9" y="3526"/>
              <a:ext cx="44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0</a:t>
              </a:r>
              <a:endParaRPr lang="en-GB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91148" name="Text Box 11">
              <a:extLst>
                <a:ext uri="{FF2B5EF4-FFF2-40B4-BE49-F238E27FC236}">
                  <a16:creationId xmlns:a16="http://schemas.microsoft.com/office/drawing/2014/main" id="{55C9E62E-2714-4C81-8081-4CCBE39219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5" y="3581"/>
              <a:ext cx="44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>
                  <a:solidFill>
                    <a:schemeClr val="accent2"/>
                  </a:solidFill>
                </a:rPr>
                <a:t>1</a:t>
              </a:r>
              <a:endParaRPr lang="en-GB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91149" name="Text Box 14">
              <a:extLst>
                <a:ext uri="{FF2B5EF4-FFF2-40B4-BE49-F238E27FC236}">
                  <a16:creationId xmlns:a16="http://schemas.microsoft.com/office/drawing/2014/main" id="{A2C62EC8-C106-4785-9228-56D45E35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2" y="1285"/>
              <a:ext cx="44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</a:rPr>
                <a:t>y</a:t>
              </a:r>
              <a:endParaRPr lang="en-GB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91150" name="Text Box 15">
              <a:extLst>
                <a:ext uri="{FF2B5EF4-FFF2-40B4-BE49-F238E27FC236}">
                  <a16:creationId xmlns:a16="http://schemas.microsoft.com/office/drawing/2014/main" id="{EEFB5EB1-ECC7-44DE-93EB-5AD19A29D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3554"/>
              <a:ext cx="448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>
                  <a:solidFill>
                    <a:schemeClr val="accent2"/>
                  </a:solidFill>
                </a:rPr>
                <a:t>x</a:t>
              </a:r>
              <a:endParaRPr lang="en-GB" altLang="en-US" b="1" i="1">
                <a:solidFill>
                  <a:schemeClr val="accent2"/>
                </a:solidFill>
              </a:endParaRPr>
            </a:p>
          </p:txBody>
        </p:sp>
        <p:sp>
          <p:nvSpPr>
            <p:cNvPr id="91151" name="Line 32">
              <a:extLst>
                <a:ext uri="{FF2B5EF4-FFF2-40B4-BE49-F238E27FC236}">
                  <a16:creationId xmlns:a16="http://schemas.microsoft.com/office/drawing/2014/main" id="{F4917CFC-3952-41F8-A334-2186AE043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7" y="3404"/>
              <a:ext cx="0" cy="2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91152" name="Line 34">
              <a:extLst>
                <a:ext uri="{FF2B5EF4-FFF2-40B4-BE49-F238E27FC236}">
                  <a16:creationId xmlns:a16="http://schemas.microsoft.com/office/drawing/2014/main" id="{9FB781CF-8F8F-4FF4-A3E2-7C474742F4A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973" y="2272"/>
              <a:ext cx="0" cy="2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91153" name="Group 37">
              <a:extLst>
                <a:ext uri="{FF2B5EF4-FFF2-40B4-BE49-F238E27FC236}">
                  <a16:creationId xmlns:a16="http://schemas.microsoft.com/office/drawing/2014/main" id="{F1B19AD5-601F-43F6-BCB9-11C6E1CB34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3" y="3384"/>
              <a:ext cx="228" cy="228"/>
              <a:chOff x="490" y="2606"/>
              <a:chExt cx="228" cy="228"/>
            </a:xfrm>
          </p:grpSpPr>
          <p:sp>
            <p:nvSpPr>
              <p:cNvPr id="91158" name="Line 38">
                <a:extLst>
                  <a:ext uri="{FF2B5EF4-FFF2-40B4-BE49-F238E27FC236}">
                    <a16:creationId xmlns:a16="http://schemas.microsoft.com/office/drawing/2014/main" id="{484B5A44-1C38-4DE0-BC7F-F128CDFF4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3" y="260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  <p:sp>
            <p:nvSpPr>
              <p:cNvPr id="91159" name="Line 39">
                <a:extLst>
                  <a:ext uri="{FF2B5EF4-FFF2-40B4-BE49-F238E27FC236}">
                    <a16:creationId xmlns:a16="http://schemas.microsoft.com/office/drawing/2014/main" id="{C782BAF8-A868-40F3-A045-5243A52CCA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604" y="2616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SG"/>
              </a:p>
            </p:txBody>
          </p:sp>
        </p:grpSp>
        <p:sp>
          <p:nvSpPr>
            <p:cNvPr id="91154" name="Text Box 44">
              <a:extLst>
                <a:ext uri="{FF2B5EF4-FFF2-40B4-BE49-F238E27FC236}">
                  <a16:creationId xmlns:a16="http://schemas.microsoft.com/office/drawing/2014/main" id="{370690E0-4958-4FB6-828D-85709FFC0B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0" y="2506"/>
              <a:ext cx="51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 dirty="0">
                  <a:solidFill>
                    <a:srgbClr val="CCCC00"/>
                  </a:solidFill>
                  <a:sym typeface="Symbol" panose="05050102010706020507" pitchFamily="18" charset="2"/>
                </a:rPr>
                <a:t>F</a:t>
              </a:r>
              <a:r>
                <a:rPr lang="en-US" altLang="en-US" b="1" baseline="30000" dirty="0">
                  <a:solidFill>
                    <a:srgbClr val="CCCC00"/>
                  </a:solidFill>
                  <a:sym typeface="Symbol" panose="05050102010706020507" pitchFamily="18" charset="2"/>
                </a:rPr>
                <a:t>-1</a:t>
              </a:r>
              <a:endParaRPr lang="en-GB" altLang="en-US" b="1" baseline="30000" dirty="0">
                <a:solidFill>
                  <a:srgbClr val="CCCC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91155" name="Text Box 45">
              <a:extLst>
                <a:ext uri="{FF2B5EF4-FFF2-40B4-BE49-F238E27FC236}">
                  <a16:creationId xmlns:a16="http://schemas.microsoft.com/office/drawing/2014/main" id="{A5958BF4-A272-453C-B450-2960981673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8" y="1856"/>
              <a:ext cx="512" cy="4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b="1" i="1" dirty="0">
                  <a:solidFill>
                    <a:srgbClr val="FF3300"/>
                  </a:solidFill>
                  <a:sym typeface="Symbol" panose="05050102010706020507" pitchFamily="18" charset="2"/>
                </a:rPr>
                <a:t>F</a:t>
              </a:r>
              <a:endParaRPr lang="en-GB" altLang="en-US" b="1" baseline="30000" dirty="0">
                <a:solidFill>
                  <a:srgbClr val="FF3300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91156" name="Arc 46">
              <a:extLst>
                <a:ext uri="{FF2B5EF4-FFF2-40B4-BE49-F238E27FC236}">
                  <a16:creationId xmlns:a16="http://schemas.microsoft.com/office/drawing/2014/main" id="{F54336D0-364A-4A53-9BA0-F379E0F03EF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957" y="1654"/>
              <a:ext cx="1507" cy="18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en-SG"/>
            </a:p>
          </p:txBody>
        </p:sp>
        <p:sp>
          <p:nvSpPr>
            <p:cNvPr id="91157" name="Arc 47">
              <a:extLst>
                <a:ext uri="{FF2B5EF4-FFF2-40B4-BE49-F238E27FC236}">
                  <a16:creationId xmlns:a16="http://schemas.microsoft.com/office/drawing/2014/main" id="{29212861-7DAA-49C5-B9A7-6309300CE2F0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1975" y="2247"/>
              <a:ext cx="2477" cy="127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CC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93618" name="Text Box 50">
            <a:extLst>
              <a:ext uri="{FF2B5EF4-FFF2-40B4-BE49-F238E27FC236}">
                <a16:creationId xmlns:a16="http://schemas.microsoft.com/office/drawing/2014/main" id="{D4A57041-E9CD-40EA-B640-3B8CDCBC1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4488" y="4276475"/>
            <a:ext cx="80888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i="1" dirty="0">
                <a:latin typeface="+mn-lt"/>
              </a:rPr>
              <a:t>F</a:t>
            </a:r>
            <a:r>
              <a:rPr lang="en-US" altLang="en-US" baseline="30000" dirty="0">
                <a:latin typeface="+mn-lt"/>
              </a:rPr>
              <a:t>-1</a:t>
            </a:r>
            <a:r>
              <a:rPr lang="en-US" altLang="en-US" dirty="0">
                <a:latin typeface="+mn-lt"/>
              </a:rPr>
              <a:t> is a function since </a:t>
            </a:r>
            <a:r>
              <a:rPr lang="en-US" altLang="en-US" i="1" dirty="0">
                <a:latin typeface="+mn-lt"/>
              </a:rPr>
              <a:t>F</a:t>
            </a:r>
            <a:r>
              <a:rPr lang="en-US" altLang="en-US" dirty="0">
                <a:latin typeface="+mn-lt"/>
              </a:rPr>
              <a:t> is one-to-one and onto.</a:t>
            </a:r>
            <a:endParaRPr lang="en-GB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4056" name="Object 8">
                <a:extLst>
                  <a:ext uri="{FF2B5EF4-FFF2-40B4-BE49-F238E27FC236}">
                    <a16:creationId xmlns:a16="http://schemas.microsoft.com/office/drawing/2014/main" id="{41784ADF-997D-4E8B-ACC7-8FE3E51F7D7D}"/>
                  </a:ext>
                </a:extLst>
              </p:cNvPr>
              <p:cNvSpPr txBox="1"/>
              <p:nvPr/>
            </p:nvSpPr>
            <p:spPr bwMode="auto">
              <a:xfrm>
                <a:off x="1989933" y="2694784"/>
                <a:ext cx="3192461" cy="6477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SG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SG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en-SG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SG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514056" name="Object 8">
                <a:extLst>
                  <a:ext uri="{FF2B5EF4-FFF2-40B4-BE49-F238E27FC236}">
                    <a16:creationId xmlns:a16="http://schemas.microsoft.com/office/drawing/2014/main" id="{41784ADF-997D-4E8B-ACC7-8FE3E51F7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9933" y="2694784"/>
                <a:ext cx="3192461" cy="647701"/>
              </a:xfrm>
              <a:prstGeom prst="rect">
                <a:avLst/>
              </a:prstGeom>
              <a:blipFill>
                <a:blip r:embed="rId2"/>
                <a:stretch>
                  <a:fillRect l="-3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B3708611-B03D-4F65-8056-5C58A32B62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4092" y="4796239"/>
                <a:ext cx="8950850" cy="17823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000">
                    <a:solidFill>
                      <a:schemeClr val="tx1"/>
                    </a:solidFill>
                    <a:latin typeface="+mj-lt"/>
                    <a:cs typeface="+mj-cs"/>
                  </a:defRPr>
                </a:lvl9pPr>
              </a:lstStyle>
              <a:p>
                <a:pPr marL="0" indent="0" eaLnBrk="1" hangingPunct="1">
                  <a:buNone/>
                </a:pPr>
                <a:r>
                  <a:rPr lang="en-US" altLang="en-US" kern="0" dirty="0">
                    <a:sym typeface="Symbol" panose="05050102010706020507" pitchFamily="18" charset="2"/>
                  </a:rPr>
                  <a:t>Note: Finding rule for inverse function:</a:t>
                </a:r>
              </a:p>
              <a:p>
                <a:pPr marL="400050" lvl="1" indent="0" eaLnBrk="1" hangingPunct="1"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y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=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kern="0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400" baseline="30000" dirty="0">
                    <a:sym typeface="Symbol" panose="05050102010706020507" pitchFamily="18" charset="2"/>
                  </a:rPr>
                  <a:t>2</a:t>
                </a:r>
              </a:p>
              <a:p>
                <a:pPr marL="400050" lvl="1" indent="0" eaLnBrk="1" hangingPunct="1">
                  <a:buNone/>
                </a:pPr>
                <a:r>
                  <a:rPr lang="en-US" altLang="en-US" sz="2400" i="1" dirty="0">
                    <a:sym typeface="Symbol" panose="05050102010706020507" pitchFamily="18" charset="2"/>
                  </a:rPr>
                  <a:t>x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lang="en-US" altLang="en-US" sz="2400" kern="0" baseline="30000" dirty="0">
                    <a:sym typeface="Symbol" panose="05050102010706020507" pitchFamily="18" charset="2"/>
                  </a:rPr>
                  <a:t>   </a:t>
                </a:r>
                <a:r>
                  <a:rPr lang="en-US" altLang="en-US" sz="2400" kern="0" dirty="0">
                    <a:sym typeface="Symbol" panose="05050102010706020507" pitchFamily="18" charset="2"/>
                  </a:rPr>
                  <a:t>(from algebra and x</a:t>
                </a:r>
                <a:r>
                  <a:rPr lang="en-US" altLang="en-US" sz="2400" kern="0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400" kern="0" dirty="0">
                    <a:sym typeface="Symbol" panose="05050102010706020507" pitchFamily="18" charset="2"/>
                  </a:rPr>
                  <a:t>  A)</a:t>
                </a:r>
              </a:p>
              <a:p>
                <a:pPr marL="400050" lvl="1" indent="0" eaLnBrk="1" hangingPunct="1">
                  <a:buNone/>
                </a:pPr>
                <a:r>
                  <a:rPr lang="en-US" altLang="en-US" sz="2400" kern="0" dirty="0">
                    <a:sym typeface="Symbol" panose="05050102010706020507" pitchFamily="18" charset="2"/>
                  </a:rPr>
                  <a:t>Exchanging x and y, we get the rule:</a:t>
                </a:r>
                <a:r>
                  <a:rPr lang="en-SG" sz="2400" dirty="0"/>
                  <a:t> </a:t>
                </a:r>
                <a14:m>
                  <m:oMath xmlns:m="http://schemas.openxmlformats.org/officeDocument/2006/math">
                    <m:r>
                      <a:rPr lang="en-SG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SG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SG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n-US" altLang="en-US" sz="2400" kern="0" dirty="0">
                  <a:sym typeface="Symbol" panose="05050102010706020507" pitchFamily="18" charset="2"/>
                </a:endParaRPr>
              </a:p>
              <a:p>
                <a:pPr marL="0" indent="0" eaLnBrk="1" hangingPunct="1">
                  <a:buNone/>
                </a:pPr>
                <a:endParaRPr lang="en-US" altLang="en-US" baseline="30000" dirty="0">
                  <a:sym typeface="Symbol" panose="05050102010706020507" pitchFamily="18" charset="2"/>
                </a:endParaRPr>
              </a:p>
              <a:p>
                <a:pPr marL="0" indent="0" eaLnBrk="1" hangingPunct="1">
                  <a:buNone/>
                </a:pPr>
                <a:endParaRPr lang="en-US" altLang="en-US" kern="0" baseline="30000" dirty="0">
                  <a:sym typeface="Symbol" panose="05050102010706020507" pitchFamily="18" charset="2"/>
                </a:endParaRPr>
              </a:p>
              <a:p>
                <a:pPr marL="0" indent="0" eaLnBrk="1" hangingPunct="1">
                  <a:buNone/>
                </a:pPr>
                <a:endParaRPr lang="en-US" altLang="en-US" kern="0" dirty="0">
                  <a:sym typeface="Symbol" panose="05050102010706020507" pitchFamily="18" charset="2"/>
                </a:endParaRPr>
              </a:p>
              <a:p>
                <a:pPr marL="0" indent="0" eaLnBrk="1" hangingPunct="1">
                  <a:buNone/>
                </a:pPr>
                <a:endParaRPr lang="en-US" altLang="en-US" kern="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B3708611-B03D-4F65-8056-5C58A32B6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4092" y="4796239"/>
                <a:ext cx="8950850" cy="1782371"/>
              </a:xfrm>
              <a:prstGeom prst="rect">
                <a:avLst/>
              </a:prstGeom>
              <a:blipFill>
                <a:blip r:embed="rId3"/>
                <a:stretch>
                  <a:fillRect l="-1090" t="-2740" b="-85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61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5">
            <a:extLst>
              <a:ext uri="{FF2B5EF4-FFF2-40B4-BE49-F238E27FC236}">
                <a16:creationId xmlns:a16="http://schemas.microsoft.com/office/drawing/2014/main" id="{11CA185E-EC02-4173-B5E2-F69AC021FE78}"/>
              </a:ext>
            </a:extLst>
          </p:cNvPr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E052C16-CAFF-4CE2-B7AA-28FA3903B021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70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0B45D4CF-318D-40A1-98E6-C4B5961F471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36525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Composition of Functions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BE4661E2-0B86-4BCF-920D-FD93399E47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81200" y="1497014"/>
            <a:ext cx="8229600" cy="4530725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Let f and g be two functions. Let the domains of f and g be S and T respectively. Let the codomains of f and g be T and U respectively. Then,  we can define a composition function from S to U, called composition of f and g, denoted as g </a:t>
            </a:r>
            <a:r>
              <a:rPr lang="en-US" altLang="en-US" sz="2000" baseline="30000" dirty="0">
                <a:sym typeface="Symbol" panose="05050102010706020507" pitchFamily="18" charset="2"/>
              </a:rPr>
              <a:t>o </a:t>
            </a:r>
            <a:r>
              <a:rPr lang="en-US" altLang="en-US" i="1" dirty="0">
                <a:sym typeface="Symbol" panose="05050102010706020507" pitchFamily="18" charset="2"/>
              </a:rPr>
              <a:t>f , </a:t>
            </a:r>
            <a:r>
              <a:rPr lang="en-US" altLang="en-US" dirty="0">
                <a:sym typeface="Symbol" panose="05050102010706020507" pitchFamily="18" charset="2"/>
              </a:rPr>
              <a:t>as follows: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i="1" dirty="0">
                <a:sym typeface="Symbol" panose="05050102010706020507" pitchFamily="18" charset="2"/>
              </a:rPr>
              <a:t>             </a:t>
            </a:r>
            <a:r>
              <a:rPr lang="en-US" altLang="en-US" dirty="0">
                <a:sym typeface="Symbol" panose="05050102010706020507" pitchFamily="18" charset="2"/>
              </a:rPr>
              <a:t> (g </a:t>
            </a:r>
            <a:r>
              <a:rPr lang="en-US" altLang="en-US" sz="2000" baseline="30000" dirty="0">
                <a:sym typeface="Symbol" panose="05050102010706020507" pitchFamily="18" charset="2"/>
              </a:rPr>
              <a:t>o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)(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</a:t>
            </a:r>
            <a:r>
              <a:rPr lang="en-US" altLang="en-US" i="1" dirty="0">
                <a:sym typeface="Symbol" panose="05050102010706020507" pitchFamily="18" charset="2"/>
              </a:rPr>
              <a:t>g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</a:t>
            </a: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Example: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 defined as </a:t>
            </a:r>
            <a:r>
              <a:rPr lang="en-US" altLang="en-US" i="1" dirty="0">
                <a:sym typeface="Symbol" panose="05050102010706020507" pitchFamily="18" charset="2"/>
              </a:rPr>
              <a:t>f(x)= 2x; and g</a:t>
            </a:r>
            <a:r>
              <a:rPr lang="en-US" altLang="en-US" dirty="0">
                <a:sym typeface="Symbol" panose="05050102010706020507" pitchFamily="18" charset="2"/>
              </a:rPr>
              <a:t>: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</a:t>
            </a:r>
            <a:r>
              <a:rPr lang="en-US" altLang="en-US" dirty="0">
                <a:sym typeface="Symbol" panose="05050102010706020507" pitchFamily="18" charset="2"/>
              </a:rPr>
              <a:t> →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ℝ defined as </a:t>
            </a:r>
            <a:r>
              <a:rPr lang="en-US" altLang="en-US" i="1" dirty="0">
                <a:sym typeface="Symbol" panose="05050102010706020507" pitchFamily="18" charset="2"/>
              </a:rPr>
              <a:t>g(x)= x</a:t>
            </a:r>
            <a:r>
              <a:rPr lang="en-US" altLang="en-US" i="1" baseline="30000" dirty="0">
                <a:sym typeface="Symbol" panose="05050102010706020507" pitchFamily="18" charset="2"/>
              </a:rPr>
              <a:t>2</a:t>
            </a:r>
            <a:r>
              <a:rPr lang="en-US" altLang="en-US" i="1" dirty="0">
                <a:sym typeface="Symbol" panose="05050102010706020507" pitchFamily="18" charset="2"/>
              </a:rPr>
              <a:t>. Then,</a:t>
            </a:r>
          </a:p>
          <a:p>
            <a:pPr marL="0" indent="0">
              <a:buNone/>
            </a:pPr>
            <a:r>
              <a:rPr lang="en-US" altLang="en-US" dirty="0">
                <a:sym typeface="Symbol" panose="05050102010706020507" pitchFamily="18" charset="2"/>
              </a:rPr>
              <a:t> 	(g </a:t>
            </a:r>
            <a:r>
              <a:rPr lang="en-US" altLang="en-US" sz="2000" baseline="30000" dirty="0">
                <a:sym typeface="Symbol" panose="05050102010706020507" pitchFamily="18" charset="2"/>
              </a:rPr>
              <a:t>o 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)(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 = </a:t>
            </a:r>
            <a:r>
              <a:rPr lang="en-US" altLang="en-US" i="1" dirty="0">
                <a:sym typeface="Symbol" panose="05050102010706020507" pitchFamily="18" charset="2"/>
              </a:rPr>
              <a:t>g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f</a:t>
            </a:r>
            <a:r>
              <a:rPr lang="en-US" altLang="en-US" dirty="0">
                <a:sym typeface="Symbol" panose="05050102010706020507" pitchFamily="18" charset="2"/>
              </a:rPr>
              <a:t>(</a:t>
            </a:r>
            <a:r>
              <a:rPr lang="en-US" altLang="en-US" i="1" dirty="0">
                <a:sym typeface="Symbol" panose="05050102010706020507" pitchFamily="18" charset="2"/>
              </a:rPr>
              <a:t>x</a:t>
            </a:r>
            <a:r>
              <a:rPr lang="en-US" altLang="en-US" dirty="0">
                <a:sym typeface="Symbol" panose="05050102010706020507" pitchFamily="18" charset="2"/>
              </a:rPr>
              <a:t>)) = g(</a:t>
            </a:r>
            <a:r>
              <a:rPr lang="en-US" altLang="en-US" i="1" dirty="0">
                <a:sym typeface="Symbol" panose="05050102010706020507" pitchFamily="18" charset="2"/>
              </a:rPr>
              <a:t>2x</a:t>
            </a:r>
            <a:r>
              <a:rPr lang="en-US" altLang="en-US" dirty="0">
                <a:sym typeface="Symbol" panose="05050102010706020507" pitchFamily="18" charset="2"/>
              </a:rPr>
              <a:t>) =</a:t>
            </a:r>
            <a:r>
              <a:rPr lang="en-US" altLang="en-US" i="1" dirty="0">
                <a:sym typeface="Symbol" panose="05050102010706020507" pitchFamily="18" charset="2"/>
              </a:rPr>
              <a:t> (2x)</a:t>
            </a:r>
            <a:r>
              <a:rPr lang="en-US" altLang="en-US" i="1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 = </a:t>
            </a:r>
            <a:r>
              <a:rPr lang="en-US" altLang="en-US" i="1" dirty="0">
                <a:sym typeface="Symbol" panose="05050102010706020507" pitchFamily="18" charset="2"/>
              </a:rPr>
              <a:t> 4x</a:t>
            </a:r>
            <a:r>
              <a:rPr lang="en-US" altLang="en-US" i="1" baseline="30000" dirty="0">
                <a:sym typeface="Symbol" panose="05050102010706020507" pitchFamily="18" charset="2"/>
              </a:rPr>
              <a:t>2</a:t>
            </a:r>
            <a:endParaRPr lang="en-US" altLang="en-US" i="1" dirty="0">
              <a:sym typeface="Symbol" panose="05050102010706020507" pitchFamily="18" charset="2"/>
            </a:endParaRPr>
          </a:p>
          <a:p>
            <a:pPr marL="0" indent="0"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Number Placeholder 5">
            <a:extLst>
              <a:ext uri="{FF2B5EF4-FFF2-40B4-BE49-F238E27FC236}">
                <a16:creationId xmlns:a16="http://schemas.microsoft.com/office/drawing/2014/main" id="{E3F5D102-F659-4228-B5FF-ACA43D4048A1}"/>
              </a:ext>
            </a:extLst>
          </p:cNvPr>
          <p:cNvSpPr txBox="1">
            <a:spLocks noGrp="1"/>
          </p:cNvSpPr>
          <p:nvPr/>
        </p:nvSpPr>
        <p:spPr bwMode="auto">
          <a:xfrm>
            <a:off x="8018462" y="6387153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None/>
            </a:pPr>
            <a:fld id="{C6E6C25B-9A90-4E6C-B4A8-DFF0A3F6860A}" type="slidenum">
              <a:rPr lang="en-GB" alt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t>71</a:t>
            </a:fld>
            <a:endParaRPr lang="en-GB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57E39EAC-2636-4FBE-A0FE-D17694E4B5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25563" y="-5556"/>
            <a:ext cx="9144001" cy="426244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1: Diagrammatical Checking of Finite Relations and Functions</a:t>
            </a:r>
            <a:endParaRPr lang="en-GB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F719BBF-74EB-4ADC-B158-2B4A6655925E}"/>
              </a:ext>
            </a:extLst>
          </p:cNvPr>
          <p:cNvSpPr/>
          <p:nvPr/>
        </p:nvSpPr>
        <p:spPr>
          <a:xfrm>
            <a:off x="2916238" y="1937391"/>
            <a:ext cx="1101725" cy="19875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37AF397-367C-4FEC-8918-DA751663A7AF}"/>
              </a:ext>
            </a:extLst>
          </p:cNvPr>
          <p:cNvSpPr/>
          <p:nvPr/>
        </p:nvSpPr>
        <p:spPr>
          <a:xfrm>
            <a:off x="5959475" y="1948503"/>
            <a:ext cx="1103312" cy="19891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endParaRPr lang="en-SG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C1AF56-563C-42F6-9139-15E9882DD9AB}"/>
              </a:ext>
            </a:extLst>
          </p:cNvPr>
          <p:cNvCxnSpPr>
            <a:cxnSpLocks/>
          </p:cNvCxnSpPr>
          <p:nvPr/>
        </p:nvCxnSpPr>
        <p:spPr>
          <a:xfrm>
            <a:off x="3633787" y="2415229"/>
            <a:ext cx="2789238" cy="13811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C03AAF-8F79-4CD1-9D98-FAD5912F006D}"/>
              </a:ext>
            </a:extLst>
          </p:cNvPr>
          <p:cNvCxnSpPr>
            <a:cxnSpLocks/>
          </p:cNvCxnSpPr>
          <p:nvPr/>
        </p:nvCxnSpPr>
        <p:spPr>
          <a:xfrm>
            <a:off x="3633787" y="2745428"/>
            <a:ext cx="2789238" cy="23018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09450B-2501-4D2A-915C-D97EA1D69ACB}"/>
              </a:ext>
            </a:extLst>
          </p:cNvPr>
          <p:cNvCxnSpPr>
            <a:cxnSpLocks/>
          </p:cNvCxnSpPr>
          <p:nvPr/>
        </p:nvCxnSpPr>
        <p:spPr>
          <a:xfrm flipV="1">
            <a:off x="3575051" y="3059753"/>
            <a:ext cx="2847975" cy="1206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21A702AC-DF9A-43A4-A692-E4CDB7CBD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523722"/>
            <a:ext cx="9144001" cy="60245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 eaLnBrk="1" hangingPunct="1">
              <a:defRPr/>
            </a:pPr>
            <a:r>
              <a:rPr lang="en-US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Checking relations R from X = {a,  b, c, d } to Y = {1, 2, 3, 4, 5}</a:t>
            </a:r>
          </a:p>
          <a:p>
            <a:pPr algn="l" eaLnBrk="1" hangingPunct="1">
              <a:defRPr/>
            </a:pPr>
            <a:endParaRPr lang="en-US" altLang="en-US" sz="1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1" hangingPunct="1">
              <a:tabLst>
                <a:tab pos="1252538" algn="l"/>
              </a:tabLst>
              <a:defRPr/>
            </a:pPr>
            <a:r>
              <a:rPr lang="en-US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200" b="1" kern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shown by an arrow from x to y</a:t>
            </a:r>
            <a:endParaRPr lang="en-GB" altLang="en-US" sz="2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194" name="TextBox 19">
            <a:extLst>
              <a:ext uri="{FF2B5EF4-FFF2-40B4-BE49-F238E27FC236}">
                <a16:creationId xmlns:a16="http://schemas.microsoft.com/office/drawing/2014/main" id="{B32B4B96-416F-46B3-B445-9F071BFB5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313" y="1408753"/>
            <a:ext cx="24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3195" name="TextBox 25">
            <a:extLst>
              <a:ext uri="{FF2B5EF4-FFF2-40B4-BE49-F238E27FC236}">
                <a16:creationId xmlns:a16="http://schemas.microsoft.com/office/drawing/2014/main" id="{D500F976-77D3-4E78-852E-9FA2B0008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6" y="1454791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3196" name="TextBox 27">
            <a:extLst>
              <a:ext uri="{FF2B5EF4-FFF2-40B4-BE49-F238E27FC236}">
                <a16:creationId xmlns:a16="http://schemas.microsoft.com/office/drawing/2014/main" id="{13500C4A-6E06-4754-98F2-95840A2C7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313" y="1408753"/>
            <a:ext cx="24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3197" name="TextBox 28">
            <a:extLst>
              <a:ext uri="{FF2B5EF4-FFF2-40B4-BE49-F238E27FC236}">
                <a16:creationId xmlns:a16="http://schemas.microsoft.com/office/drawing/2014/main" id="{AA31EDB1-3647-400A-B5F6-323307C65508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7491413" y="2413145"/>
            <a:ext cx="24733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 function from X to 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of R </a:t>
            </a: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 X</a:t>
            </a:r>
            <a:endParaRPr lang="en-SG" altLang="en-US" sz="18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A323E2C-D056-4C56-B266-BD1730BB683E}"/>
              </a:ext>
            </a:extLst>
          </p:cNvPr>
          <p:cNvSpPr/>
          <p:nvPr/>
        </p:nvSpPr>
        <p:spPr>
          <a:xfrm>
            <a:off x="2916238" y="4799653"/>
            <a:ext cx="1101725" cy="19875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83B19E6-DC8C-423F-9ECF-9ED987B4C43E}"/>
              </a:ext>
            </a:extLst>
          </p:cNvPr>
          <p:cNvSpPr/>
          <p:nvPr/>
        </p:nvSpPr>
        <p:spPr>
          <a:xfrm>
            <a:off x="5959475" y="4810767"/>
            <a:ext cx="1103312" cy="197643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endParaRPr lang="en-SG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CFB9507-03FE-4F60-948D-7BE06985308A}"/>
              </a:ext>
            </a:extLst>
          </p:cNvPr>
          <p:cNvCxnSpPr>
            <a:cxnSpLocks/>
          </p:cNvCxnSpPr>
          <p:nvPr/>
        </p:nvCxnSpPr>
        <p:spPr>
          <a:xfrm>
            <a:off x="3633787" y="5277491"/>
            <a:ext cx="2789238" cy="138112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1FC15BC-98FA-4163-94E7-D6D85C4865F8}"/>
              </a:ext>
            </a:extLst>
          </p:cNvPr>
          <p:cNvCxnSpPr>
            <a:cxnSpLocks/>
          </p:cNvCxnSpPr>
          <p:nvPr/>
        </p:nvCxnSpPr>
        <p:spPr>
          <a:xfrm>
            <a:off x="3633787" y="5607692"/>
            <a:ext cx="2789238" cy="230187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52FE79-3F95-4913-8F85-12618588232C}"/>
              </a:ext>
            </a:extLst>
          </p:cNvPr>
          <p:cNvCxnSpPr>
            <a:cxnSpLocks/>
          </p:cNvCxnSpPr>
          <p:nvPr/>
        </p:nvCxnSpPr>
        <p:spPr>
          <a:xfrm>
            <a:off x="3575051" y="6042666"/>
            <a:ext cx="2847975" cy="2095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C1ECBD9-8517-4825-9392-C3946DA26E76}"/>
              </a:ext>
            </a:extLst>
          </p:cNvPr>
          <p:cNvCxnSpPr>
            <a:cxnSpLocks/>
          </p:cNvCxnSpPr>
          <p:nvPr/>
        </p:nvCxnSpPr>
        <p:spPr>
          <a:xfrm flipV="1">
            <a:off x="3594100" y="5066353"/>
            <a:ext cx="2817812" cy="144938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204" name="TextBox 45">
            <a:extLst>
              <a:ext uri="{FF2B5EF4-FFF2-40B4-BE49-F238E27FC236}">
                <a16:creationId xmlns:a16="http://schemas.microsoft.com/office/drawing/2014/main" id="{95679BFB-9EEA-452C-A263-12C5426BF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313" y="4271016"/>
            <a:ext cx="24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3205" name="TextBox 46">
            <a:extLst>
              <a:ext uri="{FF2B5EF4-FFF2-40B4-BE49-F238E27FC236}">
                <a16:creationId xmlns:a16="http://schemas.microsoft.com/office/drawing/2014/main" id="{7B6CB126-7B04-422C-BD4F-9200AE6FC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6" y="4317053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3206" name="TextBox 47">
            <a:extLst>
              <a:ext uri="{FF2B5EF4-FFF2-40B4-BE49-F238E27FC236}">
                <a16:creationId xmlns:a16="http://schemas.microsoft.com/office/drawing/2014/main" id="{82804FDE-D1AB-4957-89D1-49AD813E7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313" y="4271017"/>
            <a:ext cx="244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3207" name="TextBox 48">
            <a:extLst>
              <a:ext uri="{FF2B5EF4-FFF2-40B4-BE49-F238E27FC236}">
                <a16:creationId xmlns:a16="http://schemas.microsoft.com/office/drawing/2014/main" id="{2B388E8D-A386-49E8-8CFA-7F0E6587239C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7491413" y="5188888"/>
            <a:ext cx="24733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 function from X to Y: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dR1 and dR5  </a:t>
            </a:r>
          </a:p>
        </p:txBody>
      </p:sp>
      <p:sp>
        <p:nvSpPr>
          <p:cNvPr id="93208" name="TextBox 52">
            <a:extLst>
              <a:ext uri="{FF2B5EF4-FFF2-40B4-BE49-F238E27FC236}">
                <a16:creationId xmlns:a16="http://schemas.microsoft.com/office/drawing/2014/main" id="{B8616526-8405-43BB-8773-BC258AB1C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50" y="1583379"/>
            <a:ext cx="10890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case:</a:t>
            </a:r>
          </a:p>
        </p:txBody>
      </p:sp>
      <p:sp>
        <p:nvSpPr>
          <p:cNvPr id="93209" name="TextBox 54">
            <a:extLst>
              <a:ext uri="{FF2B5EF4-FFF2-40B4-BE49-F238E27FC236}">
                <a16:creationId xmlns:a16="http://schemas.microsoft.com/office/drawing/2014/main" id="{E9D8F823-3EF9-4C19-9542-DC7B7D13B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4009079"/>
            <a:ext cx="122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 case: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32EBED-4A13-49C6-88CD-1211CE595BE7}"/>
              </a:ext>
            </a:extLst>
          </p:cNvPr>
          <p:cNvCxnSpPr>
            <a:cxnSpLocks/>
          </p:cNvCxnSpPr>
          <p:nvPr/>
        </p:nvCxnSpPr>
        <p:spPr>
          <a:xfrm>
            <a:off x="3633788" y="6515741"/>
            <a:ext cx="2778125" cy="1143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48">
            <a:extLst>
              <a:ext uri="{FF2B5EF4-FFF2-40B4-BE49-F238E27FC236}">
                <a16:creationId xmlns:a16="http://schemas.microsoft.com/office/drawing/2014/main" id="{0DA44206-DEC4-492B-A75E-AB0A6079945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302526" y="2797330"/>
            <a:ext cx="40956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{(a, 2), (b, 3), (c, 3)}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78E4282F-A96B-403C-9897-A62B799C26B0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90541" y="4997468"/>
            <a:ext cx="25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5600" indent="-3556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{(a, 2), (b, 3), (c, 4), (d, 5), (d, 1)}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5">
            <a:extLst>
              <a:ext uri="{FF2B5EF4-FFF2-40B4-BE49-F238E27FC236}">
                <a16:creationId xmlns:a16="http://schemas.microsoft.com/office/drawing/2014/main" id="{CD8BBFC6-CE97-4C48-BB25-0E84BB79999C}"/>
              </a:ext>
            </a:extLst>
          </p:cNvPr>
          <p:cNvSpPr txBox="1">
            <a:spLocks noGrp="1"/>
          </p:cNvSpPr>
          <p:nvPr/>
        </p:nvSpPr>
        <p:spPr bwMode="auto">
          <a:xfrm>
            <a:off x="7889875" y="61690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None/>
            </a:pPr>
            <a:fld id="{C3BD4A7F-1AA3-46DB-B9DC-437653C36939}" type="slidenum">
              <a:rPr lang="en-GB" alt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t>72</a:t>
            </a:fld>
            <a:endParaRPr lang="en-GB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04F26BEE-EBB6-47DB-9126-16B93DFA28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-4763"/>
            <a:ext cx="9144000" cy="458788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1: Diagrammatical Checking Finite Relations and Functions (cont’d)</a:t>
            </a:r>
            <a:endParaRPr lang="en-GB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E07A3D2-CCF7-43F5-B2BD-81315C4178BA}"/>
              </a:ext>
            </a:extLst>
          </p:cNvPr>
          <p:cNvSpPr/>
          <p:nvPr/>
        </p:nvSpPr>
        <p:spPr>
          <a:xfrm>
            <a:off x="2974976" y="1795463"/>
            <a:ext cx="1101725" cy="19875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1C244C-D6F3-445C-841C-4C2FF1D108C5}"/>
              </a:ext>
            </a:extLst>
          </p:cNvPr>
          <p:cNvSpPr/>
          <p:nvPr/>
        </p:nvSpPr>
        <p:spPr>
          <a:xfrm>
            <a:off x="6018213" y="1806575"/>
            <a:ext cx="1103312" cy="198913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endParaRPr lang="en-SG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30C56AF-7D12-4372-ACA7-66F3BD1F7D29}"/>
              </a:ext>
            </a:extLst>
          </p:cNvPr>
          <p:cNvCxnSpPr>
            <a:cxnSpLocks/>
          </p:cNvCxnSpPr>
          <p:nvPr/>
        </p:nvCxnSpPr>
        <p:spPr>
          <a:xfrm>
            <a:off x="3692525" y="2273301"/>
            <a:ext cx="2789238" cy="13811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7860B6-4785-4A5D-B2D1-AF653DD13234}"/>
              </a:ext>
            </a:extLst>
          </p:cNvPr>
          <p:cNvCxnSpPr>
            <a:cxnSpLocks/>
          </p:cNvCxnSpPr>
          <p:nvPr/>
        </p:nvCxnSpPr>
        <p:spPr>
          <a:xfrm>
            <a:off x="3692525" y="2603500"/>
            <a:ext cx="2789238" cy="23018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9278E4-3A5F-416A-8E81-B41B7244DB6F}"/>
              </a:ext>
            </a:extLst>
          </p:cNvPr>
          <p:cNvCxnSpPr>
            <a:cxnSpLocks/>
          </p:cNvCxnSpPr>
          <p:nvPr/>
        </p:nvCxnSpPr>
        <p:spPr>
          <a:xfrm flipV="1">
            <a:off x="3633789" y="2917825"/>
            <a:ext cx="2847975" cy="1206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D90F07-2DCE-4CB8-8B5A-D3A67317242F}"/>
              </a:ext>
            </a:extLst>
          </p:cNvPr>
          <p:cNvCxnSpPr>
            <a:cxnSpLocks/>
          </p:cNvCxnSpPr>
          <p:nvPr/>
        </p:nvCxnSpPr>
        <p:spPr>
          <a:xfrm flipV="1">
            <a:off x="3652838" y="2054226"/>
            <a:ext cx="2817812" cy="1374775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>
            <a:extLst>
              <a:ext uri="{FF2B5EF4-FFF2-40B4-BE49-F238E27FC236}">
                <a16:creationId xmlns:a16="http://schemas.microsoft.com/office/drawing/2014/main" id="{291E6CBF-49BD-455C-A1BA-8FD713E9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369889"/>
            <a:ext cx="9144001" cy="8159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Checking relations R from X = {a,  b, c, d } to Y = {1, 2, 3, 4, 5}</a:t>
            </a:r>
            <a:endParaRPr lang="en-GB" altLang="en-US" sz="2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19" name="TextBox 19">
            <a:extLst>
              <a:ext uri="{FF2B5EF4-FFF2-40B4-BE49-F238E27FC236}">
                <a16:creationId xmlns:a16="http://schemas.microsoft.com/office/drawing/2014/main" id="{61634087-EAE7-4345-BBB8-91500B983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1" y="1266825"/>
            <a:ext cx="24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4220" name="TextBox 25">
            <a:extLst>
              <a:ext uri="{FF2B5EF4-FFF2-40B4-BE49-F238E27FC236}">
                <a16:creationId xmlns:a16="http://schemas.microsoft.com/office/drawing/2014/main" id="{B0643C77-9A30-41D5-9283-3FCEE70C0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4" y="1312863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4221" name="TextBox 27">
            <a:extLst>
              <a:ext uri="{FF2B5EF4-FFF2-40B4-BE49-F238E27FC236}">
                <a16:creationId xmlns:a16="http://schemas.microsoft.com/office/drawing/2014/main" id="{2EE5F2B4-14CB-46AD-92F5-0B3F870C7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1" y="1266825"/>
            <a:ext cx="244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4222" name="TextBox 28">
            <a:extLst>
              <a:ext uri="{FF2B5EF4-FFF2-40B4-BE49-F238E27FC236}">
                <a16:creationId xmlns:a16="http://schemas.microsoft.com/office/drawing/2014/main" id="{02ED0766-6ED2-4390-85B9-619C16FE1A1E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7550151" y="2273300"/>
            <a:ext cx="247332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function from X to Y but not one-to-one and also not onto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76ABBCB-A9A1-4643-A814-19C1A565F58C}"/>
              </a:ext>
            </a:extLst>
          </p:cNvPr>
          <p:cNvSpPr/>
          <p:nvPr/>
        </p:nvSpPr>
        <p:spPr>
          <a:xfrm>
            <a:off x="2974976" y="4657725"/>
            <a:ext cx="1101725" cy="198755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095017F-3E5D-4E98-9AF3-612C4FB2FBD0}"/>
              </a:ext>
            </a:extLst>
          </p:cNvPr>
          <p:cNvSpPr/>
          <p:nvPr/>
        </p:nvSpPr>
        <p:spPr>
          <a:xfrm>
            <a:off x="6018213" y="4668839"/>
            <a:ext cx="1103312" cy="197643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5</a:t>
            </a:r>
            <a:endParaRPr lang="en-SG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5CDF38-9BA1-4767-8579-77FCADD6B9A0}"/>
              </a:ext>
            </a:extLst>
          </p:cNvPr>
          <p:cNvCxnSpPr>
            <a:cxnSpLocks/>
          </p:cNvCxnSpPr>
          <p:nvPr/>
        </p:nvCxnSpPr>
        <p:spPr>
          <a:xfrm>
            <a:off x="3692525" y="5135563"/>
            <a:ext cx="2789238" cy="138112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3E1479B-6494-467B-B748-AEA6C598F717}"/>
              </a:ext>
            </a:extLst>
          </p:cNvPr>
          <p:cNvCxnSpPr>
            <a:cxnSpLocks/>
          </p:cNvCxnSpPr>
          <p:nvPr/>
        </p:nvCxnSpPr>
        <p:spPr>
          <a:xfrm>
            <a:off x="3692525" y="5465764"/>
            <a:ext cx="2789238" cy="230187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3CD6F5F-4F27-4DF2-8C74-2BA40ED8BE98}"/>
              </a:ext>
            </a:extLst>
          </p:cNvPr>
          <p:cNvCxnSpPr>
            <a:cxnSpLocks/>
          </p:cNvCxnSpPr>
          <p:nvPr/>
        </p:nvCxnSpPr>
        <p:spPr>
          <a:xfrm>
            <a:off x="3633789" y="5900738"/>
            <a:ext cx="2847975" cy="2095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3803627-8248-4210-9580-6F72EC9D800A}"/>
              </a:ext>
            </a:extLst>
          </p:cNvPr>
          <p:cNvCxnSpPr>
            <a:cxnSpLocks/>
          </p:cNvCxnSpPr>
          <p:nvPr/>
        </p:nvCxnSpPr>
        <p:spPr>
          <a:xfrm flipV="1">
            <a:off x="3652838" y="4924425"/>
            <a:ext cx="2817812" cy="1449388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229" name="TextBox 45">
            <a:extLst>
              <a:ext uri="{FF2B5EF4-FFF2-40B4-BE49-F238E27FC236}">
                <a16:creationId xmlns:a16="http://schemas.microsoft.com/office/drawing/2014/main" id="{ED4F6CC7-0404-4FBD-A4CD-8EB04E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1" y="4129088"/>
            <a:ext cx="24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4230" name="TextBox 46">
            <a:extLst>
              <a:ext uri="{FF2B5EF4-FFF2-40B4-BE49-F238E27FC236}">
                <a16:creationId xmlns:a16="http://schemas.microsoft.com/office/drawing/2014/main" id="{CC558A42-09B1-41D8-961C-3AB8357BE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864" y="4175125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4231" name="TextBox 47">
            <a:extLst>
              <a:ext uri="{FF2B5EF4-FFF2-40B4-BE49-F238E27FC236}">
                <a16:creationId xmlns:a16="http://schemas.microsoft.com/office/drawing/2014/main" id="{6F27BD03-0CAF-4D3A-B164-F88E62BB1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1" y="4129089"/>
            <a:ext cx="244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4232" name="TextBox 48">
            <a:extLst>
              <a:ext uri="{FF2B5EF4-FFF2-40B4-BE49-F238E27FC236}">
                <a16:creationId xmlns:a16="http://schemas.microsoft.com/office/drawing/2014/main" id="{650EA7D3-7C97-4A41-B0BD-924F75E9336A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7550151" y="5046167"/>
            <a:ext cx="24733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one-o-one function from X to Y but not onto</a:t>
            </a:r>
          </a:p>
        </p:txBody>
      </p:sp>
      <p:sp>
        <p:nvSpPr>
          <p:cNvPr id="94233" name="TextBox 52">
            <a:extLst>
              <a:ext uri="{FF2B5EF4-FFF2-40B4-BE49-F238E27FC236}">
                <a16:creationId xmlns:a16="http://schemas.microsoft.com/office/drawing/2014/main" id="{D9073D55-6F9D-427D-93C4-BCDD1ACB2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39" y="1098551"/>
            <a:ext cx="10890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Third case:</a:t>
            </a:r>
          </a:p>
        </p:txBody>
      </p:sp>
      <p:sp>
        <p:nvSpPr>
          <p:cNvPr id="94234" name="TextBox 54">
            <a:extLst>
              <a:ext uri="{FF2B5EF4-FFF2-40B4-BE49-F238E27FC236}">
                <a16:creationId xmlns:a16="http://schemas.microsoft.com/office/drawing/2014/main" id="{29585232-A8A7-4A94-83EE-C315B83A9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2739" y="3867151"/>
            <a:ext cx="122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Fourth case:</a:t>
            </a:r>
          </a:p>
        </p:txBody>
      </p:sp>
      <p:sp>
        <p:nvSpPr>
          <p:cNvPr id="3" name="TextBox 48">
            <a:extLst>
              <a:ext uri="{FF2B5EF4-FFF2-40B4-BE49-F238E27FC236}">
                <a16:creationId xmlns:a16="http://schemas.microsoft.com/office/drawing/2014/main" id="{6074946A-2E72-49D7-9D5E-1D238C04C85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219130" y="2053303"/>
            <a:ext cx="2327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5600" indent="-3556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{(a, 2), (b, 3), (c, 3), (d, 1)}</a:t>
            </a:r>
          </a:p>
        </p:txBody>
      </p:sp>
      <p:sp>
        <p:nvSpPr>
          <p:cNvPr id="4" name="TextBox 48">
            <a:extLst>
              <a:ext uri="{FF2B5EF4-FFF2-40B4-BE49-F238E27FC236}">
                <a16:creationId xmlns:a16="http://schemas.microsoft.com/office/drawing/2014/main" id="{45CA47EC-0BFE-4AF8-8CC8-96E5B78F4175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90541" y="4997468"/>
            <a:ext cx="25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5600" indent="-3556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{(a, 2), (b, 3), (c, 4), (d, 1)}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Number Placeholder 5">
            <a:extLst>
              <a:ext uri="{FF2B5EF4-FFF2-40B4-BE49-F238E27FC236}">
                <a16:creationId xmlns:a16="http://schemas.microsoft.com/office/drawing/2014/main" id="{D9388E95-6903-429D-89A9-79F180EB9AC3}"/>
              </a:ext>
            </a:extLst>
          </p:cNvPr>
          <p:cNvSpPr txBox="1">
            <a:spLocks noGrp="1"/>
          </p:cNvSpPr>
          <p:nvPr/>
        </p:nvSpPr>
        <p:spPr bwMode="auto">
          <a:xfrm>
            <a:off x="8154988" y="46799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None/>
            </a:pPr>
            <a:fld id="{229DDE59-6FCC-4D23-B12C-F66A48C2BF8D}" type="slidenum">
              <a:rPr lang="en-GB" altLang="en-US" sz="14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t>73</a:t>
            </a:fld>
            <a:endParaRPr lang="en-GB" altLang="en-US" sz="1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59244538-F656-4C83-BFF4-C8FBA13A2A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68264"/>
            <a:ext cx="9144000" cy="458787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Appendix 1: Diagrammatical Checking Finite Relations and Functions (Cont’d)</a:t>
            </a:r>
            <a:endParaRPr lang="en-GB" alt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1658B002-612F-4E89-A9BC-D9AA6E8A4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6350" y="844551"/>
            <a:ext cx="9144000" cy="81597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2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Checking a relation R from X = {a,  b, c, d } to Y = {1, 2, 3, 4}</a:t>
            </a:r>
            <a:endParaRPr lang="en-GB" altLang="en-US" sz="24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DFED08D-6EF0-46B3-9270-B533C0043566}"/>
              </a:ext>
            </a:extLst>
          </p:cNvPr>
          <p:cNvSpPr/>
          <p:nvPr/>
        </p:nvSpPr>
        <p:spPr>
          <a:xfrm>
            <a:off x="3052764" y="3090864"/>
            <a:ext cx="1101725" cy="198913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b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c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D5F4C8-5B59-4D51-8D8E-A6A00D60D3AF}"/>
              </a:ext>
            </a:extLst>
          </p:cNvPr>
          <p:cNvSpPr/>
          <p:nvPr/>
        </p:nvSpPr>
        <p:spPr>
          <a:xfrm>
            <a:off x="6096001" y="3103564"/>
            <a:ext cx="1101725" cy="1976437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3</a:t>
            </a:r>
          </a:p>
          <a:p>
            <a:pPr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SG" dirty="0">
                <a:solidFill>
                  <a:srgbClr val="000000"/>
                </a:solidFill>
                <a:latin typeface="Times New Roman"/>
                <a:cs typeface="Times New Roman"/>
              </a:rPr>
              <a:t>4</a:t>
            </a:r>
            <a:endParaRPr lang="en-SG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AAD3C81-FF12-48C3-8624-3265BCDF8085}"/>
              </a:ext>
            </a:extLst>
          </p:cNvPr>
          <p:cNvCxnSpPr>
            <a:cxnSpLocks/>
          </p:cNvCxnSpPr>
          <p:nvPr/>
        </p:nvCxnSpPr>
        <p:spPr>
          <a:xfrm>
            <a:off x="3770314" y="3568700"/>
            <a:ext cx="2789237" cy="34290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849FEA9-3CAB-4DBF-8484-0E13CB6AB787}"/>
              </a:ext>
            </a:extLst>
          </p:cNvPr>
          <p:cNvCxnSpPr>
            <a:cxnSpLocks/>
          </p:cNvCxnSpPr>
          <p:nvPr/>
        </p:nvCxnSpPr>
        <p:spPr>
          <a:xfrm>
            <a:off x="3770314" y="3898901"/>
            <a:ext cx="2789237" cy="366713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22914A4-17D2-46F1-A70C-7C106AD9863E}"/>
              </a:ext>
            </a:extLst>
          </p:cNvPr>
          <p:cNvCxnSpPr>
            <a:cxnSpLocks/>
          </p:cNvCxnSpPr>
          <p:nvPr/>
        </p:nvCxnSpPr>
        <p:spPr>
          <a:xfrm>
            <a:off x="3711576" y="4335464"/>
            <a:ext cx="2847975" cy="344487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060F8DA-4C7C-41A2-8181-430A1A26DA9C}"/>
              </a:ext>
            </a:extLst>
          </p:cNvPr>
          <p:cNvCxnSpPr>
            <a:cxnSpLocks/>
          </p:cNvCxnSpPr>
          <p:nvPr/>
        </p:nvCxnSpPr>
        <p:spPr>
          <a:xfrm flipV="1">
            <a:off x="3709988" y="3568700"/>
            <a:ext cx="2849562" cy="1111250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243" name="TextBox 45">
            <a:extLst>
              <a:ext uri="{FF2B5EF4-FFF2-40B4-BE49-F238E27FC236}">
                <a16:creationId xmlns:a16="http://schemas.microsoft.com/office/drawing/2014/main" id="{EE3DA7F8-59F9-4978-984C-213E5236C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9" y="2563813"/>
            <a:ext cx="244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5244" name="TextBox 46">
            <a:extLst>
              <a:ext uri="{FF2B5EF4-FFF2-40B4-BE49-F238E27FC236}">
                <a16:creationId xmlns:a16="http://schemas.microsoft.com/office/drawing/2014/main" id="{E9C83748-3B6F-4133-A021-273AB5908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651" y="2609850"/>
            <a:ext cx="346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</a:p>
        </p:txBody>
      </p:sp>
      <p:sp>
        <p:nvSpPr>
          <p:cNvPr id="95245" name="TextBox 47">
            <a:extLst>
              <a:ext uri="{FF2B5EF4-FFF2-40B4-BE49-F238E27FC236}">
                <a16:creationId xmlns:a16="http://schemas.microsoft.com/office/drawing/2014/main" id="{A71547BA-68FF-4513-9A35-779253890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839" y="2563813"/>
            <a:ext cx="244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95246" name="TextBox 48">
            <a:extLst>
              <a:ext uri="{FF2B5EF4-FFF2-40B4-BE49-F238E27FC236}">
                <a16:creationId xmlns:a16="http://schemas.microsoft.com/office/drawing/2014/main" id="{4D0C041C-F9C4-4CB0-975F-E2CFD95FB102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7627939" y="3480892"/>
            <a:ext cx="247332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one-o-one and onto function from X to Y</a:t>
            </a:r>
          </a:p>
        </p:txBody>
      </p:sp>
      <p:sp>
        <p:nvSpPr>
          <p:cNvPr id="95247" name="TextBox 54">
            <a:extLst>
              <a:ext uri="{FF2B5EF4-FFF2-40B4-BE49-F238E27FC236}">
                <a16:creationId xmlns:a16="http://schemas.microsoft.com/office/drawing/2014/main" id="{2B7DD312-BE18-438E-A322-8C5DA540B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526" y="2301876"/>
            <a:ext cx="122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2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Fifth case: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C6E2744-D4E6-49FF-BEFD-ABC14B72E435}"/>
              </a:ext>
            </a:extLst>
          </p:cNvPr>
          <p:cNvSpPr txBox="1">
            <a:spLocks noGrp="1"/>
          </p:cNvSpPr>
          <p:nvPr/>
        </p:nvSpPr>
        <p:spPr bwMode="auto">
          <a:xfrm>
            <a:off x="7889875" y="61690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None/>
            </a:pPr>
            <a:fld id="{C3BD4A7F-1AA3-46DB-B9DC-437653C36939}" type="slidenum">
              <a:rPr lang="en-GB" altLang="en-US"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None/>
              </a:pPr>
              <a:t>73</a:t>
            </a:fld>
            <a:endParaRPr lang="en-GB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48">
            <a:extLst>
              <a:ext uri="{FF2B5EF4-FFF2-40B4-BE49-F238E27FC236}">
                <a16:creationId xmlns:a16="http://schemas.microsoft.com/office/drawing/2014/main" id="{CD06311D-CBBC-4D3A-AF4C-21714CB9B57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332664" y="3689133"/>
            <a:ext cx="254788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55600" indent="-3556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SG" altLang="en-US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= {(a, 2), (b, 3), (c, 4), (d, 1)}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Number Placeholder 5">
            <a:extLst>
              <a:ext uri="{FF2B5EF4-FFF2-40B4-BE49-F238E27FC236}">
                <a16:creationId xmlns:a16="http://schemas.microsoft.com/office/drawing/2014/main" id="{844D5D43-DE05-4064-B581-873C083F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24847A-0C6A-4A7A-AEC0-9B8FD406CAC7}" type="slidenum">
              <a:rPr lang="en-GB" altLang="en-US" sz="1400">
                <a:latin typeface="Arial" panose="020B060402020202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GB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F61D6BA2-4874-45FD-86C3-0C7F1FA45C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68826" y="1427699"/>
            <a:ext cx="7772400" cy="1828800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Arial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6725</Words>
  <Application>Microsoft Office PowerPoint</Application>
  <PresentationFormat>Widescreen</PresentationFormat>
  <Paragraphs>713</Paragraphs>
  <Slides>74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3" baseType="lpstr">
      <vt:lpstr>ＭＳ 明朝</vt:lpstr>
      <vt:lpstr>Arial</vt:lpstr>
      <vt:lpstr>Calibri</vt:lpstr>
      <vt:lpstr>Calibri Light</vt:lpstr>
      <vt:lpstr>Cambria Math</vt:lpstr>
      <vt:lpstr>Times New Roman</vt:lpstr>
      <vt:lpstr>Wingdings</vt:lpstr>
      <vt:lpstr>1_Office Theme</vt:lpstr>
      <vt:lpstr>Default Design</vt:lpstr>
      <vt:lpstr>MATH221 Mathematics for Computer Science</vt:lpstr>
      <vt:lpstr>OBJECTIVES</vt:lpstr>
      <vt:lpstr>PowerPoint Presentation</vt:lpstr>
      <vt:lpstr>Cartesian Product</vt:lpstr>
      <vt:lpstr>Cartesian Product: Example</vt:lpstr>
      <vt:lpstr>Relations</vt:lpstr>
      <vt:lpstr>Discussion:</vt:lpstr>
      <vt:lpstr>Discussion:</vt:lpstr>
      <vt:lpstr>Relations: Notes</vt:lpstr>
      <vt:lpstr>Examples:</vt:lpstr>
      <vt:lpstr>Examples:</vt:lpstr>
      <vt:lpstr>Examples</vt:lpstr>
      <vt:lpstr>Relation: Note</vt:lpstr>
      <vt:lpstr>Example:</vt:lpstr>
      <vt:lpstr>Domain and Range of Relations</vt:lpstr>
      <vt:lpstr>Examples:</vt:lpstr>
      <vt:lpstr>Examples:</vt:lpstr>
      <vt:lpstr>Domain and Range of Relations: Notes</vt:lpstr>
      <vt:lpstr>Inverse Relations</vt:lpstr>
      <vt:lpstr>Inverse Relations: Example</vt:lpstr>
      <vt:lpstr>Inverse Relations: Example</vt:lpstr>
      <vt:lpstr>Inverse Relations: Example</vt:lpstr>
      <vt:lpstr>Examples:</vt:lpstr>
      <vt:lpstr>Reflexivity</vt:lpstr>
      <vt:lpstr>Reflexivity: Example</vt:lpstr>
      <vt:lpstr>Symmetry</vt:lpstr>
      <vt:lpstr>Symmetry: Example</vt:lpstr>
      <vt:lpstr>Transitivity</vt:lpstr>
      <vt:lpstr>Transitivity: Example</vt:lpstr>
      <vt:lpstr>Equivalence Relations</vt:lpstr>
      <vt:lpstr>Verifying/Proving Reflexivity, Symmetry and Transitivity</vt:lpstr>
      <vt:lpstr>Equivalence Relations: Examples</vt:lpstr>
      <vt:lpstr>Equivalence Relations: Examples</vt:lpstr>
      <vt:lpstr>Discussion:</vt:lpstr>
      <vt:lpstr>Discussion:</vt:lpstr>
      <vt:lpstr>Equivalence Relations: Notes</vt:lpstr>
      <vt:lpstr>Equivalence Relations: Example</vt:lpstr>
      <vt:lpstr>Equivalence Relations: Example</vt:lpstr>
      <vt:lpstr>Equivalence Relations: Example</vt:lpstr>
      <vt:lpstr>Equivalence Class</vt:lpstr>
      <vt:lpstr>Equivalence Class: Examples</vt:lpstr>
      <vt:lpstr>Equivalence Class: Example</vt:lpstr>
      <vt:lpstr>PowerPoint Presentation</vt:lpstr>
      <vt:lpstr>Functions</vt:lpstr>
      <vt:lpstr>Functions: Note</vt:lpstr>
      <vt:lpstr>Functions: Note</vt:lpstr>
      <vt:lpstr>Verifying/Proving Function</vt:lpstr>
      <vt:lpstr>Infinite Case: Exercise</vt:lpstr>
      <vt:lpstr>Infinite Case: Exercise</vt:lpstr>
      <vt:lpstr>Infinite Case: Exercise</vt:lpstr>
      <vt:lpstr>Finite Case: Exercises</vt:lpstr>
      <vt:lpstr>Finite Case: Exercises</vt:lpstr>
      <vt:lpstr>One-To-One Functions</vt:lpstr>
      <vt:lpstr>Verifying/Proving One-to-One Function</vt:lpstr>
      <vt:lpstr>One-To-One Functions: Example</vt:lpstr>
      <vt:lpstr>One-To-One Functions: Example</vt:lpstr>
      <vt:lpstr>One-To-One Functions: Notes</vt:lpstr>
      <vt:lpstr>Exercises:</vt:lpstr>
      <vt:lpstr>Exercise:</vt:lpstr>
      <vt:lpstr>Onto Functions</vt:lpstr>
      <vt:lpstr>Verifying/Proving Onto Function</vt:lpstr>
      <vt:lpstr>Onto Functions: Example</vt:lpstr>
      <vt:lpstr>Onto Functions: Example</vt:lpstr>
      <vt:lpstr>Onto Functions: Notes</vt:lpstr>
      <vt:lpstr>Exercise:</vt:lpstr>
      <vt:lpstr>Exercise:</vt:lpstr>
      <vt:lpstr>Onto Functions: Notes</vt:lpstr>
      <vt:lpstr>Inverse Functions</vt:lpstr>
      <vt:lpstr>Exercise:</vt:lpstr>
      <vt:lpstr>Composition of Functions</vt:lpstr>
      <vt:lpstr>Appendix 1: Diagrammatical Checking of Finite Relations and Functions</vt:lpstr>
      <vt:lpstr>Appendix 1: Diagrammatical Checking Finite Relations and Functions (cont’d)</vt:lpstr>
      <vt:lpstr>Appendix 1: Diagrammatical Checking Finite Relations and Functions (Cont’d)</vt:lpstr>
      <vt:lpstr>End of Unit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Hee Beng Kuan Tan</dc:creator>
  <cp:lastModifiedBy>Hee Beng Kuan Tan</cp:lastModifiedBy>
  <cp:revision>124</cp:revision>
  <cp:lastPrinted>2020-12-30T08:23:10Z</cp:lastPrinted>
  <dcterms:created xsi:type="dcterms:W3CDTF">2020-10-03T10:39:56Z</dcterms:created>
  <dcterms:modified xsi:type="dcterms:W3CDTF">2020-12-30T08:25:56Z</dcterms:modified>
</cp:coreProperties>
</file>